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55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83275" y="381000"/>
            <a:ext cx="4167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spcAft>
                <a:spcPts val="9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房地产价格预测模型研究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4095750" y="857250"/>
            <a:ext cx="1143000" cy="38100"/>
          </a:xfrm>
          <a:prstGeom prst="rect">
            <a:avLst/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83275" y="1085850"/>
            <a:ext cx="41679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集成学习 · 深度学习 · NLP特征工程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127208" y="2103090"/>
            <a:ext cx="90764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127208" y="2781151"/>
            <a:ext cx="907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Kaggle最高分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97798" y="2103090"/>
            <a:ext cx="93344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97798" y="2781151"/>
            <a:ext cx="9334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相比期中提升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698141" y="2103090"/>
            <a:ext cx="50520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98141" y="2781151"/>
            <a:ext cx="505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模型对比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970074" y="4575870"/>
            <a:ext cx="33943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415A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Python Programming for Data Scientists · 2025 Fall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模型性能对比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140470"/>
            <a:ext cx="4197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房价预测 (RMSE)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403300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49855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期中Linear | Kaggle: 51.3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4350" y="168324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1,084,221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014686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10993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| Kaggle: 67.9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4350" y="2294632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486,908 | CV: 505,578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626072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272132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ANN | Kaggle: 68.8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290601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677,063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237458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333270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| Kaggle: 74.5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4350" y="351740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356,732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848844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D4A53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848844"/>
            <a:ext cx="0" cy="5351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450" y="394409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XGBoost+Optuna | Kaggle: 75.6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52450" y="412879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320,917 | CV: 329,256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8200" y="1188988"/>
            <a:ext cx="4197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租金预测 (RMSE)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8200" y="1451818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154706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期中Linear | Kaggle: 51.3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550" y="173176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249,480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8200" y="2063204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15845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| Kaggle: 67.9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81550" y="2343150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123,382 | CV: 125,842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8200" y="2674590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1550" y="276984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ANN | Kaggle: 68.8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81550" y="295453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190,823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8200" y="3285976"/>
            <a:ext cx="4114800" cy="535186"/>
          </a:xfrm>
          <a:prstGeom prst="roundRect">
            <a:avLst>
              <a:gd name="adj" fmla="val 10679"/>
            </a:avLst>
          </a:prstGeom>
          <a:solidFill>
            <a:srgbClr val="D4A53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7250" y="3285976"/>
            <a:ext cx="0" cy="5351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9650" y="338122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XGBoost+Optuna | Kaggle: 75.6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19650" y="3565922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样本外: 95,455 | CV: 98,849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48200" y="3897362"/>
            <a:ext cx="4114800" cy="438150"/>
          </a:xfrm>
          <a:prstGeom prst="roundRect">
            <a:avLst>
              <a:gd name="adj" fmla="val 13043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62500" y="397356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融合权重: RF=0.2, XGB=0.7, ANN=0.1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62500" y="412596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相比期中提升47%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SHAP特征重要性分析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808" y="3894743"/>
            <a:ext cx="1666673" cy="171247"/>
          </a:xfrm>
          <a:prstGeom prst="roundRect">
            <a:avLst>
              <a:gd name="adj" fmla="val 36056"/>
            </a:avLst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613" y="3892754"/>
            <a:ext cx="13123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[图1: 房价SHAP条形图]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 flipV="1">
            <a:off x="3041221" y="3784058"/>
            <a:ext cx="1513004" cy="173236"/>
          </a:xfrm>
          <a:prstGeom prst="roundRect">
            <a:avLst>
              <a:gd name="adj" fmla="val 36056"/>
            </a:avLst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1547" y="3771156"/>
            <a:ext cx="13123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[图2: 租金SHAP条形图]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193060" y="690711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房价 Top 5 特征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93060" y="90785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经度 (lon) - 东西位置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93060" y="117455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面积_房龄交互 - 复合效应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93060" y="144125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纬度 (lat) - 南北位置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93060" y="170795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城市 - 区域差异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060" y="197465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建筑面积_log - 面积对数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060" y="2527102"/>
            <a:ext cx="3505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租金 Top 5 特征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93060" y="274424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环线位置 - 通勤便利性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93060" y="301094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经度 (lon) - 东西位置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93060" y="327764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纬度 (lat) - 南北位置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93060" y="354434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面积_log - 面积对数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93060" y="3811042"/>
            <a:ext cx="3505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面积_房龄交互 - 复合效应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59710" y="4268242"/>
            <a:ext cx="3703290" cy="660946"/>
          </a:xfrm>
          <a:prstGeom prst="roundRect">
            <a:avLst>
              <a:gd name="adj" fmla="val 11529"/>
            </a:avLst>
          </a:prstGeom>
          <a:solidFill>
            <a:srgbClr val="D4A53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78760" y="4268242"/>
            <a:ext cx="0" cy="66094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1160" y="4363492"/>
            <a:ext cx="3466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231160" y="4548188"/>
            <a:ext cx="34664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地理位置是定价核心因素；交互特征进入Top5验证特征工程有效性；房价看重绝对位置，租金更看重环线位置</a:t>
            </a:r>
            <a:endParaRPr lang="en-US" sz="7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ECA7FC1-23FC-91E0-8A9E-2108F6D6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2" y="541804"/>
            <a:ext cx="2493523" cy="296697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4134F9F-8AD9-35F1-9FD7-671ED9847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142" y="577473"/>
            <a:ext cx="2433568" cy="28956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创新点总结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07071"/>
            <a:ext cx="4124325" cy="573286"/>
          </a:xfrm>
          <a:prstGeom prst="roundRect">
            <a:avLst>
              <a:gd name="adj" fmla="val 13292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807071"/>
            <a:ext cx="0" cy="5732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9213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717" y="19023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7250" y="1921371"/>
            <a:ext cx="20460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Optuna贝叶斯超参数优化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57250" y="2132707"/>
            <a:ext cx="2046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TPE采样器30轮试验自动搜索XGBoost最优参数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475607"/>
            <a:ext cx="4124325" cy="573286"/>
          </a:xfrm>
          <a:prstGeom prst="roundRect">
            <a:avLst>
              <a:gd name="adj" fmla="val 13292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475607"/>
            <a:ext cx="0" cy="5732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58990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717" y="257085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250" y="2589907"/>
            <a:ext cx="1815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领域知识驱动特征工程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57250" y="2801243"/>
            <a:ext cx="1815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面积_房龄交互等复合特征进入SHAP Top5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144143"/>
            <a:ext cx="4124325" cy="573286"/>
          </a:xfrm>
          <a:prstGeom prst="roundRect">
            <a:avLst>
              <a:gd name="adj" fmla="val 13292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144143"/>
            <a:ext cx="0" cy="5732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325844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717" y="323939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7250" y="3258443"/>
            <a:ext cx="14952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TF-IDF文本特征融合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57250" y="3469779"/>
            <a:ext cx="14952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5个文本字段提取100维TF-IDF特征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38675" y="1810792"/>
            <a:ext cx="4124325" cy="573286"/>
          </a:xfrm>
          <a:prstGeom prst="roundRect">
            <a:avLst>
              <a:gd name="adj" fmla="val 13292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57725" y="1810792"/>
            <a:ext cx="0" cy="5732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075" y="192509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2392" y="190604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14925" y="1925092"/>
            <a:ext cx="15169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SHAP可解释性分析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114925" y="2136428"/>
            <a:ext cx="1516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Shapley值揭示特征贡献方向和幅度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38675" y="2479328"/>
            <a:ext cx="4124325" cy="573286"/>
          </a:xfrm>
          <a:prstGeom prst="roundRect">
            <a:avLst>
              <a:gd name="adj" fmla="val 13292"/>
            </a:avLst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7725" y="2479328"/>
            <a:ext cx="0" cy="573286"/>
          </a:xfrm>
          <a:prstGeom prst="line">
            <a:avLst/>
          </a:prstGeom>
          <a:noFill/>
          <a:ln w="38100">
            <a:solidFill>
              <a:srgbClr val="D4A5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075" y="25936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4A5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2392" y="257457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14925" y="2593628"/>
            <a:ext cx="16249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多模型加权融合策略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114925" y="2804964"/>
            <a:ext cx="16249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78D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网格搜索最优权重整合RF+XGB+ANN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38675" y="3147864"/>
            <a:ext cx="4124325" cy="565696"/>
          </a:xfrm>
          <a:prstGeom prst="roundRect">
            <a:avLst>
              <a:gd name="adj" fmla="val 13470"/>
            </a:avLst>
          </a:prstGeom>
          <a:solidFill>
            <a:srgbClr val="D4A536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52975" y="3262164"/>
            <a:ext cx="3973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D4A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52975" y="3465909"/>
            <a:ext cx="3973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1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| Optuna | PyTorch | SHAP | TF-IDF | RandomForest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Office PowerPoint</Application>
  <PresentationFormat>全屏显示(16:9)</PresentationFormat>
  <Paragraphs>71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房地产价格预测模型研究</dc:title>
  <dc:subject>PptxGenJS Presentation</dc:subject>
  <dc:creator>Student</dc:creator>
  <cp:lastModifiedBy>俊杰 易</cp:lastModifiedBy>
  <cp:revision>2</cp:revision>
  <dcterms:created xsi:type="dcterms:W3CDTF">2025-12-25T13:48:16Z</dcterms:created>
  <dcterms:modified xsi:type="dcterms:W3CDTF">2025-12-25T13:51:23Z</dcterms:modified>
</cp:coreProperties>
</file>