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261" r:id="rId4"/>
    <p:sldId id="265" r:id="rId5"/>
    <p:sldId id="268" r:id="rId6"/>
    <p:sldId id="269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352AD-07F3-481C-A319-16632E197356}" styleName="表样式 1 23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ECD8D4"/>
              </a:solidFill>
              <a:prstDash val="solid"/>
            </a:ln>
          </a:left>
          <a:right>
            <a:ln w="9525" cmpd="sng">
              <a:solidFill>
                <a:srgbClr val="ECD8D4"/>
              </a:solidFill>
              <a:prstDash val="solid"/>
            </a:ln>
          </a:right>
          <a:top>
            <a:ln w="9525" cmpd="sng">
              <a:solidFill>
                <a:srgbClr val="ECD8D4"/>
              </a:solidFill>
              <a:prstDash val="solid"/>
            </a:ln>
          </a:top>
          <a:bottom>
            <a:ln w="9525" cmpd="sng">
              <a:solidFill>
                <a:srgbClr val="ECD8D4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ECD8D4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CD8D4">
              <a:lumMod val="10000"/>
              <a:lumOff val="90000"/>
            </a:srgbClr>
          </a:solidFill>
        </a:fill>
      </a:tcStyle>
    </a:band2H>
    <a:band1V>
      <a:tcTxStyle/>
      <a:tcStyle>
        <a:tcBdr>
          <a:left>
            <a:ln w="9525" cmpd="sng">
              <a:solidFill>
                <a:srgbClr val="ECD8D4"/>
              </a:solidFill>
              <a:prstDash val="solid"/>
            </a:ln>
          </a:left>
          <a:right>
            <a:ln w="9525" cmpd="sng">
              <a:solidFill>
                <a:srgbClr val="ECD8D4"/>
              </a:solidFill>
              <a:prstDash val="solid"/>
            </a:ln>
          </a:right>
          <a:top>
            <a:ln w="9525" cmpd="sng">
              <a:solidFill>
                <a:srgbClr val="ECD8D4"/>
              </a:solidFill>
              <a:prstDash val="solid"/>
            </a:ln>
          </a:top>
          <a:bottom>
            <a:ln w="9525" cmpd="sng">
              <a:solidFill>
                <a:srgbClr val="ECD8D4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ECD8D4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ECD8D4">
              <a:lumMod val="10000"/>
              <a:lumOff val="90000"/>
            </a:srgbClr>
          </a:solidFill>
        </a:fill>
      </a:tcStyle>
    </a:band1V>
    <a:band2V>
      <a:tcTxStyle/>
      <a:tcStyle>
        <a:tcBdr>
          <a:left>
            <a:ln w="9525" cmpd="sng">
              <a:solidFill>
                <a:srgbClr val="ECD8D4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ECD8D4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ECD8D4"/>
              </a:solidFill>
              <a:prstDash val="solid"/>
            </a:ln>
          </a:top>
          <a:bottom>
            <a:ln w="9525" cmpd="sng">
              <a:solidFill>
                <a:srgbClr val="ECD8D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ECD8D4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ECD8D4"/>
              </a:solidFill>
              <a:prstDash val="solid"/>
            </a:ln>
          </a:right>
          <a:top>
            <a:ln w="9525" cmpd="sng">
              <a:solidFill>
                <a:srgbClr val="ECD8D4"/>
              </a:solidFill>
              <a:prstDash val="solid"/>
            </a:ln>
          </a:top>
          <a:bottom>
            <a:ln w="9525" cmpd="sng">
              <a:solidFill>
                <a:srgbClr val="ECD8D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ECD8D4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ECD8D4"/>
        </a:fontRef>
      </a:tcTxStyle>
      <a:tcStyle>
        <a:tcBdr>
          <a:left>
            <a:ln w="9525" cmpd="sng">
              <a:solidFill>
                <a:srgbClr val="ECD8D4"/>
              </a:solidFill>
              <a:prstDash val="solid"/>
            </a:ln>
          </a:left>
          <a:right>
            <a:ln w="9525" cmpd="sng">
              <a:solidFill>
                <a:srgbClr val="ECD8D4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ECD8D4"/>
              </a:solidFill>
              <a:prstDash val="solid"/>
            </a:ln>
          </a:top>
          <a:bottom>
            <a:ln w="9525" cmpd="sng">
              <a:solidFill>
                <a:srgbClr val="ECD8D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ECD8D4"/>
              </a:solidFill>
              <a:prstDash val="solid"/>
            </a:ln>
          </a:left>
          <a:right>
            <a:ln w="9525" cmpd="sng">
              <a:solidFill>
                <a:srgbClr val="ECD8D4"/>
              </a:solidFill>
              <a:prstDash val="solid"/>
            </a:ln>
          </a:right>
          <a:top>
            <a:ln w="9525" cmpd="sng">
              <a:solidFill>
                <a:srgbClr val="ECD8D4"/>
              </a:solidFill>
              <a:prstDash val="solid"/>
            </a:ln>
          </a:top>
          <a:bottom>
            <a:ln w="9525" cmpd="sng">
              <a:solidFill>
                <a:srgbClr val="ECD8D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ECD8D4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rgbClr val="ECD8D4"/>
              </a:solidFill>
              <a:prstDash val="solid"/>
            </a:ln>
          </a:left>
          <a:right>
            <a:ln w="9525" cmpd="sng">
              <a:solidFill>
                <a:srgbClr val="ECD8D4"/>
              </a:solidFill>
              <a:prstDash val="solid"/>
            </a:ln>
          </a:right>
          <a:top>
            <a:ln w="9525" cmpd="sng">
              <a:solidFill>
                <a:srgbClr val="ECD8D4"/>
              </a:solidFill>
              <a:prstDash val="solid"/>
            </a:ln>
          </a:top>
          <a:bottom>
            <a:ln w="9525" cmpd="sng">
              <a:solidFill>
                <a:srgbClr val="ECD8D4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ECD8D4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ECD8D4"/>
          </a:solidFill>
        </a:fill>
      </a:tcStyle>
    </a:firstRow>
  </a:tblStyle>
  <a:tblStyle styleId="{0D91123C-907F-411D-8F2A-F8C70E92AEB0}" styleName="表样式 1 17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 w="12700" cmpd="sng">
              <a:solidFill>
                <a:srgbClr val="FFFFFF"/>
              </a:solidFill>
              <a:prstDash val="solid"/>
            </a:ln>
          </a:insideH>
          <a:insideV>
            <a:ln w="12700" cmpd="sng">
              <a:solidFill>
                <a:srgbClr val="FFFFFF"/>
              </a:solidFill>
              <a:prstDash val="solid"/>
            </a:ln>
          </a:insideV>
        </a:tcBdr>
        <a:fill>
          <a:solidFill>
            <a:srgbClr val="ECD8D4">
              <a:lumMod val="10000"/>
              <a:lumOff val="90000"/>
            </a:srgbClr>
          </a:solidFill>
        </a:fill>
      </a:tcStyle>
    </a:wholeTbl>
    <a:band1H>
      <a:tcTxStyle/>
      <a:tcStyle>
        <a:tcBdr/>
        <a:fill>
          <a:solidFill>
            <a:srgbClr val="ECD8D4">
              <a:lumMod val="40000"/>
              <a:lumOff val="60000"/>
            </a:srgbClr>
          </a:solidFill>
        </a:fill>
      </a:tcStyle>
    </a:band1H>
    <a:band1V>
      <a:tcTxStyle/>
      <a:tcStyle>
        <a:tcBdr/>
        <a:fill>
          <a:solidFill>
            <a:srgbClr val="B6C7EA"/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 w="12700" cmpd="sng">
              <a:solidFill>
                <a:srgbClr val="FFFFFF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ECD8D4">
              <a:lumMod val="40000"/>
              <a:lumOff val="6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 w="12700" cmpd="sng">
              <a:solidFill>
                <a:srgbClr val="FFFFFF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ECD8D4">
              <a:lumMod val="40000"/>
              <a:lumOff val="60000"/>
            </a:srgb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ECD8D4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>
              <a:noFill/>
            </a:ln>
          </a:insideH>
          <a:insideV>
            <a:ln w="12700" cmpd="sng">
              <a:solidFill>
                <a:srgbClr val="FFFFFF"/>
              </a:solidFill>
              <a:prstDash val="solid"/>
            </a:ln>
          </a:insideV>
        </a:tcBdr>
        <a:fill>
          <a:solidFill>
            <a:srgbClr val="ECD8D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138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Final Exam：Quant Modeling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Final Exam：Quant Modeling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Final Exam：Quant Modeling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Final Exam：Quant Modeling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Final Exam：Quant Modeling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Final Exam：Quant Modeling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2025-12-26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Final Exam：Quant Modeling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13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tags" Target="../tags/tag13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69645"/>
            <a:ext cx="9799320" cy="1625600"/>
          </a:xfrm>
          <a:prstGeom prst="roundRect">
            <a:avLst/>
          </a:prstGeom>
          <a:solidFill>
            <a:schemeClr val="bg2">
              <a:lumMod val="9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p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3200">
                <a:solidFill>
                  <a:schemeClr val="bg2">
                    <a:lumMod val="25000"/>
                  </a:schemeClr>
                </a:solidFill>
              </a:rPr>
              <a:t>Housing Price and Rent Prediction</a:t>
            </a:r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400">
                <a:solidFill>
                  <a:schemeClr val="bg2">
                    <a:lumMod val="25000"/>
                  </a:schemeClr>
                </a:solidFill>
              </a:rPr>
              <a:t>Final Exam</a:t>
            </a:r>
            <a:r>
              <a:rPr lang="zh-CN" altLang="en-US" sz="2400">
                <a:solidFill>
                  <a:schemeClr val="bg2">
                    <a:lumMod val="25000"/>
                  </a:schemeClr>
                </a:solidFill>
              </a:rPr>
              <a:t>：</a:t>
            </a:r>
            <a:r>
              <a:rPr lang="en-US" altLang="zh-CN" sz="2400">
                <a:solidFill>
                  <a:schemeClr val="bg2">
                    <a:lumMod val="25000"/>
                  </a:schemeClr>
                </a:solidFill>
              </a:rPr>
              <a:t> Quant Modeling</a:t>
            </a:r>
            <a:endParaRPr lang="en-US" altLang="zh-CN" sz="2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4010615"/>
            <a:ext cx="9799200" cy="1472400"/>
          </a:xfrm>
        </p:spPr>
        <p:txBody>
          <a:bodyPr>
            <a:normAutofit lnSpcReduction="10000"/>
          </a:bodyPr>
          <a:p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白瑞睿</a:t>
            </a:r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 2023200753</a:t>
            </a:r>
            <a:endParaRPr lang="en-US" altLang="zh-CN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Renmin University of China</a:t>
            </a:r>
            <a:endParaRPr lang="en-US" altLang="zh-CN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2023 Dual Bachelor’s Degree Program in Econ and Math</a:t>
            </a:r>
            <a:endParaRPr lang="en-US" altLang="zh-CN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-635" y="6314440"/>
            <a:ext cx="4117340" cy="316865"/>
          </a:xfrm>
          <a:solidFill>
            <a:schemeClr val="bg2">
              <a:lumMod val="75000"/>
            </a:schemeClr>
          </a:solidFill>
        </p:spPr>
        <p:txBody>
          <a:bodyPr/>
          <a:p>
            <a:r>
              <a:rPr lang="zh-CN" altLang="en-US" smtClean="0">
                <a:solidFill>
                  <a:schemeClr val="bg2">
                    <a:lumMod val="10000"/>
                  </a:schemeClr>
                </a:solidFill>
              </a:rPr>
              <a:t>2025-12-26</a:t>
            </a:r>
            <a:endParaRPr lang="zh-CN" altLang="en-US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075930" y="6314440"/>
            <a:ext cx="4116070" cy="316865"/>
          </a:xfrm>
          <a:solidFill>
            <a:schemeClr val="bg2">
              <a:lumMod val="75000"/>
            </a:schemeClr>
          </a:solidFill>
        </p:spPr>
        <p:txBody>
          <a:bodyPr/>
          <a:p>
            <a:fld id="{49AE70B2-8BF9-45C0-BB95-33D1B9D3A854}" type="slidenum">
              <a:rPr lang="zh-CN" altLang="en-US" smtClean="0">
                <a:solidFill>
                  <a:schemeClr val="bg2">
                    <a:lumMod val="10000"/>
                  </a:schemeClr>
                </a:solidFill>
              </a:rPr>
            </a:fld>
            <a:endParaRPr lang="zh-CN" altLang="en-US" dirty="0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solidFill>
            <a:schemeClr val="tx2">
              <a:lumMod val="10000"/>
              <a:lumOff val="90000"/>
            </a:schemeClr>
          </a:solidFill>
        </p:spPr>
        <p:txBody>
          <a:bodyPr/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Final Exam：Quant Modeling</a:t>
            </a:r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-635" y="300355"/>
            <a:ext cx="12192635" cy="669290"/>
          </a:xfrm>
          <a:prstGeom prst="roundRect">
            <a:avLst/>
          </a:prstGeom>
          <a:solidFill>
            <a:schemeClr val="bg2">
              <a:lumMod val="9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p>
            <a:pPr algn="l"/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3200">
                <a:solidFill>
                  <a:schemeClr val="bg2">
                    <a:lumMod val="25000"/>
                  </a:schemeClr>
                </a:solidFill>
              </a:rPr>
              <a:t> Data Processing</a:t>
            </a:r>
            <a:endParaRPr lang="en-US" altLang="zh-CN" sz="2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21665" y="1517650"/>
            <a:ext cx="10976610" cy="3965575"/>
          </a:xfrm>
        </p:spPr>
        <p:txBody>
          <a:bodyPr>
            <a:normAutofit lnSpcReduction="10000"/>
          </a:bodyPr>
          <a:p>
            <a:pPr algn="l"/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清洗：统一数值格式，</a:t>
            </a:r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Winsorize(5%/15%)</a:t>
            </a:r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处理异常值</a:t>
            </a:r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编码：分类特征转为哑变量</a:t>
            </a:r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列删减：移除无关冗余列</a:t>
            </a:r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r>
              <a:rPr lang="zh-CN" alt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创新点</a:t>
            </a:r>
            <a:r>
              <a:rPr lang="en-US" altLang="zh-CN" b="1">
                <a:solidFill>
                  <a:schemeClr val="tx2">
                    <a:lumMod val="90000"/>
                    <a:lumOff val="10000"/>
                  </a:schemeClr>
                </a:solidFill>
              </a:rPr>
              <a:t>1</a:t>
            </a:r>
            <a:r>
              <a:rPr lang="zh-CN" alt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：</a:t>
            </a:r>
            <a:r>
              <a:rPr lang="en-US" altLang="zh-CN" b="1">
                <a:solidFill>
                  <a:schemeClr val="tx2">
                    <a:lumMod val="90000"/>
                    <a:lumOff val="10000"/>
                  </a:schemeClr>
                </a:solidFill>
              </a:rPr>
              <a:t>HDBSCAN </a:t>
            </a:r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地理聚类</a:t>
            </a:r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             </a:t>
            </a:r>
            <a:r>
              <a:rPr lang="en-US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→ </a:t>
            </a:r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其他条件不变时，</a:t>
            </a:r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kaggle</a:t>
            </a:r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分数由</a:t>
            </a:r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63.9</a:t>
            </a:r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提升至</a:t>
            </a:r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71.9</a:t>
            </a:r>
            <a:endParaRPr lang="en-US" altLang="zh-CN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-635" y="6314440"/>
            <a:ext cx="4117340" cy="316865"/>
          </a:xfrm>
          <a:solidFill>
            <a:schemeClr val="bg2">
              <a:lumMod val="75000"/>
            </a:schemeClr>
          </a:solidFill>
        </p:spPr>
        <p:txBody>
          <a:bodyPr/>
          <a:p>
            <a:r>
              <a:rPr lang="zh-CN" altLang="en-US" smtClean="0">
                <a:solidFill>
                  <a:schemeClr val="bg2">
                    <a:lumMod val="10000"/>
                  </a:schemeClr>
                </a:solidFill>
              </a:rPr>
              <a:t>2025-12-26</a:t>
            </a:r>
            <a:endParaRPr lang="zh-CN" altLang="en-US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075930" y="6314440"/>
            <a:ext cx="4116070" cy="316865"/>
          </a:xfrm>
          <a:solidFill>
            <a:schemeClr val="bg2">
              <a:lumMod val="75000"/>
            </a:schemeClr>
          </a:solidFill>
        </p:spPr>
        <p:txBody>
          <a:bodyPr/>
          <a:p>
            <a:fld id="{49AE70B2-8BF9-45C0-BB95-33D1B9D3A854}" type="slidenum">
              <a:rPr lang="zh-CN" altLang="en-US" smtClean="0">
                <a:solidFill>
                  <a:schemeClr val="bg2">
                    <a:lumMod val="10000"/>
                  </a:schemeClr>
                </a:solidFill>
              </a:rPr>
            </a:fld>
            <a:endParaRPr lang="zh-CN" altLang="en-US" dirty="0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solidFill>
            <a:schemeClr val="tx2">
              <a:lumMod val="10000"/>
              <a:lumOff val="90000"/>
            </a:schemeClr>
          </a:solidFill>
        </p:spPr>
        <p:txBody>
          <a:bodyPr/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Final Exam：Quant Modeling</a:t>
            </a:r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-635" y="300355"/>
            <a:ext cx="12192635" cy="669290"/>
          </a:xfrm>
          <a:prstGeom prst="roundRect">
            <a:avLst/>
          </a:prstGeom>
          <a:solidFill>
            <a:schemeClr val="bg2">
              <a:lumMod val="9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p>
            <a:pPr algn="l"/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3200">
                <a:solidFill>
                  <a:schemeClr val="bg2">
                    <a:lumMod val="25000"/>
                  </a:schemeClr>
                </a:solidFill>
              </a:rPr>
              <a:t> Data Processing</a:t>
            </a:r>
            <a:endParaRPr lang="en-US" altLang="zh-CN" sz="2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21665" y="1243965"/>
            <a:ext cx="10976610" cy="1481455"/>
          </a:xfrm>
        </p:spPr>
        <p:txBody>
          <a:bodyPr>
            <a:normAutofit fontScale="90000" lnSpcReduction="20000"/>
          </a:bodyPr>
          <a:p>
            <a:pPr algn="l"/>
            <a:r>
              <a:rPr lang="zh-CN" alt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创新点</a:t>
            </a:r>
            <a:r>
              <a:rPr lang="en-US" altLang="zh-CN" b="1">
                <a:solidFill>
                  <a:schemeClr val="tx2">
                    <a:lumMod val="90000"/>
                    <a:lumOff val="10000"/>
                  </a:schemeClr>
                </a:solidFill>
              </a:rPr>
              <a:t>2</a:t>
            </a:r>
            <a:r>
              <a:rPr lang="zh-CN" alt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：</a:t>
            </a:r>
            <a:r>
              <a:rPr lang="en-US" altLang="zh-CN" b="1">
                <a:solidFill>
                  <a:schemeClr val="tx2">
                    <a:lumMod val="90000"/>
                    <a:lumOff val="10000"/>
                  </a:schemeClr>
                </a:solidFill>
              </a:rPr>
              <a:t>Knowledge Ditillation(</a:t>
            </a:r>
            <a:r>
              <a:rPr lang="zh-CN" altLang="en-US" b="1">
                <a:solidFill>
                  <a:schemeClr val="tx2">
                    <a:lumMod val="90000"/>
                    <a:lumOff val="10000"/>
                  </a:schemeClr>
                </a:solidFill>
              </a:rPr>
              <a:t>小样本蒸馏</a:t>
            </a:r>
            <a:r>
              <a:rPr lang="en-US" altLang="zh-CN" b="1">
                <a:solidFill>
                  <a:schemeClr val="tx2">
                    <a:lumMod val="90000"/>
                    <a:lumOff val="10000"/>
                  </a:schemeClr>
                </a:solidFill>
              </a:rPr>
              <a:t>)</a:t>
            </a:r>
            <a:endParaRPr lang="zh-CN" altLang="en-US" b="1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             </a:t>
            </a:r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随机抽取</a:t>
            </a:r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300</a:t>
            </a:r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条数据用</a:t>
            </a:r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LLM</a:t>
            </a:r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读取</a:t>
            </a:r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zh-CN">
                <a:solidFill>
                  <a:schemeClr val="tx2">
                    <a:lumMod val="90000"/>
                    <a:lumOff val="10000"/>
                  </a:schemeClr>
                </a:solidFill>
              </a:rPr>
              <a:t>            TF-IDF+</a:t>
            </a:r>
            <a:r>
              <a:rPr lang="zh-CN" altLang="en-US">
                <a:solidFill>
                  <a:schemeClr val="tx2">
                    <a:lumMod val="90000"/>
                    <a:lumOff val="10000"/>
                  </a:schemeClr>
                </a:solidFill>
              </a:rPr>
              <a:t>逻辑回归训练模型，高效预测剩余数据</a:t>
            </a:r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l"/>
            <a:endParaRPr lang="en-US" altLang="zh-CN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-635" y="6314440"/>
            <a:ext cx="4117340" cy="316865"/>
          </a:xfrm>
          <a:solidFill>
            <a:schemeClr val="bg2">
              <a:lumMod val="75000"/>
            </a:schemeClr>
          </a:solidFill>
        </p:spPr>
        <p:txBody>
          <a:bodyPr/>
          <a:p>
            <a:r>
              <a:rPr lang="zh-CN" altLang="en-US" smtClean="0">
                <a:solidFill>
                  <a:schemeClr val="bg2">
                    <a:lumMod val="10000"/>
                  </a:schemeClr>
                </a:solidFill>
              </a:rPr>
              <a:t>2025-12-26</a:t>
            </a:r>
            <a:endParaRPr lang="zh-CN" altLang="en-US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075930" y="6314440"/>
            <a:ext cx="4116070" cy="316865"/>
          </a:xfrm>
          <a:solidFill>
            <a:schemeClr val="bg2">
              <a:lumMod val="75000"/>
            </a:schemeClr>
          </a:solidFill>
        </p:spPr>
        <p:txBody>
          <a:bodyPr/>
          <a:p>
            <a:fld id="{49AE70B2-8BF9-45C0-BB95-33D1B9D3A854}" type="slidenum">
              <a:rPr lang="zh-CN" altLang="en-US" smtClean="0">
                <a:solidFill>
                  <a:schemeClr val="bg2">
                    <a:lumMod val="10000"/>
                  </a:schemeClr>
                </a:solidFill>
              </a:rPr>
            </a:fld>
            <a:endParaRPr lang="zh-CN" altLang="en-US" dirty="0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solidFill>
            <a:schemeClr val="tx2">
              <a:lumMod val="10000"/>
              <a:lumOff val="90000"/>
            </a:schemeClr>
          </a:solidFill>
        </p:spPr>
        <p:txBody>
          <a:bodyPr/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Final Exam：Quant Modeling</a:t>
            </a:r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1784985" y="2725420"/>
          <a:ext cx="8620760" cy="3183890"/>
        </p:xfrm>
        <a:graphic>
          <a:graphicData uri="http://schemas.openxmlformats.org/drawingml/2006/table">
            <a:tbl>
              <a:tblPr firstRow="1" firstCol="1">
                <a:tableStyleId>{FAB352AD-07F3-481C-A319-16632E197356}</a:tableStyleId>
              </a:tblPr>
              <a:tblGrid>
                <a:gridCol w="2155190"/>
                <a:gridCol w="2155190"/>
                <a:gridCol w="2155190"/>
                <a:gridCol w="215519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/>
                        <a:t>Column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/>
                        <a:t>Positive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/>
                        <a:t>Negative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/>
                        <a:t>Neutral</a:t>
                      </a:r>
                      <a:endParaRPr lang="en-US" altLang="zh-CN" sz="2400"/>
                    </a:p>
                  </a:txBody>
                  <a:tcPr/>
                </a:tc>
              </a:tr>
              <a:tr h="4527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核心卖点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80.66%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0.00%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19.34%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648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户型介绍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28.13%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0.00%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71.87%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527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周边配套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53.61%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0.00%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46.39%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52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交通出行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44.84%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0.00%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sym typeface="+mn-ea"/>
                        </a:rPr>
                        <a:t>55.16%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52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客户反馈</a:t>
                      </a:r>
                      <a:r>
                        <a:rPr lang="en-US" altLang="zh-CN"/>
                        <a:t>_Price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44.59%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54.96%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0.45%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52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客户反馈</a:t>
                      </a:r>
                      <a:r>
                        <a:rPr lang="en-US" altLang="zh-CN"/>
                        <a:t>_Rent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53.44%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44.93%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1.63%</a:t>
                      </a:r>
                      <a:endParaRPr lang="en-US" altLang="zh-CN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-635" y="300355"/>
            <a:ext cx="12192635" cy="669290"/>
          </a:xfrm>
          <a:prstGeom prst="roundRect">
            <a:avLst/>
          </a:prstGeom>
          <a:solidFill>
            <a:schemeClr val="bg2">
              <a:lumMod val="9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p>
            <a:pPr algn="l"/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br>
              <a:rPr lang="en-US" altLang="zh-CN" sz="320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3200">
                <a:solidFill>
                  <a:schemeClr val="bg2">
                    <a:lumMod val="25000"/>
                  </a:schemeClr>
                </a:solidFill>
              </a:rPr>
              <a:t> Model Performances</a:t>
            </a:r>
            <a:endParaRPr lang="en-US" altLang="zh-CN" sz="2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-635" y="6314440"/>
            <a:ext cx="4117340" cy="316865"/>
          </a:xfrm>
          <a:solidFill>
            <a:schemeClr val="bg2">
              <a:lumMod val="75000"/>
            </a:schemeClr>
          </a:solidFill>
        </p:spPr>
        <p:txBody>
          <a:bodyPr/>
          <a:p>
            <a:r>
              <a:rPr lang="zh-CN" altLang="en-US" smtClean="0">
                <a:solidFill>
                  <a:schemeClr val="bg2">
                    <a:lumMod val="10000"/>
                  </a:schemeClr>
                </a:solidFill>
              </a:rPr>
              <a:t>2025-12-26</a:t>
            </a:r>
            <a:endParaRPr lang="zh-CN" altLang="en-US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075930" y="6314440"/>
            <a:ext cx="4116070" cy="316865"/>
          </a:xfrm>
          <a:solidFill>
            <a:schemeClr val="bg2">
              <a:lumMod val="75000"/>
            </a:schemeClr>
          </a:solidFill>
        </p:spPr>
        <p:txBody>
          <a:bodyPr/>
          <a:p>
            <a:fld id="{49AE70B2-8BF9-45C0-BB95-33D1B9D3A854}" type="slidenum">
              <a:rPr lang="zh-CN" altLang="en-US" smtClean="0">
                <a:solidFill>
                  <a:schemeClr val="bg2">
                    <a:lumMod val="10000"/>
                  </a:schemeClr>
                </a:solidFill>
              </a:rPr>
            </a:fld>
            <a:endParaRPr lang="zh-CN" altLang="en-US" dirty="0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solidFill>
            <a:schemeClr val="tx2">
              <a:lumMod val="10000"/>
              <a:lumOff val="90000"/>
            </a:schemeClr>
          </a:solidFill>
        </p:spPr>
        <p:txBody>
          <a:bodyPr/>
          <a:p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Final Exam：Quant Modeling</a:t>
            </a:r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8" name="图片 7" descr="58ba825c9128a42cf65f6d5bf4a282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120" y="1156970"/>
            <a:ext cx="4704080" cy="1762125"/>
          </a:xfrm>
          <a:prstGeom prst="rect">
            <a:avLst/>
          </a:prstGeom>
        </p:spPr>
      </p:pic>
      <p:pic>
        <p:nvPicPr>
          <p:cNvPr id="10" name="图片 9" descr="d44efc6b58c391b43f023e3df690dd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156970"/>
            <a:ext cx="4704715" cy="1714500"/>
          </a:xfrm>
          <a:prstGeom prst="rect">
            <a:avLst/>
          </a:prstGeom>
        </p:spPr>
      </p:pic>
      <p:graphicFrame>
        <p:nvGraphicFramePr>
          <p:cNvPr id="13" name="表格 12"/>
          <p:cNvGraphicFramePr/>
          <p:nvPr>
            <p:custDataLst>
              <p:tags r:id="rId4"/>
            </p:custDataLst>
          </p:nvPr>
        </p:nvGraphicFramePr>
        <p:xfrm>
          <a:off x="203200" y="3554730"/>
          <a:ext cx="7000875" cy="2333625"/>
        </p:xfrm>
        <a:graphic>
          <a:graphicData uri="http://schemas.openxmlformats.org/drawingml/2006/table">
            <a:tbl>
              <a:tblPr firstRow="1" bandRow="1">
                <a:tableStyleId>{0D91123C-907F-411D-8F2A-F8C70E92AEB0}</a:tableStyleId>
              </a:tblPr>
              <a:tblGrid>
                <a:gridCol w="1400175"/>
                <a:gridCol w="1400175"/>
                <a:gridCol w="1400175"/>
                <a:gridCol w="1400175"/>
                <a:gridCol w="1400175"/>
              </a:tblGrid>
              <a:tr h="4667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Model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OOS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CV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KS</a:t>
                      </a:r>
                      <a:endParaRPr lang="en-US" altLang="zh-CN"/>
                    </a:p>
                  </a:txBody>
                  <a:tcPr/>
                </a:tc>
              </a:tr>
              <a:tr h="4667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XGB_price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391.7k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463.9k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484.9k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75.9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667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XGB_rent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106.6k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124.0k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131.4k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75.9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667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XGB_price*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392.9k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464.7k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485.8k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75.9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667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XGB_rent*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106.3k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124.8k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131.6k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75.9</a:t>
                      </a:r>
                      <a:endParaRPr lang="en-US" altLang="zh-CN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图片 13" descr="bd9b2d2efdb06a7fa4faddcf15da30f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6350" y="969645"/>
            <a:ext cx="1895475" cy="1419225"/>
          </a:xfrm>
          <a:prstGeom prst="rect">
            <a:avLst/>
          </a:prstGeom>
        </p:spPr>
      </p:pic>
      <p:pic>
        <p:nvPicPr>
          <p:cNvPr id="15" name="图片 14" descr="db4cc57ffbc3137f829cab114aa6067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350" y="2388870"/>
            <a:ext cx="1905000" cy="142875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769860" y="3943350"/>
            <a:ext cx="3508375" cy="1945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ts val="1560"/>
              </a:lnSpc>
            </a:pPr>
            <a:r>
              <a:rPr lang="en-US" altLang="zh-CN">
                <a:solidFill>
                  <a:schemeClr val="bg2">
                    <a:lumMod val="10000"/>
                  </a:schemeClr>
                </a:solidFill>
              </a:rPr>
              <a:t>In = In-sample RMSE</a:t>
            </a:r>
            <a:endParaRPr lang="en-US" altLang="zh-CN">
              <a:solidFill>
                <a:schemeClr val="bg2">
                  <a:lumMod val="10000"/>
                </a:schemeClr>
              </a:solidFill>
            </a:endParaRPr>
          </a:p>
          <a:p>
            <a:pPr indent="0" fontAlgn="auto">
              <a:lnSpc>
                <a:spcPts val="1560"/>
              </a:lnSpc>
            </a:pPr>
            <a:endParaRPr lang="en-US" altLang="zh-CN">
              <a:solidFill>
                <a:schemeClr val="bg2">
                  <a:lumMod val="10000"/>
                </a:schemeClr>
              </a:solidFill>
            </a:endParaRPr>
          </a:p>
          <a:p>
            <a:pPr indent="0" fontAlgn="auto">
              <a:lnSpc>
                <a:spcPts val="1560"/>
              </a:lnSpc>
            </a:pPr>
            <a:r>
              <a:rPr lang="en-US" altLang="zh-CN">
                <a:solidFill>
                  <a:schemeClr val="bg2">
                    <a:lumMod val="10000"/>
                  </a:schemeClr>
                </a:solidFill>
              </a:rPr>
              <a:t>OOS = Out-of-sample RMSE</a:t>
            </a:r>
            <a:endParaRPr lang="en-US" altLang="zh-CN">
              <a:solidFill>
                <a:schemeClr val="bg2">
                  <a:lumMod val="10000"/>
                </a:schemeClr>
              </a:solidFill>
            </a:endParaRPr>
          </a:p>
          <a:p>
            <a:pPr indent="0" fontAlgn="auto">
              <a:lnSpc>
                <a:spcPts val="1560"/>
              </a:lnSpc>
            </a:pPr>
            <a:endParaRPr lang="en-US" altLang="zh-CN">
              <a:solidFill>
                <a:schemeClr val="bg2">
                  <a:lumMod val="10000"/>
                </a:schemeClr>
              </a:solidFill>
            </a:endParaRPr>
          </a:p>
          <a:p>
            <a:pPr indent="0" fontAlgn="auto">
              <a:lnSpc>
                <a:spcPts val="1560"/>
              </a:lnSpc>
            </a:pPr>
            <a:r>
              <a:rPr lang="en-US" altLang="zh-CN">
                <a:solidFill>
                  <a:schemeClr val="bg2">
                    <a:lumMod val="10000"/>
                  </a:schemeClr>
                </a:solidFill>
              </a:rPr>
              <a:t>CV = Cross-validation RMSE</a:t>
            </a:r>
            <a:endParaRPr lang="en-US" altLang="zh-CN">
              <a:solidFill>
                <a:schemeClr val="bg2">
                  <a:lumMod val="10000"/>
                </a:schemeClr>
              </a:solidFill>
            </a:endParaRPr>
          </a:p>
          <a:p>
            <a:pPr indent="0" fontAlgn="auto">
              <a:lnSpc>
                <a:spcPts val="1560"/>
              </a:lnSpc>
            </a:pPr>
            <a:endParaRPr lang="en-US" altLang="zh-CN">
              <a:solidFill>
                <a:schemeClr val="bg2">
                  <a:lumMod val="10000"/>
                </a:schemeClr>
              </a:solidFill>
            </a:endParaRPr>
          </a:p>
          <a:p>
            <a:pPr indent="0" fontAlgn="auto">
              <a:lnSpc>
                <a:spcPts val="1560"/>
              </a:lnSpc>
            </a:pPr>
            <a:r>
              <a:rPr lang="en-US" altLang="zh-CN">
                <a:solidFill>
                  <a:schemeClr val="bg2">
                    <a:lumMod val="10000"/>
                  </a:schemeClr>
                </a:solidFill>
              </a:rPr>
              <a:t>KS = Kaggle Score</a:t>
            </a:r>
            <a:endParaRPr lang="en-US" altLang="zh-CN">
              <a:solidFill>
                <a:schemeClr val="bg2">
                  <a:lumMod val="10000"/>
                </a:schemeClr>
              </a:solidFill>
            </a:endParaRPr>
          </a:p>
          <a:p>
            <a:pPr indent="0" fontAlgn="auto">
              <a:lnSpc>
                <a:spcPts val="1560"/>
              </a:lnSpc>
            </a:pPr>
            <a:endParaRPr lang="en-US" altLang="zh-CN">
              <a:solidFill>
                <a:schemeClr val="bg2">
                  <a:lumMod val="10000"/>
                </a:schemeClr>
              </a:solidFill>
            </a:endParaRPr>
          </a:p>
          <a:p>
            <a:pPr indent="0" fontAlgn="auto">
              <a:lnSpc>
                <a:spcPts val="1560"/>
              </a:lnSpc>
            </a:pPr>
            <a:r>
              <a:rPr lang="en-US" altLang="zh-CN">
                <a:solidFill>
                  <a:schemeClr val="bg2">
                    <a:lumMod val="10000"/>
                  </a:schemeClr>
                </a:solidFill>
              </a:rPr>
              <a:t>All values in thousands(k)</a:t>
            </a:r>
            <a:endParaRPr lang="en-US" altLang="zh-CN">
              <a:solidFill>
                <a:schemeClr val="bg2">
                  <a:lumMod val="10000"/>
                </a:schemeClr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TABLE_ENDDRAG_ORIGIN_RECT" val="678*249"/>
  <p:tag name="TABLE_ENDDRAG_RECT" val="140*236*678*249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29&quot;:[50000042],&quot;65&quot;:[20205081]}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TABLE_ENDDRAG_ORIGIN_RECT" val="551*183"/>
  <p:tag name="TABLE_ENDDRAG_RECT" val="398*99*551*183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29&quot;:[50052696],&quot;65&quot;:[20205081]}"/>
</p:tagLst>
</file>

<file path=ppt/tags/tag138.xml><?xml version="1.0" encoding="utf-8"?>
<p:tagLst xmlns:p="http://schemas.openxmlformats.org/presentationml/2006/main">
  <p:tag name="resource_record_key" val="{&quot;29&quot;:[50000042,50052696],&quot;65&quot;:[20205081],&quot;71&quot;:[76235680105]}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331D13"/>
      </a:dk2>
      <a:lt2>
        <a:srgbClr val="FBF7F6"/>
      </a:lt2>
      <a:accent1>
        <a:srgbClr val="645476"/>
      </a:accent1>
      <a:accent2>
        <a:srgbClr val="877CA1"/>
      </a:accent2>
      <a:accent3>
        <a:srgbClr val="A55E3F"/>
      </a:accent3>
      <a:accent4>
        <a:srgbClr val="BD7E64"/>
      </a:accent4>
      <a:accent5>
        <a:srgbClr val="CBAE7B"/>
      </a:accent5>
      <a:accent6>
        <a:srgbClr val="56464F"/>
      </a:accent6>
      <a:hlink>
        <a:srgbClr val="0026E5"/>
      </a:hlink>
      <a:folHlink>
        <a:srgbClr val="7E1FAD"/>
      </a:folHlink>
    </a:clrScheme>
    <a:fontScheme name="">
      <a:majorFont>
        <a:latin typeface="MiSans Bold"/>
        <a:ea typeface="汉仪劲楷简"/>
        <a:cs typeface=""/>
      </a:majorFont>
      <a:minorFont>
        <a:latin typeface="MiSans"/>
        <a:ea typeface="汉仪楷体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331D13"/>
      </a:dk2>
      <a:lt2>
        <a:srgbClr val="FBF7F6"/>
      </a:lt2>
      <a:accent1>
        <a:srgbClr val="645476"/>
      </a:accent1>
      <a:accent2>
        <a:srgbClr val="877CA1"/>
      </a:accent2>
      <a:accent3>
        <a:srgbClr val="A55E3F"/>
      </a:accent3>
      <a:accent4>
        <a:srgbClr val="BD7E64"/>
      </a:accent4>
      <a:accent5>
        <a:srgbClr val="CBAE7B"/>
      </a:accent5>
      <a:accent6>
        <a:srgbClr val="56464F"/>
      </a:accent6>
      <a:hlink>
        <a:srgbClr val="0026E5"/>
      </a:hlink>
      <a:folHlink>
        <a:srgbClr val="7E1FAD"/>
      </a:folHlink>
    </a:clrScheme>
    <a:fontScheme name="">
      <a:majorFont>
        <a:latin typeface="MiSans Bold"/>
        <a:ea typeface="汉仪劲楷简"/>
        <a:cs typeface=""/>
      </a:majorFont>
      <a:minorFont>
        <a:latin typeface="MiSans"/>
        <a:ea typeface="汉仪楷体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</Words>
  <Application>WPS 演示</Application>
  <PresentationFormat>宽屏</PresentationFormat>
  <Paragraphs>166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MiSans Bold</vt:lpstr>
      <vt:lpstr>汉仪劲楷简</vt:lpstr>
      <vt:lpstr>MiSans</vt:lpstr>
      <vt:lpstr>汉仪楷体简</vt:lpstr>
      <vt:lpstr>1_WPS</vt:lpstr>
      <vt:lpstr>2_WPS</vt:lpstr>
      <vt:lpstr>PowerPoint 演示文稿</vt:lpstr>
      <vt:lpstr>   Housing Price and Rent Prediction  Final Exam： Quant Modeling</vt:lpstr>
      <vt:lpstr>    Data Processing</vt:lpstr>
      <vt:lpstr>    Data Processing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WPS_1643988555</cp:lastModifiedBy>
  <cp:revision>161</cp:revision>
  <dcterms:created xsi:type="dcterms:W3CDTF">2019-06-19T02:08:00Z</dcterms:created>
  <dcterms:modified xsi:type="dcterms:W3CDTF">2025-12-25T14:25:35Z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180F5A056EA0424180845016F1A36564_13</vt:lpwstr>
  </property>
</Properties>
</file>