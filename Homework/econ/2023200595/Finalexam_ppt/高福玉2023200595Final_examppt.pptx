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1"/>
        <p:guide pos="38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882D7-5162-4D48-8AE3-AC2DCA4E55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5606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0" b="8260"/>
          <a:stretch>
            <a:fillRect/>
          </a:stretch>
        </p:blipFill>
        <p:spPr bwMode="auto">
          <a:xfrm>
            <a:off x="0" y="2013272"/>
            <a:ext cx="12187003" cy="317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/>
          <p:cNvSpPr/>
          <p:nvPr/>
        </p:nvSpPr>
        <p:spPr>
          <a:xfrm>
            <a:off x="0" y="2007321"/>
            <a:ext cx="12191999" cy="3183250"/>
          </a:xfrm>
          <a:prstGeom prst="rect">
            <a:avLst/>
          </a:prstGeom>
          <a:gradFill>
            <a:gsLst>
              <a:gs pos="0">
                <a:srgbClr val="A3050E"/>
              </a:gs>
              <a:gs pos="74000">
                <a:srgbClr val="A3050E">
                  <a:alpha val="60000"/>
                </a:srgbClr>
              </a:gs>
              <a:gs pos="37000">
                <a:srgbClr val="A3050E">
                  <a:alpha val="80000"/>
                </a:srgbClr>
              </a:gs>
              <a:gs pos="100000">
                <a:srgbClr val="A3050E">
                  <a:alpha val="90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python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于人工智能第五小组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成员展示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展示人：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2023200595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高福玉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41" name="Group 15"/>
          <p:cNvGrpSpPr/>
          <p:nvPr/>
        </p:nvGrpSpPr>
        <p:grpSpPr>
          <a:xfrm>
            <a:off x="-310514" y="2321859"/>
            <a:ext cx="12215445" cy="2501922"/>
            <a:chOff x="-1504285" y="2557284"/>
            <a:chExt cx="10824150" cy="2501922"/>
          </a:xfrm>
        </p:grpSpPr>
        <p:sp>
          <p:nvSpPr>
            <p:cNvPr id="42" name="Rectangle 9"/>
            <p:cNvSpPr/>
            <p:nvPr/>
          </p:nvSpPr>
          <p:spPr>
            <a:xfrm>
              <a:off x="-1079235" y="2557284"/>
              <a:ext cx="9948846" cy="10147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43" name="Rectangle 10"/>
            <p:cNvSpPr/>
            <p:nvPr/>
          </p:nvSpPr>
          <p:spPr>
            <a:xfrm>
              <a:off x="-1504285" y="4690906"/>
              <a:ext cx="10824150" cy="3683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>
            <a:endCxn id="22" idx="1"/>
          </p:cNvCxnSpPr>
          <p:nvPr/>
        </p:nvCxnSpPr>
        <p:spPr>
          <a:xfrm>
            <a:off x="-884420" y="5455934"/>
            <a:ext cx="6228990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cxnSp>
        <p:nvCxnSpPr>
          <p:cNvPr id="45" name="直接连接符 44"/>
          <p:cNvCxnSpPr>
            <a:stCxn id="22" idx="3"/>
          </p:cNvCxnSpPr>
          <p:nvPr/>
        </p:nvCxnSpPr>
        <p:spPr>
          <a:xfrm flipV="1">
            <a:off x="6870876" y="5455934"/>
            <a:ext cx="5975694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grpSp>
        <p:nvGrpSpPr>
          <p:cNvPr id="18" name="组合 17"/>
          <p:cNvGrpSpPr/>
          <p:nvPr/>
        </p:nvGrpSpPr>
        <p:grpSpPr>
          <a:xfrm>
            <a:off x="3546045" y="503548"/>
            <a:ext cx="4751224" cy="1310637"/>
            <a:chOff x="1013385" y="386506"/>
            <a:chExt cx="4228542" cy="1166454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3385" y="386506"/>
              <a:ext cx="1161573" cy="1166454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341918" y="523819"/>
              <a:ext cx="2896218" cy="640678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2301895" y="1128876"/>
              <a:ext cx="2940032" cy="3013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600" b="1" dirty="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RENMIN UNIVERSITY OF CHINA</a:t>
              </a:r>
              <a:endParaRPr lang="zh-CN" altLang="en-US" sz="1600" b="1" dirty="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2312" y="5298734"/>
            <a:ext cx="1390821" cy="40084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58945" y="5883910"/>
            <a:ext cx="713803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latin typeface="+mn-ea"/>
              </a:rPr>
              <a:t>小组成员：李欣芮</a:t>
            </a:r>
            <a:r>
              <a:rPr lang="en-US" altLang="zh-CN" sz="2000" dirty="0" smtClean="0">
                <a:latin typeface="+mn-ea"/>
              </a:rPr>
              <a:t> </a:t>
            </a:r>
            <a:r>
              <a:rPr lang="zh-CN" altLang="en-US" sz="2000" dirty="0" smtClean="0">
                <a:latin typeface="+mn-ea"/>
              </a:rPr>
              <a:t>高福玉</a:t>
            </a:r>
            <a:r>
              <a:rPr lang="en-US" altLang="zh-CN" sz="2000" dirty="0" smtClean="0">
                <a:latin typeface="+mn-ea"/>
              </a:rPr>
              <a:t> </a:t>
            </a:r>
            <a:r>
              <a:rPr lang="zh-CN" altLang="en-US" sz="2000" dirty="0" smtClean="0">
                <a:latin typeface="+mn-ea"/>
              </a:rPr>
              <a:t>黄</a:t>
            </a:r>
            <a:r>
              <a:rPr lang="zh-CN" altLang="en-US" sz="2000" dirty="0" smtClean="0">
                <a:latin typeface="+mn-ea"/>
              </a:rPr>
              <a:t>皆瑞</a:t>
            </a:r>
            <a:endParaRPr lang="zh-CN" altLang="en-US" sz="2000" dirty="0" smtClean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925195" y="209550"/>
          <a:ext cx="10577830" cy="3114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296160"/>
                <a:gridCol w="2463165"/>
                <a:gridCol w="1612265"/>
              </a:tblGrid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Price Metrics</a:t>
                      </a:r>
                      <a:endParaRPr lang="en-US" altLang="zh-CN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In sample mae/rmse</a:t>
                      </a:r>
                      <a:endParaRPr lang="en-US" altLang="zh-CN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out of sample mae/rmse</a:t>
                      </a:r>
                      <a:endParaRPr lang="en-US" altLang="zh-CN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Cross-validation mae/rmse</a:t>
                      </a:r>
                      <a:endParaRPr lang="en-US" altLang="zh-CN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kaggle</a:t>
                      </a:r>
                      <a:endParaRPr lang="en-US" altLang="zh-CN" sz="2000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Midterm Linear Model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429249/916682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432013/925915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431483/927320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30.9</a:t>
                      </a:r>
                      <a:endParaRPr lang="en-US" altLang="zh-CN"/>
                    </a:p>
                  </a:txBody>
                  <a:tcPr/>
                </a:tc>
              </a:tr>
              <a:tr h="582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random</a:t>
                      </a:r>
                      <a:r>
                        <a:rPr lang="en-US" altLang="zh-CN"/>
                        <a:t>forest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108434/251150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229393/728451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222820/502319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76.2</a:t>
                      </a:r>
                      <a:endParaRPr lang="en-US" altLang="zh-CN"/>
                    </a:p>
                  </a:txBody>
                  <a:tcPr/>
                </a:tc>
              </a:tr>
              <a:tr h="5505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Light</a:t>
                      </a:r>
                      <a:r>
                        <a:rPr lang="en-US" altLang="zh-CN"/>
                        <a:t>GBM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152449/284659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221660/643610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207333/426250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76.3</a:t>
                      </a:r>
                      <a:endParaRPr lang="en-US" altLang="zh-CN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best </a:t>
                      </a:r>
                      <a:r>
                        <a:rPr lang="en-US" altLang="zh-CN"/>
                        <a:t>model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152449/284659</a:t>
                      </a:r>
                      <a:endParaRPr lang="en-US" altLang="zh-CN" sz="1800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221660/643610</a:t>
                      </a:r>
                      <a:endParaRPr lang="en-US" altLang="zh-CN" sz="1800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207333/426250</a:t>
                      </a:r>
                      <a:endParaRPr lang="en-US" altLang="zh-CN" sz="1800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76.3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925195" y="3324225"/>
          <a:ext cx="10577830" cy="3114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296160"/>
                <a:gridCol w="2463165"/>
                <a:gridCol w="1612265"/>
              </a:tblGrid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rent Metrics</a:t>
                      </a:r>
                      <a:endParaRPr lang="en-US" altLang="zh-CN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In sample mae/rmse</a:t>
                      </a:r>
                      <a:endParaRPr lang="en-US" altLang="zh-CN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out of sample mae/rmse</a:t>
                      </a:r>
                      <a:endParaRPr lang="en-US" altLang="zh-CN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Cross-validation mae/rmse</a:t>
                      </a:r>
                      <a:endParaRPr lang="en-US" altLang="zh-CN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kaggle</a:t>
                      </a:r>
                      <a:endParaRPr lang="en-US" altLang="zh-CN" sz="2000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Midterm Linear Model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102969/255040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103,088/262,156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1030015/259654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30.9</a:t>
                      </a:r>
                      <a:endParaRPr lang="en-US" altLang="zh-CN"/>
                    </a:p>
                  </a:txBody>
                  <a:tcPr/>
                </a:tc>
              </a:tr>
              <a:tr h="582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random</a:t>
                      </a:r>
                      <a:r>
                        <a:rPr lang="en-US" altLang="zh-CN"/>
                        <a:t>forest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36236/103721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68871/169190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77994/203811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76.2</a:t>
                      </a:r>
                      <a:endParaRPr lang="en-US" altLang="zh-CN"/>
                    </a:p>
                  </a:txBody>
                  <a:tcPr/>
                </a:tc>
              </a:tr>
              <a:tr h="5505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Light</a:t>
                      </a:r>
                      <a:r>
                        <a:rPr lang="en-US" altLang="zh-CN"/>
                        <a:t>GBM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108317/284659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67683/156228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69291/171817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76.3</a:t>
                      </a:r>
                      <a:endParaRPr lang="en-US" altLang="zh-CN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best </a:t>
                      </a:r>
                      <a:r>
                        <a:rPr lang="en-US" altLang="zh-CN"/>
                        <a:t>model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108317/284659</a:t>
                      </a:r>
                      <a:endParaRPr lang="en-US" altLang="zh-CN" sz="1800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67683/156228</a:t>
                      </a:r>
                      <a:endParaRPr lang="en-US" altLang="zh-CN" sz="1800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69291/171817</a:t>
                      </a:r>
                      <a:endParaRPr lang="en-US" altLang="zh-CN" sz="1800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76.3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6675"/>
            <a:ext cx="10515600" cy="835660"/>
          </a:xfrm>
        </p:spPr>
        <p:txBody>
          <a:bodyPr/>
          <a:p>
            <a:r>
              <a:rPr lang="zh-CN" altLang="en-US" sz="3600"/>
              <a:t>数据处理创新点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30580"/>
            <a:ext cx="10515600" cy="5196840"/>
          </a:xfrm>
        </p:spPr>
        <p:txBody>
          <a:bodyPr/>
          <a:p>
            <a:r>
              <a:rPr lang="en-US" altLang="zh-CN"/>
              <a:t>1</a:t>
            </a:r>
            <a:r>
              <a:rPr lang="zh-CN" altLang="en-US"/>
              <a:t>，地理位置采用三维颗粒：城市，聚类，经纬度，在树上逐步推进精度，减少拟合程度不够和过拟合问题。（聚类是在期中由板块数据</a:t>
            </a:r>
            <a:r>
              <a:rPr lang="en-US" altLang="zh-CN"/>
              <a:t>kmeans</a:t>
            </a:r>
            <a:r>
              <a:rPr lang="zh-CN" altLang="en-US"/>
              <a:t>得来）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，对价格采取对数处理，</a:t>
            </a:r>
            <a:r>
              <a:rPr lang="en-US" altLang="zh-CN"/>
              <a:t>kaggle75</a:t>
            </a:r>
            <a:r>
              <a:rPr lang="zh-CN" altLang="en-US"/>
              <a:t>➡</a:t>
            </a:r>
            <a:r>
              <a:rPr lang="en-US" altLang="zh-CN"/>
              <a:t>76</a:t>
            </a:r>
            <a:r>
              <a:rPr lang="zh-CN" altLang="en-US"/>
              <a:t>，减少偏度带来的</a:t>
            </a:r>
            <a:r>
              <a:rPr lang="zh-CN" altLang="en-US"/>
              <a:t>影响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，引入经济学特征，如面积分箱，每室面积等房地产重要特征，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215" y="2688590"/>
            <a:ext cx="4067175" cy="7404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29735"/>
            <a:ext cx="4777740" cy="21310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320" y="4229735"/>
            <a:ext cx="5320665" cy="21291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4140"/>
            <a:ext cx="10515600" cy="815975"/>
          </a:xfrm>
        </p:spPr>
        <p:txBody>
          <a:bodyPr/>
          <a:p>
            <a:r>
              <a:rPr lang="zh-CN" altLang="en-US" sz="3600"/>
              <a:t>模型</a:t>
            </a:r>
            <a:r>
              <a:rPr lang="zh-CN" altLang="en-US" sz="3600"/>
              <a:t>创新点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1630" y="741045"/>
            <a:ext cx="11081385" cy="6116955"/>
          </a:xfrm>
        </p:spPr>
        <p:txBody>
          <a:bodyPr>
            <a:normAutofit lnSpcReduction="10000"/>
          </a:bodyPr>
          <a:p>
            <a:r>
              <a:rPr lang="en-US" altLang="zh-CN" sz="2000"/>
              <a:t>1</a:t>
            </a:r>
            <a:r>
              <a:rPr lang="zh-CN" altLang="en-US" sz="2000"/>
              <a:t>，迁移学习的弱形式，</a:t>
            </a:r>
            <a:r>
              <a:rPr lang="en-US" altLang="zh-CN" sz="2000"/>
              <a:t>rf</a:t>
            </a:r>
            <a:r>
              <a:rPr lang="zh-CN" altLang="en-US" sz="2000"/>
              <a:t>模型中，由于树的</a:t>
            </a:r>
            <a:r>
              <a:rPr lang="en-US" altLang="zh-CN" sz="2000"/>
              <a:t>split</a:t>
            </a:r>
            <a:r>
              <a:rPr lang="zh-CN" altLang="en-US" sz="2000"/>
              <a:t>和</a:t>
            </a:r>
            <a:r>
              <a:rPr lang="en-US" altLang="zh-CN" sz="2000"/>
              <a:t>leaf</a:t>
            </a:r>
            <a:r>
              <a:rPr lang="zh-CN" altLang="en-US" sz="2000"/>
              <a:t>小，树容易分裂造成深结构，训练时间成本大，采用</a:t>
            </a:r>
            <a:r>
              <a:rPr lang="en-US" altLang="zh-CN" sz="2000"/>
              <a:t>“</a:t>
            </a:r>
            <a:r>
              <a:rPr lang="zh-CN" altLang="en-US" sz="2000"/>
              <a:t>半数样本超参数搜索</a:t>
            </a:r>
            <a:r>
              <a:rPr lang="en-US" altLang="zh-CN" sz="2000"/>
              <a:t> + </a:t>
            </a:r>
            <a:r>
              <a:rPr lang="zh-CN" altLang="en-US" sz="2000"/>
              <a:t>全样本模型训练</a:t>
            </a:r>
            <a:r>
              <a:rPr lang="en-US" altLang="zh-CN" sz="2000"/>
              <a:t>”</a:t>
            </a:r>
            <a:r>
              <a:rPr lang="zh-CN" altLang="en-US" sz="2000"/>
              <a:t>的策略，</a:t>
            </a:r>
            <a:r>
              <a:rPr lang="en-US" altLang="zh-CN" sz="2000"/>
              <a:t>cv</a:t>
            </a:r>
            <a:r>
              <a:rPr lang="zh-CN" altLang="en-US" sz="2000"/>
              <a:t>设定为</a:t>
            </a:r>
            <a:r>
              <a:rPr lang="en-US" altLang="zh-CN" sz="2000"/>
              <a:t>4</a:t>
            </a:r>
            <a:r>
              <a:rPr lang="zh-CN" altLang="en-US" sz="2000"/>
              <a:t>，用一般样本超参搜索，在</a:t>
            </a:r>
            <a:r>
              <a:rPr lang="en-US" altLang="zh-CN" sz="2000"/>
              <a:t>40</a:t>
            </a:r>
            <a:r>
              <a:rPr lang="zh-CN" altLang="en-US" sz="2000"/>
              <a:t>和</a:t>
            </a:r>
            <a:r>
              <a:rPr lang="en-US" altLang="zh-CN" sz="2000"/>
              <a:t>80trail</a:t>
            </a:r>
            <a:r>
              <a:rPr lang="zh-CN" altLang="en-US" sz="2000"/>
              <a:t>中选择性能和速率并存的</a:t>
            </a:r>
            <a:r>
              <a:rPr lang="en-US" altLang="zh-CN" sz="2000"/>
              <a:t>50</a:t>
            </a:r>
            <a:r>
              <a:rPr lang="zh-CN" altLang="en-US" sz="2000"/>
              <a:t>（</a:t>
            </a:r>
            <a:r>
              <a:rPr lang="en-US" altLang="zh-CN" sz="2000"/>
              <a:t>lgbm</a:t>
            </a:r>
            <a:r>
              <a:rPr lang="zh-CN" altLang="en-US" sz="2000"/>
              <a:t>是</a:t>
            </a:r>
            <a:r>
              <a:rPr lang="en-US" altLang="zh-CN" sz="2000"/>
              <a:t>60</a:t>
            </a:r>
            <a:r>
              <a:rPr lang="zh-CN" altLang="en-US" sz="2000"/>
              <a:t>，全训练集</a:t>
            </a:r>
            <a:r>
              <a:rPr lang="zh-CN" altLang="en-US" sz="2000"/>
              <a:t>训练），在保证模型性能的前提下显著降低了调参的计算成本，提高了整体建模效率</a:t>
            </a:r>
            <a:endParaRPr lang="zh-CN" altLang="en-US" sz="2000"/>
          </a:p>
          <a:p>
            <a:r>
              <a:rPr lang="en-US" altLang="zh-CN" sz="2000"/>
              <a:t>2</a:t>
            </a:r>
            <a:r>
              <a:rPr lang="zh-CN" altLang="en-US" sz="2000"/>
              <a:t>，引入贝叶斯优化（</a:t>
            </a:r>
            <a:r>
              <a:rPr lang="en-US" altLang="zh-CN" sz="2000"/>
              <a:t>Optuna</a:t>
            </a:r>
            <a:r>
              <a:rPr lang="zh-CN" altLang="en-US" sz="2000"/>
              <a:t>），这是最核心的创新，也是最可以提升性能的一步，这里最关键的点在于超参参数范围的设定和选择，</a:t>
            </a:r>
            <a:r>
              <a:rPr lang="en-US" altLang="zh-CN" sz="2000"/>
              <a:t>rf</a:t>
            </a:r>
            <a:r>
              <a:rPr lang="zh-CN" altLang="en-US" sz="2000"/>
              <a:t>和</a:t>
            </a:r>
            <a:r>
              <a:rPr lang="en-US" altLang="zh-CN" sz="2000"/>
              <a:t>lgbm</a:t>
            </a:r>
            <a:r>
              <a:rPr lang="zh-CN" altLang="en-US" sz="2000"/>
              <a:t>模型的不同，选择的参数的范围和</a:t>
            </a:r>
            <a:r>
              <a:rPr lang="zh-CN" altLang="en-US" sz="2000"/>
              <a:t>类型也不同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，原本的</a:t>
            </a:r>
            <a:r>
              <a:rPr lang="en-US" altLang="zh-CN" sz="2000">
                <a:sym typeface="+mn-ea"/>
              </a:rPr>
              <a:t>best_trail</a:t>
            </a:r>
            <a:r>
              <a:rPr lang="zh-CN" altLang="en-US" sz="2000">
                <a:sym typeface="+mn-ea"/>
              </a:rPr>
              <a:t>只基于</a:t>
            </a:r>
            <a:r>
              <a:rPr lang="en-US" altLang="zh-CN" sz="2000">
                <a:sym typeface="+mn-ea"/>
              </a:rPr>
              <a:t>Mae</a:t>
            </a:r>
            <a:r>
              <a:rPr lang="zh-CN" altLang="en-US" sz="2000">
                <a:sym typeface="+mn-ea"/>
              </a:rPr>
              <a:t>，但为保证模型的最优，我的选择是三个最小</a:t>
            </a:r>
            <a:r>
              <a:rPr lang="en-US" altLang="zh-CN" sz="2000">
                <a:sym typeface="+mn-ea"/>
              </a:rPr>
              <a:t>Mae</a:t>
            </a:r>
            <a:r>
              <a:rPr lang="zh-CN" altLang="en-US" sz="2000">
                <a:sym typeface="+mn-ea"/>
              </a:rPr>
              <a:t>模型选最小</a:t>
            </a:r>
            <a:r>
              <a:rPr lang="en-US" altLang="zh-CN" sz="2000">
                <a:sym typeface="+mn-ea"/>
              </a:rPr>
              <a:t>rmse</a:t>
            </a:r>
            <a:r>
              <a:rPr lang="zh-CN" altLang="en-US" sz="2000">
                <a:sym typeface="+mn-ea"/>
              </a:rPr>
              <a:t>，尽可能保证</a:t>
            </a:r>
            <a:r>
              <a:rPr lang="zh-CN" altLang="en-US" sz="2000">
                <a:sym typeface="+mn-ea"/>
              </a:rPr>
              <a:t>半样本下的超参系数可以更好的应用到全训练集</a:t>
            </a:r>
            <a:endParaRPr lang="en-US" altLang="zh-CN" sz="2000"/>
          </a:p>
          <a:p>
            <a:endParaRPr lang="en-US" altLang="zh-CN" sz="2000"/>
          </a:p>
          <a:p>
            <a:endParaRPr lang="zh-CN" altLang="en-US" sz="2000"/>
          </a:p>
          <a:p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，同时引入分段可视化和</a:t>
            </a:r>
            <a:r>
              <a:rPr lang="en-US" altLang="zh-CN" sz="2000">
                <a:sym typeface="+mn-ea"/>
              </a:rPr>
              <a:t>Lgbm</a:t>
            </a:r>
            <a:r>
              <a:rPr lang="zh-CN" altLang="en-US" sz="2000">
                <a:sym typeface="+mn-ea"/>
              </a:rPr>
              <a:t>建模，查看各个区间的预测精度，特别是比较极端的高价值房价，方便进行下一步的高端房价预测（虽然高价房子最后的结果</a:t>
            </a:r>
            <a:r>
              <a:rPr lang="en-US" altLang="zh-CN" sz="2000">
                <a:sym typeface="+mn-ea"/>
              </a:rPr>
              <a:t>rmse</a:t>
            </a:r>
            <a:r>
              <a:rPr lang="zh-CN" altLang="en-US" sz="2000">
                <a:sym typeface="+mn-ea"/>
              </a:rPr>
              <a:t>更差了）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pPr marL="0" indent="0">
              <a:buNone/>
            </a:pPr>
            <a:endParaRPr lang="en-US" altLang="zh-CN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9175" y="104140"/>
            <a:ext cx="1716405" cy="6534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15" y="2413000"/>
            <a:ext cx="4955540" cy="22275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485" y="2412365"/>
            <a:ext cx="5149850" cy="22282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670" y="5398135"/>
            <a:ext cx="4833620" cy="5784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32*240"/>
  <p:tag name="TABLE_ENDDRAG_RECT" val="72*16*832*240"/>
</p:tagLst>
</file>

<file path=ppt/tags/tag2.xml><?xml version="1.0" encoding="utf-8"?>
<p:tagLst xmlns:p="http://schemas.openxmlformats.org/presentationml/2006/main">
  <p:tag name="TABLE_ENDDRAG_ORIGIN_RECT" val="832*240"/>
  <p:tag name="TABLE_ENDDRAG_RECT" val="72*16*832*24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1248</Words>
  <Application>WPS 演示</Application>
  <PresentationFormat>宽屏</PresentationFormat>
  <Paragraphs>150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阿里巴巴普惠体 B</vt:lpstr>
      <vt:lpstr>微软雅黑 Light</vt:lpstr>
      <vt:lpstr>Calibri</vt:lpstr>
      <vt:lpstr>Arial Unicode MS</vt:lpstr>
      <vt:lpstr>Calibri</vt:lpstr>
      <vt:lpstr>WPS</vt:lpstr>
      <vt:lpstr>PowerPoint 演示文稿</vt:lpstr>
      <vt:lpstr>PowerPoint 演示文稿</vt:lpstr>
      <vt:lpstr>数据处理创新点</vt:lpstr>
      <vt:lpstr>模型创新点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      </cp:lastModifiedBy>
  <cp:revision>6</cp:revision>
  <dcterms:created xsi:type="dcterms:W3CDTF">2023-08-09T12:44:00Z</dcterms:created>
  <dcterms:modified xsi:type="dcterms:W3CDTF">2025-12-25T14:46:50Z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9E16EA950342470DBF3459E63C56BE62_12</vt:lpwstr>
  </property>
</Properties>
</file>