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7" r:id="rId3"/>
    <p:sldId id="258" r:id="rId5"/>
    <p:sldId id="259" r:id="rId6"/>
    <p:sldId id="260" r:id="rId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1" userDrawn="1">
          <p15:clr>
            <a:srgbClr val="A4A3A4"/>
          </p15:clr>
        </p15:guide>
        <p15:guide id="2" pos="380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51"/>
        <p:guide pos="380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viewProps" Target="viewProps.xml"/><Relationship Id="rId8" Type="http://schemas.openxmlformats.org/officeDocument/2006/relationships/presProps" Target="presProps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0" Type="http://schemas.openxmlformats.org/officeDocument/2006/relationships/tableStyles" Target="tableStyles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A882D7-5162-4D48-8AE3-AC2DCA4E555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过渡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图片占位符 11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4056063"/>
          </a:xfrm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.xml"/><Relationship Id="rId5" Type="http://schemas.openxmlformats.org/officeDocument/2006/relationships/slideLayout" Target="../slideLayouts/slideLayout12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11.png"/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260" b="8260"/>
          <a:stretch>
            <a:fillRect/>
          </a:stretch>
        </p:blipFill>
        <p:spPr bwMode="auto">
          <a:xfrm>
            <a:off x="0" y="2013272"/>
            <a:ext cx="12187003" cy="3177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矩形 27"/>
          <p:cNvSpPr/>
          <p:nvPr/>
        </p:nvSpPr>
        <p:spPr>
          <a:xfrm>
            <a:off x="0" y="2007321"/>
            <a:ext cx="12191999" cy="3183250"/>
          </a:xfrm>
          <a:prstGeom prst="rect">
            <a:avLst/>
          </a:prstGeom>
          <a:gradFill>
            <a:gsLst>
              <a:gs pos="0">
                <a:srgbClr val="A3050E"/>
              </a:gs>
              <a:gs pos="74000">
                <a:srgbClr val="A3050E">
                  <a:alpha val="60000"/>
                </a:srgbClr>
              </a:gs>
              <a:gs pos="37000">
                <a:srgbClr val="A3050E">
                  <a:alpha val="80000"/>
                </a:srgbClr>
              </a:gs>
              <a:gs pos="100000">
                <a:srgbClr val="A3050E">
                  <a:alpha val="90000"/>
                </a:srgb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3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微软雅黑" panose="020B0503020204020204" charset="-122"/>
                <a:cs typeface="+mn-ea"/>
                <a:sym typeface="+mn-lt"/>
              </a:rPr>
              <a:t>python</a:t>
            </a:r>
            <a:r>
              <a:rPr kumimoji="0" lang="zh-CN" altLang="en-US" sz="3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微软雅黑" panose="020B0503020204020204" charset="-122"/>
                <a:cs typeface="+mn-ea"/>
                <a:sym typeface="+mn-lt"/>
              </a:rPr>
              <a:t>于人工智能第五小组</a:t>
            </a:r>
            <a:r>
              <a:rPr kumimoji="0" lang="zh-CN" altLang="en-US" sz="3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微软雅黑" panose="020B0503020204020204" charset="-122"/>
                <a:cs typeface="+mn-ea"/>
                <a:sym typeface="+mn-lt"/>
              </a:rPr>
              <a:t>成员展示</a:t>
            </a:r>
            <a:endParaRPr kumimoji="0" lang="zh-CN" altLang="en-US" sz="32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charset="-122"/>
              <a:cs typeface="+mn-ea"/>
              <a:sym typeface="+mn-l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3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微软雅黑" panose="020B0503020204020204" charset="-122"/>
                <a:cs typeface="+mn-ea"/>
                <a:sym typeface="+mn-lt"/>
              </a:rPr>
              <a:t>展示人：</a:t>
            </a:r>
            <a:r>
              <a:rPr kumimoji="0" lang="en-US" altLang="zh-CN" sz="3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微软雅黑" panose="020B0503020204020204" charset="-122"/>
                <a:cs typeface="+mn-ea"/>
                <a:sym typeface="+mn-lt"/>
              </a:rPr>
              <a:t>2023200595</a:t>
            </a:r>
            <a:r>
              <a:rPr kumimoji="0" lang="zh-CN" altLang="en-US" sz="3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微软雅黑" panose="020B0503020204020204" charset="-122"/>
                <a:cs typeface="+mn-ea"/>
                <a:sym typeface="+mn-lt"/>
              </a:rPr>
              <a:t>高福玉</a:t>
            </a:r>
            <a:endParaRPr kumimoji="0" lang="zh-CN" altLang="en-US" sz="32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charset="-122"/>
              <a:cs typeface="+mn-ea"/>
              <a:sym typeface="+mn-l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charset="-122"/>
              <a:cs typeface="+mn-ea"/>
              <a:sym typeface="+mn-lt"/>
            </a:endParaRPr>
          </a:p>
        </p:txBody>
      </p:sp>
      <p:grpSp>
        <p:nvGrpSpPr>
          <p:cNvPr id="41" name="Group 15"/>
          <p:cNvGrpSpPr/>
          <p:nvPr/>
        </p:nvGrpSpPr>
        <p:grpSpPr>
          <a:xfrm>
            <a:off x="-310514" y="2321859"/>
            <a:ext cx="12215445" cy="2501922"/>
            <a:chOff x="-1504285" y="2557284"/>
            <a:chExt cx="10824150" cy="2501922"/>
          </a:xfrm>
        </p:grpSpPr>
        <p:sp>
          <p:nvSpPr>
            <p:cNvPr id="42" name="Rectangle 9"/>
            <p:cNvSpPr/>
            <p:nvPr/>
          </p:nvSpPr>
          <p:spPr>
            <a:xfrm>
              <a:off x="-1079235" y="2557284"/>
              <a:ext cx="9948846" cy="101473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6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阿里巴巴普惠体 B" panose="00020600040101010101" pitchFamily="18" charset="-122"/>
              </a:endParaRPr>
            </a:p>
          </p:txBody>
        </p:sp>
        <p:sp>
          <p:nvSpPr>
            <p:cNvPr id="43" name="Rectangle 10"/>
            <p:cNvSpPr/>
            <p:nvPr/>
          </p:nvSpPr>
          <p:spPr>
            <a:xfrm>
              <a:off x="-1504285" y="4690906"/>
              <a:ext cx="10824150" cy="36830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endParaRPr>
            </a:p>
          </p:txBody>
        </p:sp>
      </p:grpSp>
      <p:cxnSp>
        <p:nvCxnSpPr>
          <p:cNvPr id="44" name="直接连接符 43"/>
          <p:cNvCxnSpPr>
            <a:endCxn id="22" idx="1"/>
          </p:cNvCxnSpPr>
          <p:nvPr/>
        </p:nvCxnSpPr>
        <p:spPr>
          <a:xfrm>
            <a:off x="-884420" y="5455934"/>
            <a:ext cx="6228990" cy="43224"/>
          </a:xfrm>
          <a:prstGeom prst="line">
            <a:avLst/>
          </a:prstGeom>
          <a:noFill/>
          <a:ln w="38100" cap="flat" cmpd="sng" algn="ctr">
            <a:solidFill>
              <a:srgbClr val="961318"/>
            </a:solidFill>
            <a:prstDash val="solid"/>
            <a:miter lim="800000"/>
          </a:ln>
          <a:effectLst/>
        </p:spPr>
      </p:cxnSp>
      <p:cxnSp>
        <p:nvCxnSpPr>
          <p:cNvPr id="45" name="直接连接符 44"/>
          <p:cNvCxnSpPr>
            <a:stCxn id="22" idx="3"/>
          </p:cNvCxnSpPr>
          <p:nvPr/>
        </p:nvCxnSpPr>
        <p:spPr>
          <a:xfrm flipV="1">
            <a:off x="6870876" y="5455934"/>
            <a:ext cx="5975694" cy="43224"/>
          </a:xfrm>
          <a:prstGeom prst="line">
            <a:avLst/>
          </a:prstGeom>
          <a:noFill/>
          <a:ln w="38100" cap="flat" cmpd="sng" algn="ctr">
            <a:solidFill>
              <a:srgbClr val="961318"/>
            </a:solidFill>
            <a:prstDash val="solid"/>
            <a:miter lim="800000"/>
          </a:ln>
          <a:effectLst/>
        </p:spPr>
      </p:cxnSp>
      <p:grpSp>
        <p:nvGrpSpPr>
          <p:cNvPr id="18" name="组合 17"/>
          <p:cNvGrpSpPr/>
          <p:nvPr/>
        </p:nvGrpSpPr>
        <p:grpSpPr>
          <a:xfrm>
            <a:off x="3546045" y="503548"/>
            <a:ext cx="4751224" cy="1310637"/>
            <a:chOff x="1013385" y="386506"/>
            <a:chExt cx="4228542" cy="1166454"/>
          </a:xfrm>
        </p:grpSpPr>
        <p:pic>
          <p:nvPicPr>
            <p:cNvPr id="19" name="图片 18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1013385" y="386506"/>
              <a:ext cx="1161573" cy="1166454"/>
            </a:xfrm>
            <a:prstGeom prst="rect">
              <a:avLst/>
            </a:prstGeom>
          </p:spPr>
        </p:pic>
        <p:pic>
          <p:nvPicPr>
            <p:cNvPr id="20" name="图片 19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2341918" y="523819"/>
              <a:ext cx="2896218" cy="640678"/>
            </a:xfrm>
            <a:prstGeom prst="rect">
              <a:avLst/>
            </a:prstGeom>
          </p:spPr>
        </p:pic>
        <p:sp>
          <p:nvSpPr>
            <p:cNvPr id="21" name="矩形 20"/>
            <p:cNvSpPr/>
            <p:nvPr/>
          </p:nvSpPr>
          <p:spPr>
            <a:xfrm>
              <a:off x="2301895" y="1128876"/>
              <a:ext cx="2940032" cy="3013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dist">
                <a:defRPr/>
              </a:pPr>
              <a:r>
                <a:rPr lang="en-US" altLang="zh-CN" sz="1600" b="1" dirty="0">
                  <a:solidFill>
                    <a:srgbClr val="000000"/>
                  </a:solidFill>
                  <a:latin typeface="Calibri" panose="020F0502020204030204"/>
                  <a:ea typeface="宋体" panose="02010600030101010101" pitchFamily="2" charset="-122"/>
                </a:rPr>
                <a:t>RENMIN UNIVERSITY OF CHINA</a:t>
              </a:r>
              <a:endParaRPr lang="zh-CN" altLang="en-US" sz="1600" b="1" dirty="0">
                <a:solidFill>
                  <a:srgbClr val="000000"/>
                </a:solidFill>
                <a:latin typeface="Calibri" panose="020F0502020204030204"/>
                <a:ea typeface="宋体" panose="02010600030101010101" pitchFamily="2" charset="-122"/>
              </a:endParaRPr>
            </a:p>
          </p:txBody>
        </p:sp>
      </p:grpSp>
      <p:pic>
        <p:nvPicPr>
          <p:cNvPr id="22" name="图片 2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412312" y="5298734"/>
            <a:ext cx="1390821" cy="400848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4258945" y="5883910"/>
            <a:ext cx="7138035" cy="4914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>
              <a:lnSpc>
                <a:spcPct val="130000"/>
              </a:lnSpc>
            </a:pPr>
            <a:r>
              <a:rPr lang="zh-CN" altLang="en-US" sz="2000" dirty="0" smtClean="0">
                <a:latin typeface="+mn-ea"/>
              </a:rPr>
              <a:t>小组成员：李欣芮</a:t>
            </a:r>
            <a:r>
              <a:rPr lang="en-US" altLang="zh-CN" sz="2000" dirty="0" smtClean="0">
                <a:latin typeface="+mn-ea"/>
              </a:rPr>
              <a:t> </a:t>
            </a:r>
            <a:r>
              <a:rPr lang="zh-CN" altLang="en-US" sz="2000" dirty="0" smtClean="0">
                <a:latin typeface="+mn-ea"/>
              </a:rPr>
              <a:t>高福玉</a:t>
            </a:r>
            <a:r>
              <a:rPr lang="en-US" altLang="zh-CN" sz="2000" dirty="0" smtClean="0">
                <a:latin typeface="+mn-ea"/>
              </a:rPr>
              <a:t> </a:t>
            </a:r>
            <a:r>
              <a:rPr lang="zh-CN" altLang="en-US" sz="2000" dirty="0" smtClean="0">
                <a:latin typeface="+mn-ea"/>
              </a:rPr>
              <a:t>黄</a:t>
            </a:r>
            <a:r>
              <a:rPr lang="zh-CN" altLang="en-US" sz="2000" dirty="0" smtClean="0">
                <a:latin typeface="+mn-ea"/>
              </a:rPr>
              <a:t>皆瑞</a:t>
            </a:r>
            <a:endParaRPr lang="zh-CN" altLang="en-US" sz="2000" dirty="0" smtClean="0">
              <a:latin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400">
        <p14:doors dir="ver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aphicFrame>
        <p:nvGraphicFramePr>
          <p:cNvPr id="4" name="内容占位符 3"/>
          <p:cNvGraphicFramePr/>
          <p:nvPr>
            <p:ph idx="1"/>
            <p:custDataLst>
              <p:tags r:id="rId1"/>
            </p:custDataLst>
          </p:nvPr>
        </p:nvGraphicFramePr>
        <p:xfrm>
          <a:off x="925195" y="209550"/>
          <a:ext cx="10577830" cy="31146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2296160"/>
                <a:gridCol w="2463165"/>
                <a:gridCol w="1612265"/>
              </a:tblGrid>
              <a:tr h="70104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000"/>
                        <a:t>Price Metrics</a:t>
                      </a:r>
                      <a:endParaRPr lang="en-US" altLang="zh-CN" sz="20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000"/>
                        <a:t>In sample mae/rmse</a:t>
                      </a:r>
                      <a:endParaRPr lang="en-US" altLang="zh-CN" sz="20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000"/>
                        <a:t>out of sample mae/rmse</a:t>
                      </a:r>
                      <a:endParaRPr lang="en-US" altLang="zh-CN" sz="20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000"/>
                        <a:t>Cross-validation mae/rmse</a:t>
                      </a:r>
                      <a:endParaRPr lang="en-US" altLang="zh-CN" sz="20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000"/>
                        <a:t>kaggle</a:t>
                      </a:r>
                      <a:endParaRPr lang="en-US" altLang="zh-CN" sz="2000"/>
                    </a:p>
                  </a:txBody>
                  <a:tcPr/>
                </a:tc>
              </a:tr>
              <a:tr h="64008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Midterm Linear Model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429249/916682 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432013/925915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431483/927320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30.9</a:t>
                      </a:r>
                      <a:endParaRPr lang="en-US" altLang="zh-CN"/>
                    </a:p>
                  </a:txBody>
                  <a:tcPr/>
                </a:tc>
              </a:tr>
              <a:tr h="58293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random</a:t>
                      </a:r>
                      <a:r>
                        <a:rPr lang="en-US" altLang="zh-CN"/>
                        <a:t>forest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108434/251150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229393/728451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222820/502319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76.2</a:t>
                      </a:r>
                      <a:endParaRPr lang="en-US" altLang="zh-CN"/>
                    </a:p>
                  </a:txBody>
                  <a:tcPr/>
                </a:tc>
              </a:tr>
              <a:tr h="55054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Light</a:t>
                      </a:r>
                      <a:r>
                        <a:rPr lang="en-US" altLang="zh-CN"/>
                        <a:t>GBM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152449/284659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221660/643610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207333/426250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76.3</a:t>
                      </a:r>
                      <a:endParaRPr lang="en-US" altLang="zh-CN"/>
                    </a:p>
                  </a:txBody>
                  <a:tcPr/>
                </a:tc>
              </a:tr>
              <a:tr h="64008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best </a:t>
                      </a:r>
                      <a:r>
                        <a:rPr lang="en-US" altLang="zh-CN"/>
                        <a:t>model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152449/284659</a:t>
                      </a:r>
                      <a:endParaRPr lang="en-US" altLang="zh-CN" sz="1800"/>
                    </a:p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221660/643610</a:t>
                      </a:r>
                      <a:endParaRPr lang="en-US" altLang="zh-CN" sz="1800"/>
                    </a:p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207333/426250</a:t>
                      </a:r>
                      <a:endParaRPr lang="en-US" altLang="zh-CN" sz="1800"/>
                    </a:p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76.3</a:t>
                      </a:r>
                      <a:endParaRPr lang="en-US" altLang="zh-CN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5" name="表格 4"/>
          <p:cNvGraphicFramePr/>
          <p:nvPr>
            <p:custDataLst>
              <p:tags r:id="rId2"/>
            </p:custDataLst>
          </p:nvPr>
        </p:nvGraphicFramePr>
        <p:xfrm>
          <a:off x="925195" y="3277235"/>
          <a:ext cx="10577830" cy="34156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2296160"/>
                <a:gridCol w="2463165"/>
                <a:gridCol w="1612265"/>
              </a:tblGrid>
              <a:tr h="70104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000"/>
                        <a:t>rent Metrics</a:t>
                      </a:r>
                      <a:endParaRPr lang="en-US" altLang="zh-CN" sz="20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000"/>
                        <a:t>In sample mae/rmse</a:t>
                      </a:r>
                      <a:endParaRPr lang="en-US" altLang="zh-CN" sz="20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000"/>
                        <a:t>out of sample mae/rmse</a:t>
                      </a:r>
                      <a:endParaRPr lang="en-US" altLang="zh-CN" sz="20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000"/>
                        <a:t>Cross-validation mae/rmse</a:t>
                      </a:r>
                      <a:endParaRPr lang="en-US" altLang="zh-CN" sz="20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000"/>
                        <a:t>kaggle</a:t>
                      </a:r>
                      <a:endParaRPr lang="en-US" altLang="zh-CN" sz="2000"/>
                    </a:p>
                  </a:txBody>
                  <a:tcPr/>
                </a:tc>
              </a:tr>
              <a:tr h="64008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Midterm Linear Model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102969/255040 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103,088/262,156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1030015/259654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30.9</a:t>
                      </a:r>
                      <a:endParaRPr lang="en-US" altLang="zh-CN"/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random</a:t>
                      </a:r>
                      <a:r>
                        <a:rPr lang="en-US" altLang="zh-CN"/>
                        <a:t>forest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36236/103721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68871/169190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77994/203811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76.2</a:t>
                      </a:r>
                      <a:endParaRPr lang="en-US" altLang="zh-CN"/>
                    </a:p>
                  </a:txBody>
                  <a:tcPr/>
                </a:tc>
              </a:tr>
              <a:tr h="79438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Light</a:t>
                      </a:r>
                      <a:r>
                        <a:rPr lang="en-US" altLang="zh-CN"/>
                        <a:t>GBM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51370/108317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67683/156228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69291/171817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76.3</a:t>
                      </a:r>
                      <a:endParaRPr lang="en-US" altLang="zh-CN"/>
                    </a:p>
                  </a:txBody>
                  <a:tcPr/>
                </a:tc>
              </a:tr>
              <a:tr h="61849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best </a:t>
                      </a:r>
                      <a:r>
                        <a:rPr lang="en-US" altLang="zh-CN"/>
                        <a:t>model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51370/108317</a:t>
                      </a:r>
                      <a:endParaRPr lang="en-US" altLang="zh-CN" sz="1800"/>
                    </a:p>
                    <a:p>
                      <a:pPr algn="ctr">
                        <a:buNone/>
                      </a:pPr>
                      <a:endParaRPr lang="en-US" altLang="zh-CN" sz="1800"/>
                    </a:p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67683/156228</a:t>
                      </a:r>
                      <a:endParaRPr lang="en-US" altLang="zh-CN" sz="1800"/>
                    </a:p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69291/171817</a:t>
                      </a:r>
                      <a:endParaRPr lang="en-US" altLang="zh-CN" sz="1800"/>
                    </a:p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76.3</a:t>
                      </a:r>
                      <a:endParaRPr lang="en-US" altLang="zh-CN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66675"/>
            <a:ext cx="10515600" cy="835660"/>
          </a:xfrm>
        </p:spPr>
        <p:txBody>
          <a:bodyPr/>
          <a:p>
            <a:r>
              <a:rPr lang="zh-CN" altLang="en-US" sz="3600"/>
              <a:t>数据处理创新点</a:t>
            </a:r>
            <a:endParaRPr lang="zh-CN" altLang="en-US" sz="360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830580"/>
            <a:ext cx="10515600" cy="5196840"/>
          </a:xfrm>
        </p:spPr>
        <p:txBody>
          <a:bodyPr/>
          <a:p>
            <a:r>
              <a:rPr lang="en-US" altLang="zh-CN"/>
              <a:t>1</a:t>
            </a:r>
            <a:r>
              <a:rPr lang="zh-CN" altLang="en-US"/>
              <a:t>，地理位置采用三维颗粒：城市，聚类，经纬度，在树上逐步推进精度，减少拟合程度不够和过拟合问题。（聚类是在期中由板块数据</a:t>
            </a:r>
            <a:r>
              <a:rPr lang="en-US" altLang="zh-CN"/>
              <a:t>kmeans</a:t>
            </a:r>
            <a:r>
              <a:rPr lang="zh-CN" altLang="en-US"/>
              <a:t>得来）</a:t>
            </a:r>
            <a:endParaRPr lang="zh-CN" altLang="en-US"/>
          </a:p>
          <a:p>
            <a:r>
              <a:rPr lang="en-US" altLang="zh-CN"/>
              <a:t>2</a:t>
            </a:r>
            <a:r>
              <a:rPr lang="zh-CN" altLang="en-US"/>
              <a:t>，对价格采取对数处理，</a:t>
            </a:r>
            <a:r>
              <a:rPr lang="en-US" altLang="zh-CN"/>
              <a:t>kaggle75</a:t>
            </a:r>
            <a:r>
              <a:rPr lang="zh-CN" altLang="en-US"/>
              <a:t>➡</a:t>
            </a:r>
            <a:r>
              <a:rPr lang="en-US" altLang="zh-CN"/>
              <a:t>76</a:t>
            </a:r>
            <a:r>
              <a:rPr lang="zh-CN" altLang="en-US"/>
              <a:t>，减少偏度带来的</a:t>
            </a:r>
            <a:r>
              <a:rPr lang="zh-CN" altLang="en-US"/>
              <a:t>影响</a:t>
            </a:r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r>
              <a:rPr lang="en-US" altLang="zh-CN"/>
              <a:t>3</a:t>
            </a:r>
            <a:r>
              <a:rPr lang="zh-CN" altLang="en-US"/>
              <a:t>，引入经济学特征，如面积分箱，每室面积等房地产重要特征，</a:t>
            </a:r>
            <a:endParaRPr lang="zh-CN" altLang="en-US"/>
          </a:p>
          <a:p>
            <a:endParaRPr lang="zh-CN" altLang="en-US"/>
          </a:p>
          <a:p>
            <a:endParaRPr lang="en-US" altLang="zh-CN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3215" y="2688590"/>
            <a:ext cx="4067175" cy="74041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4229735"/>
            <a:ext cx="4777740" cy="213106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5320" y="4229735"/>
            <a:ext cx="5320665" cy="212915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104140"/>
            <a:ext cx="10515600" cy="815975"/>
          </a:xfrm>
        </p:spPr>
        <p:txBody>
          <a:bodyPr/>
          <a:p>
            <a:r>
              <a:rPr lang="zh-CN" altLang="en-US" sz="3600"/>
              <a:t>模型</a:t>
            </a:r>
            <a:r>
              <a:rPr lang="zh-CN" altLang="en-US" sz="3600"/>
              <a:t>创新点</a:t>
            </a:r>
            <a:endParaRPr lang="zh-CN" altLang="en-US" sz="360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41630" y="741045"/>
            <a:ext cx="11081385" cy="6116955"/>
          </a:xfrm>
        </p:spPr>
        <p:txBody>
          <a:bodyPr>
            <a:normAutofit lnSpcReduction="10000"/>
          </a:bodyPr>
          <a:p>
            <a:r>
              <a:rPr lang="en-US" altLang="zh-CN" sz="2000"/>
              <a:t>1</a:t>
            </a:r>
            <a:r>
              <a:rPr lang="zh-CN" altLang="en-US" sz="2000"/>
              <a:t>，迁移学习的弱形式，</a:t>
            </a:r>
            <a:r>
              <a:rPr lang="en-US" altLang="zh-CN" sz="2000"/>
              <a:t>rf</a:t>
            </a:r>
            <a:r>
              <a:rPr lang="zh-CN" altLang="en-US" sz="2000"/>
              <a:t>模型中，由于树的</a:t>
            </a:r>
            <a:r>
              <a:rPr lang="en-US" altLang="zh-CN" sz="2000"/>
              <a:t>split</a:t>
            </a:r>
            <a:r>
              <a:rPr lang="zh-CN" altLang="en-US" sz="2000"/>
              <a:t>和</a:t>
            </a:r>
            <a:r>
              <a:rPr lang="en-US" altLang="zh-CN" sz="2000"/>
              <a:t>leaf</a:t>
            </a:r>
            <a:r>
              <a:rPr lang="zh-CN" altLang="en-US" sz="2000"/>
              <a:t>小，树容易分裂造成深结构，训练时间成本大，采用</a:t>
            </a:r>
            <a:r>
              <a:rPr lang="en-US" altLang="zh-CN" sz="2000"/>
              <a:t>“</a:t>
            </a:r>
            <a:r>
              <a:rPr lang="zh-CN" altLang="en-US" sz="2000"/>
              <a:t>半数样本超参数搜索</a:t>
            </a:r>
            <a:r>
              <a:rPr lang="en-US" altLang="zh-CN" sz="2000"/>
              <a:t> + </a:t>
            </a:r>
            <a:r>
              <a:rPr lang="zh-CN" altLang="en-US" sz="2000"/>
              <a:t>全样本模型训练</a:t>
            </a:r>
            <a:r>
              <a:rPr lang="en-US" altLang="zh-CN" sz="2000"/>
              <a:t>”</a:t>
            </a:r>
            <a:r>
              <a:rPr lang="zh-CN" altLang="en-US" sz="2000"/>
              <a:t>的策略，</a:t>
            </a:r>
            <a:r>
              <a:rPr lang="en-US" altLang="zh-CN" sz="2000"/>
              <a:t>cv</a:t>
            </a:r>
            <a:r>
              <a:rPr lang="zh-CN" altLang="en-US" sz="2000"/>
              <a:t>设定为</a:t>
            </a:r>
            <a:r>
              <a:rPr lang="en-US" altLang="zh-CN" sz="2000"/>
              <a:t>4</a:t>
            </a:r>
            <a:r>
              <a:rPr lang="zh-CN" altLang="en-US" sz="2000"/>
              <a:t>，用一般样本超参搜索，在</a:t>
            </a:r>
            <a:r>
              <a:rPr lang="en-US" altLang="zh-CN" sz="2000"/>
              <a:t>40</a:t>
            </a:r>
            <a:r>
              <a:rPr lang="zh-CN" altLang="en-US" sz="2000"/>
              <a:t>和</a:t>
            </a:r>
            <a:r>
              <a:rPr lang="en-US" altLang="zh-CN" sz="2000"/>
              <a:t>80trail</a:t>
            </a:r>
            <a:r>
              <a:rPr lang="zh-CN" altLang="en-US" sz="2000"/>
              <a:t>中选择性能和速率并存的</a:t>
            </a:r>
            <a:r>
              <a:rPr lang="en-US" altLang="zh-CN" sz="2000"/>
              <a:t>50</a:t>
            </a:r>
            <a:r>
              <a:rPr lang="zh-CN" altLang="en-US" sz="2000"/>
              <a:t>（</a:t>
            </a:r>
            <a:r>
              <a:rPr lang="en-US" altLang="zh-CN" sz="2000"/>
              <a:t>lgbm</a:t>
            </a:r>
            <a:r>
              <a:rPr lang="zh-CN" altLang="en-US" sz="2000"/>
              <a:t>是</a:t>
            </a:r>
            <a:r>
              <a:rPr lang="en-US" altLang="zh-CN" sz="2000"/>
              <a:t>60</a:t>
            </a:r>
            <a:r>
              <a:rPr lang="zh-CN" altLang="en-US" sz="2000"/>
              <a:t>，全训练集</a:t>
            </a:r>
            <a:r>
              <a:rPr lang="zh-CN" altLang="en-US" sz="2000"/>
              <a:t>训练），在保证模型性能的前提下显著降低了调参的计算成本，提高了整体建模效率</a:t>
            </a:r>
            <a:endParaRPr lang="zh-CN" altLang="en-US" sz="2000"/>
          </a:p>
          <a:p>
            <a:r>
              <a:rPr lang="en-US" altLang="zh-CN" sz="2000"/>
              <a:t>2</a:t>
            </a:r>
            <a:r>
              <a:rPr lang="zh-CN" altLang="en-US" sz="2000"/>
              <a:t>，引入贝叶斯优化（</a:t>
            </a:r>
            <a:r>
              <a:rPr lang="en-US" altLang="zh-CN" sz="2000"/>
              <a:t>Optuna</a:t>
            </a:r>
            <a:r>
              <a:rPr lang="zh-CN" altLang="en-US" sz="2000"/>
              <a:t>），这是最核心的创新，也是最可以提升性能的一步，这里最关键的点在于超参参数范围的设定和选择，</a:t>
            </a:r>
            <a:r>
              <a:rPr lang="en-US" altLang="zh-CN" sz="2000"/>
              <a:t>rf</a:t>
            </a:r>
            <a:r>
              <a:rPr lang="zh-CN" altLang="en-US" sz="2000"/>
              <a:t>和</a:t>
            </a:r>
            <a:r>
              <a:rPr lang="en-US" altLang="zh-CN" sz="2000"/>
              <a:t>lgbm</a:t>
            </a:r>
            <a:r>
              <a:rPr lang="zh-CN" altLang="en-US" sz="2000"/>
              <a:t>模型的不同，选择的参数的范围和</a:t>
            </a:r>
            <a:r>
              <a:rPr lang="zh-CN" altLang="en-US" sz="2000"/>
              <a:t>类型也不同</a:t>
            </a:r>
            <a:endParaRPr lang="zh-CN" altLang="en-US" sz="2000"/>
          </a:p>
          <a:p>
            <a:endParaRPr lang="zh-CN" altLang="en-US" sz="2000"/>
          </a:p>
          <a:p>
            <a:endParaRPr lang="zh-CN" altLang="en-US" sz="2000"/>
          </a:p>
          <a:p>
            <a:endParaRPr lang="zh-CN" altLang="en-US" sz="2000"/>
          </a:p>
          <a:p>
            <a:endParaRPr lang="zh-CN" altLang="en-US" sz="2000"/>
          </a:p>
          <a:p>
            <a:endParaRPr lang="zh-CN" altLang="en-US" sz="2000"/>
          </a:p>
          <a:p>
            <a:endParaRPr lang="zh-CN" altLang="en-US" sz="2000"/>
          </a:p>
          <a:p>
            <a:r>
              <a:rPr lang="en-US" altLang="zh-CN" sz="2000">
                <a:sym typeface="+mn-ea"/>
              </a:rPr>
              <a:t>3</a:t>
            </a:r>
            <a:r>
              <a:rPr lang="zh-CN" altLang="en-US" sz="2000">
                <a:sym typeface="+mn-ea"/>
              </a:rPr>
              <a:t>，原本的</a:t>
            </a:r>
            <a:r>
              <a:rPr lang="en-US" altLang="zh-CN" sz="2000">
                <a:sym typeface="+mn-ea"/>
              </a:rPr>
              <a:t>best_trail</a:t>
            </a:r>
            <a:r>
              <a:rPr lang="zh-CN" altLang="en-US" sz="2000">
                <a:sym typeface="+mn-ea"/>
              </a:rPr>
              <a:t>只基于</a:t>
            </a:r>
            <a:r>
              <a:rPr lang="en-US" altLang="zh-CN" sz="2000">
                <a:sym typeface="+mn-ea"/>
              </a:rPr>
              <a:t>Mae</a:t>
            </a:r>
            <a:r>
              <a:rPr lang="zh-CN" altLang="en-US" sz="2000">
                <a:sym typeface="+mn-ea"/>
              </a:rPr>
              <a:t>，但为保证模型的最优，我的选择是三个最小</a:t>
            </a:r>
            <a:r>
              <a:rPr lang="en-US" altLang="zh-CN" sz="2000">
                <a:sym typeface="+mn-ea"/>
              </a:rPr>
              <a:t>Mae</a:t>
            </a:r>
            <a:r>
              <a:rPr lang="zh-CN" altLang="en-US" sz="2000">
                <a:sym typeface="+mn-ea"/>
              </a:rPr>
              <a:t>模型选最小</a:t>
            </a:r>
            <a:r>
              <a:rPr lang="en-US" altLang="zh-CN" sz="2000">
                <a:sym typeface="+mn-ea"/>
              </a:rPr>
              <a:t>rmse</a:t>
            </a:r>
            <a:r>
              <a:rPr lang="zh-CN" altLang="en-US" sz="2000">
                <a:sym typeface="+mn-ea"/>
              </a:rPr>
              <a:t>，尽可能保证</a:t>
            </a:r>
            <a:r>
              <a:rPr lang="zh-CN" altLang="en-US" sz="2000">
                <a:sym typeface="+mn-ea"/>
              </a:rPr>
              <a:t>半样本下的超参系数可以更好的应用到全训练集</a:t>
            </a:r>
            <a:endParaRPr lang="en-US" altLang="zh-CN" sz="2000"/>
          </a:p>
          <a:p>
            <a:endParaRPr lang="en-US" altLang="zh-CN" sz="2000"/>
          </a:p>
          <a:p>
            <a:endParaRPr lang="zh-CN" altLang="en-US" sz="2000"/>
          </a:p>
          <a:p>
            <a:r>
              <a:rPr lang="en-US" altLang="zh-CN" sz="2000">
                <a:sym typeface="+mn-ea"/>
              </a:rPr>
              <a:t>4</a:t>
            </a:r>
            <a:r>
              <a:rPr lang="zh-CN" altLang="en-US" sz="2000">
                <a:sym typeface="+mn-ea"/>
              </a:rPr>
              <a:t>，同时引入分段可视化和</a:t>
            </a:r>
            <a:r>
              <a:rPr lang="en-US" altLang="zh-CN" sz="2000">
                <a:sym typeface="+mn-ea"/>
              </a:rPr>
              <a:t>Lgbm</a:t>
            </a:r>
            <a:r>
              <a:rPr lang="zh-CN" altLang="en-US" sz="2000">
                <a:sym typeface="+mn-ea"/>
              </a:rPr>
              <a:t>建模，查看各个区间的预测精度，特别是比较极端的高价值房价，方便进行下一步的高端房价预测（虽然高价房子最后的结果</a:t>
            </a:r>
            <a:r>
              <a:rPr lang="en-US" altLang="zh-CN" sz="2000">
                <a:sym typeface="+mn-ea"/>
              </a:rPr>
              <a:t>rmse</a:t>
            </a:r>
            <a:r>
              <a:rPr lang="zh-CN" altLang="en-US" sz="2000">
                <a:sym typeface="+mn-ea"/>
              </a:rPr>
              <a:t>更差了）</a:t>
            </a:r>
            <a:endParaRPr lang="zh-CN" altLang="en-US" sz="2000"/>
          </a:p>
          <a:p>
            <a:endParaRPr lang="zh-CN" altLang="en-US" sz="2000"/>
          </a:p>
          <a:p>
            <a:endParaRPr lang="zh-CN" altLang="en-US" sz="2000"/>
          </a:p>
          <a:p>
            <a:endParaRPr lang="zh-CN" altLang="en-US" sz="2000"/>
          </a:p>
          <a:p>
            <a:endParaRPr lang="zh-CN" altLang="en-US" sz="2000"/>
          </a:p>
          <a:p>
            <a:endParaRPr lang="zh-CN" altLang="en-US" sz="2000"/>
          </a:p>
          <a:p>
            <a:endParaRPr lang="zh-CN" altLang="en-US" sz="2000"/>
          </a:p>
          <a:p>
            <a:endParaRPr lang="zh-CN" altLang="en-US" sz="2000"/>
          </a:p>
          <a:p>
            <a:endParaRPr lang="zh-CN" altLang="en-US" sz="2000"/>
          </a:p>
          <a:p>
            <a:endParaRPr lang="zh-CN" altLang="en-US" sz="2000"/>
          </a:p>
          <a:p>
            <a:endParaRPr lang="zh-CN" altLang="en-US" sz="2000"/>
          </a:p>
          <a:p>
            <a:pPr marL="0" indent="0">
              <a:buNone/>
            </a:pPr>
            <a:endParaRPr lang="en-US" altLang="zh-CN" sz="200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9175" y="104140"/>
            <a:ext cx="1716405" cy="65341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415" y="2413000"/>
            <a:ext cx="4955540" cy="222758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9485" y="2412365"/>
            <a:ext cx="5149850" cy="2228215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28670" y="5398135"/>
            <a:ext cx="4833620" cy="578485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TABLE_ENDDRAG_ORIGIN_RECT" val="832*240"/>
  <p:tag name="TABLE_ENDDRAG_RECT" val="72*16*832*240"/>
</p:tagLst>
</file>

<file path=ppt/tags/tag2.xml><?xml version="1.0" encoding="utf-8"?>
<p:tagLst xmlns:p="http://schemas.openxmlformats.org/presentationml/2006/main">
  <p:tag name="TABLE_ENDDRAG_ORIGIN_RECT" val="832*238"/>
  <p:tag name="TABLE_ENDDRAG_RECT" val="72*261*832*238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1246</Words>
  <Application>WPS 演示</Application>
  <PresentationFormat>宽屏</PresentationFormat>
  <Paragraphs>151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5" baseType="lpstr">
      <vt:lpstr>Arial</vt:lpstr>
      <vt:lpstr>宋体</vt:lpstr>
      <vt:lpstr>Wingdings</vt:lpstr>
      <vt:lpstr>Arial</vt:lpstr>
      <vt:lpstr>微软雅黑</vt:lpstr>
      <vt:lpstr>阿里巴巴普惠体 B</vt:lpstr>
      <vt:lpstr>微软雅黑 Light</vt:lpstr>
      <vt:lpstr>Calibri</vt:lpstr>
      <vt:lpstr>Arial Unicode MS</vt:lpstr>
      <vt:lpstr>Calibri</vt:lpstr>
      <vt:lpstr>WPS</vt:lpstr>
      <vt:lpstr>PowerPoint 演示文稿</vt:lpstr>
      <vt:lpstr>PowerPoint 演示文稿</vt:lpstr>
      <vt:lpstr>数据处理创新点</vt:lpstr>
      <vt:lpstr>模型创新点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Administrator</dc:creator>
  <cp:lastModifiedBy>      </cp:lastModifiedBy>
  <cp:revision>7</cp:revision>
  <dcterms:created xsi:type="dcterms:W3CDTF">2023-08-09T12:44:00Z</dcterms:created>
  <dcterms:modified xsi:type="dcterms:W3CDTF">2025-12-26T18:23:58Z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9E16EA950342470DBF3459E63C56BE62_12</vt:lpwstr>
  </property>
</Properties>
</file>