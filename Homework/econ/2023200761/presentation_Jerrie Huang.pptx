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62" r:id="rId2"/>
    <p:sldId id="264" r:id="rId3"/>
    <p:sldId id="266" r:id="rId4"/>
    <p:sldId id="26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87D0"/>
    <a:srgbClr val="E4E7EC"/>
    <a:srgbClr val="A6BDEE"/>
    <a:srgbClr val="7098DC"/>
    <a:srgbClr val="8AAAE6"/>
    <a:srgbClr val="E9EE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84" autoAdjust="0"/>
  </p:normalViewPr>
  <p:slideViewPr>
    <p:cSldViewPr snapToGrid="0">
      <p:cViewPr varScale="1">
        <p:scale>
          <a:sx n="74" d="100"/>
          <a:sy n="74" d="100"/>
        </p:scale>
        <p:origin x="6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263DA-D07D-4C9A-B4BB-9B158FAFC9B8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6511D-0CFB-481D-8543-DB24EBFDF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086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13A6D8-FB85-4A58-8BD4-8660BCD7BDCB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6511D-0CFB-481D-8543-DB24EBFDF9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771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040B6-5C23-49D9-C7CD-433E93123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8BF9FD-747D-7F97-DF7F-39F873BC2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BEC7D8-5730-2872-ECD6-0D3C93FC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8ABA0-E6CE-540C-36F8-14D86D02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5D790C-A222-8638-E19F-F7A47B8D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96AEB-5DF8-5537-5FF0-DE0E5BBC0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03115F-EB8C-15B0-C52F-833F4C474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539226-B96E-5CAA-7C3D-3112FA1A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4A828-0BCE-824F-CB05-F265F235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61398-CF92-2D13-C6C9-71ABD103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94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CF339-CBB3-F783-BA03-7AF8640C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F81CE-2F69-B538-C206-B82E5831A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3E69B-A8CE-D580-DBDE-CB56FE82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86B27-D40A-EE09-8905-9B94A8BC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5A5E1B-9412-2130-B148-8060CD15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11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2F7EC-35F4-C573-FAF3-C9D40A83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B2D044-7974-3060-7308-8573FFAF1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BB0710-5C60-4CCF-1134-0C0F2CFAA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BBFEB3-6D56-24D7-5DD5-DCD891D2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E061DF-2041-EBE4-6CB7-E02499FE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79ADB3-F7A2-03FE-8263-4F036E58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71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2050D-9A0C-D02D-4892-3AFDD805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7FCAC8-10F3-DCC7-5189-E7D1A901C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89AF24-13AC-109E-B395-99EB14149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C3F715-00B0-D5CC-3468-A22251730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98B871-FCB9-7450-DF17-C36FEC880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76BA46-E5EE-955A-3746-AD0D0441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B3AFF3-A238-5E64-213E-8C665308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09BE6F-0D87-F74E-945D-7CED7EC6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85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A1CDB-752C-7302-A6E7-1A11E927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AC4281-9199-CF4B-8AEA-9693F7703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6903AF-5ACF-E5E4-06F0-094F3BEA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1228D4-86C8-A740-D787-84FF2D8E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81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35E2EF-B32B-CAC8-C696-EF49CBA9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B118D3-1801-C5AA-4E18-3E9293A3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A886A8-ABDF-E25C-423F-A30E6C44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45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627BB-E40B-458A-E0B9-7363A6CE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106869-3F3D-7856-14FA-75371A9B9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F737F0-4D3F-EB40-A061-3FDDFB328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20A024-1ADD-6D3D-A120-D7D5D788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709EA-F10D-F265-2893-8FA73A6D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5F2A1F-75C8-B8BD-373E-D871FC1A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01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4B133-E5BC-8449-602D-C3D05684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744BC7-A270-7854-5350-FF784B307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62CB12-DE1B-E29B-0ACF-64C258A6D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B68989-1961-9B70-5314-C0A34146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7ED203-CB66-3675-16AE-F7466834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C7CACF-BEE3-7F25-2404-D8A05A19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0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85B01-041F-1603-B2CA-C5E37DC8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3245B9-7F5E-4CCF-930E-EC85F8DFA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17F1B-DB81-D238-530A-158DCD12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008699-2181-EE97-2EB1-83371FA3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9F2C73-569F-4225-FE55-27E5E9B7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82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628298-9649-D091-CDEF-8142DDA81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EBFBF4-991C-CDFF-21B6-7C84F5D75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46356-C2C8-2884-4AC1-EF12AC6E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C1EC2A-7395-F2E3-1E02-EEE6E49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E5938-E304-ADFD-014D-930A1DBD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346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700"/>
            </a:lvl1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9577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B1E2EE-B406-EC76-BB97-114B81FF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07C93B-99E5-FBF3-E24D-D01339AB8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53F90-19DC-996A-0890-938B710DE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7A194-C063-42A7-AA0F-C7918CAAF9C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AD5E1E-F98C-A9F4-5344-AD6213D4C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A04381-91AC-FA56-ECE7-A046E6F05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59D20-1637-460A-ABFA-B1E54EB87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138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6" b="4916"/>
          <a:stretch>
            <a:fillRect/>
          </a:stretch>
        </p:blipFill>
        <p:spPr/>
      </p:pic>
      <p:sp>
        <p:nvSpPr>
          <p:cNvPr id="21" name="Rectangle 20"/>
          <p:cNvSpPr/>
          <p:nvPr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50000"/>
            </a:schemeClr>
          </a:solidFill>
          <a:ln>
            <a:noFill/>
          </a:ln>
        </p:spPr>
        <p:txBody>
          <a:bodyPr vert="horz" wrap="square" lIns="45720" tIns="22860" rIns="45720" bIns="22860" numCol="1" rtlCol="0" anchor="t" anchorCtr="0" compatLnSpc="1"/>
          <a:lstStyle/>
          <a:p>
            <a:pPr algn="ctr"/>
            <a:endParaRPr lang="en-US" sz="900"/>
          </a:p>
        </p:txBody>
      </p:sp>
      <p:sp>
        <p:nvSpPr>
          <p:cNvPr id="3" name="文本框 2"/>
          <p:cNvSpPr txBox="1"/>
          <p:nvPr/>
        </p:nvSpPr>
        <p:spPr>
          <a:xfrm>
            <a:off x="2207870" y="2798340"/>
            <a:ext cx="7776259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5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房价预测项目展示</a:t>
            </a:r>
            <a:endParaRPr lang="en-US" sz="65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885950" y="1905000"/>
            <a:ext cx="8420100" cy="3048000"/>
          </a:xfrm>
          <a:prstGeom prst="rect">
            <a:avLst/>
          </a:prstGeom>
          <a:noFill/>
          <a:ln w="76200">
            <a:solidFill>
              <a:srgbClr val="434343"/>
            </a:solidFill>
          </a:ln>
        </p:spPr>
        <p:txBody>
          <a:bodyPr vert="horz" wrap="square" lIns="45720" tIns="22860" rIns="45720" bIns="22860" numCol="1" rtlCol="0" anchor="t" anchorCtr="0" compatLnSpc="1"/>
          <a:lstStyle/>
          <a:p>
            <a:pPr algn="ctr"/>
            <a:endParaRPr lang="en-US" sz="900"/>
          </a:p>
        </p:txBody>
      </p:sp>
      <p:sp>
        <p:nvSpPr>
          <p:cNvPr id="2" name="文本框 1"/>
          <p:cNvSpPr txBox="1"/>
          <p:nvPr/>
        </p:nvSpPr>
        <p:spPr>
          <a:xfrm>
            <a:off x="2611436" y="4012449"/>
            <a:ext cx="6686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黄皆瑞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2023200761</a:t>
            </a:r>
          </a:p>
          <a:p>
            <a:pPr algn="ctr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Team Name: Hola_Buenos_dias_0761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>
            <a:extLst>
              <a:ext uri="{FF2B5EF4-FFF2-40B4-BE49-F238E27FC236}">
                <a16:creationId xmlns:a16="http://schemas.microsoft.com/office/drawing/2014/main" id="{A59E46E3-41E1-1F3D-DF20-B517B923DA95}"/>
              </a:ext>
            </a:extLst>
          </p:cNvPr>
          <p:cNvSpPr txBox="1"/>
          <p:nvPr/>
        </p:nvSpPr>
        <p:spPr>
          <a:xfrm>
            <a:off x="493046" y="-47113"/>
            <a:ext cx="10972800" cy="949960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44E7E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</a:lstStyle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1.Natural Language Processing</a:t>
            </a:r>
            <a:endParaRPr lang="zh-CN" altLang="en-US" sz="48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F56D36C-D07D-9A23-8564-305D091742C9}"/>
              </a:ext>
            </a:extLst>
          </p:cNvPr>
          <p:cNvCxnSpPr>
            <a:cxnSpLocks/>
          </p:cNvCxnSpPr>
          <p:nvPr/>
        </p:nvCxnSpPr>
        <p:spPr>
          <a:xfrm>
            <a:off x="609600" y="902847"/>
            <a:ext cx="106299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D43E4AB-47E0-6E9F-6AE7-43B0FBB75E14}"/>
              </a:ext>
            </a:extLst>
          </p:cNvPr>
          <p:cNvSpPr txBox="1"/>
          <p:nvPr/>
        </p:nvSpPr>
        <p:spPr>
          <a:xfrm>
            <a:off x="667658" y="939914"/>
            <a:ext cx="11633199" cy="544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1.1 Keyword</a:t>
            </a:r>
            <a:r>
              <a:rPr lang="en-US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周边配套、交通出行、配套设施</a:t>
            </a:r>
            <a:r>
              <a:rPr lang="en-US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</a:pPr>
            <a:r>
              <a:rPr lang="en-US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1.2 </a:t>
            </a:r>
            <a:r>
              <a:rPr lang="zh-CN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核心文本处理</a:t>
            </a:r>
            <a:r>
              <a:rPr lang="en-US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户型介绍、核心卖点</a:t>
            </a:r>
            <a:endParaRPr lang="en-US" altLang="zh-CN" kern="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kern="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kern="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kern="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kern="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kern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亮点：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结合了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TF-IDF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的统计重要性和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Word2Vec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的语义相似性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SVD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效果：</a:t>
            </a:r>
            <a:r>
              <a:rPr lang="en-US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</a:t>
            </a:r>
            <a:r>
              <a:rPr lang="zh-CN" altLang="en-US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维度压至</a:t>
            </a:r>
            <a:r>
              <a:rPr lang="en-US" altLang="zh-CN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，后续模型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RMSE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下降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1.97%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！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l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1.3 </a:t>
            </a:r>
            <a:r>
              <a:rPr lang="en-US" altLang="zh-CN" b="1" kern="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SnowNLP</a:t>
            </a:r>
            <a:r>
              <a:rPr lang="en-US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b="1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情感评分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客户评价</a:t>
            </a:r>
            <a:r>
              <a:rPr lang="zh-CN" altLang="en-US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，获取情感特征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268CB0-363B-FA5E-7EC1-7D8AB9FCC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911" y="4450297"/>
            <a:ext cx="3484015" cy="220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E578034-64DE-C8B5-0446-FFC7D1729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510" y="2066796"/>
            <a:ext cx="2990632" cy="2106906"/>
          </a:xfrm>
          <a:prstGeom prst="rect">
            <a:avLst/>
          </a:prstGeom>
        </p:spPr>
      </p:pic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7A942994-8A8C-2464-71FE-96A9063FB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675545"/>
              </p:ext>
            </p:extLst>
          </p:nvPr>
        </p:nvGraphicFramePr>
        <p:xfrm>
          <a:off x="3890357" y="1958342"/>
          <a:ext cx="4108270" cy="78581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821654">
                  <a:extLst>
                    <a:ext uri="{9D8B030D-6E8A-4147-A177-3AD203B41FA5}">
                      <a16:colId xmlns:a16="http://schemas.microsoft.com/office/drawing/2014/main" val="3511818088"/>
                    </a:ext>
                  </a:extLst>
                </a:gridCol>
                <a:gridCol w="821654">
                  <a:extLst>
                    <a:ext uri="{9D8B030D-6E8A-4147-A177-3AD203B41FA5}">
                      <a16:colId xmlns:a16="http://schemas.microsoft.com/office/drawing/2014/main" val="1635440759"/>
                    </a:ext>
                  </a:extLst>
                </a:gridCol>
                <a:gridCol w="821654">
                  <a:extLst>
                    <a:ext uri="{9D8B030D-6E8A-4147-A177-3AD203B41FA5}">
                      <a16:colId xmlns:a16="http://schemas.microsoft.com/office/drawing/2014/main" val="404398289"/>
                    </a:ext>
                  </a:extLst>
                </a:gridCol>
                <a:gridCol w="821654">
                  <a:extLst>
                    <a:ext uri="{9D8B030D-6E8A-4147-A177-3AD203B41FA5}">
                      <a16:colId xmlns:a16="http://schemas.microsoft.com/office/drawing/2014/main" val="2394356646"/>
                    </a:ext>
                  </a:extLst>
                </a:gridCol>
                <a:gridCol w="821654">
                  <a:extLst>
                    <a:ext uri="{9D8B030D-6E8A-4147-A177-3AD203B41FA5}">
                      <a16:colId xmlns:a16="http://schemas.microsoft.com/office/drawing/2014/main" val="2307773940"/>
                    </a:ext>
                  </a:extLst>
                </a:gridCol>
              </a:tblGrid>
              <a:tr h="151885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样本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采光好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南北通透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精装修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453086"/>
                  </a:ext>
                </a:extLst>
              </a:tr>
              <a:tr h="1518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s1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737999"/>
                  </a:ext>
                </a:extLst>
              </a:tr>
              <a:tr h="1518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0.3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902829"/>
                  </a:ext>
                </a:extLst>
              </a:tr>
              <a:tr h="1518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0.4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048723"/>
                  </a:ext>
                </a:extLst>
              </a:tr>
              <a:tr h="151885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s4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682557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D7B0BB3C-DD1F-8D08-15E5-462619CF7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83" y="1958342"/>
            <a:ext cx="2551566" cy="3171371"/>
          </a:xfrm>
          <a:prstGeom prst="rect">
            <a:avLst/>
          </a:prstGeom>
        </p:spPr>
      </p:pic>
      <p:graphicFrame>
        <p:nvGraphicFramePr>
          <p:cNvPr id="14" name="表格 15">
            <a:extLst>
              <a:ext uri="{FF2B5EF4-FFF2-40B4-BE49-F238E27FC236}">
                <a16:creationId xmlns:a16="http://schemas.microsoft.com/office/drawing/2014/main" id="{18AE83DA-BA89-7336-0B30-60FA53D6C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79123"/>
              </p:ext>
            </p:extLst>
          </p:nvPr>
        </p:nvGraphicFramePr>
        <p:xfrm>
          <a:off x="3890357" y="2912072"/>
          <a:ext cx="4108270" cy="62865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821654">
                  <a:extLst>
                    <a:ext uri="{9D8B030D-6E8A-4147-A177-3AD203B41FA5}">
                      <a16:colId xmlns:a16="http://schemas.microsoft.com/office/drawing/2014/main" val="298515820"/>
                    </a:ext>
                  </a:extLst>
                </a:gridCol>
                <a:gridCol w="821654">
                  <a:extLst>
                    <a:ext uri="{9D8B030D-6E8A-4147-A177-3AD203B41FA5}">
                      <a16:colId xmlns:a16="http://schemas.microsoft.com/office/drawing/2014/main" val="2558551788"/>
                    </a:ext>
                  </a:extLst>
                </a:gridCol>
                <a:gridCol w="821654">
                  <a:extLst>
                    <a:ext uri="{9D8B030D-6E8A-4147-A177-3AD203B41FA5}">
                      <a16:colId xmlns:a16="http://schemas.microsoft.com/office/drawing/2014/main" val="4036700949"/>
                    </a:ext>
                  </a:extLst>
                </a:gridCol>
                <a:gridCol w="821654">
                  <a:extLst>
                    <a:ext uri="{9D8B030D-6E8A-4147-A177-3AD203B41FA5}">
                      <a16:colId xmlns:a16="http://schemas.microsoft.com/office/drawing/2014/main" val="136824728"/>
                    </a:ext>
                  </a:extLst>
                </a:gridCol>
                <a:gridCol w="821654">
                  <a:extLst>
                    <a:ext uri="{9D8B030D-6E8A-4147-A177-3AD203B41FA5}">
                      <a16:colId xmlns:a16="http://schemas.microsoft.com/office/drawing/2014/main" val="1262060157"/>
                    </a:ext>
                  </a:extLst>
                </a:gridCol>
              </a:tblGrid>
              <a:tr h="153254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向量维度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向量维度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向量维度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84120"/>
                  </a:ext>
                </a:extLst>
              </a:tr>
              <a:tr h="153254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采光好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0.12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-0.08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0.33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526609"/>
                  </a:ext>
                </a:extLst>
              </a:tr>
              <a:tr h="153254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南北通透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0.09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338281"/>
                  </a:ext>
                </a:extLst>
              </a:tr>
              <a:tr h="153254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精装修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0.03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-0.12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27458"/>
                  </a:ext>
                </a:extLst>
              </a:tr>
            </a:tbl>
          </a:graphicData>
        </a:graphic>
      </p:graphicFrame>
      <p:graphicFrame>
        <p:nvGraphicFramePr>
          <p:cNvPr id="16" name="表格 16">
            <a:extLst>
              <a:ext uri="{FF2B5EF4-FFF2-40B4-BE49-F238E27FC236}">
                <a16:creationId xmlns:a16="http://schemas.microsoft.com/office/drawing/2014/main" id="{5B1E5C54-8F43-A587-CB12-A0A2B6E3D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728753"/>
              </p:ext>
            </p:extLst>
          </p:nvPr>
        </p:nvGraphicFramePr>
        <p:xfrm>
          <a:off x="3890357" y="4450297"/>
          <a:ext cx="4512624" cy="62865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52104">
                  <a:extLst>
                    <a:ext uri="{9D8B030D-6E8A-4147-A177-3AD203B41FA5}">
                      <a16:colId xmlns:a16="http://schemas.microsoft.com/office/drawing/2014/main" val="248774298"/>
                    </a:ext>
                  </a:extLst>
                </a:gridCol>
                <a:gridCol w="752104">
                  <a:extLst>
                    <a:ext uri="{9D8B030D-6E8A-4147-A177-3AD203B41FA5}">
                      <a16:colId xmlns:a16="http://schemas.microsoft.com/office/drawing/2014/main" val="3482255313"/>
                    </a:ext>
                  </a:extLst>
                </a:gridCol>
                <a:gridCol w="752104">
                  <a:extLst>
                    <a:ext uri="{9D8B030D-6E8A-4147-A177-3AD203B41FA5}">
                      <a16:colId xmlns:a16="http://schemas.microsoft.com/office/drawing/2014/main" val="1766220368"/>
                    </a:ext>
                  </a:extLst>
                </a:gridCol>
                <a:gridCol w="752104">
                  <a:extLst>
                    <a:ext uri="{9D8B030D-6E8A-4147-A177-3AD203B41FA5}">
                      <a16:colId xmlns:a16="http://schemas.microsoft.com/office/drawing/2014/main" val="2463025126"/>
                    </a:ext>
                  </a:extLst>
                </a:gridCol>
                <a:gridCol w="752104">
                  <a:extLst>
                    <a:ext uri="{9D8B030D-6E8A-4147-A177-3AD203B41FA5}">
                      <a16:colId xmlns:a16="http://schemas.microsoft.com/office/drawing/2014/main" val="1001045050"/>
                    </a:ext>
                  </a:extLst>
                </a:gridCol>
                <a:gridCol w="752104">
                  <a:extLst>
                    <a:ext uri="{9D8B030D-6E8A-4147-A177-3AD203B41FA5}">
                      <a16:colId xmlns:a16="http://schemas.microsoft.com/office/drawing/2014/main" val="653742278"/>
                    </a:ext>
                  </a:extLst>
                </a:gridCol>
              </a:tblGrid>
              <a:tr h="153254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样本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Cluster 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Cluster 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Cluster 2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Cluster K-1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464826"/>
                  </a:ext>
                </a:extLst>
              </a:tr>
              <a:tr h="1532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207043"/>
                  </a:ext>
                </a:extLst>
              </a:tr>
              <a:tr h="1532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721809"/>
                  </a:ext>
                </a:extLst>
              </a:tr>
              <a:tr h="1532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…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099762"/>
                  </a:ext>
                </a:extLst>
              </a:tr>
            </a:tbl>
          </a:graphicData>
        </a:graphic>
      </p:graphicFrame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E4F40C77-6FA1-C279-7C57-6AB9FFFE3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154490"/>
              </p:ext>
            </p:extLst>
          </p:nvPr>
        </p:nvGraphicFramePr>
        <p:xfrm>
          <a:off x="3890357" y="3682675"/>
          <a:ext cx="1198872" cy="62865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99436">
                  <a:extLst>
                    <a:ext uri="{9D8B030D-6E8A-4147-A177-3AD203B41FA5}">
                      <a16:colId xmlns:a16="http://schemas.microsoft.com/office/drawing/2014/main" val="1146227677"/>
                    </a:ext>
                  </a:extLst>
                </a:gridCol>
                <a:gridCol w="599436">
                  <a:extLst>
                    <a:ext uri="{9D8B030D-6E8A-4147-A177-3AD203B41FA5}">
                      <a16:colId xmlns:a16="http://schemas.microsoft.com/office/drawing/2014/main" val="2416721835"/>
                    </a:ext>
                  </a:extLst>
                </a:gridCol>
              </a:tblGrid>
              <a:tr h="144312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cluster_id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2050"/>
                  </a:ext>
                </a:extLst>
              </a:tr>
              <a:tr h="144312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采光好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825117"/>
                  </a:ext>
                </a:extLst>
              </a:tr>
              <a:tr h="144312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南北通透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709701"/>
                  </a:ext>
                </a:extLst>
              </a:tr>
              <a:tr h="144312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精装修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</a:t>
                      </a:r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223488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269EC35-01F0-94B5-0823-E4F405EC9E7E}"/>
              </a:ext>
            </a:extLst>
          </p:cNvPr>
          <p:cNvSpPr/>
          <p:nvPr/>
        </p:nvSpPr>
        <p:spPr>
          <a:xfrm>
            <a:off x="544286" y="1852806"/>
            <a:ext cx="7990115" cy="4065275"/>
          </a:xfrm>
          <a:prstGeom prst="rect">
            <a:avLst/>
          </a:prstGeom>
          <a:noFill/>
          <a:ln w="19050">
            <a:solidFill>
              <a:srgbClr val="388CC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70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>
            <a:extLst>
              <a:ext uri="{FF2B5EF4-FFF2-40B4-BE49-F238E27FC236}">
                <a16:creationId xmlns:a16="http://schemas.microsoft.com/office/drawing/2014/main" id="{A59E46E3-41E1-1F3D-DF20-B517B923DA95}"/>
              </a:ext>
            </a:extLst>
          </p:cNvPr>
          <p:cNvSpPr txBox="1"/>
          <p:nvPr/>
        </p:nvSpPr>
        <p:spPr>
          <a:xfrm>
            <a:off x="493046" y="-47113"/>
            <a:ext cx="10972800" cy="949960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44E7E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</a:lstStyle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2.Stacking</a:t>
            </a:r>
            <a:endParaRPr lang="zh-CN" altLang="en-US" sz="48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F56D36C-D07D-9A23-8564-305D091742C9}"/>
              </a:ext>
            </a:extLst>
          </p:cNvPr>
          <p:cNvCxnSpPr>
            <a:cxnSpLocks/>
          </p:cNvCxnSpPr>
          <p:nvPr/>
        </p:nvCxnSpPr>
        <p:spPr>
          <a:xfrm>
            <a:off x="609600" y="902847"/>
            <a:ext cx="106299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D43E4AB-47E0-6E9F-6AE7-43B0FBB75E14}"/>
              </a:ext>
            </a:extLst>
          </p:cNvPr>
          <p:cNvSpPr txBox="1"/>
          <p:nvPr/>
        </p:nvSpPr>
        <p:spPr>
          <a:xfrm>
            <a:off x="609600" y="2835866"/>
            <a:ext cx="6411544" cy="2837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2.2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亮点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结合 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XGBoost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的稳健性与 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LightGBM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的高分辨率拟合能力</a:t>
            </a:r>
            <a:endParaRPr lang="en-US" altLang="zh-CN" dirty="0">
              <a:effectLst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严格 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OOF 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机制防止信息泄露</a:t>
            </a:r>
            <a:endParaRPr lang="en-US" altLang="zh-CN" dirty="0">
              <a:effectLst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引入关键结构特征，学习条件化模型信任权重</a:t>
            </a:r>
            <a:endParaRPr lang="en-US" altLang="zh-CN" dirty="0">
              <a:effectLst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采用</a:t>
            </a:r>
            <a:r>
              <a:rPr lang="zh-CN" altLang="en-US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浅层、强正则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LGB Meta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，提升性能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&amp;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防止过拟合</a:t>
            </a:r>
            <a:endParaRPr lang="en-US" altLang="zh-CN" dirty="0">
              <a:effectLst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Performance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Price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LGB-meta 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最优（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vs best base model RMSE </a:t>
            </a:r>
            <a:r>
              <a:rPr lang="en-US" altLang="zh-CN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-3.83%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Rent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Basic Stacking 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最优（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vs best base model RMSE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-1.43%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20630D2-44AA-171D-DE0A-761C5CF38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162174"/>
              </p:ext>
            </p:extLst>
          </p:nvPr>
        </p:nvGraphicFramePr>
        <p:xfrm>
          <a:off x="778472" y="5728731"/>
          <a:ext cx="4914900" cy="929602"/>
        </p:xfrm>
        <a:graphic>
          <a:graphicData uri="http://schemas.openxmlformats.org/drawingml/2006/table">
            <a:tbl>
              <a:tblPr/>
              <a:tblGrid>
                <a:gridCol w="1071336">
                  <a:extLst>
                    <a:ext uri="{9D8B030D-6E8A-4147-A177-3AD203B41FA5}">
                      <a16:colId xmlns:a16="http://schemas.microsoft.com/office/drawing/2014/main" val="1797154922"/>
                    </a:ext>
                  </a:extLst>
                </a:gridCol>
                <a:gridCol w="1291771">
                  <a:extLst>
                    <a:ext uri="{9D8B030D-6E8A-4147-A177-3AD203B41FA5}">
                      <a16:colId xmlns:a16="http://schemas.microsoft.com/office/drawing/2014/main" val="187158219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411291529"/>
                    </a:ext>
                  </a:extLst>
                </a:gridCol>
                <a:gridCol w="583293">
                  <a:extLst>
                    <a:ext uri="{9D8B030D-6E8A-4147-A177-3AD203B41FA5}">
                      <a16:colId xmlns:a16="http://schemas.microsoft.com/office/drawing/2014/main" val="424816285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492622440"/>
                    </a:ext>
                  </a:extLst>
                </a:gridCol>
              </a:tblGrid>
              <a:tr h="3428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Price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In-sample RMSE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Out-of-sample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CV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vs LGB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734437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XGB + LGB</a:t>
                      </a:r>
                      <a:endParaRPr 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448,186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422,171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448,712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-3.31%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764253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+ Ridge-meta</a:t>
                      </a:r>
                      <a:endParaRPr 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447,314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419,290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447,856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-3.49%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53566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+ LGB-meta</a:t>
                      </a:r>
                      <a:endParaRPr 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431,123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417,061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446,278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-3.83%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21734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C5CCA2F-B2B8-5330-63DB-9CDA493C0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322499"/>
              </p:ext>
            </p:extLst>
          </p:nvPr>
        </p:nvGraphicFramePr>
        <p:xfrm>
          <a:off x="6903789" y="5728731"/>
          <a:ext cx="4914900" cy="915035"/>
        </p:xfrm>
        <a:graphic>
          <a:graphicData uri="http://schemas.openxmlformats.org/drawingml/2006/table">
            <a:tbl>
              <a:tblPr/>
              <a:tblGrid>
                <a:gridCol w="998765">
                  <a:extLst>
                    <a:ext uri="{9D8B030D-6E8A-4147-A177-3AD203B41FA5}">
                      <a16:colId xmlns:a16="http://schemas.microsoft.com/office/drawing/2014/main" val="2889955585"/>
                    </a:ext>
                  </a:extLst>
                </a:gridCol>
                <a:gridCol w="1458685">
                  <a:extLst>
                    <a:ext uri="{9D8B030D-6E8A-4147-A177-3AD203B41FA5}">
                      <a16:colId xmlns:a16="http://schemas.microsoft.com/office/drawing/2014/main" val="594105051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35628586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69142407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201033106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Rent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In-sample RMSE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Out-of-sample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CV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vs XGB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82744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XGB + LGB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136,399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137,914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136,486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-1.43%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50364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+ Ridge-meta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136,761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138,343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136,768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-1.22%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131569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+ LGB-meta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134,693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137,745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137,321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-0.82%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261556"/>
                  </a:ext>
                </a:extLst>
              </a:tr>
            </a:tbl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57A58F44-CB65-F8F0-DE75-A510A8C12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789" y="1062325"/>
            <a:ext cx="4339290" cy="208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6AAAB525-5227-83DE-1050-9516692AE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663344"/>
              </p:ext>
            </p:extLst>
          </p:nvPr>
        </p:nvGraphicFramePr>
        <p:xfrm>
          <a:off x="717550" y="1371969"/>
          <a:ext cx="4339290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169645">
                  <a:extLst>
                    <a:ext uri="{9D8B030D-6E8A-4147-A177-3AD203B41FA5}">
                      <a16:colId xmlns:a16="http://schemas.microsoft.com/office/drawing/2014/main" val="500484783"/>
                    </a:ext>
                  </a:extLst>
                </a:gridCol>
                <a:gridCol w="2169645">
                  <a:extLst>
                    <a:ext uri="{9D8B030D-6E8A-4147-A177-3AD203B41FA5}">
                      <a16:colId xmlns:a16="http://schemas.microsoft.com/office/drawing/2014/main" val="22294615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Stacking model</a:t>
                      </a:r>
                      <a:endParaRPr lang="zh-CN" alt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Meta </a:t>
                      </a:r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input</a:t>
                      </a:r>
                      <a:endParaRPr lang="zh-CN" alt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90428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Basic Stacking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仅基模型 </a:t>
                      </a:r>
                      <a:r>
                        <a:rPr lang="en-US" altLang="zh-CN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OOF </a:t>
                      </a:r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预测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30606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Ridge Meta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基模型预测 </a:t>
                      </a:r>
                      <a:r>
                        <a:rPr lang="en-US" altLang="zh-CN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地理 </a:t>
                      </a:r>
                      <a:r>
                        <a:rPr lang="en-US" altLang="zh-CN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面积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4208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Meta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基模型预测 </a:t>
                      </a:r>
                      <a:r>
                        <a:rPr lang="en-US" altLang="zh-CN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地理 </a:t>
                      </a:r>
                      <a:r>
                        <a:rPr lang="en-US" altLang="zh-CN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面积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5961441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83EFFB5-B189-9ED7-2560-C8F5C370A4AD}"/>
              </a:ext>
            </a:extLst>
          </p:cNvPr>
          <p:cNvSpPr txBox="1"/>
          <p:nvPr/>
        </p:nvSpPr>
        <p:spPr>
          <a:xfrm>
            <a:off x="609600" y="957945"/>
            <a:ext cx="6411544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2.1 Stacking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basic model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XGBoost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&amp; </a:t>
            </a:r>
            <a:r>
              <a:rPr lang="en-US" altLang="zh-CN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LightGBM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>
              <a:effectLst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DAD98BE-4DCA-3C8C-4579-1BBD09139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656" y="3282357"/>
            <a:ext cx="5005184" cy="236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237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>
            <a:extLst>
              <a:ext uri="{FF2B5EF4-FFF2-40B4-BE49-F238E27FC236}">
                <a16:creationId xmlns:a16="http://schemas.microsoft.com/office/drawing/2014/main" id="{A59E46E3-41E1-1F3D-DF20-B517B923DA95}"/>
              </a:ext>
            </a:extLst>
          </p:cNvPr>
          <p:cNvSpPr txBox="1"/>
          <p:nvPr/>
        </p:nvSpPr>
        <p:spPr>
          <a:xfrm>
            <a:off x="493046" y="-47113"/>
            <a:ext cx="10972800" cy="949960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44E7E"/>
                </a:solidFill>
                <a:latin typeface="隶书" panose="02010509060101010101" pitchFamily="49" charset="-122"/>
                <a:ea typeface="隶书" panose="02010509060101010101" pitchFamily="49" charset="-122"/>
                <a:cs typeface="+mj-cs"/>
              </a:defRPr>
            </a:lvl1pPr>
          </a:lstStyle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3. Model Evaluation</a:t>
            </a:r>
            <a:endParaRPr lang="zh-CN" altLang="en-US" sz="48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F56D36C-D07D-9A23-8564-305D091742C9}"/>
              </a:ext>
            </a:extLst>
          </p:cNvPr>
          <p:cNvCxnSpPr>
            <a:cxnSpLocks/>
          </p:cNvCxnSpPr>
          <p:nvPr/>
        </p:nvCxnSpPr>
        <p:spPr>
          <a:xfrm>
            <a:off x="609600" y="902847"/>
            <a:ext cx="106299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3469664-6D64-F6BF-356F-6BCC2985B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2573"/>
              </p:ext>
            </p:extLst>
          </p:nvPr>
        </p:nvGraphicFramePr>
        <p:xfrm>
          <a:off x="6324600" y="2974455"/>
          <a:ext cx="4914900" cy="17500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758287167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246837497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4819725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84385911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41055151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Price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In-sample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Out-of-sample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CV 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Kaggle Score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66368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Best Linear Model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952386.31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939730.51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952513.38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43.90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131165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XGB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oost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99606.84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428388.39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484158.60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74.40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952309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L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ight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GBM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442904.56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431527.08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464072.21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74.20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53120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Stacked (basic)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448186.12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422170.98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448712.43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73.80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875803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Stacked + Ridge-meta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447313.54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419289.85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447856.08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74.30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282745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Stacked + LGB-meta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431123.27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417061.46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446277.82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61052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Best Model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431123.27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417061.46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446277.82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05950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76FB167-5738-C325-7FE1-7CFA03E5F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048415"/>
              </p:ext>
            </p:extLst>
          </p:nvPr>
        </p:nvGraphicFramePr>
        <p:xfrm>
          <a:off x="6324600" y="4881458"/>
          <a:ext cx="4914900" cy="17500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385405464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21281336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022766927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1881126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11139883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Rent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In-sample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Out-of-sample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CV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Kaggle Score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137099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Best Linear Model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243015.32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244483.74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243032.98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43.90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22963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XGB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oost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69989.30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137587.62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138459.45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74.40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939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L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ight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GBM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87113.83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138172.64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139088.13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74.20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375314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Stacked (basic)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136398.75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137913.79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136485.64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73.80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10760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Stacked + Ridge-meta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136761.08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138342.61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136767.92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74.30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02313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Stacked + LGB-meta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134693.36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137744.87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137320.63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66195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Best Model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134693.36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137744.87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137320.63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74.70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107565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E6B02CB4-5A4F-4FB7-31AD-6927CD7F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41" y="1097301"/>
            <a:ext cx="5568024" cy="24514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FEC715B-2E12-2175-5CD5-736F00EC181F}"/>
              </a:ext>
            </a:extLst>
          </p:cNvPr>
          <p:cNvSpPr txBox="1"/>
          <p:nvPr/>
        </p:nvSpPr>
        <p:spPr>
          <a:xfrm>
            <a:off x="769360" y="3605554"/>
            <a:ext cx="617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 Feature &amp; Permutation Importance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1A30E3-BED5-94A2-7651-CCDFE2CCD1BB}"/>
              </a:ext>
            </a:extLst>
          </p:cNvPr>
          <p:cNvSpPr txBox="1"/>
          <p:nvPr/>
        </p:nvSpPr>
        <p:spPr>
          <a:xfrm>
            <a:off x="1136651" y="6456154"/>
            <a:ext cx="3600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 Stacking Meta SHAP Distribution</a:t>
            </a:r>
            <a:endParaRPr lang="zh-CN" altLang="en-US" sz="1400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DE6DCD0-21B6-439E-D766-6966B8456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41" y="4304030"/>
            <a:ext cx="4339291" cy="220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20C26D6-1F25-DF25-337A-20B9EA77776A}"/>
              </a:ext>
            </a:extLst>
          </p:cNvPr>
          <p:cNvSpPr txBox="1"/>
          <p:nvPr/>
        </p:nvSpPr>
        <p:spPr>
          <a:xfrm>
            <a:off x="6324600" y="1137160"/>
            <a:ext cx="5369845" cy="1722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Progress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Optuna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自动超参调优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可视化展示、地理特征处理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可解释性：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SHAP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与偏依赖图对模型进行解释分析，量化特征对预测结果的边际影响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4D499D4-7DC5-A2FD-83E0-CE19839C3743}"/>
              </a:ext>
            </a:extLst>
          </p:cNvPr>
          <p:cNvSpPr/>
          <p:nvPr/>
        </p:nvSpPr>
        <p:spPr>
          <a:xfrm>
            <a:off x="6233886" y="1196111"/>
            <a:ext cx="5283199" cy="1663571"/>
          </a:xfrm>
          <a:prstGeom prst="roundRect">
            <a:avLst>
              <a:gd name="adj" fmla="val 9930"/>
            </a:avLst>
          </a:prstGeom>
          <a:noFill/>
          <a:ln w="19050">
            <a:solidFill>
              <a:srgbClr val="388CC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846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556</Words>
  <Application>Microsoft Office PowerPoint</Application>
  <PresentationFormat>宽屏</PresentationFormat>
  <Paragraphs>241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楷体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fhjgj dhhgfd</dc:creator>
  <cp:lastModifiedBy>Jerrie Huang</cp:lastModifiedBy>
  <cp:revision>107</cp:revision>
  <dcterms:created xsi:type="dcterms:W3CDTF">2025-10-30T13:03:02Z</dcterms:created>
  <dcterms:modified xsi:type="dcterms:W3CDTF">2025-12-25T15:30:46Z</dcterms:modified>
</cp:coreProperties>
</file>