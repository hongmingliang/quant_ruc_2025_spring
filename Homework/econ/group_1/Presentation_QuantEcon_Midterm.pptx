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314" r:id="rId2"/>
    <p:sldId id="257" r:id="rId3"/>
    <p:sldId id="320" r:id="rId4"/>
    <p:sldId id="319" r:id="rId5"/>
    <p:sldId id="318" r:id="rId6"/>
  </p:sldIdLst>
  <p:sldSz cx="12192000" cy="6858000"/>
  <p:notesSz cx="6858000" cy="9144000"/>
  <p:embeddedFontLst>
    <p:embeddedFont>
      <p:font typeface="Source Han Sans CN Normal" panose="020B0400000000000000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  <p:embeddedFont>
      <p:font typeface="等线 Light" panose="02010600030101010101" pitchFamily="2" charset="-122"/>
      <p:regular r:id="rId11"/>
    </p:embeddedFont>
    <p:embeddedFont>
      <p:font typeface="华文中宋" panose="02010600040101010101" pitchFamily="2" charset="-122"/>
      <p:regular r:id="rId1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1E2D"/>
    <a:srgbClr val="91001E"/>
    <a:srgbClr val="FC1414"/>
    <a:srgbClr val="FC14F7"/>
    <a:srgbClr val="981E2D"/>
    <a:srgbClr val="FFFFFF"/>
    <a:srgbClr val="AE0B2A"/>
    <a:srgbClr val="EEE2E7"/>
    <a:srgbClr val="951E2B"/>
    <a:srgbClr val="FAC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76" autoAdjust="0"/>
    <p:restoredTop sz="94674" autoAdjust="0"/>
  </p:normalViewPr>
  <p:slideViewPr>
    <p:cSldViewPr snapToGrid="0">
      <p:cViewPr varScale="1">
        <p:scale>
          <a:sx n="73" d="100"/>
          <a:sy n="73" d="100"/>
        </p:scale>
        <p:origin x="410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F78EB-BD73-41C0-8F71-BC307B0B7D7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1E881-1E51-4667-8484-082D6CB27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50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CN" dirty="0"/>
              <a:t>In 2023, the city of Zibo became an unexpected tourist sensation. The word "Unexpected" here </a:t>
            </a:r>
            <a:r>
              <a:rPr lang="en-US" altLang="zh-CN" dirty="0" err="1"/>
              <a:t>actualy</a:t>
            </a:r>
            <a:r>
              <a:rPr lang="en-US" altLang="zh-CN" dirty="0"/>
              <a:t> indicates the great difficulty for a conventional city lack of tourism </a:t>
            </a:r>
            <a:r>
              <a:rPr lang="en-US" altLang="zh-CN" dirty="0" err="1"/>
              <a:t>attrations</a:t>
            </a:r>
            <a:r>
              <a:rPr lang="en-US" altLang="zh-CN" dirty="0"/>
              <a:t> to develop its tourism industry". 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This is also the question hung in our minds from the very first class of the </a:t>
            </a:r>
            <a:r>
              <a:rPr lang="en-US" altLang="zh-CN" dirty="0" err="1"/>
              <a:t>curriculm</a:t>
            </a:r>
            <a:r>
              <a:rPr lang="en-US" altLang="zh-CN" dirty="0"/>
              <a:t>. After our investigation and greatly Thanks to Professor Su, now we seem to find some ideas to share. 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I'm , First introduce my </a:t>
            </a:r>
            <a:r>
              <a:rPr lang="en-US" altLang="zh-CN" dirty="0" err="1"/>
              <a:t>teamates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1E881-1E51-4667-8484-082D6CB2721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616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75D1E-1121-35A4-1694-FEF1B1C1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89386-55C3-917F-CD7D-C25BCA0B0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E27A3-21D7-1A4A-BCB3-6D14F33D4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AAA86-D88C-6E65-3E46-EBBD703A8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1E881-1E51-4667-8484-082D6CB272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351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1E881-1E51-4667-8484-082D6CB2721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FD0D9-CE61-5ADA-88F6-DE3D462B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A58BF-C175-BB80-3BDA-DCEF84BB4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2F216-7B74-E896-6729-DC44BC5F9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736C6-7C4B-3BFC-F781-AFC022A49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1E881-1E51-4667-8484-082D6CB272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16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B584B-65A2-144F-BB35-EA9B8103EC9B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4F98-EB8F-2649-9827-6F3FC825C75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4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8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Layout" Target="../slideLayouts/slideLayout2.xml"/><Relationship Id="rId35" Type="http://schemas.openxmlformats.org/officeDocument/2006/relationships/image" Target="../media/image7.png"/><Relationship Id="rId8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6402422"/>
            <a:ext cx="12192000" cy="455577"/>
          </a:xfrm>
          <a:prstGeom prst="rect">
            <a:avLst/>
          </a:pr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123847" y="1758777"/>
            <a:ext cx="98494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951E2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From “Internet-Famous” to “Sustainable Popular</a:t>
            </a:r>
            <a:r>
              <a:rPr lang="zh-CN" altLang="en-US" sz="4000" b="1" dirty="0">
                <a:solidFill>
                  <a:srgbClr val="951E2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”</a:t>
            </a:r>
            <a:endParaRPr lang="en-US" altLang="zh-CN" sz="4000" b="1" dirty="0">
              <a:solidFill>
                <a:srgbClr val="951E2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381370" y="3544438"/>
            <a:ext cx="5429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Xu </a:t>
            </a:r>
            <a:r>
              <a:rPr kumimoji="1"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Jiamiao</a:t>
            </a:r>
            <a:r>
              <a:rPr kumimoji="1"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Yin Jiaxuan, Xiang </a:t>
            </a:r>
            <a:r>
              <a:rPr kumimoji="1"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Shaobo</a:t>
            </a:r>
            <a:endParaRPr kumimoji="1" lang="en-US" altLang="zh-CN" sz="1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endParaRPr kumimoji="1" lang="en-US" altLang="zh-CN" sz="1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endParaRPr kumimoji="1" lang="en-US" altLang="zh-CN" sz="16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1600" b="1" dirty="0">
                <a:solidFill>
                  <a:srgbClr val="951E2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Renmin University of China</a:t>
            </a:r>
          </a:p>
          <a:p>
            <a:pPr algn="ctr"/>
            <a:endParaRPr kumimoji="1" lang="en-US" altLang="zh-CN" sz="1600" b="1" dirty="0">
              <a:solidFill>
                <a:srgbClr val="951E2B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1600" b="1" dirty="0">
                <a:solidFill>
                  <a:srgbClr val="951E2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@ July 16, 2024</a:t>
            </a:r>
          </a:p>
          <a:p>
            <a:pPr algn="ctr"/>
            <a:endParaRPr kumimoji="1" lang="en-US" altLang="zh-CN" sz="1600" b="1" dirty="0">
              <a:solidFill>
                <a:srgbClr val="951E2B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Picture 1510" descr="E:\徐振杰\进行中\高校\人大ppt\jpg\01\0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5"/>
          <a:stretch>
            <a:fillRect/>
          </a:stretch>
        </p:blipFill>
        <p:spPr bwMode="auto">
          <a:xfrm flipH="1">
            <a:off x="9700800" y="2544555"/>
            <a:ext cx="2491200" cy="4576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任意多边形: 形状 15"/>
          <p:cNvSpPr/>
          <p:nvPr/>
        </p:nvSpPr>
        <p:spPr>
          <a:xfrm>
            <a:off x="10406060" y="0"/>
            <a:ext cx="1140052" cy="1200665"/>
          </a:xfrm>
          <a:custGeom>
            <a:avLst/>
            <a:gdLst>
              <a:gd name="connsiteX0" fmla="*/ 0 w 1140052"/>
              <a:gd name="connsiteY0" fmla="*/ 0 h 1200665"/>
              <a:gd name="connsiteX1" fmla="*/ 1140052 w 1140052"/>
              <a:gd name="connsiteY1" fmla="*/ 0 h 1200665"/>
              <a:gd name="connsiteX2" fmla="*/ 1140051 w 1140052"/>
              <a:gd name="connsiteY2" fmla="*/ 630639 h 1200665"/>
              <a:gd name="connsiteX3" fmla="*/ 570025 w 1140052"/>
              <a:gd name="connsiteY3" fmla="*/ 1200665 h 1200665"/>
              <a:gd name="connsiteX4" fmla="*/ 570026 w 1140052"/>
              <a:gd name="connsiteY4" fmla="*/ 1200664 h 1200665"/>
              <a:gd name="connsiteX5" fmla="*/ 0 w 1140052"/>
              <a:gd name="connsiteY5" fmla="*/ 630638 h 120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0052" h="1200665">
                <a:moveTo>
                  <a:pt x="0" y="0"/>
                </a:moveTo>
                <a:lnTo>
                  <a:pt x="1140052" y="0"/>
                </a:lnTo>
                <a:lnTo>
                  <a:pt x="1140051" y="630639"/>
                </a:lnTo>
                <a:cubicBezTo>
                  <a:pt x="1140051" y="945456"/>
                  <a:pt x="884842" y="1200665"/>
                  <a:pt x="570025" y="1200665"/>
                </a:cubicBezTo>
                <a:lnTo>
                  <a:pt x="570026" y="1200664"/>
                </a:lnTo>
                <a:cubicBezTo>
                  <a:pt x="255209" y="1200664"/>
                  <a:pt x="0" y="945455"/>
                  <a:pt x="0" y="630638"/>
                </a:cubicBezTo>
                <a:close/>
              </a:path>
            </a:pathLst>
          </a:cu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485" y="406658"/>
            <a:ext cx="609554" cy="605882"/>
          </a:xfrm>
          <a:prstGeom prst="rect">
            <a:avLst/>
          </a:prstGeom>
        </p:spPr>
      </p:pic>
      <p:pic>
        <p:nvPicPr>
          <p:cNvPr id="21" name="Picture 1510" descr="E:\徐振杰\进行中\高校\人大ppt\jpg\01\01.png"/>
          <p:cNvPicPr>
            <a:picLocks noChangeAspect="1" noChangeArrowheads="1"/>
          </p:cNvPicPr>
          <p:nvPr/>
        </p:nvPicPr>
        <p:blipFill rotWithShape="1"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"/>
          <a:stretch>
            <a:fillRect/>
          </a:stretch>
        </p:blipFill>
        <p:spPr bwMode="auto">
          <a:xfrm rot="2003816">
            <a:off x="-917265" y="1475714"/>
            <a:ext cx="3028424" cy="3906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DF91275-FA78-4B26-A786-8A628E9EF591}"/>
              </a:ext>
            </a:extLst>
          </p:cNvPr>
          <p:cNvSpPr txBox="1"/>
          <p:nvPr/>
        </p:nvSpPr>
        <p:spPr>
          <a:xfrm>
            <a:off x="-2161309" y="6451342"/>
            <a:ext cx="162098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 “Internet-Famous” to “Sustainably Popular”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1181100" y="1140460"/>
            <a:ext cx="4165197" cy="4835525"/>
            <a:chOff x="1133" y="1429"/>
            <a:chExt cx="6398" cy="7327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1"/>
            <a:srcRect l="4299" r="4564"/>
            <a:stretch>
              <a:fillRect/>
            </a:stretch>
          </p:blipFill>
          <p:spPr>
            <a:xfrm>
              <a:off x="1904" y="1429"/>
              <a:ext cx="2984" cy="389"/>
            </a:xfrm>
            <a:prstGeom prst="rect">
              <a:avLst/>
            </a:prstGeom>
          </p:spPr>
        </p:pic>
        <p:sp>
          <p:nvSpPr>
            <p:cNvPr id="8" name="右弧形箭头 7"/>
            <p:cNvSpPr/>
            <p:nvPr>
              <p:custDataLst>
                <p:tags r:id="rId3"/>
              </p:custDataLst>
            </p:nvPr>
          </p:nvSpPr>
          <p:spPr>
            <a:xfrm>
              <a:off x="5471" y="1537"/>
              <a:ext cx="640" cy="681"/>
            </a:xfrm>
            <a:prstGeom prst="curvedLef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8" name="组合 17"/>
            <p:cNvGrpSpPr/>
            <p:nvPr>
              <p:custDataLst>
                <p:tags r:id="rId4"/>
              </p:custDataLst>
            </p:nvPr>
          </p:nvGrpSpPr>
          <p:grpSpPr>
            <a:xfrm>
              <a:off x="1355" y="1872"/>
              <a:ext cx="4115" cy="434"/>
              <a:chOff x="1355" y="1872"/>
              <a:chExt cx="4115" cy="434"/>
            </a:xfrm>
          </p:grpSpPr>
          <p:sp>
            <p:nvSpPr>
              <p:cNvPr id="5" name="圆角矩形 4"/>
              <p:cNvSpPr/>
              <p:nvPr>
                <p:custDataLst>
                  <p:tags r:id="rId28"/>
                </p:custDataLst>
              </p:nvPr>
            </p:nvSpPr>
            <p:spPr>
              <a:xfrm>
                <a:off x="1440" y="1872"/>
                <a:ext cx="3937" cy="434"/>
              </a:xfrm>
              <a:prstGeom prst="roundRect">
                <a:avLst/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1355" y="1873"/>
                <a:ext cx="4115" cy="3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Midterm_dataprocess1_rent.train.ipynb</a:t>
                </a:r>
              </a:p>
            </p:txBody>
          </p:sp>
        </p:grpSp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2"/>
            <a:srcRect t="12679" b="9091"/>
            <a:stretch>
              <a:fillRect/>
            </a:stretch>
          </p:blipFill>
          <p:spPr>
            <a:xfrm>
              <a:off x="1667" y="2813"/>
              <a:ext cx="3483" cy="327"/>
            </a:xfrm>
            <a:prstGeom prst="rect">
              <a:avLst/>
            </a:prstGeom>
          </p:spPr>
        </p:pic>
        <p:sp>
          <p:nvSpPr>
            <p:cNvPr id="14" name="下箭头 13"/>
            <p:cNvSpPr/>
            <p:nvPr>
              <p:custDataLst>
                <p:tags r:id="rId6"/>
              </p:custDataLst>
            </p:nvPr>
          </p:nvSpPr>
          <p:spPr>
            <a:xfrm>
              <a:off x="1904" y="2330"/>
              <a:ext cx="120" cy="43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2116" y="2360"/>
              <a:ext cx="2540" cy="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初步提取出</a:t>
              </a:r>
              <a:r>
                <a:rPr lang="en-US" altLang="zh-CN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57/65</a:t>
              </a:r>
              <a:r>
                <a:rPr lang="zh-CN" altLang="en-US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个变量</a:t>
              </a:r>
            </a:p>
          </p:txBody>
        </p:sp>
        <p:grpSp>
          <p:nvGrpSpPr>
            <p:cNvPr id="19" name="组合 18"/>
            <p:cNvGrpSpPr/>
            <p:nvPr>
              <p:custDataLst>
                <p:tags r:id="rId8"/>
              </p:custDataLst>
            </p:nvPr>
          </p:nvGrpSpPr>
          <p:grpSpPr>
            <a:xfrm>
              <a:off x="1356" y="3207"/>
              <a:ext cx="4115" cy="436"/>
              <a:chOff x="1355" y="1870"/>
              <a:chExt cx="4115" cy="436"/>
            </a:xfrm>
          </p:grpSpPr>
          <p:sp>
            <p:nvSpPr>
              <p:cNvPr id="20" name="圆角矩形 19"/>
              <p:cNvSpPr/>
              <p:nvPr>
                <p:custDataLst>
                  <p:tags r:id="rId26"/>
                </p:custDataLst>
              </p:nvPr>
            </p:nvSpPr>
            <p:spPr>
              <a:xfrm>
                <a:off x="1440" y="1872"/>
                <a:ext cx="3937" cy="434"/>
              </a:xfrm>
              <a:prstGeom prst="roundRect">
                <a:avLst/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1355" y="1870"/>
                <a:ext cx="4115" cy="3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Midterm_dataprocess2_rent.train.ipynb</a:t>
                </a:r>
              </a:p>
            </p:txBody>
          </p:sp>
        </p:grpSp>
        <p:sp>
          <p:nvSpPr>
            <p:cNvPr id="22" name="下箭头 21"/>
            <p:cNvSpPr/>
            <p:nvPr>
              <p:custDataLst>
                <p:tags r:id="rId9"/>
              </p:custDataLst>
            </p:nvPr>
          </p:nvSpPr>
          <p:spPr>
            <a:xfrm>
              <a:off x="1904" y="3670"/>
              <a:ext cx="120" cy="43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>
              <p:custDataLst>
                <p:tags r:id="rId10"/>
              </p:custDataLst>
            </p:nvPr>
          </p:nvSpPr>
          <p:spPr>
            <a:xfrm>
              <a:off x="2082" y="3698"/>
              <a:ext cx="2851" cy="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中位数填充数据（四层逻辑）</a:t>
              </a:r>
            </a:p>
          </p:txBody>
        </p:sp>
        <p:grpSp>
          <p:nvGrpSpPr>
            <p:cNvPr id="25" name="组合 24"/>
            <p:cNvGrpSpPr/>
            <p:nvPr>
              <p:custDataLst>
                <p:tags r:id="rId11"/>
              </p:custDataLst>
            </p:nvPr>
          </p:nvGrpSpPr>
          <p:grpSpPr>
            <a:xfrm>
              <a:off x="1356" y="4525"/>
              <a:ext cx="4114" cy="434"/>
              <a:chOff x="1355" y="1872"/>
              <a:chExt cx="4114" cy="434"/>
            </a:xfrm>
          </p:grpSpPr>
          <p:sp>
            <p:nvSpPr>
              <p:cNvPr id="26" name="圆角矩形 25"/>
              <p:cNvSpPr/>
              <p:nvPr>
                <p:custDataLst>
                  <p:tags r:id="rId24"/>
                </p:custDataLst>
              </p:nvPr>
            </p:nvSpPr>
            <p:spPr>
              <a:xfrm>
                <a:off x="1440" y="1872"/>
                <a:ext cx="3937" cy="434"/>
              </a:xfrm>
              <a:prstGeom prst="roundRect">
                <a:avLst/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355" y="1893"/>
                <a:ext cx="4115" cy="3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Midterm_feature_engineering_rent.train.ipynb</a:t>
                </a:r>
              </a:p>
            </p:txBody>
          </p:sp>
        </p:grpSp>
        <p:sp>
          <p:nvSpPr>
            <p:cNvPr id="28" name="下箭头 27"/>
            <p:cNvSpPr/>
            <p:nvPr>
              <p:custDataLst>
                <p:tags r:id="rId12"/>
              </p:custDataLst>
            </p:nvPr>
          </p:nvSpPr>
          <p:spPr>
            <a:xfrm>
              <a:off x="1904" y="4986"/>
              <a:ext cx="120" cy="43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13"/>
              </p:custDataLst>
            </p:nvPr>
          </p:nvSpPr>
          <p:spPr>
            <a:xfrm>
              <a:off x="2024" y="5014"/>
              <a:ext cx="3241" cy="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幂次项</a:t>
              </a:r>
              <a:r>
                <a:rPr lang="en-US" altLang="zh-CN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+</a:t>
              </a:r>
              <a:r>
                <a:rPr lang="zh-CN" altLang="en-US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交互项</a:t>
              </a:r>
              <a:r>
                <a:rPr lang="en-US" altLang="zh-CN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; </a:t>
              </a:r>
              <a:r>
                <a:rPr lang="zh-CN" altLang="en-US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变量数：</a:t>
              </a:r>
              <a:r>
                <a:rPr lang="en-US" altLang="zh-CN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81/90</a:t>
              </a:r>
            </a:p>
          </p:txBody>
        </p:sp>
        <p:pic>
          <p:nvPicPr>
            <p:cNvPr id="30" name="图片 29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3"/>
            <a:srcRect t="10685"/>
            <a:stretch>
              <a:fillRect/>
            </a:stretch>
          </p:blipFill>
          <p:spPr>
            <a:xfrm>
              <a:off x="1667" y="4139"/>
              <a:ext cx="3465" cy="329"/>
            </a:xfrm>
            <a:prstGeom prst="rect">
              <a:avLst/>
            </a:prstGeom>
          </p:spPr>
        </p:pic>
        <p:sp>
          <p:nvSpPr>
            <p:cNvPr id="31" name="右弧形箭头 30"/>
            <p:cNvSpPr/>
            <p:nvPr>
              <p:custDataLst>
                <p:tags r:id="rId15"/>
              </p:custDataLst>
            </p:nvPr>
          </p:nvSpPr>
          <p:spPr>
            <a:xfrm>
              <a:off x="5550" y="2962"/>
              <a:ext cx="640" cy="681"/>
            </a:xfrm>
            <a:prstGeom prst="curvedLef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右弧形箭头 31"/>
            <p:cNvSpPr/>
            <p:nvPr>
              <p:custDataLst>
                <p:tags r:id="rId16"/>
              </p:custDataLst>
            </p:nvPr>
          </p:nvSpPr>
          <p:spPr>
            <a:xfrm>
              <a:off x="5590" y="4274"/>
              <a:ext cx="640" cy="681"/>
            </a:xfrm>
            <a:prstGeom prst="curvedLef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33" name="图片 32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4"/>
            <a:srcRect t="6780"/>
            <a:stretch>
              <a:fillRect/>
            </a:stretch>
          </p:blipFill>
          <p:spPr>
            <a:xfrm>
              <a:off x="1649" y="5443"/>
              <a:ext cx="3537" cy="330"/>
            </a:xfrm>
            <a:prstGeom prst="rect">
              <a:avLst/>
            </a:prstGeom>
          </p:spPr>
        </p:pic>
        <p:grpSp>
          <p:nvGrpSpPr>
            <p:cNvPr id="37" name="组合 36"/>
            <p:cNvGrpSpPr/>
            <p:nvPr>
              <p:custDataLst>
                <p:tags r:id="rId18"/>
              </p:custDataLst>
            </p:nvPr>
          </p:nvGrpSpPr>
          <p:grpSpPr>
            <a:xfrm>
              <a:off x="1356" y="7875"/>
              <a:ext cx="4115" cy="436"/>
              <a:chOff x="1355" y="1870"/>
              <a:chExt cx="4115" cy="436"/>
            </a:xfrm>
          </p:grpSpPr>
          <p:sp>
            <p:nvSpPr>
              <p:cNvPr id="38" name="圆角矩形 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1440" y="1872"/>
                <a:ext cx="3937" cy="434"/>
              </a:xfrm>
              <a:prstGeom prst="roundRect">
                <a:avLst/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355" y="1870"/>
                <a:ext cx="4115" cy="3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Midterm_dataprocess3_rent.train.ipynb</a:t>
                </a:r>
              </a:p>
            </p:txBody>
          </p:sp>
        </p:grpSp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933" y="8356"/>
              <a:ext cx="3000" cy="400"/>
            </a:xfrm>
            <a:prstGeom prst="rect">
              <a:avLst/>
            </a:prstGeom>
          </p:spPr>
        </p:pic>
        <p:sp>
          <p:nvSpPr>
            <p:cNvPr id="43" name="左弧形箭头 42"/>
            <p:cNvSpPr/>
            <p:nvPr/>
          </p:nvSpPr>
          <p:spPr>
            <a:xfrm rot="10800000">
              <a:off x="5550" y="7897"/>
              <a:ext cx="639" cy="678"/>
            </a:xfrm>
            <a:prstGeom prst="curved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下箭头 44"/>
            <p:cNvSpPr/>
            <p:nvPr>
              <p:custDataLst>
                <p:tags r:id="rId19"/>
              </p:custDataLst>
            </p:nvPr>
          </p:nvSpPr>
          <p:spPr>
            <a:xfrm rot="10800000">
              <a:off x="1904" y="7417"/>
              <a:ext cx="120" cy="43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36"/>
            <a:srcRect t="8824" b="6417"/>
            <a:stretch>
              <a:fillRect/>
            </a:stretch>
          </p:blipFill>
          <p:spPr>
            <a:xfrm>
              <a:off x="1649" y="7072"/>
              <a:ext cx="3518" cy="317"/>
            </a:xfrm>
            <a:prstGeom prst="rect">
              <a:avLst/>
            </a:prstGeom>
          </p:spPr>
        </p:pic>
        <p:sp>
          <p:nvSpPr>
            <p:cNvPr id="47" name="文本框 46"/>
            <p:cNvSpPr txBox="1"/>
            <p:nvPr>
              <p:custDataLst>
                <p:tags r:id="rId20"/>
              </p:custDataLst>
            </p:nvPr>
          </p:nvSpPr>
          <p:spPr>
            <a:xfrm>
              <a:off x="2226" y="7407"/>
              <a:ext cx="2960" cy="3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初步提取</a:t>
              </a:r>
              <a:r>
                <a:rPr lang="zh-CN" sz="1000"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rPr>
                <a:t>变量，与训练集适配</a:t>
              </a:r>
              <a:endParaRPr lang="zh-CN" altLang="en-US" sz="1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endParaRPr>
            </a:p>
          </p:txBody>
        </p:sp>
        <p:sp>
          <p:nvSpPr>
            <p:cNvPr id="48" name="左弧形箭头 47"/>
            <p:cNvSpPr/>
            <p:nvPr/>
          </p:nvSpPr>
          <p:spPr>
            <a:xfrm>
              <a:off x="1241" y="5641"/>
              <a:ext cx="382" cy="486"/>
            </a:xfrm>
            <a:prstGeom prst="curved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右弧形箭头 48"/>
            <p:cNvSpPr/>
            <p:nvPr/>
          </p:nvSpPr>
          <p:spPr>
            <a:xfrm rot="10800000">
              <a:off x="1133" y="6724"/>
              <a:ext cx="490" cy="488"/>
            </a:xfrm>
            <a:prstGeom prst="curvedLeftArrow">
              <a:avLst>
                <a:gd name="adj1" fmla="val 20001"/>
                <a:gd name="adj2" fmla="val 48060"/>
                <a:gd name="adj3" fmla="val 28761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圆角矩形 50"/>
            <p:cNvSpPr/>
            <p:nvPr>
              <p:custDataLst>
                <p:tags r:id="rId21"/>
              </p:custDataLst>
            </p:nvPr>
          </p:nvSpPr>
          <p:spPr>
            <a:xfrm>
              <a:off x="1649" y="5816"/>
              <a:ext cx="3729" cy="1139"/>
            </a:xfrm>
            <a:prstGeom prst="roundRect">
              <a:avLst/>
            </a:prstGeom>
            <a:solidFill>
              <a:schemeClr val="bg2">
                <a:lumMod val="95000"/>
              </a:schemeClr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667" y="5813"/>
              <a:ext cx="3803" cy="10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Midterm_modeling_rent-OLS.ipynb</a:t>
              </a:r>
            </a:p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Midterm_modeling_rent-LASSO.ipynb</a:t>
              </a:r>
            </a:p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Midterm_modeling_rent-Ridge.ipynb</a:t>
              </a:r>
            </a:p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Midterm_modeling_rent-Elastic_Net.ipynb</a:t>
              </a:r>
            </a:p>
          </p:txBody>
        </p:sp>
        <p:sp>
          <p:nvSpPr>
            <p:cNvPr id="54" name="右箭头 53"/>
            <p:cNvSpPr/>
            <p:nvPr/>
          </p:nvSpPr>
          <p:spPr>
            <a:xfrm>
              <a:off x="5470" y="6097"/>
              <a:ext cx="2061" cy="524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6" name="表格 55"/>
          <p:cNvGraphicFramePr/>
          <p:nvPr/>
        </p:nvGraphicFramePr>
        <p:xfrm>
          <a:off x="5346065" y="2555875"/>
          <a:ext cx="6170295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3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In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Out of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Cross-validation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Kaggle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Linear Regression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0.6938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MAE=655534.78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0.6759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MAE=</a:t>
                      </a:r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665411.27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0.6798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MAE=658227.82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57.8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Lasso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0.6976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0.6855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0.6867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0.6939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ElasticNet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0.6475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0.6313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0.6286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57.4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" name="文本框 56"/>
          <p:cNvSpPr txBox="1"/>
          <p:nvPr/>
        </p:nvSpPr>
        <p:spPr>
          <a:xfrm>
            <a:off x="6604635" y="2286000"/>
            <a:ext cx="3672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House Price Predicting Results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Below first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）</a:t>
            </a:r>
          </a:p>
        </p:txBody>
      </p:sp>
      <p:graphicFrame>
        <p:nvGraphicFramePr>
          <p:cNvPr id="58" name="表格 5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5122789"/>
              </p:ext>
            </p:extLst>
          </p:nvPr>
        </p:nvGraphicFramePr>
        <p:xfrm>
          <a:off x="5346065" y="4451965"/>
          <a:ext cx="618934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In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Out of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Cross-validation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Kaggle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Linear Regression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0.7464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MAE=147156.42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0.7370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MAE=149248.04</a:t>
                      </a:r>
                      <a:endParaRPr lang="en-US" altLang="zh-CN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0.7435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MAE=147789.14</a:t>
                      </a:r>
                      <a:endParaRPr lang="en-US" altLang="zh-CN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57.8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Lasso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0.7317  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0.7213 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0.7286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57.5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0.7394       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0.7236 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0.7366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ElasticNet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0.7329                  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0.7220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0.7298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57.4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" name="文本框 59"/>
          <p:cNvSpPr txBox="1"/>
          <p:nvPr/>
        </p:nvSpPr>
        <p:spPr>
          <a:xfrm>
            <a:off x="6694170" y="6146800"/>
            <a:ext cx="34937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Rent Price Predicting Results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Above first)</a:t>
            </a:r>
          </a:p>
        </p:txBody>
      </p:sp>
      <p:cxnSp>
        <p:nvCxnSpPr>
          <p:cNvPr id="61" name="曲线连接符 60"/>
          <p:cNvCxnSpPr>
            <a:endCxn id="62" idx="1"/>
          </p:cNvCxnSpPr>
          <p:nvPr/>
        </p:nvCxnSpPr>
        <p:spPr>
          <a:xfrm flipV="1">
            <a:off x="3474720" y="887095"/>
            <a:ext cx="1912620" cy="990600"/>
          </a:xfrm>
          <a:prstGeom prst="curvedConnector3">
            <a:avLst>
              <a:gd name="adj1" fmla="val 56806"/>
            </a:avLst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5387340" y="473075"/>
            <a:ext cx="5836920" cy="828040"/>
          </a:xfrm>
          <a:prstGeom prst="rect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 wrap="square" rtlCol="0">
            <a:noAutofit/>
          </a:bodyPr>
          <a:lstStyle/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Innovation in rent part: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</a:rPr>
              <a:t>配套设施（正则化）</a:t>
            </a: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Innovation in house part: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周边配套（正则化）</a:t>
            </a:r>
          </a:p>
          <a:p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Innovation in both parts: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楼层划分逻辑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; Haversine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计算市中心距离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0" y="4445"/>
            <a:ext cx="2247265" cy="5302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</a:rPr>
              <a:t>赵蔚</a:t>
            </a:r>
            <a:r>
              <a:rPr lang="en-US" altLang="zh-CN" sz="20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</a:rPr>
              <a:t> 2023200593</a:t>
            </a:r>
          </a:p>
        </p:txBody>
      </p:sp>
      <p:cxnSp>
        <p:nvCxnSpPr>
          <p:cNvPr id="72" name="曲线连接符 71"/>
          <p:cNvCxnSpPr>
            <a:stCxn id="23" idx="3"/>
            <a:endCxn id="73" idx="1"/>
          </p:cNvCxnSpPr>
          <p:nvPr/>
        </p:nvCxnSpPr>
        <p:spPr>
          <a:xfrm flipV="1">
            <a:off x="3655060" y="1621155"/>
            <a:ext cx="1732280" cy="1139190"/>
          </a:xfrm>
          <a:prstGeom prst="curvedConnector3">
            <a:avLst>
              <a:gd name="adj1" fmla="val 5890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5387340" y="1438910"/>
            <a:ext cx="5836920" cy="363855"/>
          </a:xfrm>
          <a:prstGeom prst="rect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 wrap="square" rtlCol="0">
            <a:noAutofit/>
          </a:bodyPr>
          <a:lstStyle/>
          <a:p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先板块，后区县，再城市，最后全局；</a:t>
            </a:r>
          </a:p>
        </p:txBody>
      </p:sp>
      <p:cxnSp>
        <p:nvCxnSpPr>
          <p:cNvPr id="74" name="曲线连接符 73"/>
          <p:cNvCxnSpPr/>
          <p:nvPr/>
        </p:nvCxnSpPr>
        <p:spPr>
          <a:xfrm flipV="1">
            <a:off x="3870960" y="2104390"/>
            <a:ext cx="1516380" cy="1524635"/>
          </a:xfrm>
          <a:prstGeom prst="curvedConnector3">
            <a:avLst>
              <a:gd name="adj1" fmla="val 634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5387340" y="1922145"/>
            <a:ext cx="5836920" cy="363855"/>
          </a:xfrm>
          <a:prstGeom prst="rect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 wrap="square" rtlCol="0">
            <a:noAutofit/>
          </a:bodyPr>
          <a:lstStyle/>
          <a:p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华文楷体" panose="02010600040101010101" charset="-122"/>
                <a:cs typeface="Times New Roman" panose="02020603050405020304" charset="0"/>
                <a:sym typeface="+mn-ea"/>
              </a:rPr>
              <a:t>变量变换，必要交互项，双离群点剔除判断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1932F-2D04-7D06-E385-6A3D9B75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圆角矩形 354">
            <a:extLst>
              <a:ext uri="{FF2B5EF4-FFF2-40B4-BE49-F238E27FC236}">
                <a16:creationId xmlns:a16="http://schemas.microsoft.com/office/drawing/2014/main" id="{CDD38D20-33F8-9778-88E4-71B371D91236}"/>
              </a:ext>
            </a:extLst>
          </p:cNvPr>
          <p:cNvSpPr/>
          <p:nvPr/>
        </p:nvSpPr>
        <p:spPr>
          <a:xfrm>
            <a:off x="2132219" y="2299278"/>
            <a:ext cx="9596975" cy="2259443"/>
          </a:xfrm>
          <a:prstGeom prst="roundRect">
            <a:avLst>
              <a:gd name="adj" fmla="val 9588"/>
            </a:avLst>
          </a:prstGeom>
          <a:solidFill>
            <a:schemeClr val="bg1"/>
          </a:solidFill>
          <a:ln w="635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01600" sx="101000" sy="101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rgbClr val="E7E6E6">
                  <a:lumMod val="25000"/>
                </a:srgbClr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  <p:sp>
        <p:nvSpPr>
          <p:cNvPr id="127" name="矩形 16">
            <a:extLst>
              <a:ext uri="{FF2B5EF4-FFF2-40B4-BE49-F238E27FC236}">
                <a16:creationId xmlns:a16="http://schemas.microsoft.com/office/drawing/2014/main" id="{A8685C62-C80D-9125-DCFD-186E9C49615C}"/>
              </a:ext>
            </a:extLst>
          </p:cNvPr>
          <p:cNvSpPr/>
          <p:nvPr/>
        </p:nvSpPr>
        <p:spPr>
          <a:xfrm>
            <a:off x="2151242" y="2752297"/>
            <a:ext cx="4798238" cy="1519556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0B0C4F-DC02-9919-0B96-CC3F28362C99}"/>
              </a:ext>
            </a:extLst>
          </p:cNvPr>
          <p:cNvSpPr/>
          <p:nvPr/>
        </p:nvSpPr>
        <p:spPr>
          <a:xfrm>
            <a:off x="0" y="0"/>
            <a:ext cx="1493520" cy="6858000"/>
          </a:xfrm>
          <a:prstGeom prst="rect">
            <a:avLst/>
          </a:pr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91C5DE2-2C07-0407-1E9A-877E4483DB39}"/>
              </a:ext>
            </a:extLst>
          </p:cNvPr>
          <p:cNvSpPr/>
          <p:nvPr/>
        </p:nvSpPr>
        <p:spPr>
          <a:xfrm>
            <a:off x="0" y="1716441"/>
            <a:ext cx="1493519" cy="762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FF917C9-4F5B-5E44-3386-9CB8AA865CFA}"/>
              </a:ext>
            </a:extLst>
          </p:cNvPr>
          <p:cNvSpPr txBox="1"/>
          <p:nvPr/>
        </p:nvSpPr>
        <p:spPr>
          <a:xfrm>
            <a:off x="74578" y="1936185"/>
            <a:ext cx="1341862" cy="327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400" b="1" dirty="0">
                <a:solidFill>
                  <a:srgbClr val="961E2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2. Zimin Gu</a:t>
            </a:r>
            <a:endParaRPr kumimoji="1" lang="en-GB" altLang="zh-CN" sz="1400" b="1" dirty="0">
              <a:solidFill>
                <a:srgbClr val="961E2D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6F5EF4B5-490A-A3C3-DEEF-2B434B9879A2}"/>
              </a:ext>
            </a:extLst>
          </p:cNvPr>
          <p:cNvCxnSpPr/>
          <p:nvPr/>
        </p:nvCxnSpPr>
        <p:spPr>
          <a:xfrm>
            <a:off x="1909388" y="1030637"/>
            <a:ext cx="9847183" cy="0"/>
          </a:xfrm>
          <a:prstGeom prst="line">
            <a:avLst/>
          </a:prstGeom>
          <a:ln w="12700">
            <a:solidFill>
              <a:schemeClr val="accent1">
                <a:alpha val="5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6FB2E88-FB00-1281-EBBB-578772717527}"/>
              </a:ext>
            </a:extLst>
          </p:cNvPr>
          <p:cNvSpPr txBox="1"/>
          <p:nvPr/>
        </p:nvSpPr>
        <p:spPr>
          <a:xfrm>
            <a:off x="1909388" y="428793"/>
            <a:ext cx="981980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500" b="1" dirty="0">
                <a:solidFill>
                  <a:srgbClr val="951E2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Highlight the most important </a:t>
            </a:r>
            <a:r>
              <a:rPr kumimoji="1" lang="en-US" altLang="zh-CN" sz="2500" b="1" dirty="0" err="1">
                <a:solidFill>
                  <a:srgbClr val="951E2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varible</a:t>
            </a:r>
            <a:endParaRPr kumimoji="1" lang="en-GB" altLang="zh-CN" sz="2500" b="1" dirty="0">
              <a:solidFill>
                <a:srgbClr val="951E2B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灯片编号占位符 32">
            <a:extLst>
              <a:ext uri="{FF2B5EF4-FFF2-40B4-BE49-F238E27FC236}">
                <a16:creationId xmlns:a16="http://schemas.microsoft.com/office/drawing/2014/main" id="{76725ADE-BD60-4A56-081B-17232D17B42E}"/>
              </a:ext>
            </a:extLst>
          </p:cNvPr>
          <p:cNvSpPr txBox="1"/>
          <p:nvPr/>
        </p:nvSpPr>
        <p:spPr>
          <a:xfrm>
            <a:off x="11546112" y="6417355"/>
            <a:ext cx="645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8E1B5DB-024D-D44B-8941-7F375DE6A1ED}" type="slidenum">
              <a:rPr kumimoji="1" lang="zh-CN" altLang="en-US" b="1" smtClean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3</a:t>
            </a:fld>
            <a:endParaRPr kumimoji="1" lang="zh-CN" altLang="en-US" b="1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30" name="图片 29" descr="徽标, 公司名称&#10;&#10;描述已自动生成">
            <a:extLst>
              <a:ext uri="{FF2B5EF4-FFF2-40B4-BE49-F238E27FC236}">
                <a16:creationId xmlns:a16="http://schemas.microsoft.com/office/drawing/2014/main" id="{A6911F45-E4B1-DAA7-CDB3-19711450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68" y="217673"/>
            <a:ext cx="1139282" cy="1139282"/>
          </a:xfrm>
          <a:prstGeom prst="rect">
            <a:avLst/>
          </a:prstGeom>
        </p:spPr>
      </p:pic>
      <p:sp>
        <p:nvSpPr>
          <p:cNvPr id="3" name="圆角矩形 355">
            <a:extLst>
              <a:ext uri="{FF2B5EF4-FFF2-40B4-BE49-F238E27FC236}">
                <a16:creationId xmlns:a16="http://schemas.microsoft.com/office/drawing/2014/main" id="{D99F1B28-E0DA-2957-BB10-3EA94F539561}"/>
              </a:ext>
            </a:extLst>
          </p:cNvPr>
          <p:cNvSpPr/>
          <p:nvPr/>
        </p:nvSpPr>
        <p:spPr>
          <a:xfrm>
            <a:off x="2170444" y="1056882"/>
            <a:ext cx="9558751" cy="1022366"/>
          </a:xfrm>
          <a:prstGeom prst="roundRect">
            <a:avLst>
              <a:gd name="adj" fmla="val 9588"/>
            </a:avLst>
          </a:prstGeom>
          <a:solidFill>
            <a:schemeClr val="bg1"/>
          </a:solidFill>
          <a:ln w="635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01600" sx="101000" sy="101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rgbClr val="E7E6E6">
                  <a:lumMod val="25000"/>
                </a:srgbClr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  <p:sp>
        <p:nvSpPr>
          <p:cNvPr id="5" name="圆角矩形 354">
            <a:extLst>
              <a:ext uri="{FF2B5EF4-FFF2-40B4-BE49-F238E27FC236}">
                <a16:creationId xmlns:a16="http://schemas.microsoft.com/office/drawing/2014/main" id="{97BEC303-867D-1FDE-F7B4-1C414F3ECE23}"/>
              </a:ext>
            </a:extLst>
          </p:cNvPr>
          <p:cNvSpPr/>
          <p:nvPr/>
        </p:nvSpPr>
        <p:spPr>
          <a:xfrm>
            <a:off x="2170443" y="4872715"/>
            <a:ext cx="9558751" cy="1578078"/>
          </a:xfrm>
          <a:prstGeom prst="roundRect">
            <a:avLst>
              <a:gd name="adj" fmla="val 9588"/>
            </a:avLst>
          </a:prstGeom>
          <a:solidFill>
            <a:schemeClr val="bg1"/>
          </a:solidFill>
          <a:ln w="635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01600" sx="101000" sy="101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rgbClr val="E7E6E6">
                  <a:lumMod val="25000"/>
                </a:srgbClr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  <p:sp>
        <p:nvSpPr>
          <p:cNvPr id="12" name="矩形 16">
            <a:extLst>
              <a:ext uri="{FF2B5EF4-FFF2-40B4-BE49-F238E27FC236}">
                <a16:creationId xmlns:a16="http://schemas.microsoft.com/office/drawing/2014/main" id="{DE370341-58E4-6C69-2568-E8CFD2AA7C34}"/>
              </a:ext>
            </a:extLst>
          </p:cNvPr>
          <p:cNvSpPr/>
          <p:nvPr/>
        </p:nvSpPr>
        <p:spPr>
          <a:xfrm>
            <a:off x="2527633" y="5344924"/>
            <a:ext cx="2408031" cy="930137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87" name="燕尾形 7">
            <a:extLst>
              <a:ext uri="{FF2B5EF4-FFF2-40B4-BE49-F238E27FC236}">
                <a16:creationId xmlns:a16="http://schemas.microsoft.com/office/drawing/2014/main" id="{8CCF5A22-34AD-010A-6A97-3AE66591CE38}"/>
              </a:ext>
            </a:extLst>
          </p:cNvPr>
          <p:cNvSpPr/>
          <p:nvPr/>
        </p:nvSpPr>
        <p:spPr>
          <a:xfrm>
            <a:off x="2339199" y="1282819"/>
            <a:ext cx="4110612" cy="484632"/>
          </a:xfrm>
          <a:prstGeom prst="chevron">
            <a:avLst>
              <a:gd name="adj" fmla="val 26041"/>
            </a:avLst>
          </a:prstGeom>
          <a:gradFill flip="none" rotWithShape="1">
            <a:gsLst>
              <a:gs pos="0">
                <a:srgbClr val="BB3023"/>
              </a:gs>
              <a:gs pos="99000">
                <a:srgbClr val="BB3023"/>
              </a:gs>
            </a:gsLst>
            <a:lin ang="0" scaled="1"/>
            <a:tileRect/>
          </a:gradFill>
          <a:ln>
            <a:noFill/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89" name="燕尾形 235">
            <a:extLst>
              <a:ext uri="{FF2B5EF4-FFF2-40B4-BE49-F238E27FC236}">
                <a16:creationId xmlns:a16="http://schemas.microsoft.com/office/drawing/2014/main" id="{E7639741-220B-A460-9E92-28BB09CCC989}"/>
              </a:ext>
            </a:extLst>
          </p:cNvPr>
          <p:cNvSpPr/>
          <p:nvPr/>
        </p:nvSpPr>
        <p:spPr>
          <a:xfrm>
            <a:off x="7126736" y="1290031"/>
            <a:ext cx="4602458" cy="484632"/>
          </a:xfrm>
          <a:prstGeom prst="chevron">
            <a:avLst>
              <a:gd name="adj" fmla="val 26041"/>
            </a:avLst>
          </a:prstGeom>
          <a:gradFill flip="none" rotWithShape="1">
            <a:gsLst>
              <a:gs pos="0">
                <a:srgbClr val="BB3023"/>
              </a:gs>
              <a:gs pos="99000">
                <a:schemeClr val="accent3"/>
              </a:gs>
            </a:gsLst>
            <a:lin ang="0" scaled="1"/>
            <a:tileRect/>
          </a:gradFill>
          <a:ln>
            <a:noFill/>
          </a:ln>
          <a:effectLst>
            <a:outerShdw blurRad="330200" dist="190500" dir="5400000" algn="t" rotWithShape="0">
              <a:schemeClr val="accent3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90" name="文本框 264">
            <a:extLst>
              <a:ext uri="{FF2B5EF4-FFF2-40B4-BE49-F238E27FC236}">
                <a16:creationId xmlns:a16="http://schemas.microsoft.com/office/drawing/2014/main" id="{44046398-8727-90A9-2C37-8E3F16CB79F7}"/>
              </a:ext>
            </a:extLst>
          </p:cNvPr>
          <p:cNvSpPr txBox="1"/>
          <p:nvPr/>
        </p:nvSpPr>
        <p:spPr>
          <a:xfrm>
            <a:off x="2519417" y="1328357"/>
            <a:ext cx="3981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ource Han Serif CN" panose="02020900000000000000" pitchFamily="18" charset="-128"/>
                <a:ea typeface="Source Han Serif CN" panose="02020900000000000000" pitchFamily="18" charset="-128"/>
              </a:defRPr>
            </a:lvl1pPr>
          </a:lstStyle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</a:rPr>
              <a:t>Above </a:t>
            </a:r>
            <a:r>
              <a:rPr lang="en-US" altLang="zh-CN" dirty="0" err="1">
                <a:solidFill>
                  <a:schemeClr val="bg1"/>
                </a:solidFill>
              </a:rPr>
              <a:t>all:Location</a:t>
            </a:r>
            <a:r>
              <a:rPr lang="en-US" altLang="zh-CN" dirty="0">
                <a:solidFill>
                  <a:schemeClr val="bg1"/>
                </a:solidFill>
              </a:rPr>
              <a:t> and size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Han Serif CN" panose="02020900000000000000" pitchFamily="18" charset="-128"/>
              <a:ea typeface="Source Han Serif CN" panose="02020900000000000000" pitchFamily="18" charset="-128"/>
              <a:cs typeface="+mn-cs"/>
            </a:endParaRPr>
          </a:p>
        </p:txBody>
      </p:sp>
      <p:sp>
        <p:nvSpPr>
          <p:cNvPr id="92" name="文本框 271">
            <a:extLst>
              <a:ext uri="{FF2B5EF4-FFF2-40B4-BE49-F238E27FC236}">
                <a16:creationId xmlns:a16="http://schemas.microsoft.com/office/drawing/2014/main" id="{C5FD3C0F-C2BE-122D-77A3-0BB949CAA533}"/>
              </a:ext>
            </a:extLst>
          </p:cNvPr>
          <p:cNvSpPr txBox="1"/>
          <p:nvPr/>
        </p:nvSpPr>
        <p:spPr>
          <a:xfrm>
            <a:off x="7356383" y="1338706"/>
            <a:ext cx="3236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ource Han Serif CN" panose="02020900000000000000" pitchFamily="18" charset="-128"/>
                <a:ea typeface="Source Han Serif CN" panose="02020900000000000000" pitchFamily="18" charset="-128"/>
              </a:defRPr>
            </a:lvl1pPr>
          </a:lstStyle>
          <a:p>
            <a:pPr lvl="0"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erif CN" panose="02020900000000000000" pitchFamily="18" charset="-128"/>
                <a:ea typeface="Source Han Serif CN" panose="02020900000000000000" pitchFamily="18" charset="-128"/>
                <a:cs typeface="+mn-cs"/>
              </a:rPr>
              <a:t>P</a:t>
            </a:r>
            <a:r>
              <a:rPr lang="en-US" altLang="zh-CN" dirty="0" err="1">
                <a:solidFill>
                  <a:schemeClr val="bg1"/>
                </a:solidFill>
              </a:rPr>
              <a:t>lus</a:t>
            </a:r>
            <a:r>
              <a:rPr lang="en-US" altLang="zh-CN" dirty="0">
                <a:solidFill>
                  <a:schemeClr val="bg1"/>
                </a:solidFill>
              </a:rPr>
              <a:t> some other things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Han Serif CN" panose="02020900000000000000" pitchFamily="18" charset="-128"/>
              <a:ea typeface="Source Han Serif CN" panose="02020900000000000000" pitchFamily="18" charset="-128"/>
              <a:cs typeface="+mn-cs"/>
            </a:endParaRPr>
          </a:p>
        </p:txBody>
      </p:sp>
      <p:sp>
        <p:nvSpPr>
          <p:cNvPr id="98" name="矩形 362">
            <a:extLst>
              <a:ext uri="{FF2B5EF4-FFF2-40B4-BE49-F238E27FC236}">
                <a16:creationId xmlns:a16="http://schemas.microsoft.com/office/drawing/2014/main" id="{5B1D53A6-26F5-A45C-7BC1-31E3FE64AFE0}"/>
              </a:ext>
            </a:extLst>
          </p:cNvPr>
          <p:cNvSpPr/>
          <p:nvPr/>
        </p:nvSpPr>
        <p:spPr>
          <a:xfrm>
            <a:off x="9605452" y="5438606"/>
            <a:ext cx="2123742" cy="990601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47.1</a:t>
            </a:r>
            <a:endParaRPr kumimoji="1" lang="zh-CN" altLang="en-US" sz="16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99" name="矩形 364">
            <a:extLst>
              <a:ext uri="{FF2B5EF4-FFF2-40B4-BE49-F238E27FC236}">
                <a16:creationId xmlns:a16="http://schemas.microsoft.com/office/drawing/2014/main" id="{2124CD90-50B6-B2C2-E380-7D018642F959}"/>
              </a:ext>
            </a:extLst>
          </p:cNvPr>
          <p:cNvSpPr/>
          <p:nvPr/>
        </p:nvSpPr>
        <p:spPr>
          <a:xfrm>
            <a:off x="9605452" y="5236001"/>
            <a:ext cx="2123742" cy="336637"/>
          </a:xfrm>
          <a:prstGeom prst="rect">
            <a:avLst/>
          </a:prstGeom>
          <a:gradFill flip="none" rotWithShape="1">
            <a:gsLst>
              <a:gs pos="0">
                <a:srgbClr val="BB3023"/>
              </a:gs>
              <a:gs pos="99000">
                <a:schemeClr val="accent3"/>
              </a:gs>
            </a:gsLst>
            <a:lin ang="0" scaled="1"/>
            <a:tileRect/>
          </a:gradFill>
          <a:ln>
            <a:noFill/>
          </a:ln>
          <a:effectLst>
            <a:outerShdw blurRad="330200" dist="190500" dir="5400000" algn="t" rotWithShape="0">
              <a:schemeClr val="accent3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103" name="文本框 372">
            <a:extLst>
              <a:ext uri="{FF2B5EF4-FFF2-40B4-BE49-F238E27FC236}">
                <a16:creationId xmlns:a16="http://schemas.microsoft.com/office/drawing/2014/main" id="{7817241F-69C2-28A1-8A7A-2E278C113266}"/>
              </a:ext>
            </a:extLst>
          </p:cNvPr>
          <p:cNvSpPr txBox="1"/>
          <p:nvPr/>
        </p:nvSpPr>
        <p:spPr>
          <a:xfrm>
            <a:off x="6149260" y="5145949"/>
            <a:ext cx="800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理念先导</a:t>
            </a:r>
          </a:p>
        </p:txBody>
      </p:sp>
      <p:sp>
        <p:nvSpPr>
          <p:cNvPr id="104" name="文本框 373">
            <a:extLst>
              <a:ext uri="{FF2B5EF4-FFF2-40B4-BE49-F238E27FC236}">
                <a16:creationId xmlns:a16="http://schemas.microsoft.com/office/drawing/2014/main" id="{BBE4D917-7691-8520-51A5-FA65D7A65B5A}"/>
              </a:ext>
            </a:extLst>
          </p:cNvPr>
          <p:cNvSpPr txBox="1"/>
          <p:nvPr/>
        </p:nvSpPr>
        <p:spPr>
          <a:xfrm>
            <a:off x="9998394" y="5251869"/>
            <a:ext cx="1547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Kaggle Score: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131" name="矩形 16">
            <a:extLst>
              <a:ext uri="{FF2B5EF4-FFF2-40B4-BE49-F238E27FC236}">
                <a16:creationId xmlns:a16="http://schemas.microsoft.com/office/drawing/2014/main" id="{F05A99FC-9616-BCE2-CCF6-FFF7138F4F4C}"/>
              </a:ext>
            </a:extLst>
          </p:cNvPr>
          <p:cNvSpPr/>
          <p:nvPr/>
        </p:nvSpPr>
        <p:spPr>
          <a:xfrm>
            <a:off x="7038108" y="2756318"/>
            <a:ext cx="4602458" cy="1515536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40" name="文本框 377">
            <a:extLst>
              <a:ext uri="{FF2B5EF4-FFF2-40B4-BE49-F238E27FC236}">
                <a16:creationId xmlns:a16="http://schemas.microsoft.com/office/drawing/2014/main" id="{16995501-D463-0F3C-8856-A3895352B384}"/>
              </a:ext>
            </a:extLst>
          </p:cNvPr>
          <p:cNvSpPr txBox="1"/>
          <p:nvPr/>
        </p:nvSpPr>
        <p:spPr>
          <a:xfrm>
            <a:off x="2783066" y="4884058"/>
            <a:ext cx="2334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PRICE MODEL - MAE </a:t>
            </a:r>
          </a:p>
        </p:txBody>
      </p:sp>
      <p:sp>
        <p:nvSpPr>
          <p:cNvPr id="141" name="文本框 377">
            <a:extLst>
              <a:ext uri="{FF2B5EF4-FFF2-40B4-BE49-F238E27FC236}">
                <a16:creationId xmlns:a16="http://schemas.microsoft.com/office/drawing/2014/main" id="{C12D0ACD-F5D5-D712-AE1B-8B89E0D2744B}"/>
              </a:ext>
            </a:extLst>
          </p:cNvPr>
          <p:cNvSpPr txBox="1"/>
          <p:nvPr/>
        </p:nvSpPr>
        <p:spPr>
          <a:xfrm>
            <a:off x="6500569" y="4875263"/>
            <a:ext cx="2334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RENT MODEL - MAE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943E3F-F0ED-1DB1-0117-043D43B4F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441" y="5266058"/>
            <a:ext cx="3585877" cy="990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4A272A9-B982-D2C4-B0DC-09598184A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3102" y="5280868"/>
            <a:ext cx="3637095" cy="97579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A610613-3A84-ABF5-86F8-5065AE788C9E}"/>
              </a:ext>
            </a:extLst>
          </p:cNvPr>
          <p:cNvSpPr txBox="1"/>
          <p:nvPr/>
        </p:nvSpPr>
        <p:spPr>
          <a:xfrm>
            <a:off x="2394191" y="3029386"/>
            <a:ext cx="405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Strategic Focus on Core Variables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4F903-5356-E85B-96BE-1EA3CF45D531}"/>
              </a:ext>
            </a:extLst>
          </p:cNvPr>
          <p:cNvSpPr txBox="1"/>
          <p:nvPr/>
        </p:nvSpPr>
        <p:spPr>
          <a:xfrm>
            <a:off x="7192429" y="3049956"/>
            <a:ext cx="439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Systematic Auxiliary Variable Processing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778666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493520" cy="6858000"/>
          </a:xfrm>
          <a:prstGeom prst="rect">
            <a:avLst/>
          </a:pr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0" y="1716441"/>
            <a:ext cx="1493519" cy="762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4578" y="1933336"/>
            <a:ext cx="1341862" cy="328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400" b="1" dirty="0">
                <a:solidFill>
                  <a:srgbClr val="961E2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3. </a:t>
            </a:r>
            <a:r>
              <a:rPr kumimoji="1" lang="zh-CN" altLang="en-US" sz="1400" b="1" dirty="0">
                <a:solidFill>
                  <a:srgbClr val="961E2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路畅宇</a:t>
            </a:r>
          </a:p>
        </p:txBody>
      </p:sp>
      <p:cxnSp>
        <p:nvCxnSpPr>
          <p:cNvPr id="50" name="直线连接符 49"/>
          <p:cNvCxnSpPr/>
          <p:nvPr/>
        </p:nvCxnSpPr>
        <p:spPr>
          <a:xfrm>
            <a:off x="1909388" y="1030637"/>
            <a:ext cx="9847183" cy="0"/>
          </a:xfrm>
          <a:prstGeom prst="line">
            <a:avLst/>
          </a:prstGeom>
          <a:ln w="12700">
            <a:solidFill>
              <a:schemeClr val="accent1">
                <a:alpha val="5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909388" y="428793"/>
            <a:ext cx="981980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500" b="1" dirty="0">
                <a:solidFill>
                  <a:srgbClr val="951E2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创新点</a:t>
            </a:r>
          </a:p>
        </p:txBody>
      </p:sp>
      <p:sp>
        <p:nvSpPr>
          <p:cNvPr id="2" name="灯片编号占位符 32"/>
          <p:cNvSpPr txBox="1"/>
          <p:nvPr/>
        </p:nvSpPr>
        <p:spPr>
          <a:xfrm>
            <a:off x="11546112" y="6417355"/>
            <a:ext cx="645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8E1B5DB-024D-D44B-8941-7F375DE6A1ED}" type="slidenum">
              <a:rPr kumimoji="1" lang="zh-CN" altLang="en-US" b="1" smtClean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4</a:t>
            </a:fld>
            <a:endParaRPr kumimoji="1" lang="zh-CN" altLang="en-US" b="1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30" name="图片 29" descr="徽标, 公司名称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68" y="217673"/>
            <a:ext cx="1139282" cy="1139282"/>
          </a:xfrm>
          <a:prstGeom prst="rect">
            <a:avLst/>
          </a:prstGeom>
        </p:spPr>
      </p:pic>
      <p:sp>
        <p:nvSpPr>
          <p:cNvPr id="12" name="矩形 16"/>
          <p:cNvSpPr/>
          <p:nvPr/>
        </p:nvSpPr>
        <p:spPr>
          <a:xfrm>
            <a:off x="2527633" y="5344924"/>
            <a:ext cx="2408031" cy="930137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03" name="文本框 372"/>
          <p:cNvSpPr txBox="1"/>
          <p:nvPr/>
        </p:nvSpPr>
        <p:spPr>
          <a:xfrm>
            <a:off x="6149260" y="5145949"/>
            <a:ext cx="800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理念先导</a:t>
            </a:r>
          </a:p>
        </p:txBody>
      </p:sp>
      <p:sp>
        <p:nvSpPr>
          <p:cNvPr id="104" name="文本框 373"/>
          <p:cNvSpPr txBox="1"/>
          <p:nvPr/>
        </p:nvSpPr>
        <p:spPr>
          <a:xfrm>
            <a:off x="9998394" y="5251869"/>
            <a:ext cx="1547718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Kagle Score: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pic>
        <p:nvPicPr>
          <p:cNvPr id="6" name="图片 5" descr="1871761828049_.p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380" y="3974465"/>
            <a:ext cx="4526915" cy="1292225"/>
          </a:xfrm>
          <a:prstGeom prst="rect">
            <a:avLst/>
          </a:prstGeom>
        </p:spPr>
      </p:pic>
      <p:pic>
        <p:nvPicPr>
          <p:cNvPr id="7" name="图片 6" descr="1881761828280_.p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295" y="4038600"/>
            <a:ext cx="4297680" cy="1228090"/>
          </a:xfrm>
          <a:prstGeom prst="rect">
            <a:avLst/>
          </a:prstGeom>
        </p:spPr>
      </p:pic>
      <p:pic>
        <p:nvPicPr>
          <p:cNvPr id="8" name="图片 7" descr="1891761829503_.p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0430" y="5252085"/>
            <a:ext cx="4508500" cy="1289685"/>
          </a:xfrm>
          <a:prstGeom prst="rect">
            <a:avLst/>
          </a:prstGeom>
        </p:spPr>
      </p:pic>
      <p:pic>
        <p:nvPicPr>
          <p:cNvPr id="9" name="图片 8" descr="1901761829727_.pi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1470" y="5252085"/>
            <a:ext cx="4418330" cy="12204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527935" y="1626235"/>
            <a:ext cx="76987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1）</a:t>
            </a:r>
            <a:r>
              <a:rPr lang="zh-CN" altLang="en-US"/>
              <a:t>利用单套房源各种特性做</a:t>
            </a:r>
            <a:r>
              <a:rPr lang="en-US" altLang="zh-CN"/>
              <a:t> K-Means</a:t>
            </a:r>
            <a:r>
              <a:rPr lang="zh-CN" altLang="en-US"/>
              <a:t>，得到更细颗粒、质量</a:t>
            </a:r>
            <a:r>
              <a:rPr lang="en-US" altLang="zh-CN"/>
              <a:t>—</a:t>
            </a:r>
            <a:r>
              <a:rPr lang="zh-CN" altLang="en-US"/>
              <a:t>价格同质的</a:t>
            </a:r>
            <a:r>
              <a:rPr lang="en-US" altLang="zh-CN"/>
              <a:t>“</a:t>
            </a:r>
            <a:r>
              <a:rPr lang="zh-CN" altLang="en-US"/>
              <a:t>所属区域”</a:t>
            </a:r>
            <a:r>
              <a:rPr lang="en-US" altLang="zh-CN"/>
              <a:t>，</a:t>
            </a:r>
            <a:r>
              <a:rPr lang="zh-CN" altLang="en-US"/>
              <a:t>作为解释地段的变量</a:t>
            </a:r>
          </a:p>
          <a:p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）用简洁的交互与时间哑变量，让线性模型捕捉</a:t>
            </a:r>
            <a:r>
              <a:rPr lang="en-US" altLang="zh-CN"/>
              <a:t>“</a:t>
            </a:r>
            <a:r>
              <a:rPr lang="zh-CN" altLang="en-US"/>
              <a:t>条件效应</a:t>
            </a:r>
            <a:r>
              <a:rPr lang="en-US" altLang="zh-CN"/>
              <a:t>”</a:t>
            </a:r>
            <a:r>
              <a:rPr lang="zh-CN" altLang="en-US"/>
              <a:t>和季节</a:t>
            </a:r>
            <a:r>
              <a:rPr lang="en-US" altLang="zh-CN"/>
              <a:t>/</a:t>
            </a:r>
            <a:r>
              <a:rPr lang="zh-CN" altLang="en-US"/>
              <a:t>档期规律。</a:t>
            </a:r>
          </a:p>
          <a:p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）对于需要先挖参数的回归</a:t>
            </a:r>
            <a:r>
              <a:rPr lang="en-US" altLang="zh-CN"/>
              <a:t>，</a:t>
            </a:r>
            <a:r>
              <a:rPr lang="zh-CN" altLang="en-US"/>
              <a:t>选择先小样本寻优，后全量回归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AF593-14A8-46B9-EDC9-97D07C62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圆角矩形 354">
            <a:extLst>
              <a:ext uri="{FF2B5EF4-FFF2-40B4-BE49-F238E27FC236}">
                <a16:creationId xmlns:a16="http://schemas.microsoft.com/office/drawing/2014/main" id="{06A51D3C-26BF-9B41-2AC6-932AF5E85EE0}"/>
              </a:ext>
            </a:extLst>
          </p:cNvPr>
          <p:cNvSpPr/>
          <p:nvPr/>
        </p:nvSpPr>
        <p:spPr>
          <a:xfrm>
            <a:off x="2132220" y="2309055"/>
            <a:ext cx="9596975" cy="2259443"/>
          </a:xfrm>
          <a:prstGeom prst="roundRect">
            <a:avLst>
              <a:gd name="adj" fmla="val 9588"/>
            </a:avLst>
          </a:prstGeom>
          <a:solidFill>
            <a:schemeClr val="bg1"/>
          </a:solidFill>
          <a:ln w="635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01600" sx="101000" sy="101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rgbClr val="E7E6E6">
                  <a:lumMod val="25000"/>
                </a:srgbClr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  <p:sp>
        <p:nvSpPr>
          <p:cNvPr id="127" name="矩形 16">
            <a:extLst>
              <a:ext uri="{FF2B5EF4-FFF2-40B4-BE49-F238E27FC236}">
                <a16:creationId xmlns:a16="http://schemas.microsoft.com/office/drawing/2014/main" id="{F673B436-642F-B341-4FE7-1E4C354FF1AB}"/>
              </a:ext>
            </a:extLst>
          </p:cNvPr>
          <p:cNvSpPr/>
          <p:nvPr/>
        </p:nvSpPr>
        <p:spPr>
          <a:xfrm>
            <a:off x="2151242" y="2752297"/>
            <a:ext cx="2998649" cy="1569660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D3123A-8CA4-9308-5B76-2AED9610C5EF}"/>
              </a:ext>
            </a:extLst>
          </p:cNvPr>
          <p:cNvSpPr/>
          <p:nvPr/>
        </p:nvSpPr>
        <p:spPr>
          <a:xfrm>
            <a:off x="0" y="0"/>
            <a:ext cx="1493520" cy="6858000"/>
          </a:xfrm>
          <a:prstGeom prst="rect">
            <a:avLst/>
          </a:pr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C23AC5F-738E-5BCA-1D79-B1B87FF6E86D}"/>
              </a:ext>
            </a:extLst>
          </p:cNvPr>
          <p:cNvSpPr/>
          <p:nvPr/>
        </p:nvSpPr>
        <p:spPr>
          <a:xfrm>
            <a:off x="0" y="1716441"/>
            <a:ext cx="1493519" cy="762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1331CDA-6AB7-026C-2454-C4F09DBABE67}"/>
              </a:ext>
            </a:extLst>
          </p:cNvPr>
          <p:cNvSpPr txBox="1"/>
          <p:nvPr/>
        </p:nvSpPr>
        <p:spPr>
          <a:xfrm>
            <a:off x="71960" y="1870986"/>
            <a:ext cx="1341862" cy="585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400" b="1" dirty="0">
                <a:solidFill>
                  <a:srgbClr val="961E2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4. </a:t>
            </a:r>
            <a:r>
              <a:rPr kumimoji="1" lang="en-US" altLang="zh-CN" sz="1400" b="1" dirty="0" err="1">
                <a:solidFill>
                  <a:srgbClr val="961E2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Jiamiao</a:t>
            </a:r>
            <a:r>
              <a:rPr kumimoji="1" lang="en-US" altLang="zh-CN" sz="1400" b="1" dirty="0">
                <a:solidFill>
                  <a:srgbClr val="961E2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 Xu</a:t>
            </a:r>
          </a:p>
          <a:p>
            <a:pPr>
              <a:lnSpc>
                <a:spcPct val="120000"/>
              </a:lnSpc>
            </a:pPr>
            <a:r>
              <a:rPr kumimoji="1" lang="zh-CN" altLang="en-US" sz="1400" b="1" dirty="0">
                <a:solidFill>
                  <a:srgbClr val="961E2D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      许家淼</a:t>
            </a:r>
            <a:endParaRPr kumimoji="1" lang="en-GB" altLang="zh-CN" sz="1400" b="1" dirty="0">
              <a:solidFill>
                <a:srgbClr val="961E2D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DC4CE3FD-1E61-11B9-E547-DCC7E38EAD69}"/>
              </a:ext>
            </a:extLst>
          </p:cNvPr>
          <p:cNvCxnSpPr/>
          <p:nvPr/>
        </p:nvCxnSpPr>
        <p:spPr>
          <a:xfrm>
            <a:off x="1909388" y="1030637"/>
            <a:ext cx="9847183" cy="0"/>
          </a:xfrm>
          <a:prstGeom prst="line">
            <a:avLst/>
          </a:prstGeom>
          <a:ln w="12700">
            <a:solidFill>
              <a:schemeClr val="accent1">
                <a:alpha val="5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5671246A-5C7F-EB94-5B53-DB2367552683}"/>
              </a:ext>
            </a:extLst>
          </p:cNvPr>
          <p:cNvSpPr txBox="1"/>
          <p:nvPr/>
        </p:nvSpPr>
        <p:spPr>
          <a:xfrm>
            <a:off x="1909388" y="428793"/>
            <a:ext cx="981980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500" b="1" dirty="0">
                <a:solidFill>
                  <a:srgbClr val="951E2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Identify the variance across city (Interaction Method)</a:t>
            </a:r>
            <a:endParaRPr kumimoji="1" lang="en-GB" altLang="zh-CN" sz="2500" b="1" dirty="0">
              <a:solidFill>
                <a:srgbClr val="951E2B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灯片编号占位符 32">
            <a:extLst>
              <a:ext uri="{FF2B5EF4-FFF2-40B4-BE49-F238E27FC236}">
                <a16:creationId xmlns:a16="http://schemas.microsoft.com/office/drawing/2014/main" id="{0EBF48A8-9988-1966-6927-B587630BAB3D}"/>
              </a:ext>
            </a:extLst>
          </p:cNvPr>
          <p:cNvSpPr txBox="1"/>
          <p:nvPr/>
        </p:nvSpPr>
        <p:spPr>
          <a:xfrm>
            <a:off x="11546112" y="6417355"/>
            <a:ext cx="645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8E1B5DB-024D-D44B-8941-7F375DE6A1ED}" type="slidenum">
              <a:rPr kumimoji="1" lang="zh-CN" altLang="en-US" b="1" smtClean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5</a:t>
            </a:fld>
            <a:endParaRPr kumimoji="1" lang="zh-CN" altLang="en-US" b="1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30" name="图片 29" descr="徽标, 公司名称&#10;&#10;描述已自动生成">
            <a:extLst>
              <a:ext uri="{FF2B5EF4-FFF2-40B4-BE49-F238E27FC236}">
                <a16:creationId xmlns:a16="http://schemas.microsoft.com/office/drawing/2014/main" id="{651D84F6-FF86-00B2-981D-8122E5870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68" y="217673"/>
            <a:ext cx="1139282" cy="1139282"/>
          </a:xfrm>
          <a:prstGeom prst="rect">
            <a:avLst/>
          </a:prstGeom>
        </p:spPr>
      </p:pic>
      <p:sp>
        <p:nvSpPr>
          <p:cNvPr id="3" name="圆角矩形 355">
            <a:extLst>
              <a:ext uri="{FF2B5EF4-FFF2-40B4-BE49-F238E27FC236}">
                <a16:creationId xmlns:a16="http://schemas.microsoft.com/office/drawing/2014/main" id="{BA4FCC19-E1D6-7A36-E20D-950546A3163A}"/>
              </a:ext>
            </a:extLst>
          </p:cNvPr>
          <p:cNvSpPr/>
          <p:nvPr/>
        </p:nvSpPr>
        <p:spPr>
          <a:xfrm>
            <a:off x="2170444" y="1056882"/>
            <a:ext cx="9558751" cy="1022366"/>
          </a:xfrm>
          <a:prstGeom prst="roundRect">
            <a:avLst>
              <a:gd name="adj" fmla="val 9588"/>
            </a:avLst>
          </a:prstGeom>
          <a:solidFill>
            <a:schemeClr val="bg1"/>
          </a:solidFill>
          <a:ln w="635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01600" sx="101000" sy="101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rgbClr val="E7E6E6">
                  <a:lumMod val="25000"/>
                </a:srgbClr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  <p:sp>
        <p:nvSpPr>
          <p:cNvPr id="5" name="圆角矩形 354">
            <a:extLst>
              <a:ext uri="{FF2B5EF4-FFF2-40B4-BE49-F238E27FC236}">
                <a16:creationId xmlns:a16="http://schemas.microsoft.com/office/drawing/2014/main" id="{FA77C64B-BDD1-B017-7E63-48096F80304C}"/>
              </a:ext>
            </a:extLst>
          </p:cNvPr>
          <p:cNvSpPr/>
          <p:nvPr/>
        </p:nvSpPr>
        <p:spPr>
          <a:xfrm>
            <a:off x="2170443" y="4872715"/>
            <a:ext cx="9558751" cy="1578078"/>
          </a:xfrm>
          <a:prstGeom prst="roundRect">
            <a:avLst>
              <a:gd name="adj" fmla="val 9588"/>
            </a:avLst>
          </a:prstGeom>
          <a:solidFill>
            <a:schemeClr val="bg1"/>
          </a:solidFill>
          <a:ln w="6350">
            <a:solidFill>
              <a:schemeClr val="accent2">
                <a:lumMod val="20000"/>
                <a:lumOff val="80000"/>
              </a:schemeClr>
            </a:solidFill>
            <a:prstDash val="solid"/>
          </a:ln>
          <a:effectLst>
            <a:outerShdw blurRad="101600" sx="101000" sy="101000" algn="ctr" rotWithShape="0">
              <a:schemeClr val="accent2">
                <a:lumMod val="20000"/>
                <a:lumOff val="8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rgbClr val="E7E6E6">
                  <a:lumMod val="25000"/>
                </a:srgbClr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  <p:sp>
        <p:nvSpPr>
          <p:cNvPr id="12" name="矩形 16">
            <a:extLst>
              <a:ext uri="{FF2B5EF4-FFF2-40B4-BE49-F238E27FC236}">
                <a16:creationId xmlns:a16="http://schemas.microsoft.com/office/drawing/2014/main" id="{88E07B7E-EEB2-6955-DA81-536DAD98FF72}"/>
              </a:ext>
            </a:extLst>
          </p:cNvPr>
          <p:cNvSpPr/>
          <p:nvPr/>
        </p:nvSpPr>
        <p:spPr>
          <a:xfrm>
            <a:off x="2527633" y="5344924"/>
            <a:ext cx="2408031" cy="930137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87" name="燕尾形 7">
            <a:extLst>
              <a:ext uri="{FF2B5EF4-FFF2-40B4-BE49-F238E27FC236}">
                <a16:creationId xmlns:a16="http://schemas.microsoft.com/office/drawing/2014/main" id="{3CC2C027-E6C6-D0F1-0C92-0B5336E2E57C}"/>
              </a:ext>
            </a:extLst>
          </p:cNvPr>
          <p:cNvSpPr/>
          <p:nvPr/>
        </p:nvSpPr>
        <p:spPr>
          <a:xfrm>
            <a:off x="2339199" y="1282819"/>
            <a:ext cx="2922009" cy="484632"/>
          </a:xfrm>
          <a:prstGeom prst="chevron">
            <a:avLst>
              <a:gd name="adj" fmla="val 26041"/>
            </a:avLst>
          </a:prstGeom>
          <a:gradFill flip="none" rotWithShape="1">
            <a:gsLst>
              <a:gs pos="0">
                <a:srgbClr val="BB3023"/>
              </a:gs>
              <a:gs pos="99000">
                <a:srgbClr val="BB3023"/>
              </a:gs>
            </a:gsLst>
            <a:lin ang="0" scaled="1"/>
            <a:tileRect/>
          </a:gradFill>
          <a:ln>
            <a:noFill/>
          </a:ln>
          <a:effectLst>
            <a:outerShdw blurRad="330200" dist="88900" dir="5400000" algn="t" rotWithShape="0">
              <a:schemeClr val="accent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88" name="燕尾形 234">
            <a:extLst>
              <a:ext uri="{FF2B5EF4-FFF2-40B4-BE49-F238E27FC236}">
                <a16:creationId xmlns:a16="http://schemas.microsoft.com/office/drawing/2014/main" id="{D319BA17-D7E9-3E27-8D62-D135E42F7BC5}"/>
              </a:ext>
            </a:extLst>
          </p:cNvPr>
          <p:cNvSpPr/>
          <p:nvPr/>
        </p:nvSpPr>
        <p:spPr>
          <a:xfrm>
            <a:off x="5271768" y="1290031"/>
            <a:ext cx="3182226" cy="484632"/>
          </a:xfrm>
          <a:prstGeom prst="chevron">
            <a:avLst>
              <a:gd name="adj" fmla="val 26041"/>
            </a:avLst>
          </a:prstGeom>
          <a:gradFill flip="none" rotWithShape="1">
            <a:gsLst>
              <a:gs pos="0">
                <a:srgbClr val="BB3023"/>
              </a:gs>
              <a:gs pos="98000">
                <a:schemeClr val="accent2"/>
              </a:gs>
            </a:gsLst>
            <a:lin ang="10800000" scaled="0"/>
            <a:tileRect/>
          </a:gradFill>
          <a:ln>
            <a:noFill/>
          </a:ln>
          <a:effectLst>
            <a:outerShdw blurRad="330200" dist="190500" dir="5400000" algn="t" rotWithShape="0">
              <a:schemeClr val="accent2"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89" name="燕尾形 235">
            <a:extLst>
              <a:ext uri="{FF2B5EF4-FFF2-40B4-BE49-F238E27FC236}">
                <a16:creationId xmlns:a16="http://schemas.microsoft.com/office/drawing/2014/main" id="{5020DE70-C811-76E5-5C5D-9E8009113F1E}"/>
              </a:ext>
            </a:extLst>
          </p:cNvPr>
          <p:cNvSpPr/>
          <p:nvPr/>
        </p:nvSpPr>
        <p:spPr>
          <a:xfrm>
            <a:off x="8421084" y="1290031"/>
            <a:ext cx="3308110" cy="484632"/>
          </a:xfrm>
          <a:prstGeom prst="chevron">
            <a:avLst>
              <a:gd name="adj" fmla="val 26041"/>
            </a:avLst>
          </a:prstGeom>
          <a:gradFill flip="none" rotWithShape="1">
            <a:gsLst>
              <a:gs pos="0">
                <a:srgbClr val="BB3023"/>
              </a:gs>
              <a:gs pos="99000">
                <a:schemeClr val="accent3"/>
              </a:gs>
            </a:gsLst>
            <a:lin ang="0" scaled="1"/>
            <a:tileRect/>
          </a:gradFill>
          <a:ln>
            <a:noFill/>
          </a:ln>
          <a:effectLst>
            <a:outerShdw blurRad="330200" dist="190500" dir="5400000" algn="t" rotWithShape="0">
              <a:schemeClr val="accent3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90" name="文本框 264">
            <a:extLst>
              <a:ext uri="{FF2B5EF4-FFF2-40B4-BE49-F238E27FC236}">
                <a16:creationId xmlns:a16="http://schemas.microsoft.com/office/drawing/2014/main" id="{9CBBF869-28A5-FC82-BEFD-B5DE65DB1743}"/>
              </a:ext>
            </a:extLst>
          </p:cNvPr>
          <p:cNvSpPr txBox="1"/>
          <p:nvPr/>
        </p:nvSpPr>
        <p:spPr>
          <a:xfrm>
            <a:off x="2519419" y="1328357"/>
            <a:ext cx="2561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ource Han Serif CN" panose="02020900000000000000" pitchFamily="18" charset="-128"/>
                <a:ea typeface="Source Han Serif CN" panose="02020900000000000000" pitchFamily="18" charset="-128"/>
              </a:defRPr>
            </a:lvl1pPr>
          </a:lstStyle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</a:rPr>
              <a:t>A. Data Cleaning: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Han Serif CN" panose="02020900000000000000" pitchFamily="18" charset="-128"/>
              <a:ea typeface="Source Han Serif CN" panose="02020900000000000000" pitchFamily="18" charset="-128"/>
              <a:cs typeface="+mn-cs"/>
            </a:endParaRPr>
          </a:p>
        </p:txBody>
      </p:sp>
      <p:sp>
        <p:nvSpPr>
          <p:cNvPr id="91" name="文本框 270">
            <a:extLst>
              <a:ext uri="{FF2B5EF4-FFF2-40B4-BE49-F238E27FC236}">
                <a16:creationId xmlns:a16="http://schemas.microsoft.com/office/drawing/2014/main" id="{943869DF-A602-EF46-33E2-D16880823B6C}"/>
              </a:ext>
            </a:extLst>
          </p:cNvPr>
          <p:cNvSpPr txBox="1"/>
          <p:nvPr/>
        </p:nvSpPr>
        <p:spPr>
          <a:xfrm>
            <a:off x="5261209" y="1350693"/>
            <a:ext cx="3311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ource Han Serif CN" panose="02020900000000000000" pitchFamily="18" charset="-128"/>
                <a:ea typeface="Source Han Serif CN" panose="02020900000000000000" pitchFamily="18" charset="-128"/>
              </a:defRPr>
            </a:lvl1pPr>
          </a:lstStyle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</a:rPr>
              <a:t>B. Structural Missing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Han Serif CN" panose="02020900000000000000" pitchFamily="18" charset="-128"/>
              <a:ea typeface="Source Han Serif CN" panose="02020900000000000000" pitchFamily="18" charset="-128"/>
              <a:cs typeface="+mn-cs"/>
            </a:endParaRPr>
          </a:p>
        </p:txBody>
      </p:sp>
      <p:sp>
        <p:nvSpPr>
          <p:cNvPr id="92" name="文本框 271">
            <a:extLst>
              <a:ext uri="{FF2B5EF4-FFF2-40B4-BE49-F238E27FC236}">
                <a16:creationId xmlns:a16="http://schemas.microsoft.com/office/drawing/2014/main" id="{443D9DE0-0CCF-4B41-CDE6-384D9C931893}"/>
              </a:ext>
            </a:extLst>
          </p:cNvPr>
          <p:cNvSpPr txBox="1"/>
          <p:nvPr/>
        </p:nvSpPr>
        <p:spPr>
          <a:xfrm>
            <a:off x="8548928" y="1224655"/>
            <a:ext cx="3236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ource Han Serif CN" panose="02020900000000000000" pitchFamily="18" charset="-128"/>
                <a:ea typeface="Source Han Serif CN" panose="02020900000000000000" pitchFamily="18" charset="-128"/>
              </a:defRPr>
            </a:lvl1pPr>
          </a:lstStyle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</a:rPr>
              <a:t>C. Implementation</a:t>
            </a:r>
          </a:p>
          <a:p>
            <a:pPr lvl="0">
              <a:defRPr/>
            </a:pPr>
            <a:r>
              <a:rPr lang="en-US" altLang="zh-CN" dirty="0">
                <a:solidFill>
                  <a:schemeClr val="bg1"/>
                </a:solidFill>
              </a:rPr>
              <a:t> &amp; Standardization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Han Serif CN" panose="02020900000000000000" pitchFamily="18" charset="-128"/>
              <a:ea typeface="Source Han Serif CN" panose="02020900000000000000" pitchFamily="18" charset="-128"/>
              <a:cs typeface="+mn-cs"/>
            </a:endParaRPr>
          </a:p>
        </p:txBody>
      </p:sp>
      <p:sp>
        <p:nvSpPr>
          <p:cNvPr id="98" name="矩形 362">
            <a:extLst>
              <a:ext uri="{FF2B5EF4-FFF2-40B4-BE49-F238E27FC236}">
                <a16:creationId xmlns:a16="http://schemas.microsoft.com/office/drawing/2014/main" id="{EC2E10DA-0010-3B11-219E-CCF2862AE2E8}"/>
              </a:ext>
            </a:extLst>
          </p:cNvPr>
          <p:cNvSpPr/>
          <p:nvPr/>
        </p:nvSpPr>
        <p:spPr>
          <a:xfrm>
            <a:off x="9605452" y="5438606"/>
            <a:ext cx="2123742" cy="990601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34.4</a:t>
            </a:r>
            <a:endParaRPr kumimoji="1" lang="zh-CN" altLang="en-US" sz="16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99" name="矩形 364">
            <a:extLst>
              <a:ext uri="{FF2B5EF4-FFF2-40B4-BE49-F238E27FC236}">
                <a16:creationId xmlns:a16="http://schemas.microsoft.com/office/drawing/2014/main" id="{3D41BED2-CADC-A9B0-F09E-CC64296291C4}"/>
              </a:ext>
            </a:extLst>
          </p:cNvPr>
          <p:cNvSpPr/>
          <p:nvPr/>
        </p:nvSpPr>
        <p:spPr>
          <a:xfrm>
            <a:off x="9605452" y="5236001"/>
            <a:ext cx="2123742" cy="336637"/>
          </a:xfrm>
          <a:prstGeom prst="rect">
            <a:avLst/>
          </a:prstGeom>
          <a:gradFill flip="none" rotWithShape="1">
            <a:gsLst>
              <a:gs pos="0">
                <a:srgbClr val="BB3023"/>
              </a:gs>
              <a:gs pos="99000">
                <a:schemeClr val="accent3"/>
              </a:gs>
            </a:gsLst>
            <a:lin ang="0" scaled="1"/>
            <a:tileRect/>
          </a:gradFill>
          <a:ln>
            <a:noFill/>
          </a:ln>
          <a:effectLst>
            <a:outerShdw blurRad="330200" dist="190500" dir="5400000" algn="t" rotWithShape="0">
              <a:schemeClr val="accent3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FFFF"/>
              </a:solidFill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103" name="文本框 372">
            <a:extLst>
              <a:ext uri="{FF2B5EF4-FFF2-40B4-BE49-F238E27FC236}">
                <a16:creationId xmlns:a16="http://schemas.microsoft.com/office/drawing/2014/main" id="{B788597C-DE07-2E2C-AE02-FF5F8CDF2AEB}"/>
              </a:ext>
            </a:extLst>
          </p:cNvPr>
          <p:cNvSpPr txBox="1"/>
          <p:nvPr/>
        </p:nvSpPr>
        <p:spPr>
          <a:xfrm>
            <a:off x="6149260" y="5145949"/>
            <a:ext cx="800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理念先导</a:t>
            </a:r>
          </a:p>
        </p:txBody>
      </p:sp>
      <p:sp>
        <p:nvSpPr>
          <p:cNvPr id="104" name="文本框 373">
            <a:extLst>
              <a:ext uri="{FF2B5EF4-FFF2-40B4-BE49-F238E27FC236}">
                <a16:creationId xmlns:a16="http://schemas.microsoft.com/office/drawing/2014/main" id="{2B768B39-C1DE-8230-7EB0-EA646B5C7479}"/>
              </a:ext>
            </a:extLst>
          </p:cNvPr>
          <p:cNvSpPr txBox="1"/>
          <p:nvPr/>
        </p:nvSpPr>
        <p:spPr>
          <a:xfrm>
            <a:off x="9998394" y="5251869"/>
            <a:ext cx="1547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Kaggle Score: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107" name="文本框 377">
            <a:extLst>
              <a:ext uri="{FF2B5EF4-FFF2-40B4-BE49-F238E27FC236}">
                <a16:creationId xmlns:a16="http://schemas.microsoft.com/office/drawing/2014/main" id="{276B781E-F712-A7E4-BF25-6BC7C7A8514D}"/>
              </a:ext>
            </a:extLst>
          </p:cNvPr>
          <p:cNvSpPr txBox="1"/>
          <p:nvPr/>
        </p:nvSpPr>
        <p:spPr>
          <a:xfrm>
            <a:off x="2075757" y="2819056"/>
            <a:ext cx="33117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Winsor and Log transformation. </a:t>
            </a:r>
          </a:p>
          <a:p>
            <a:pPr lvl="0" defTabSz="457200">
              <a:defRPr/>
            </a:pPr>
            <a:endParaRPr kumimoji="1" lang="en-US" altLang="zh-CN" sz="1600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Drop the time variables in prediction.</a:t>
            </a:r>
            <a:endParaRPr kumimoji="1" lang="zh-CN" altLang="en-US" sz="1600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29" name="矩形 16">
            <a:extLst>
              <a:ext uri="{FF2B5EF4-FFF2-40B4-BE49-F238E27FC236}">
                <a16:creationId xmlns:a16="http://schemas.microsoft.com/office/drawing/2014/main" id="{EF19F602-61F1-AC58-60A4-A555EC545CCC}"/>
              </a:ext>
            </a:extLst>
          </p:cNvPr>
          <p:cNvSpPr/>
          <p:nvPr/>
        </p:nvSpPr>
        <p:spPr>
          <a:xfrm>
            <a:off x="5217698" y="2733049"/>
            <a:ext cx="3236296" cy="1588908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30" name="文本框 377">
            <a:extLst>
              <a:ext uri="{FF2B5EF4-FFF2-40B4-BE49-F238E27FC236}">
                <a16:creationId xmlns:a16="http://schemas.microsoft.com/office/drawing/2014/main" id="{8C45EFB4-E943-EA1F-BDA9-4C036936CC1A}"/>
              </a:ext>
            </a:extLst>
          </p:cNvPr>
          <p:cNvSpPr txBox="1"/>
          <p:nvPr/>
        </p:nvSpPr>
        <p:spPr>
          <a:xfrm>
            <a:off x="5261210" y="2785097"/>
            <a:ext cx="33117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Use the city to interact with structural different variables</a:t>
            </a:r>
          </a:p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‘</a:t>
            </a:r>
            <a:r>
              <a:rPr kumimoji="1" lang="en-US" altLang="zh-CN" sz="1600" dirty="0" err="1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building_age</a:t>
            </a: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’, ‘heating’, ‘subway’, ‘loop’ (17 variables)</a:t>
            </a:r>
          </a:p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Save as many features as possible</a:t>
            </a:r>
          </a:p>
        </p:txBody>
      </p:sp>
      <p:sp>
        <p:nvSpPr>
          <p:cNvPr id="131" name="矩形 16">
            <a:extLst>
              <a:ext uri="{FF2B5EF4-FFF2-40B4-BE49-F238E27FC236}">
                <a16:creationId xmlns:a16="http://schemas.microsoft.com/office/drawing/2014/main" id="{124C97AA-4BF5-FDEE-C4D1-76AA5228BECA}"/>
              </a:ext>
            </a:extLst>
          </p:cNvPr>
          <p:cNvSpPr/>
          <p:nvPr/>
        </p:nvSpPr>
        <p:spPr>
          <a:xfrm>
            <a:off x="8520275" y="2751826"/>
            <a:ext cx="3236296" cy="1569657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32" name="文本框 377">
            <a:extLst>
              <a:ext uri="{FF2B5EF4-FFF2-40B4-BE49-F238E27FC236}">
                <a16:creationId xmlns:a16="http://schemas.microsoft.com/office/drawing/2014/main" id="{FE32E206-010F-7804-DEF7-483E52BA60A9}"/>
              </a:ext>
            </a:extLst>
          </p:cNvPr>
          <p:cNvSpPr txBox="1"/>
          <p:nvPr/>
        </p:nvSpPr>
        <p:spPr>
          <a:xfrm>
            <a:off x="8563787" y="2803874"/>
            <a:ext cx="33117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Implement the missing data within the city group </a:t>
            </a:r>
          </a:p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Structural missing feature:</a:t>
            </a:r>
            <a:r>
              <a:rPr kumimoji="1" lang="zh-CN" altLang="en-US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no</a:t>
            </a:r>
            <a:r>
              <a:rPr kumimoji="1" lang="zh-CN" altLang="en-US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 </a:t>
            </a: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variance in group regression</a:t>
            </a:r>
          </a:p>
          <a:p>
            <a:pPr marL="285750" lvl="0" indent="-285750" defTabSz="457200">
              <a:buFont typeface="Wingdings" panose="05000000000000000000" pitchFamily="2" charset="2"/>
              <a:buChar char="ü"/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Scaling for lasso: standardize the features within each city.</a:t>
            </a: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CC6FF029-61EC-C38E-9B12-525C30A25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388" y="5129987"/>
            <a:ext cx="3917264" cy="1433855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CF958C58-F1D6-0873-EA43-640A7F79C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957" y="5125066"/>
            <a:ext cx="3875495" cy="1404593"/>
          </a:xfrm>
          <a:prstGeom prst="rect">
            <a:avLst/>
          </a:prstGeom>
        </p:spPr>
      </p:pic>
      <p:sp>
        <p:nvSpPr>
          <p:cNvPr id="140" name="文本框 377">
            <a:extLst>
              <a:ext uri="{FF2B5EF4-FFF2-40B4-BE49-F238E27FC236}">
                <a16:creationId xmlns:a16="http://schemas.microsoft.com/office/drawing/2014/main" id="{5888AD9E-FD66-E7E4-0BD0-788FD704351E}"/>
              </a:ext>
            </a:extLst>
          </p:cNvPr>
          <p:cNvSpPr txBox="1"/>
          <p:nvPr/>
        </p:nvSpPr>
        <p:spPr>
          <a:xfrm>
            <a:off x="2783066" y="4884058"/>
            <a:ext cx="2334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PRICE MODEL - MAE </a:t>
            </a:r>
          </a:p>
        </p:txBody>
      </p:sp>
      <p:sp>
        <p:nvSpPr>
          <p:cNvPr id="141" name="文本框 377">
            <a:extLst>
              <a:ext uri="{FF2B5EF4-FFF2-40B4-BE49-F238E27FC236}">
                <a16:creationId xmlns:a16="http://schemas.microsoft.com/office/drawing/2014/main" id="{FDC7E100-074D-2E08-DE0D-6D1AF21BE013}"/>
              </a:ext>
            </a:extLst>
          </p:cNvPr>
          <p:cNvSpPr txBox="1"/>
          <p:nvPr/>
        </p:nvSpPr>
        <p:spPr>
          <a:xfrm>
            <a:off x="6500569" y="4875263"/>
            <a:ext cx="2334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RENT MODEL - MAE </a:t>
            </a:r>
          </a:p>
        </p:txBody>
      </p:sp>
    </p:spTree>
    <p:extLst>
      <p:ext uri="{BB962C8B-B14F-4D97-AF65-F5344CB8AC3E}">
        <p14:creationId xmlns:p14="http://schemas.microsoft.com/office/powerpoint/2010/main" val="1160520278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4*136"/>
  <p:tag name="TABLE_ENDDRAG_RECT" val="285*332*644*1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55,&quot;left&quot;:67.75,&quot;top&quot;:71.1,&quot;width&quot;:243.75}"/>
</p:tagLst>
</file>

<file path=ppt/theme/theme1.xml><?xml version="1.0" encoding="utf-8"?>
<a:theme xmlns:a="http://schemas.openxmlformats.org/drawingml/2006/main" name="Office 主题​​">
  <a:themeElements>
    <a:clrScheme name="自定义 199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A215A"/>
      </a:accent1>
      <a:accent2>
        <a:srgbClr val="99215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633</Words>
  <Application>Microsoft Office PowerPoint</Application>
  <PresentationFormat>Widescreen</PresentationFormat>
  <Paragraphs>135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等线 Light</vt:lpstr>
      <vt:lpstr>Wingdings</vt:lpstr>
      <vt:lpstr>等线</vt:lpstr>
      <vt:lpstr>Arial</vt:lpstr>
      <vt:lpstr>Source Han Serif CN</vt:lpstr>
      <vt:lpstr>Source Han Sans CN Medium</vt:lpstr>
      <vt:lpstr>Times New Roman</vt:lpstr>
      <vt:lpstr>华文中宋</vt:lpstr>
      <vt:lpstr>Source Han Sans CN Normal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家淼 许</cp:lastModifiedBy>
  <cp:revision>55</cp:revision>
  <dcterms:created xsi:type="dcterms:W3CDTF">2024-04-09T11:13:48Z</dcterms:created>
  <dcterms:modified xsi:type="dcterms:W3CDTF">2025-10-30T15:57:53Z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75CEF2C89C312C43D01D1566CD7B304F_42</vt:lpwstr>
  </property>
  <property fmtid="{D5CDD505-2E9C-101B-9397-08002B2CF9AE}" pid="3" name="KSOProductBuildVer">
    <vt:lpwstr>2052-6.5.2.8766</vt:lpwstr>
  </property>
</Properties>
</file>