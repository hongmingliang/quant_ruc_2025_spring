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9" r:id="rId5"/>
    <p:sldId id="258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882D7-5162-4D48-8AE3-AC2DCA4E55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5606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emf"/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0" b="8260"/>
          <a:stretch>
            <a:fillRect/>
          </a:stretch>
        </p:blipFill>
        <p:spPr bwMode="auto">
          <a:xfrm>
            <a:off x="0" y="2013272"/>
            <a:ext cx="12187003" cy="317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/>
          <p:cNvSpPr/>
          <p:nvPr/>
        </p:nvSpPr>
        <p:spPr>
          <a:xfrm>
            <a:off x="0" y="2007321"/>
            <a:ext cx="12191999" cy="3183250"/>
          </a:xfrm>
          <a:prstGeom prst="rect">
            <a:avLst/>
          </a:prstGeom>
          <a:gradFill>
            <a:gsLst>
              <a:gs pos="0">
                <a:srgbClr val="A3050E"/>
              </a:gs>
              <a:gs pos="74000">
                <a:srgbClr val="A3050E">
                  <a:alpha val="60000"/>
                </a:srgbClr>
              </a:gs>
              <a:gs pos="37000">
                <a:srgbClr val="A3050E">
                  <a:alpha val="80000"/>
                </a:srgbClr>
              </a:gs>
              <a:gs pos="100000">
                <a:srgbClr val="A3050E">
                  <a:alpha val="90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227896" y="5729625"/>
            <a:ext cx="2986447" cy="991747"/>
            <a:chOff x="415916" y="6050225"/>
            <a:chExt cx="2886166" cy="715495"/>
          </a:xfrm>
        </p:grpSpPr>
        <p:sp>
          <p:nvSpPr>
            <p:cNvPr id="38" name="TextBox 14"/>
            <p:cNvSpPr txBox="1"/>
            <p:nvPr/>
          </p:nvSpPr>
          <p:spPr>
            <a:xfrm>
              <a:off x="415916" y="6056472"/>
              <a:ext cx="178528" cy="244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9" name="TextBox 28"/>
            <p:cNvSpPr txBox="1"/>
            <p:nvPr/>
          </p:nvSpPr>
          <p:spPr>
            <a:xfrm>
              <a:off x="3123554" y="6050225"/>
              <a:ext cx="178528" cy="244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40" name="TextBox 90"/>
            <p:cNvSpPr txBox="1"/>
            <p:nvPr/>
          </p:nvSpPr>
          <p:spPr>
            <a:xfrm>
              <a:off x="1392235" y="6522458"/>
              <a:ext cx="1639746" cy="2432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Arial" panose="020B0604020202090204"/>
                  <a:ea typeface="微软雅黑" panose="020B0503020204020204" charset="-122"/>
                  <a:cs typeface="+mn-ea"/>
                </a:rPr>
                <a:t>2025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Arial" panose="020B0604020202090204"/>
                  <a:ea typeface="微软雅黑" panose="020B0503020204020204" charset="-122"/>
                  <a:cs typeface="+mn-ea"/>
                </a:rPr>
                <a:t>年</a:t>
              </a:r>
              <a:r>
                <a:rPr lang="en-US" altLang="zh-CN" sz="1600" b="1" dirty="0">
                  <a:solidFill>
                    <a:srgbClr val="961318"/>
                  </a:solidFill>
                  <a:latin typeface="Arial" panose="020B0604020202090204"/>
                  <a:ea typeface="微软雅黑" panose="020B0503020204020204" charset="-122"/>
                  <a:cs typeface="+mn-ea"/>
                </a:rPr>
                <a:t>10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Arial" panose="020B0604020202090204"/>
                  <a:ea typeface="微软雅黑" panose="020B0503020204020204" charset="-122"/>
                  <a:cs typeface="+mn-ea"/>
                </a:rPr>
                <a:t>月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Arial" panose="020B0604020202090204"/>
                  <a:ea typeface="微软雅黑" panose="020B0503020204020204" charset="-122"/>
                  <a:cs typeface="+mn-ea"/>
                </a:rPr>
                <a:t>31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Arial" panose="020B0604020202090204"/>
                  <a:ea typeface="微软雅黑" panose="020B0503020204020204" charset="-122"/>
                  <a:cs typeface="+mn-ea"/>
                </a:rPr>
                <a:t>日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ea"/>
              </a:endParaRPr>
            </a:p>
          </p:txBody>
        </p:sp>
      </p:grpSp>
      <p:grpSp>
        <p:nvGrpSpPr>
          <p:cNvPr id="41" name="Group 15"/>
          <p:cNvGrpSpPr/>
          <p:nvPr/>
        </p:nvGrpSpPr>
        <p:grpSpPr>
          <a:xfrm>
            <a:off x="1" y="2321859"/>
            <a:ext cx="12215445" cy="2502954"/>
            <a:chOff x="-1504285" y="2557284"/>
            <a:chExt cx="10824150" cy="2502954"/>
          </a:xfrm>
        </p:grpSpPr>
        <p:sp>
          <p:nvSpPr>
            <p:cNvPr id="42" name="Rectangle 9"/>
            <p:cNvSpPr/>
            <p:nvPr/>
          </p:nvSpPr>
          <p:spPr>
            <a:xfrm>
              <a:off x="-1079235" y="2557284"/>
              <a:ext cx="9948846" cy="1938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人工智能与</a:t>
              </a: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PYTHON</a:t>
              </a: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      </a:t>
              </a:r>
              <a:endPara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第五组</a:t>
              </a: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Pre</a:t>
              </a: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展示 </a:t>
              </a:r>
              <a:endPara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43" name="Rectangle 10"/>
            <p:cNvSpPr/>
            <p:nvPr/>
          </p:nvSpPr>
          <p:spPr>
            <a:xfrm>
              <a:off x="-1504285" y="4690906"/>
              <a:ext cx="1082415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cxnSp>
        <p:nvCxnSpPr>
          <p:cNvPr id="44" name="直接连接符 43"/>
          <p:cNvCxnSpPr>
            <a:endCxn id="22" idx="1"/>
          </p:cNvCxnSpPr>
          <p:nvPr/>
        </p:nvCxnSpPr>
        <p:spPr>
          <a:xfrm>
            <a:off x="-884420" y="5455934"/>
            <a:ext cx="6228990" cy="43224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cxnSp>
        <p:nvCxnSpPr>
          <p:cNvPr id="45" name="直接连接符 44"/>
          <p:cNvCxnSpPr>
            <a:stCxn id="22" idx="3"/>
          </p:cNvCxnSpPr>
          <p:nvPr/>
        </p:nvCxnSpPr>
        <p:spPr>
          <a:xfrm flipV="1">
            <a:off x="6870876" y="5455934"/>
            <a:ext cx="5975694" cy="43224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grpSp>
        <p:nvGrpSpPr>
          <p:cNvPr id="18" name="组合 17"/>
          <p:cNvGrpSpPr/>
          <p:nvPr/>
        </p:nvGrpSpPr>
        <p:grpSpPr>
          <a:xfrm>
            <a:off x="3546045" y="503548"/>
            <a:ext cx="4751224" cy="1310637"/>
            <a:chOff x="1013385" y="386506"/>
            <a:chExt cx="4228542" cy="1166454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3385" y="386506"/>
              <a:ext cx="1161573" cy="1166454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341918" y="523819"/>
              <a:ext cx="2896218" cy="640678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2301895" y="1128876"/>
              <a:ext cx="2940032" cy="3013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1600" b="1" dirty="0">
                  <a:solidFill>
                    <a:srgbClr val="000000"/>
                  </a:solidFill>
                  <a:latin typeface="Calibri" panose="020F0502020204030204"/>
                  <a:ea typeface="宋体" pitchFamily="2" charset="-122"/>
                </a:rPr>
                <a:t>RENMIN UNIVERSITY OF CHINA</a:t>
              </a:r>
              <a:endParaRPr lang="zh-CN" altLang="en-US" sz="1600" b="1" dirty="0">
                <a:solidFill>
                  <a:srgbClr val="000000"/>
                </a:solidFill>
                <a:latin typeface="Calibri" panose="020F0502020204030204"/>
                <a:ea typeface="宋体" pitchFamily="2" charset="-122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2312" y="5298734"/>
            <a:ext cx="1390821" cy="40084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957320" y="574920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高福玉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 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黄皆瑞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 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李昕芮</a:t>
            </a:r>
            <a:endParaRPr lang="zh-CN" altLang="en-US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9" name="标题 3073"/>
          <p:cNvSpPr>
            <a:spLocks noGrp="1"/>
          </p:cNvSpPr>
          <p:nvPr>
            <p:ph type="ctrTitle"/>
          </p:nvPr>
        </p:nvSpPr>
        <p:spPr>
          <a:xfrm>
            <a:off x="5715" y="116205"/>
            <a:ext cx="567690" cy="1221740"/>
          </a:xfrm>
        </p:spPr>
        <p:txBody>
          <a:bodyPr anchor="ctr" anchorCtr="0"/>
          <a:p>
            <a:pPr defTabSz="914400">
              <a:buClrTx/>
              <a:buSzTx/>
              <a:buFontTx/>
              <a:buNone/>
            </a:pPr>
            <a:r>
              <a:rPr lang="zh-CN" altLang="zh-CN" sz="2000" kern="1200" baseline="0">
                <a:latin typeface="+mj-lt"/>
                <a:ea typeface="+mj-ea"/>
                <a:cs typeface="+mj-cs"/>
              </a:rPr>
              <a:t>高福玉</a:t>
            </a:r>
            <a:endParaRPr lang="zh-CN" altLang="zh-CN" sz="20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2050" name="副标题 3074"/>
          <p:cNvSpPr>
            <a:spLocks noGrp="1"/>
          </p:cNvSpPr>
          <p:nvPr>
            <p:ph type="subTitle" idx="1"/>
          </p:nvPr>
        </p:nvSpPr>
        <p:spPr>
          <a:xfrm>
            <a:off x="5715" y="2781300"/>
            <a:ext cx="8818880" cy="3904615"/>
          </a:xfrm>
        </p:spPr>
        <p:txBody>
          <a:bodyPr anchor="t" anchorCtr="0"/>
          <a:p>
            <a:pPr algn="l" defTabSz="914400">
              <a:buClrTx/>
              <a:buSzTx/>
              <a:buFontTx/>
            </a:pPr>
            <a:r>
              <a:rPr lang="zh-CN" altLang="zh-CN" sz="1600" kern="1200" baseline="0">
                <a:latin typeface="+mn-lt"/>
                <a:ea typeface="+mn-ea"/>
                <a:cs typeface="+mn-cs"/>
              </a:rPr>
              <a:t>创新点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1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：在处理地理特征时，引入聚类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 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进行小样本的合并或者融入大样本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 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一方面减少极端值的过度拟合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 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一方面融入了地理位置的经济学观点（但其实最好的决策是在此基础上进行中心点判断，设置模拟距离变量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 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但是中心点太多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 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而且距离判比会重合，我和我的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ai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做了两次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 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性能会提高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 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但是测试集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r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方会爆炸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 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实在是力不从心）</a:t>
            </a:r>
            <a:endParaRPr lang="zh-CN" altLang="en-US" sz="1600" kern="1200" baseline="0">
              <a:latin typeface="+mn-lt"/>
              <a:ea typeface="+mn-ea"/>
              <a:cs typeface="+mn-cs"/>
            </a:endParaRPr>
          </a:p>
          <a:p>
            <a:pPr algn="l" defTabSz="914400">
              <a:buClrTx/>
              <a:buSzTx/>
              <a:buFontTx/>
            </a:pPr>
            <a:r>
              <a:rPr lang="zh-CN" altLang="en-US" sz="1600" kern="1200" baseline="0">
                <a:latin typeface="+mn-lt"/>
                <a:ea typeface="+mn-ea"/>
                <a:cs typeface="+mn-cs"/>
              </a:rPr>
              <a:t>创新点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2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：对于自变量和因变量都进行了对数处理，我发现价格和面积等因素有明显的</a:t>
            </a:r>
            <a:r>
              <a:rPr lang="zh-CN" altLang="en-US" sz="1600">
                <a:sym typeface="+mn-ea"/>
              </a:rPr>
              <a:t>偏度大于</a:t>
            </a:r>
            <a:r>
              <a:rPr lang="en-US" altLang="zh-CN" sz="1600">
                <a:sym typeface="+mn-ea"/>
              </a:rPr>
              <a:t>1</a:t>
            </a:r>
            <a:r>
              <a:rPr lang="zh-CN" altLang="en-US" sz="1600">
                <a:sym typeface="+mn-ea"/>
              </a:rPr>
              <a:t>或</a:t>
            </a:r>
            <a:r>
              <a:rPr lang="en-US" altLang="zh-CN" sz="1600">
                <a:sym typeface="+mn-ea"/>
              </a:rPr>
              <a:t>2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右倾特征，建模用对数了解决偏态，最后评估用原始，统一尺寸，两全其美，直接在原始空间用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3σ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，但右偏分布会误判（上界过松，下界过紧），先对数变换使分布接近正态，再用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3σ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，解释性更强，最后的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MAE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也用的原始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空间</a:t>
            </a:r>
            <a:endParaRPr lang="zh-CN" altLang="en-US" sz="1600" kern="1200" baseline="0">
              <a:latin typeface="+mn-lt"/>
              <a:ea typeface="+mn-ea"/>
              <a:cs typeface="+mn-cs"/>
            </a:endParaRPr>
          </a:p>
          <a:p>
            <a:pPr algn="l" defTabSz="914400">
              <a:buClrTx/>
              <a:buSzTx/>
              <a:buFontTx/>
            </a:pPr>
            <a:r>
              <a:rPr lang="zh-CN" altLang="en-US" sz="1600" kern="1200" baseline="0">
                <a:latin typeface="+mn-lt"/>
                <a:ea typeface="+mn-ea"/>
                <a:cs typeface="+mn-cs"/>
              </a:rPr>
              <a:t>创新点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3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：融入经济学思想的交互项和特征项，特别是面积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/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可居住房间数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 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它既可以解决房间数和面积的共线性，也可以包含房间数的信息（尝试了面积的平方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 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但是和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log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面积具有比较高的共线性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 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单独用又不如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log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）</a:t>
            </a:r>
            <a:endParaRPr lang="zh-CN" altLang="en-US" sz="1600" kern="1200" baseline="0">
              <a:latin typeface="+mn-lt"/>
              <a:ea typeface="+mn-ea"/>
              <a:cs typeface="+mn-cs"/>
            </a:endParaRPr>
          </a:p>
          <a:p>
            <a:pPr algn="l" defTabSz="914400">
              <a:buClrTx/>
              <a:buSzTx/>
              <a:buFontTx/>
            </a:pPr>
            <a:r>
              <a:rPr lang="zh-CN" altLang="en-US" sz="1600" kern="1200" baseline="0">
                <a:latin typeface="+mn-lt"/>
                <a:ea typeface="+mn-ea"/>
                <a:cs typeface="+mn-cs"/>
              </a:rPr>
              <a:t>创新点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4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：进行了共线性分析，同时控制原始和工程特征：防止特征工程引入新的共线性，目标明确：所有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VIF &lt; 5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，还有多次实验总结出来的预定义删除列表，减少了过拟合的问题，使交叉验证的</a:t>
            </a:r>
            <a:r>
              <a:rPr lang="en-US" altLang="zh-CN" sz="1600" kern="1200" baseline="0">
                <a:latin typeface="+mn-lt"/>
                <a:ea typeface="+mn-ea"/>
                <a:cs typeface="+mn-cs"/>
              </a:rPr>
              <a:t>R²</a:t>
            </a:r>
            <a:r>
              <a:rPr lang="zh-CN" altLang="en-US" sz="1600" kern="1200" baseline="0">
                <a:latin typeface="+mn-lt"/>
                <a:ea typeface="+mn-ea"/>
                <a:cs typeface="+mn-cs"/>
              </a:rPr>
              <a:t>更合理</a:t>
            </a:r>
            <a:endParaRPr lang="zh-CN" altLang="en-US" sz="1600" kern="1200" baseline="0">
              <a:latin typeface="+mn-lt"/>
              <a:ea typeface="+mn-ea"/>
              <a:cs typeface="+mn-cs"/>
            </a:endParaRPr>
          </a:p>
          <a:p>
            <a:pPr algn="l" defTabSz="914400">
              <a:buClrTx/>
              <a:buSzTx/>
              <a:buFontTx/>
            </a:pPr>
            <a:endParaRPr lang="zh-CN" altLang="en-US" kern="1200" baseline="0">
              <a:latin typeface="+mn-lt"/>
              <a:ea typeface="+mn-ea"/>
              <a:cs typeface="+mn-cs"/>
            </a:endParaRPr>
          </a:p>
          <a:p>
            <a:pPr algn="l" defTabSz="914400">
              <a:buClrTx/>
              <a:buSzTx/>
              <a:buFontTx/>
            </a:pPr>
            <a:endParaRPr lang="zh-CN" altLang="en-US" kern="1200" baseline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15" y="1484630"/>
            <a:ext cx="4693920" cy="1327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116205"/>
            <a:ext cx="5243830" cy="1397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399020" y="548640"/>
            <a:ext cx="1594485" cy="210629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kaggle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：</a:t>
            </a:r>
            <a:b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</a:b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Ols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：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30.9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Ridge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：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30.9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Lasso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：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21.3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ELast</a:t>
            </a:r>
            <a:r>
              <a:rPr lang="zh-CN" altLang="en-US" sz="1800">
                <a:latin typeface="Arial" panose="020B0604020202090204" pitchFamily="34" charset="0"/>
                <a:ea typeface="微软雅黑" panose="020B0503020204020204" charset="-122"/>
              </a:rPr>
              <a:t>：</a:t>
            </a:r>
            <a:r>
              <a:rPr lang="en-US" altLang="zh-CN" sz="1800">
                <a:latin typeface="Arial" panose="020B0604020202090204" pitchFamily="34" charset="0"/>
                <a:ea typeface="微软雅黑" panose="020B0503020204020204" charset="-122"/>
              </a:rPr>
              <a:t>24.6</a:t>
            </a:r>
            <a:endParaRPr lang="en-US" altLang="zh-CN" sz="180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290" y="1701165"/>
            <a:ext cx="1965960" cy="10229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385" y="696595"/>
            <a:ext cx="1960880" cy="10045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3"/>
          <p:cNvSpPr txBox="1"/>
          <p:nvPr/>
        </p:nvSpPr>
        <p:spPr>
          <a:xfrm>
            <a:off x="493046" y="-47113"/>
            <a:ext cx="10972800" cy="949960"/>
          </a:xfrm>
          <a:prstGeom prst="rect">
            <a:avLst/>
          </a:prstGeom>
        </p:spPr>
        <p:txBody>
          <a:bodyPr vert="horz" lIns="121920" tIns="60960" rIns="121920" bIns="6096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44E7E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</a:lstStyle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8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黄皆瑞</a:t>
            </a:r>
            <a:endParaRPr lang="zh-CN" altLang="en-US" sz="4800" dirty="0"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09600" y="902847"/>
            <a:ext cx="106299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09600" y="1122361"/>
            <a:ext cx="7086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1. </a:t>
            </a:r>
            <a:r>
              <a:rPr lang="zh-CN" altLang="en-US" b="1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数据处理创新</a:t>
            </a:r>
            <a:endParaRPr lang="en-US" altLang="zh-CN" b="1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1.1 </a:t>
            </a:r>
            <a:r>
              <a:rPr lang="zh-CN" altLang="zh-CN" sz="1800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分块读取大规模数据</a:t>
            </a:r>
            <a:endParaRPr lang="en-US" altLang="zh-CN" sz="1800" dirty="0">
              <a:effectLst/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r>
              <a:rPr lang="zh-CN" altLang="zh-CN" sz="1800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内存较小</a:t>
            </a:r>
            <a:r>
              <a:rPr lang="en-US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chunking! </a:t>
            </a:r>
            <a:r>
              <a:rPr lang="zh-CN" altLang="en-US" b="1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加速读取</a:t>
            </a:r>
            <a:endParaRPr lang="en-US" altLang="zh-CN" b="1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endParaRPr lang="en-US" altLang="zh-CN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endParaRPr lang="en-US" altLang="zh-CN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endParaRPr lang="en-US" altLang="zh-CN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endParaRPr lang="en-US" altLang="zh-CN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101" y="2096289"/>
            <a:ext cx="4117229" cy="109989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778500" y="1122361"/>
            <a:ext cx="65826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3.</a:t>
            </a:r>
            <a:r>
              <a:rPr lang="zh-CN" altLang="zh-CN" sz="1800" b="1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编码</a:t>
            </a:r>
            <a:r>
              <a:rPr lang="zh-CN" altLang="en-US" sz="1800" b="1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创新</a:t>
            </a:r>
            <a:endParaRPr lang="en-US" altLang="zh-CN" sz="1800" b="1" dirty="0">
              <a:effectLst/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r>
              <a:rPr lang="zh-CN" altLang="en-US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定义类别编码器类 </a:t>
            </a:r>
            <a:r>
              <a:rPr lang="en-US" altLang="zh-CN" dirty="0" err="1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SafeCategoricalEncoder</a:t>
            </a:r>
            <a:r>
              <a:rPr lang="en-US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  <a:sym typeface="Wingdings" panose="05000000000000000000" pitchFamily="2" charset="2"/>
              </a:rPr>
              <a:t> </a:t>
            </a:r>
            <a:r>
              <a:rPr lang="zh-CN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模块化、可复用</a:t>
            </a:r>
            <a:endParaRPr lang="en-US" altLang="zh-CN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endParaRPr lang="en-US" altLang="zh-CN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2"/>
          <a:srcRect b="76203"/>
          <a:stretch>
            <a:fillRect/>
          </a:stretch>
        </p:blipFill>
        <p:spPr>
          <a:xfrm>
            <a:off x="6096473" y="1865937"/>
            <a:ext cx="4559813" cy="79853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9600" y="3196184"/>
            <a:ext cx="61792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1.2</a:t>
            </a:r>
            <a:r>
              <a:rPr lang="zh-CN" altLang="en-US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统一数据标识 </a:t>
            </a:r>
            <a:r>
              <a:rPr lang="en-US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  <a:sym typeface="Wingdings" panose="05000000000000000000" pitchFamily="2" charset="2"/>
              </a:rPr>
              <a:t> </a:t>
            </a:r>
            <a:r>
              <a:rPr lang="en-US" altLang="zh-CN" dirty="0" err="1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isRent</a:t>
            </a:r>
            <a:r>
              <a:rPr lang="en-US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逻辑变量</a:t>
            </a:r>
            <a:endParaRPr lang="en-US" altLang="zh-CN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r>
              <a:rPr lang="zh-CN" altLang="en-US" sz="1800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代码规范，</a:t>
            </a:r>
            <a:r>
              <a:rPr lang="zh-CN" altLang="zh-CN" sz="1800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避免</a:t>
            </a:r>
            <a:r>
              <a:rPr lang="zh-CN" altLang="en-US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数据集</a:t>
            </a:r>
            <a:r>
              <a:rPr lang="zh-CN" altLang="zh-CN" sz="1800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混淆</a:t>
            </a:r>
            <a:endParaRPr lang="en-US" altLang="zh-CN" sz="1800" dirty="0">
              <a:effectLst/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1.3 </a:t>
            </a:r>
            <a:r>
              <a:rPr lang="zh-CN" altLang="en-US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房价异常值处理</a:t>
            </a:r>
            <a:endParaRPr lang="en-US" altLang="zh-CN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r>
              <a:rPr lang="zh-CN" altLang="en-US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房价偏态分布，吸收第三次作业经验</a:t>
            </a:r>
            <a:endParaRPr lang="en-US" altLang="zh-CN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b="1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单位面积价格</a:t>
            </a:r>
            <a:r>
              <a:rPr lang="en-US" altLang="zh-CN" sz="1800" b="1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+</a:t>
            </a:r>
            <a:r>
              <a:rPr lang="en-US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Robust Z-Score</a:t>
            </a:r>
            <a:r>
              <a:rPr lang="zh-CN" altLang="en-US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！</a:t>
            </a:r>
            <a:endParaRPr lang="en-US" altLang="zh-CN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稳健且数据友好</a:t>
            </a:r>
            <a:r>
              <a:rPr lang="zh-CN" altLang="en-US" sz="1800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！</a:t>
            </a:r>
            <a:endParaRPr lang="en-US" altLang="zh-CN" sz="1800" dirty="0">
              <a:effectLst/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endParaRPr lang="en-US" altLang="zh-CN" b="1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r>
              <a:rPr lang="en-US" altLang="zh-CN" b="1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2.</a:t>
            </a:r>
            <a:r>
              <a:rPr lang="zh-CN" altLang="zh-CN" sz="1800" b="1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特征工程与文本挖掘</a:t>
            </a:r>
            <a:r>
              <a:rPr lang="zh-CN" altLang="en-US" b="1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创新</a:t>
            </a:r>
            <a:endParaRPr lang="en-US" altLang="zh-CN" b="1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2.1</a:t>
            </a:r>
            <a:r>
              <a:rPr lang="zh-CN" altLang="zh-CN" sz="1800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生成具经济含义的新特征</a:t>
            </a:r>
            <a:endParaRPr lang="en-US" altLang="zh-CN" sz="1800" dirty="0">
              <a:effectLst/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r>
              <a:rPr lang="zh-CN" altLang="en-US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厅卧比、厨卫比、朝向得分</a:t>
            </a:r>
            <a:r>
              <a:rPr lang="en-US" altLang="zh-CN" sz="1800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etc</a:t>
            </a:r>
            <a:r>
              <a:rPr lang="en-US" altLang="zh-CN" b="1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.</a:t>
            </a:r>
            <a:r>
              <a:rPr lang="en-US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更具现实解释力</a:t>
            </a:r>
            <a:endParaRPr lang="en-US" altLang="zh-CN" sz="1800" dirty="0">
              <a:effectLst/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2.2</a:t>
            </a:r>
            <a:r>
              <a:rPr lang="zh-CN" altLang="en-US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自然语言处理</a:t>
            </a:r>
            <a:endParaRPr lang="en-US" altLang="zh-CN" dirty="0">
              <a:latin typeface="Times New Roman" panose="02020503050405090304" pitchFamily="18" charset="0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r>
              <a:rPr lang="zh-CN" altLang="zh-CN" sz="1800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关键词字典提取</a:t>
            </a:r>
            <a:r>
              <a:rPr lang="zh-CN" altLang="en-US" sz="1800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信息</a:t>
            </a:r>
            <a:r>
              <a:rPr lang="en-US" altLang="zh-CN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计算出配套设施丰富度</a:t>
            </a:r>
            <a:r>
              <a:rPr lang="en-US" altLang="zh-CN" sz="1800" dirty="0">
                <a:effectLst/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etc</a:t>
            </a:r>
            <a:r>
              <a:rPr lang="en-US" altLang="zh-CN" b="1" dirty="0"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rPr>
              <a:t>.</a:t>
            </a:r>
            <a:endParaRPr lang="zh-CN" altLang="en-US" dirty="0"/>
          </a:p>
        </p:txBody>
      </p:sp>
      <p:cxnSp>
        <p:nvCxnSpPr>
          <p:cNvPr id="28" name="直接连接符 27"/>
          <p:cNvCxnSpPr/>
          <p:nvPr/>
        </p:nvCxnSpPr>
        <p:spPr>
          <a:xfrm>
            <a:off x="696101" y="5027126"/>
            <a:ext cx="472679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783" y="2920580"/>
            <a:ext cx="4229100" cy="122396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783" y="4473837"/>
            <a:ext cx="4167188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4445" y="635"/>
            <a:ext cx="659511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中期项目汇报：房价与房租预测模型总结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448475"/>
          <a:ext cx="3931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980"/>
                <a:gridCol w="982980"/>
                <a:gridCol w="982980"/>
                <a:gridCol w="982980"/>
              </a:tblGrid>
              <a:tr h="292608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price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In sample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Out of sample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cv 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/>
                        <a:t>OLS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890211.893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883142.310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/>
                        <a:t>0.57549</a:t>
                      </a:r>
                      <a:endParaRPr lang="en-US" altLang="zh-CN"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/>
                        <a:t>Ridge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888137.069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880900.745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/>
                        <a:t>0.57549</a:t>
                      </a:r>
                      <a:endParaRPr lang="en-US" altLang="zh-CN"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/>
                        <a:t>LASSO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887849.051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880690.508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/>
                        <a:t>0.57539</a:t>
                      </a:r>
                      <a:endParaRPr lang="en-US" altLang="zh-CN"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/>
                        <a:t>ElasticNet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886492.605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879201.095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/>
                        <a:t>0.57540</a:t>
                      </a:r>
                      <a:endParaRPr lang="en-US" altLang="zh-CN"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448475"/>
          <a:ext cx="3931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980"/>
                <a:gridCol w="982980"/>
                <a:gridCol w="982980"/>
                <a:gridCol w="982980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b="1"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rent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In sample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Out of sample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cv 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/>
                        <a:t>OLS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128787.703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128038.589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/>
                        <a:t>0.59026</a:t>
                      </a:r>
                      <a:endParaRPr lang="en-US" altLang="zh-CN"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/>
                        <a:t>Ridge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128787.704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128038.590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/>
                        <a:t>0.59026</a:t>
                      </a:r>
                      <a:endParaRPr lang="en-US" altLang="zh-CN"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/>
                        <a:t>LASSO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128809.185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128057.965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/>
                        <a:t>0.59273</a:t>
                      </a:r>
                      <a:endParaRPr lang="en-US" altLang="zh-CN"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/>
                        <a:t>ElasticNet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128925.744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128163.781</a:t>
                      </a:r>
                      <a:endParaRPr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/>
                        <a:t>0.59226</a:t>
                      </a:r>
                      <a:endParaRPr lang="en-US" altLang="zh-CN" sz="10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6405" y="2661920"/>
            <a:ext cx="8229600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• </a:t>
            </a:r>
            <a:r>
              <a:rPr lang="zh-CN" sz="1400" b="1"/>
              <a:t>数据预处理</a:t>
            </a:r>
            <a:r>
              <a:rPr lang="en-US" altLang="zh-CN" sz="1400" b="1"/>
              <a:t>：</a:t>
            </a:r>
            <a:r>
              <a:rPr sz="1400"/>
              <a:t>采用 Yeo-Johnson 目标变换，避免 log1p 在负值数据下的不稳定性</a:t>
            </a:r>
            <a:r>
              <a:rPr lang="en-US" sz="1400"/>
              <a:t>；</a:t>
            </a:r>
            <a:r>
              <a:rPr lang="zh-CN" altLang="en-US" sz="1400">
                <a:sym typeface="+mn-ea"/>
              </a:rPr>
              <a:t>对特征进行稳健化处理（异常值截断</a:t>
            </a:r>
            <a:r>
              <a:rPr lang="en-US" altLang="zh-CN" sz="1400">
                <a:sym typeface="+mn-ea"/>
              </a:rPr>
              <a:t> + </a:t>
            </a:r>
            <a:r>
              <a:rPr lang="zh-CN" altLang="en-US" sz="1400">
                <a:sym typeface="+mn-ea"/>
              </a:rPr>
              <a:t>标准化）</a:t>
            </a:r>
            <a:r>
              <a:rPr lang="en-US" altLang="zh-CN" sz="1400">
                <a:sym typeface="+mn-ea"/>
              </a:rPr>
              <a:t>（IQR</a:t>
            </a:r>
            <a:r>
              <a:rPr lang="zh-CN" altLang="en-US" sz="1400">
                <a:sym typeface="+mn-ea"/>
              </a:rPr>
              <a:t>法截断</a:t>
            </a:r>
            <a:r>
              <a:rPr lang="en-US" altLang="zh-CN" sz="1400">
                <a:sym typeface="+mn-ea"/>
              </a:rPr>
              <a:t>）</a:t>
            </a:r>
            <a:r>
              <a:rPr lang="zh-CN" altLang="en-US" sz="1400">
                <a:sym typeface="+mn-ea"/>
              </a:rPr>
              <a:t>，提高线性模型的稳定性和泛化性。</a:t>
            </a:r>
            <a:endParaRPr lang="zh-CN" altLang="en-US" sz="1400">
              <a:sym typeface="+mn-ea"/>
            </a:endParaRPr>
          </a:p>
          <a:p>
            <a:br>
              <a:rPr sz="1400"/>
            </a:br>
            <a:r>
              <a:rPr sz="1400"/>
              <a:t>• </a:t>
            </a:r>
            <a:r>
              <a:rPr sz="1400" b="1">
                <a:latin typeface="Arial Bold" panose="020B0604020202090204" charset="0"/>
              </a:rPr>
              <a:t>特征工程</a:t>
            </a:r>
            <a:r>
              <a:rPr sz="1400"/>
              <a:t>：</a:t>
            </a:r>
            <a:r>
              <a:rPr lang="zh-CN" sz="1400"/>
              <a:t>构建</a:t>
            </a:r>
            <a:r>
              <a:rPr sz="1400"/>
              <a:t>面积×房龄、经纬度交互项</a:t>
            </a:r>
            <a:r>
              <a:rPr lang="zh-CN" sz="1400"/>
              <a:t>以</a:t>
            </a:r>
            <a:r>
              <a:rPr sz="1400"/>
              <a:t>提升拟合效果</a:t>
            </a:r>
            <a:r>
              <a:rPr lang="en-US" sz="1400"/>
              <a:t>，</a:t>
            </a:r>
            <a:r>
              <a:rPr lang="zh-CN" altLang="en-US" sz="1400"/>
              <a:t>增强模型对空间差异（区位）与结构老化因素的感知</a:t>
            </a:r>
            <a:r>
              <a:rPr lang="en-US" altLang="zh-CN" sz="1400"/>
              <a:t>，</a:t>
            </a:r>
            <a:r>
              <a:rPr lang="zh-CN" altLang="en-US" sz="1400"/>
              <a:t>从而提升拟合度</a:t>
            </a:r>
            <a:endParaRPr lang="zh-CN" altLang="en-US" sz="1400"/>
          </a:p>
          <a:p>
            <a:br>
              <a:rPr sz="1400"/>
            </a:br>
            <a:r>
              <a:rPr sz="1400"/>
              <a:t>• </a:t>
            </a:r>
            <a:r>
              <a:rPr lang="zh-CN" sz="1400" b="1"/>
              <a:t>模型策略</a:t>
            </a:r>
            <a:r>
              <a:rPr lang="en-US" altLang="zh-CN" sz="1400" b="1"/>
              <a:t>：</a:t>
            </a:r>
            <a:r>
              <a:rPr lang="zh-CN" altLang="en-US" sz="1400"/>
              <a:t>房价与房租模型中保持了相同的清洗逻辑、特征结构与变换器</a:t>
            </a:r>
            <a:r>
              <a:rPr lang="en-US" altLang="zh-CN" sz="1400"/>
              <a:t>，</a:t>
            </a:r>
            <a:r>
              <a:rPr lang="zh-CN" altLang="en-US" sz="1400"/>
              <a:t>使</a:t>
            </a:r>
            <a:r>
              <a:rPr lang="zh-CN" sz="1400"/>
              <a:t>两模型</a:t>
            </a:r>
            <a:r>
              <a:rPr lang="zh-CN" altLang="en-US" sz="1400"/>
              <a:t>的性能与误差可对比</a:t>
            </a:r>
            <a:r>
              <a:rPr lang="en-US" altLang="zh-CN" sz="1400"/>
              <a:t>，</a:t>
            </a:r>
            <a:r>
              <a:rPr lang="zh-CN" altLang="en-US" sz="1400"/>
              <a:t>提升了整个研究的</a:t>
            </a:r>
            <a:r>
              <a:rPr lang="zh-CN" altLang="en-US" sz="1400"/>
              <a:t>可靠性</a:t>
            </a:r>
            <a:endParaRPr lang="zh-CN" altLang="en-US" sz="1400"/>
          </a:p>
        </p:txBody>
      </p:sp>
      <p:pic>
        <p:nvPicPr>
          <p:cNvPr id="6" name="Picture 5" descr="scatter_price_ElasticN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08525"/>
            <a:ext cx="1982470" cy="1590040"/>
          </a:xfrm>
          <a:prstGeom prst="rect">
            <a:avLst/>
          </a:prstGeom>
        </p:spPr>
      </p:pic>
      <p:pic>
        <p:nvPicPr>
          <p:cNvPr id="7" name="Picture 6" descr="hist_price_Elastic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4643120"/>
            <a:ext cx="2413635" cy="1999615"/>
          </a:xfrm>
          <a:prstGeom prst="rect">
            <a:avLst/>
          </a:prstGeom>
        </p:spPr>
      </p:pic>
      <p:pic>
        <p:nvPicPr>
          <p:cNvPr id="8" name="Picture 7" descr="scatter_rent_Elastic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765" y="4709160"/>
            <a:ext cx="1982470" cy="1589405"/>
          </a:xfrm>
          <a:prstGeom prst="rect">
            <a:avLst/>
          </a:prstGeom>
        </p:spPr>
      </p:pic>
      <p:pic>
        <p:nvPicPr>
          <p:cNvPr id="9" name="Picture 8" descr="hist_rent_Elastic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260" y="4643120"/>
            <a:ext cx="2533650" cy="20008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3925" y="1807210"/>
            <a:ext cx="6497955" cy="855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Kaggle 评分结果：• OLS：25.1• Ridge：25.1• LASSO：25.8• ElasticNet：30.0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1506</Words>
  <Application>WPS 表格</Application>
  <PresentationFormat>宽屏</PresentationFormat>
  <Paragraphs>138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汉仪旗黑</vt:lpstr>
      <vt:lpstr>阿里巴巴普惠体 B</vt:lpstr>
      <vt:lpstr>微软雅黑 Light</vt:lpstr>
      <vt:lpstr>Calibri</vt:lpstr>
      <vt:lpstr>汉仪中黑KW</vt:lpstr>
      <vt:lpstr>Helvetica Neue</vt:lpstr>
      <vt:lpstr>宋体</vt:lpstr>
      <vt:lpstr>Arial Unicode MS</vt:lpstr>
      <vt:lpstr>汉仪书宋二KW</vt:lpstr>
      <vt:lpstr>宋体-简</vt:lpstr>
      <vt:lpstr>微软雅黑</vt:lpstr>
      <vt:lpstr>微软雅黑 Light</vt:lpstr>
      <vt:lpstr>阿里巴巴普惠体 B</vt:lpstr>
      <vt:lpstr>苹方-简</vt:lpstr>
      <vt:lpstr>隶书</vt:lpstr>
      <vt:lpstr>报隶-简</vt:lpstr>
      <vt:lpstr>华文楷体</vt:lpstr>
      <vt:lpstr>Times New Roman</vt:lpstr>
      <vt:lpstr>Arial Bold</vt:lpstr>
      <vt:lpstr>WPS</vt:lpstr>
      <vt:lpstr>PowerPoint 演示文稿</vt:lpstr>
      <vt:lpstr>高福玉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涼</cp:lastModifiedBy>
  <cp:revision>7</cp:revision>
  <dcterms:created xsi:type="dcterms:W3CDTF">2025-10-30T19:30:06Z</dcterms:created>
  <dcterms:modified xsi:type="dcterms:W3CDTF">2025-10-30T19:30:06Z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2052-12.1.23135.23135</vt:lpwstr>
  </property>
  <property fmtid="{D5CDD505-2E9C-101B-9397-08002B2CF9AE}" pid="3" name="ICV">
    <vt:lpwstr>1503A1F6D3C00C22BEBC036941E01B2F_43</vt:lpwstr>
  </property>
</Properties>
</file>