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303" r:id="rId3"/>
    <p:sldId id="304" r:id="rId4"/>
    <p:sldId id="30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1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75130-55C6-4425-B5BF-39F25AE63AE6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E890D-9E12-4CA4-9CFA-8C009BE89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44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03241-38E9-1C33-B609-25AA17285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BB0AAA-C4C9-749A-6DA5-8B794D248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F92143-3BE8-CF11-9836-707F5762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C2FB8-2E75-94D3-EC3E-7D99A1F0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140BDE-376B-D88C-6401-05048D70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21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9F6B6-A8BE-BBA7-3342-86BB980B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E879AB-75C9-5E14-498F-F3D330969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456A1B-F884-8E9B-1045-C76168EC5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9ED160-9441-8221-AF4B-DD881073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5A0C87-4BDE-839C-900C-7A775400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23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391CD-1182-0279-FB8C-194141BC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EE9F3F-4AB0-B95E-70A4-DB3CFE9CB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D960F4-3A8D-E9CC-8D51-47C0E3F7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EC3663-4C11-AEB3-3404-B7DC7EA2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7690C2-30C4-884B-2CE2-700FA585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43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66953-BDFF-6771-9B24-D20489F54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FC80E-273D-F0FF-5029-C903BE866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E56903-2107-2E35-2CC7-6B189EDFF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611F9B-E593-3F04-7D94-B248FAB56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DC4AF8-E75C-BBF2-FEE1-A0D6C9FB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A08D3E-09EC-3D17-9474-04EE47F1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97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730DB-77D4-D3C5-D593-5B5A018A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D1E10C-83F4-41E0-1667-9CE577C44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A059FE-B859-41BC-F68C-2E1B1C37A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1171B6-9BE9-E2C9-9E03-F47EF45E5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999CF5-2774-4C6C-8560-5F6A08D48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CC1C4D-AEB6-AC78-A73E-39BF6A9C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B5D1D8-7118-E570-AF06-7675A2B7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CC9C6C-4D0F-398D-5677-F245787C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25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523DE-DBFE-2587-AF6F-1C35F62D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7FE609-41F0-5D47-236B-879767AC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E54DB0-8B8E-E3B4-3889-3C903A39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266A73-CD7D-175E-1D8C-73D5F86A5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68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04B18A-CF34-DB37-ADCA-1DE18268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A259EE-2693-EC17-BEC8-178BE4E4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153AE-03B0-04CA-D9E7-496F8854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02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BDDA9-51F6-34D5-5B7E-E0D3EBBD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0CF195-17B1-F725-40E4-4B1CAA2A9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2E541-3447-9A9D-CA72-2D4F498CA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864BFC-BEFA-5667-A888-7AC8D3E9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0D324B-7EC5-2335-3B2A-D4089E45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89679F-45B7-F528-F5A2-6E00CE4A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FB9AE-9222-7564-E5F3-47644EAA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1D141E-CA07-BE5F-65B9-B0BB69067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B86814-D1B8-76DC-42C2-540BDB5D9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8799BF-8D5B-2F7A-AF11-CA11EF37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8B576-1338-30AD-695A-594F358A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279EEE-069B-567E-30B3-B1527E29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99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6638B-9D42-A68C-E1CA-9848818E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8E693F-D16D-AA95-CCB1-F78E1C82F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3F1F01-5B91-677E-A804-22358914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D13EE3-CE02-A35C-E324-920B46D2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FE93BC-85E0-528B-3E21-CF5B1D71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85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5C625B-8320-611F-CC90-3CA8DE9D0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047F2F-832B-6700-E356-FF69C3FCF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D6DA7-802A-A3CB-23BF-D91D175D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4F121F-F1A0-DA93-F0DB-3C6C8AE2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0A284-A7B4-8065-EE9B-33995250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999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311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73EF9D-ECBF-2D95-9942-6A3BF39DC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5B19E0-54B6-141F-7F1D-ED5504E16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9FD5F5-B57B-B5A9-864C-58CDD2B76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815D1-3D6B-4414-95B3-E9483361190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7AD0E2-7B56-9DA5-D42D-DF739627D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46E8D-0F09-474A-3170-184C76FFC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29CF-6568-41E9-B560-46C865F55D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66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jpe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" y="0"/>
            <a:ext cx="12190476" cy="6871640"/>
          </a:xfrm>
          <a:custGeom>
            <a:avLst/>
            <a:gdLst/>
            <a:ahLst/>
            <a:cxnLst/>
            <a:rect l="l" t="t" r="r" b="b"/>
            <a:pathLst>
              <a:path w="18285714" h="10307460">
                <a:moveTo>
                  <a:pt x="0" y="0"/>
                </a:moveTo>
                <a:lnTo>
                  <a:pt x="18285714" y="0"/>
                </a:lnTo>
                <a:lnTo>
                  <a:pt x="18285714" y="10307460"/>
                </a:lnTo>
                <a:lnTo>
                  <a:pt x="0" y="1030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" r="-10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554" y="3181922"/>
            <a:ext cx="11855875" cy="1106805"/>
            <a:chOff x="0" y="0"/>
            <a:chExt cx="23711751" cy="22136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711754" cy="2213610"/>
            </a:xfrm>
            <a:custGeom>
              <a:avLst/>
              <a:gdLst/>
              <a:ahLst/>
              <a:cxnLst/>
              <a:rect l="l" t="t" r="r" b="b"/>
              <a:pathLst>
                <a:path w="23711754" h="2213610">
                  <a:moveTo>
                    <a:pt x="0" y="0"/>
                  </a:moveTo>
                  <a:lnTo>
                    <a:pt x="23711754" y="0"/>
                  </a:lnTo>
                  <a:lnTo>
                    <a:pt x="23711754" y="2213610"/>
                  </a:lnTo>
                  <a:lnTo>
                    <a:pt x="0" y="2213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3711751" cy="2261235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zh-CN" altLang="en-US" sz="6600" b="1" spc="300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人工智能与</a:t>
              </a:r>
              <a:r>
                <a:rPr lang="en-US" altLang="zh-CN" sz="6600" b="1" spc="300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python</a:t>
              </a:r>
              <a:r>
                <a:rPr lang="zh-CN" altLang="en-US" sz="6600" b="1" spc="300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程序设计</a:t>
              </a:r>
              <a:endParaRPr lang="en-US" sz="6600" b="1" spc="300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sp>
        <p:nvSpPr>
          <p:cNvPr id="8" name="AutoShape 8"/>
          <p:cNvSpPr/>
          <p:nvPr/>
        </p:nvSpPr>
        <p:spPr>
          <a:xfrm rot="11280">
            <a:off x="1689202" y="4934820"/>
            <a:ext cx="8688311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3049911" y="673615"/>
            <a:ext cx="1833271" cy="1840973"/>
          </a:xfrm>
          <a:custGeom>
            <a:avLst/>
            <a:gdLst/>
            <a:ahLst/>
            <a:cxnLst/>
            <a:rect l="l" t="t" r="r" b="b"/>
            <a:pathLst>
              <a:path w="2749906" h="2761459">
                <a:moveTo>
                  <a:pt x="0" y="0"/>
                </a:moveTo>
                <a:lnTo>
                  <a:pt x="2749906" y="0"/>
                </a:lnTo>
                <a:lnTo>
                  <a:pt x="2749906" y="2761459"/>
                </a:lnTo>
                <a:lnTo>
                  <a:pt x="0" y="2761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057870" y="912692"/>
            <a:ext cx="3585210" cy="890238"/>
          </a:xfrm>
          <a:custGeom>
            <a:avLst/>
            <a:gdLst/>
            <a:ahLst/>
            <a:cxnLst/>
            <a:rect l="l" t="t" r="r" b="b"/>
            <a:pathLst>
              <a:path w="5377815" h="1335357">
                <a:moveTo>
                  <a:pt x="0" y="0"/>
                </a:moveTo>
                <a:lnTo>
                  <a:pt x="5377815" y="0"/>
                </a:lnTo>
                <a:lnTo>
                  <a:pt x="5377815" y="1335357"/>
                </a:lnTo>
                <a:lnTo>
                  <a:pt x="0" y="1335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5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41760" y="1826127"/>
            <a:ext cx="4716804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Renmin University of China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1CC4C5-33CB-D6BF-C69F-4FAF61CFC632}"/>
              </a:ext>
            </a:extLst>
          </p:cNvPr>
          <p:cNvSpPr txBox="1"/>
          <p:nvPr/>
        </p:nvSpPr>
        <p:spPr>
          <a:xfrm>
            <a:off x="3758619" y="5274576"/>
            <a:ext cx="454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贺佳乐</a:t>
            </a:r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|2023200778|Qanwefg_0778</a:t>
            </a:r>
            <a:endParaRPr lang="zh-CN" altLang="en-US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城市、区域、板块层次结构处理</a:t>
            </a:r>
            <a:endParaRPr lang="en-US" sz="1100" b="1" dirty="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7645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33045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47800" y="233045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数据层级概览</a:t>
            </a:r>
            <a:endParaRPr lang="en-US" sz="1100" b="1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83210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143250"/>
            <a:ext cx="203200" cy="203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46200" y="314325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城市：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个唯一值</a:t>
            </a:r>
            <a:endParaRPr lang="en-US" sz="1100" b="1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778250"/>
            <a:ext cx="203200" cy="203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46200" y="377825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区域：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117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个唯一值</a:t>
            </a:r>
            <a:endParaRPr lang="en-US" sz="1100" b="1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413250"/>
            <a:ext cx="203200" cy="203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46200" y="441325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板块：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977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个唯一值</a:t>
            </a:r>
            <a:endParaRPr lang="en-US" sz="1100" b="1"/>
          </a:p>
        </p:txBody>
      </p:sp>
      <p:sp>
        <p:nvSpPr>
          <p:cNvPr id="15" name="AutoShape 15"/>
          <p:cNvSpPr/>
          <p:nvPr/>
        </p:nvSpPr>
        <p:spPr>
          <a:xfrm>
            <a:off x="4445000" y="207645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99000" y="233045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130800" y="233045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数据冲突识别</a:t>
            </a:r>
            <a:endParaRPr lang="en-US" sz="1100" b="1"/>
          </a:p>
        </p:txBody>
      </p:sp>
      <p:cxnSp>
        <p:nvCxnSpPr>
          <p:cNvPr id="18" name="Connector 18"/>
          <p:cNvCxnSpPr/>
          <p:nvPr/>
        </p:nvCxnSpPr>
        <p:spPr>
          <a:xfrm rot="-15626">
            <a:off x="4699014" y="283210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99000" y="3143250"/>
            <a:ext cx="203200" cy="203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029200" y="314325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区域冲突</a:t>
            </a:r>
            <a:endParaRPr lang="en-US" sz="1100" b="1"/>
          </a:p>
        </p:txBody>
      </p:sp>
      <p:sp>
        <p:nvSpPr>
          <p:cNvPr id="21" name="AutoShape 21"/>
          <p:cNvSpPr/>
          <p:nvPr/>
        </p:nvSpPr>
        <p:spPr>
          <a:xfrm>
            <a:off x="5029200" y="347345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如区域</a:t>
            </a: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126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同时出现在城市</a:t>
            </a: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99000" y="415925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029200" y="415925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板块冲突</a:t>
            </a:r>
            <a:endParaRPr lang="en-US" sz="1100" b="1"/>
          </a:p>
        </p:txBody>
      </p:sp>
      <p:sp>
        <p:nvSpPr>
          <p:cNvPr id="24" name="AutoShape 24"/>
          <p:cNvSpPr/>
          <p:nvPr/>
        </p:nvSpPr>
        <p:spPr>
          <a:xfrm>
            <a:off x="5029200" y="448945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54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个板块对应</a:t>
            </a: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2-3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个不同区域</a:t>
            </a: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如板块</a:t>
            </a: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683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对应</a:t>
            </a: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个不同区域，板块</a:t>
            </a: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1122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也对应</a:t>
            </a:r>
            <a:r>
              <a:rPr lang="en-US" altLang="zh-CN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zh-CN" altLang="en-US" sz="13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个区域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128000" y="207645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33045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813800" y="233045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数据处理结果</a:t>
            </a:r>
            <a:endParaRPr lang="en-US" sz="1100" b="1"/>
          </a:p>
        </p:txBody>
      </p:sp>
      <p:cxnSp>
        <p:nvCxnSpPr>
          <p:cNvPr id="28" name="Connector 28"/>
          <p:cNvCxnSpPr/>
          <p:nvPr/>
        </p:nvCxnSpPr>
        <p:spPr>
          <a:xfrm rot="-15626">
            <a:off x="8382014" y="283210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" name="Picture 2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2000" y="3143250"/>
            <a:ext cx="203200" cy="203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712200" y="314325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样本修改</a:t>
            </a:r>
            <a:endParaRPr lang="en-US" sz="1100" b="1"/>
          </a:p>
        </p:txBody>
      </p:sp>
      <p:sp>
        <p:nvSpPr>
          <p:cNvPr id="31" name="AutoShape 31"/>
          <p:cNvSpPr/>
          <p:nvPr/>
        </p:nvSpPr>
        <p:spPr>
          <a:xfrm>
            <a:off x="8712200" y="347345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共修正</a:t>
            </a:r>
            <a:r>
              <a:rPr lang="en-US" sz="1300" b="1" i="0" u="none" strike="noStrike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1614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个板块样本。</a:t>
            </a:r>
            <a:endParaRPr lang="en-US" sz="1100" b="1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82000" y="4159250"/>
            <a:ext cx="203200" cy="2032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8712200" y="415925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板块数量变化</a:t>
            </a:r>
            <a:endParaRPr lang="en-US" sz="1100" b="1"/>
          </a:p>
        </p:txBody>
      </p:sp>
      <p:sp>
        <p:nvSpPr>
          <p:cNvPr id="34" name="AutoShape 34"/>
          <p:cNvSpPr/>
          <p:nvPr/>
        </p:nvSpPr>
        <p:spPr>
          <a:xfrm>
            <a:off x="8712200" y="448945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 977 增至</a:t>
            </a:r>
            <a:r>
              <a:rPr lang="en-US" sz="1300" b="1" i="0" u="none" strike="noStrike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1033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个。</a:t>
            </a:r>
            <a:endParaRPr lang="en-US" sz="11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关键设施特征识别</a:t>
            </a:r>
            <a:endParaRPr lang="en-US" sz="1100" b="1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E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处理目标</a:t>
            </a:r>
            <a:endParaRPr lang="en-US" sz="1100" b="1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19199" y="2057400"/>
            <a:ext cx="5324901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从文本字段中提取关键设施信息，生成二分类特征（有</a:t>
            </a:r>
            <a:r>
              <a:rPr lang="en-US" sz="14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/无）。</a:t>
            </a:r>
            <a:endParaRPr lang="en-US" sz="1100" b="1" dirty="0"/>
          </a:p>
        </p:txBody>
      </p:sp>
      <p:cxnSp>
        <p:nvCxnSpPr>
          <p:cNvPr id="7" name="Connector 7"/>
          <p:cNvCxnSpPr/>
          <p:nvPr/>
        </p:nvCxnSpPr>
        <p:spPr>
          <a:xfrm rot="5371352">
            <a:off x="-285845" y="3741881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ECEE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" y="2638945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处理逻辑</a:t>
            </a:r>
            <a:endParaRPr lang="en-US" sz="1100" b="1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55" y="3494205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36555" y="3519605"/>
            <a:ext cx="385170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合并</a:t>
            </a:r>
            <a:r>
              <a:rPr lang="en-US" altLang="zh-CN" sz="14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zh-CN" altLang="en-US" sz="14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个文本字段</a:t>
            </a:r>
            <a:br>
              <a:rPr lang="en-US" sz="1600" i="0" u="none" strike="noStrike" dirty="0"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200" dirty="0">
                <a:latin typeface="quote-cjk-patch"/>
              </a:rPr>
              <a:t>房屋优势、核心卖点、户型介绍、周边配套、交通出行</a:t>
            </a:r>
            <a:endParaRPr lang="en-US" sz="11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155" y="4129205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36555" y="4154605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14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定义关键词</a:t>
            </a:r>
            <a:br>
              <a:rPr lang="en-US" sz="1600" i="0" u="none" strike="noStrike" dirty="0"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200" dirty="0">
                <a:latin typeface="quote-cjk-patch"/>
              </a:rPr>
              <a:t>地铁、医院、幼儿园、公园、广场、大学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0155" y="4764205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136555" y="4789605"/>
            <a:ext cx="385170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14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逐词匹配识别</a:t>
            </a:r>
            <a:br>
              <a:rPr lang="en-US" sz="1600" i="0" u="none" strike="noStrike" dirty="0"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200" dirty="0">
                <a:latin typeface="quote-cjk-patch"/>
              </a:rPr>
              <a:t>在合并文本中搜索关键词，标记为</a:t>
            </a:r>
            <a:r>
              <a:rPr lang="en-US" altLang="zh-CN" sz="1200" dirty="0">
                <a:latin typeface="quote-cjk-patch"/>
              </a:rPr>
              <a:t>"</a:t>
            </a:r>
            <a:r>
              <a:rPr lang="zh-CN" altLang="en-US" sz="1200" dirty="0">
                <a:latin typeface="quote-cjk-patch"/>
              </a:rPr>
              <a:t>有</a:t>
            </a:r>
            <a:r>
              <a:rPr lang="en-US" altLang="zh-CN" sz="1200" dirty="0">
                <a:latin typeface="quote-cjk-patch"/>
              </a:rPr>
              <a:t>"</a:t>
            </a:r>
            <a:r>
              <a:rPr lang="zh-CN" altLang="en-US" sz="1200" dirty="0">
                <a:latin typeface="quote-cjk-patch"/>
              </a:rPr>
              <a:t>或</a:t>
            </a:r>
            <a:r>
              <a:rPr lang="en-US" altLang="zh-CN" sz="1200" dirty="0">
                <a:latin typeface="quote-cjk-patch"/>
              </a:rPr>
              <a:t>"</a:t>
            </a:r>
            <a:r>
              <a:rPr lang="zh-CN" altLang="en-US" sz="1200" dirty="0">
                <a:latin typeface="quote-cjk-patch"/>
              </a:rPr>
              <a:t>无</a:t>
            </a:r>
            <a:r>
              <a:rPr lang="en-US" altLang="zh-CN" sz="1200" dirty="0">
                <a:latin typeface="quote-cjk-patch"/>
              </a:rPr>
              <a:t>"</a:t>
            </a:r>
            <a:endParaRPr lang="en-US" sz="1100" dirty="0"/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E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944436" y="1524000"/>
            <a:ext cx="492229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生成的新特征</a:t>
            </a:r>
            <a:endParaRPr lang="en-US" sz="1100" b="1" dirty="0"/>
          </a:p>
        </p:txBody>
      </p:sp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579364"/>
              </p:ext>
            </p:extLst>
          </p:nvPr>
        </p:nvGraphicFramePr>
        <p:xfrm>
          <a:off x="6696499" y="2266515"/>
          <a:ext cx="4676633" cy="289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50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0033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关键词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C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0033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识别内容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C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0033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特征值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CE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地铁</a:t>
                      </a:r>
                    </a:p>
                  </a:txBody>
                  <a:tcPr marL="87804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地铁、轨道交通</a:t>
                      </a:r>
                    </a:p>
                  </a:txBody>
                  <a:tcPr marL="73170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有</a:t>
                      </a:r>
                      <a:r>
                        <a:rPr lang="en-US" altLang="zh-CN" sz="1700" b="0" dirty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无</a:t>
                      </a:r>
                    </a:p>
                  </a:txBody>
                  <a:tcPr marL="73170" marR="87804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09246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>
                          <a:effectLst/>
                          <a:latin typeface="quote-cjk-patch"/>
                        </a:rPr>
                        <a:t>医院</a:t>
                      </a:r>
                    </a:p>
                  </a:txBody>
                  <a:tcPr marL="87804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医院、医疗、诊所、卫生院</a:t>
                      </a:r>
                    </a:p>
                  </a:txBody>
                  <a:tcPr marL="73170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>
                          <a:effectLst/>
                          <a:latin typeface="quote-cjk-patch"/>
                        </a:rPr>
                        <a:t>有</a:t>
                      </a:r>
                      <a:r>
                        <a:rPr lang="en-US" altLang="zh-CN" sz="1700" b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700" b="0">
                          <a:effectLst/>
                          <a:latin typeface="quote-cjk-patch"/>
                        </a:rPr>
                        <a:t>无</a:t>
                      </a:r>
                    </a:p>
                  </a:txBody>
                  <a:tcPr marL="73170" marR="87804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729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>
                          <a:effectLst/>
                          <a:latin typeface="quote-cjk-patch"/>
                        </a:rPr>
                        <a:t>幼儿园</a:t>
                      </a:r>
                    </a:p>
                  </a:txBody>
                  <a:tcPr marL="87804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幼儿园、幼稚园、托儿所</a:t>
                      </a:r>
                    </a:p>
                  </a:txBody>
                  <a:tcPr marL="73170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>
                          <a:effectLst/>
                          <a:latin typeface="quote-cjk-patch"/>
                        </a:rPr>
                        <a:t>有</a:t>
                      </a:r>
                      <a:r>
                        <a:rPr lang="en-US" altLang="zh-CN" sz="1700" b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700" b="0">
                          <a:effectLst/>
                          <a:latin typeface="quote-cjk-patch"/>
                        </a:rPr>
                        <a:t>无</a:t>
                      </a:r>
                    </a:p>
                  </a:txBody>
                  <a:tcPr marL="73170" marR="87804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90235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公园</a:t>
                      </a:r>
                    </a:p>
                  </a:txBody>
                  <a:tcPr marL="87804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公园、绿地、园林、花园</a:t>
                      </a:r>
                    </a:p>
                  </a:txBody>
                  <a:tcPr marL="73170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>
                          <a:effectLst/>
                          <a:latin typeface="quote-cjk-patch"/>
                        </a:rPr>
                        <a:t>有</a:t>
                      </a:r>
                      <a:r>
                        <a:rPr lang="en-US" altLang="zh-CN" sz="1700" b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700" b="0">
                          <a:effectLst/>
                          <a:latin typeface="quote-cjk-patch"/>
                        </a:rPr>
                        <a:t>无</a:t>
                      </a:r>
                    </a:p>
                  </a:txBody>
                  <a:tcPr marL="73170" marR="87804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19008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>
                          <a:effectLst/>
                          <a:latin typeface="quote-cjk-patch"/>
                        </a:rPr>
                        <a:t>广场</a:t>
                      </a:r>
                    </a:p>
                  </a:txBody>
                  <a:tcPr marL="87804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广场</a:t>
                      </a:r>
                    </a:p>
                  </a:txBody>
                  <a:tcPr marL="73170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>
                          <a:effectLst/>
                          <a:latin typeface="quote-cjk-patch"/>
                        </a:rPr>
                        <a:t>有</a:t>
                      </a:r>
                      <a:r>
                        <a:rPr lang="en-US" altLang="zh-CN" sz="1700" b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700" b="0">
                          <a:effectLst/>
                          <a:latin typeface="quote-cjk-patch"/>
                        </a:rPr>
                        <a:t>无</a:t>
                      </a:r>
                    </a:p>
                  </a:txBody>
                  <a:tcPr marL="73170" marR="87804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32883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>
                          <a:effectLst/>
                          <a:latin typeface="quote-cjk-patch"/>
                        </a:rPr>
                        <a:t>大学</a:t>
                      </a:r>
                    </a:p>
                  </a:txBody>
                  <a:tcPr marL="87804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大学、学院、高校、高等院校</a:t>
                      </a:r>
                    </a:p>
                  </a:txBody>
                  <a:tcPr marL="73170" marR="73170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有</a:t>
                      </a:r>
                      <a:r>
                        <a:rPr lang="en-US" altLang="zh-CN" sz="1700" b="0" dirty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700" b="0" dirty="0">
                          <a:effectLst/>
                          <a:latin typeface="quote-cjk-patch"/>
                        </a:rPr>
                        <a:t>无</a:t>
                      </a:r>
                    </a:p>
                  </a:txBody>
                  <a:tcPr marL="73170" marR="87804" marT="45731" marB="457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SnowNLP 进行纯中文情感分析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E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1992" y="1195601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内置预训练模型</a:t>
            </a:r>
            <a:endParaRPr lang="en-US" sz="11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299" y="1672751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06499" y="1672751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无训练成本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206499" y="2028351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省去数据标注、模型训练、调参的复杂过程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299" y="235675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499" y="235675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零配置启动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499" y="271235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无需准备训练集和测试集，安装即可使用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14" name="Connector 14"/>
          <p:cNvCxnSpPr/>
          <p:nvPr/>
        </p:nvCxnSpPr>
        <p:spPr>
          <a:xfrm rot="5388540">
            <a:off x="3757699" y="3460761"/>
            <a:ext cx="3810000" cy="127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AutoShape 15"/>
          <p:cNvSpPr/>
          <p:nvPr/>
        </p:nvSpPr>
        <p:spPr>
          <a:xfrm>
            <a:off x="6251812" y="1206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朴素贝叶斯情感分析</a:t>
            </a:r>
            <a:endParaRPr lang="en-US" sz="11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082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34200" y="2082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1. 分词处理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34200" y="24384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将中文句子切分为独立的词语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022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34200" y="3022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2. 特征提取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34200" y="33782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基于词频统计构建特征向量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9624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34200" y="3962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3. 概率计算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934200" y="4318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分别计算句子属于积极和消极情感的概率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50292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34200" y="5029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4. 情感得分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934200" y="53848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sentiments = 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积极概率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/ (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积极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消极概率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68352AA-056B-1D62-5676-5CB8F2614D94}"/>
              </a:ext>
            </a:extLst>
          </p:cNvPr>
          <p:cNvSpPr txBox="1"/>
          <p:nvPr/>
        </p:nvSpPr>
        <p:spPr>
          <a:xfrm>
            <a:off x="960202" y="5067604"/>
            <a:ext cx="3766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inherit"/>
              </a:rPr>
              <a:t>Rent Model Performance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BAA5E3-D609-84AE-D852-FA9F8FF2E7AD}"/>
              </a:ext>
            </a:extLst>
          </p:cNvPr>
          <p:cNvSpPr txBox="1"/>
          <p:nvPr/>
        </p:nvSpPr>
        <p:spPr>
          <a:xfrm>
            <a:off x="252498" y="3340787"/>
            <a:ext cx="4474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inherit"/>
              </a:rPr>
              <a:t>House Price Model Performance</a:t>
            </a:r>
          </a:p>
        </p:txBody>
      </p:sp>
      <p:pic>
        <p:nvPicPr>
          <p:cNvPr id="31" name="图片 30" descr="文本&#10;&#10;AI 生成的内容可能不正确。">
            <a:extLst>
              <a:ext uri="{FF2B5EF4-FFF2-40B4-BE49-F238E27FC236}">
                <a16:creationId xmlns:a16="http://schemas.microsoft.com/office/drawing/2014/main" id="{D6B849BE-9B44-2304-E7B0-6BE04ACAF9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2500" y="3817705"/>
            <a:ext cx="4474191" cy="1323858"/>
          </a:xfrm>
          <a:prstGeom prst="rect">
            <a:avLst/>
          </a:prstGeom>
        </p:spPr>
      </p:pic>
      <p:pic>
        <p:nvPicPr>
          <p:cNvPr id="32" name="图片 31" descr="表格&#10;&#10;AI 生成的内容可能不正确。">
            <a:extLst>
              <a:ext uri="{FF2B5EF4-FFF2-40B4-BE49-F238E27FC236}">
                <a16:creationId xmlns:a16="http://schemas.microsoft.com/office/drawing/2014/main" id="{DF53AAA3-051D-3D72-CD77-AB369FF490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2499" y="5467654"/>
            <a:ext cx="4474191" cy="1361905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DD625647-E9FA-9F3D-68B8-BC3DF6F3A843}"/>
              </a:ext>
            </a:extLst>
          </p:cNvPr>
          <p:cNvSpPr txBox="1"/>
          <p:nvPr/>
        </p:nvSpPr>
        <p:spPr>
          <a:xfrm>
            <a:off x="6005015" y="6128266"/>
            <a:ext cx="465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Kaggle:   67.3  -  75.0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6278B7-1405-2A1E-3F72-83C8CCCDFB64}"/>
              </a:ext>
            </a:extLst>
          </p:cNvPr>
          <p:cNvSpPr/>
          <p:nvPr/>
        </p:nvSpPr>
        <p:spPr>
          <a:xfrm>
            <a:off x="50006" y="4794250"/>
            <a:ext cx="202494" cy="103188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126C80-416A-1D5F-3A97-F42B5F6569F9}"/>
              </a:ext>
            </a:extLst>
          </p:cNvPr>
          <p:cNvSpPr/>
          <p:nvPr/>
        </p:nvSpPr>
        <p:spPr>
          <a:xfrm>
            <a:off x="50006" y="6446004"/>
            <a:ext cx="202494" cy="103188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</Template>
  <TotalTime>256</TotalTime>
  <Words>267</Words>
  <Application>Microsoft Office PowerPoint</Application>
  <PresentationFormat>宽屏</PresentationFormat>
  <Paragraphs>72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Arimo Bold</vt:lpstr>
      <vt:lpstr>Calibri (MS) Bold</vt:lpstr>
      <vt:lpstr>inherit</vt:lpstr>
      <vt:lpstr>Noto Sans SC</vt:lpstr>
      <vt:lpstr>quote-cjk-patch</vt:lpstr>
      <vt:lpstr>等线</vt:lpstr>
      <vt:lpstr>等线 Light</vt:lpstr>
      <vt:lpstr>华文中宋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jiale he</dc:creator>
  <cp:lastModifiedBy>jiale he</cp:lastModifiedBy>
  <cp:revision>13</cp:revision>
  <dcterms:created xsi:type="dcterms:W3CDTF">2025-12-20T17:45:21Z</dcterms:created>
  <dcterms:modified xsi:type="dcterms:W3CDTF">2025-12-25T15:40:51Z</dcterms:modified>
</cp:coreProperties>
</file>