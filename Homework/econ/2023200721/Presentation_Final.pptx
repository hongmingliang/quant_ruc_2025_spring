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61" r:id="rId3"/>
    <p:sldId id="260" r:id="rId4"/>
    <p:sldId id="258" r:id="rId5"/>
    <p:sldId id="259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人工智能与</a:t>
            </a:r>
            <a:r>
              <a:rPr lang="en-US" altLang="zh-CN"/>
              <a:t>python</a:t>
            </a:r>
            <a:r>
              <a:rPr lang="zh-CN" altLang="en-US"/>
              <a:t>期末汇报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1600"/>
              <a:t>李昕芮</a:t>
            </a:r>
            <a:r>
              <a:rPr lang="en-US" altLang="zh-CN" sz="1600"/>
              <a:t> 2023200721</a:t>
            </a:r>
            <a:endParaRPr lang="en-US" altLang="zh-CN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 Performance Table (Rent / Price)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828800"/>
                <a:gridCol w="73152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Out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CV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Kaggle Score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OLS (Midterm)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128,062 / 804,203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133,338 / 799,431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132,209 / 853,508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33.1</a:t>
                      </a:r>
                      <a:endParaRPr lang="en-US"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62,791 / 207,624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185,355 / 542,989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————/————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75.7</a:t>
                      </a:r>
                      <a:endParaRPr lang="en-US"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NLP (TF-IDF + Ridge)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————/————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————/————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 sz="1200">
                          <a:sym typeface="+mn-ea"/>
                        </a:rPr>
                        <a:t>622,200</a:t>
                      </a:r>
                      <a:r>
                        <a:rPr sz="1200">
                          <a:sym typeface="+mn-ea"/>
                        </a:rPr>
                        <a:t> / 2,491,951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</a:t>
                      </a:r>
                      <a:endParaRPr lang="en-US"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115,320 / 358,039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178,345 / 476,375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265,520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1,050,722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165,677 / 526,137</a:t>
                      </a:r>
                      <a:endParaRPr sz="1200">
                        <a:sym typeface="+mn-ea"/>
                      </a:endParaRPr>
                    </a:p>
                    <a:p>
                      <a:pPr>
                        <a:defRPr sz="1200"/>
                      </a:pP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</a:t>
                      </a:r>
                      <a:endParaRPr lang="en-US"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84,759 / 264,031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178,610</a:t>
                      </a:r>
                      <a:r>
                        <a:rPr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500,261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259,533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1,031,338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162,019 / 520,964</a:t>
                      </a:r>
                      <a:endParaRPr sz="1200">
                        <a:sym typeface="+mn-ea"/>
                      </a:endParaRPr>
                    </a:p>
                    <a:p>
                      <a:pPr>
                        <a:defRPr sz="1200"/>
                      </a:pP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</a:t>
                      </a:r>
                      <a:endParaRPr lang="en-US"/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Blend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93,373</a:t>
                      </a:r>
                      <a:r>
                        <a:rPr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292,956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175,692</a:t>
                      </a:r>
                      <a:r>
                        <a:rPr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474,789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256,183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1,004,055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160,094 / 507,032</a:t>
                      </a:r>
                      <a:endParaRPr sz="1200">
                        <a:sym typeface="+mn-ea"/>
                      </a:endParaRPr>
                    </a:p>
                    <a:p>
                      <a:pPr>
                        <a:defRPr sz="1200"/>
                      </a:pP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70.8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Price Model SHAP Interpretation (Top 10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CatBoost SHAP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2743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</a:tblGrid>
              <a:tr h="299258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|SHAP|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建筑面积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0.2335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coord_x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0.1283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0.0765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房屋总数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0.0765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dist_center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0.0738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环线位置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0.0734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coord_y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0.0728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物 业 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0.0437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0.0435</a:t>
                      </a:r>
                    </a:p>
                  </a:txBody>
                  <a:tcPr/>
                </a:tc>
              </a:tr>
              <a:tr h="299260">
                <a:tc>
                  <a:txBody>
                    <a:bodyPr/>
                    <a:lstStyle/>
                    <a:p>
                      <a:r>
                        <a:t>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0" y="868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LightGBM SHAP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1188720"/>
          <a:ext cx="2743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</a:tblGrid>
              <a:tr h="299258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|SHAP|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0.2769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0.2015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0.1191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0.0966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0.0918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0.0420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0.0396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0.0382</a:t>
                      </a:r>
                    </a:p>
                  </a:txBody>
                  <a:tcPr/>
                </a:tc>
              </a:tr>
              <a:tr h="299260">
                <a:tc>
                  <a:txBody>
                    <a:bodyPr/>
                    <a:lstStyle/>
                    <a:p>
                      <a:r>
                        <a:t>f17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0.0376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868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Blend SHAP (Final Model)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188720"/>
          <a:ext cx="2743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</a:tblGrid>
              <a:tr h="299258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|SHAP|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0.1558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0.1134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建筑面积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0.1022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0.0670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coord_x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0.0561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0.0544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0.0517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0.0335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房屋总数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0.0335</a:t>
                      </a:r>
                    </a:p>
                  </a:txBody>
                  <a:tcPr/>
                </a:tc>
              </a:tr>
              <a:tr h="299260">
                <a:tc>
                  <a:txBody>
                    <a:bodyPr/>
                    <a:lstStyle/>
                    <a:p>
                      <a:r>
                        <a:t>dist_center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103"/>
            <a:ext cx="8229600" cy="1143000"/>
          </a:xfrm>
        </p:spPr>
        <p:txBody>
          <a:bodyPr/>
          <a:lstStyle/>
          <a:p>
            <a:r>
              <a:rPr lang="en-US" sz="3200"/>
              <a:t>Innovation</a:t>
            </a:r>
            <a:r>
              <a:rPr lang="en-US" sz="3200"/>
              <a:t>s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1420"/>
            <a:ext cx="8229600" cy="4925060"/>
          </a:xfrm>
        </p:spPr>
        <p:txBody>
          <a:bodyPr/>
          <a:lstStyle/>
          <a:p>
            <a:pPr>
              <a:defRPr sz="1600" b="1"/>
            </a:pPr>
            <a:r>
              <a:t>OOF + GroupKFold 交叉验证</a:t>
            </a:r>
          </a:p>
          <a:p>
            <a:pPr lvl="1">
              <a:defRPr sz="1400"/>
            </a:pPr>
            <a:r>
              <a:t>• 使用 Out-of-Fold (OOF) 预测进行模型评估，避免信息泄露</a:t>
            </a:r>
          </a:p>
          <a:p>
            <a:pPr lvl="1">
              <a:defRPr sz="1400"/>
            </a:pPr>
            <a:r>
              <a:t>• 以“板块/区域”为分组变量使用 GroupKFold，更贴近真实业务场景</a:t>
            </a:r>
          </a:p>
          <a:p>
            <a:pPr lvl="1">
              <a:defRPr sz="1400"/>
            </a:pPr>
            <a:r>
              <a:t>• 相比随机 KFold，CV RMSE 更保守但更可信</a:t>
            </a:r>
          </a:p>
          <a:p>
            <a:pPr lvl="1">
              <a:defRPr sz="1400"/>
            </a:pPr>
          </a:p>
          <a:p>
            <a:pPr marL="457200" lvl="1" indent="0">
              <a:buNone/>
              <a:defRPr sz="1400"/>
            </a:pPr>
          </a:p>
          <a:p>
            <a:pPr>
              <a:defRPr sz="1600" b="1"/>
            </a:pPr>
            <a:r>
              <a:t>CatBoost + LightGBM 融合模型</a:t>
            </a:r>
          </a:p>
          <a:p>
            <a:pPr lvl="1">
              <a:defRPr sz="1400"/>
            </a:pPr>
            <a:r>
              <a:t>• CatBoost 擅长处理高基数类别特征，减少人工编码偏差</a:t>
            </a:r>
          </a:p>
          <a:p>
            <a:pPr lvl="1">
              <a:defRPr sz="1400"/>
            </a:pPr>
            <a:r>
              <a:t>• LightGBM 擅长高维稀疏与数值特征建模</a:t>
            </a:r>
          </a:p>
          <a:p>
            <a:pPr lvl="1">
              <a:defRPr sz="1400"/>
            </a:pPr>
            <a:r>
              <a:t>• 基于 OOF 结果进行线性加权融合，利用模型误差互补</a:t>
            </a:r>
          </a:p>
          <a:p>
            <a:pPr lvl="1">
              <a:defRPr sz="1400"/>
            </a:pPr>
          </a:p>
          <a:p>
            <a:pPr marL="457200" lvl="1" indent="0">
              <a:buNone/>
              <a:defRPr sz="1400"/>
            </a:pPr>
          </a:p>
          <a:p>
            <a:pPr>
              <a:defRPr sz="1600" b="1"/>
            </a:pPr>
            <a:r>
              <a:t>NLP 作为可插拔模块的消融实验</a:t>
            </a:r>
          </a:p>
          <a:p>
            <a:pPr lvl="1">
              <a:defRPr sz="1400"/>
            </a:pPr>
            <a:r>
              <a:t>• 使用 TF-IDF + Ridge 作为文本信息的基线建模</a:t>
            </a:r>
          </a:p>
          <a:p>
            <a:pPr lvl="1">
              <a:defRPr sz="1400"/>
            </a:pPr>
            <a:r>
              <a:t>• 通过消融实验评估 NLP 对整体性能的边际贡献</a:t>
            </a:r>
          </a:p>
          <a:p>
            <a:pPr lvl="1">
              <a:defRPr sz="1400"/>
            </a:pPr>
            <a:r>
              <a:t>• 未强行加入最终融合，避免噪声特征降低模型稳定性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Thanks</a:t>
            </a:r>
            <a:r>
              <a:rPr lang="zh-CN" altLang="en-US"/>
              <a:t>！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1330</Words>
  <Application>WPS 表格</Application>
  <PresentationFormat>On-screen Show (4:3)</PresentationFormat>
  <Paragraphs>243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Office Theme</vt:lpstr>
      <vt:lpstr>人工智能与python期末汇报</vt:lpstr>
      <vt:lpstr>Model Performance Table (Rent / Price)</vt:lpstr>
      <vt:lpstr>PowerPoint 演示文稿</vt:lpstr>
      <vt:lpstr>Innovations</vt:lpstr>
      <vt:lpstr>Thanks！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涼</cp:lastModifiedBy>
  <cp:revision>6</cp:revision>
  <dcterms:created xsi:type="dcterms:W3CDTF">2025-12-25T22:49:05Z</dcterms:created>
  <dcterms:modified xsi:type="dcterms:W3CDTF">2025-12-25T22:49:05Z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DBB1C286F507DA97AB5E4D695E5173E7_43</vt:lpwstr>
  </property>
</Properties>
</file>