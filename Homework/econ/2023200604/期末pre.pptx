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4"/>
  </p:notesMasterIdLst>
  <p:sldIdLst>
    <p:sldId id="314" r:id="rId3"/>
    <p:sldId id="319" r:id="rId5"/>
    <p:sldId id="32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1E2D"/>
    <a:srgbClr val="91001E"/>
    <a:srgbClr val="FC1414"/>
    <a:srgbClr val="FC14F7"/>
    <a:srgbClr val="981E2D"/>
    <a:srgbClr val="FFFFFF"/>
    <a:srgbClr val="AE0B2A"/>
    <a:srgbClr val="EEE2E7"/>
    <a:srgbClr val="951E2B"/>
    <a:srgbClr val="FAC6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76" autoAdjust="0"/>
    <p:restoredTop sz="94674" autoAdjust="0"/>
  </p:normalViewPr>
  <p:slideViewPr>
    <p:cSldViewPr snapToGrid="0">
      <p:cViewPr varScale="1">
        <p:scale>
          <a:sx n="73" d="100"/>
          <a:sy n="73" d="100"/>
        </p:scale>
        <p:origin x="410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FF78EB-BD73-41C0-8F71-BC307B0B7D7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F1E881-1E51-4667-8484-082D6CB2721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zh-CN" dirty="0"/>
              <a:t>In 2023, the city of Zibo became an unexpected tourist sensation. The word "Unexpected" here </a:t>
            </a:r>
            <a:r>
              <a:rPr lang="en-US" altLang="zh-CN" dirty="0" err="1"/>
              <a:t>actualy</a:t>
            </a:r>
            <a:r>
              <a:rPr lang="en-US" altLang="zh-CN" dirty="0"/>
              <a:t> indicates the great difficulty for a conventional city lack of tourism </a:t>
            </a:r>
            <a:r>
              <a:rPr lang="en-US" altLang="zh-CN" dirty="0" err="1"/>
              <a:t>attrations</a:t>
            </a:r>
            <a:r>
              <a:rPr lang="en-US" altLang="zh-CN" dirty="0"/>
              <a:t> to develop its tourism industry". </a:t>
            </a:r>
            <a:endParaRPr lang="en-US" altLang="zh-CN" dirty="0"/>
          </a:p>
          <a:p>
            <a:pPr marL="171450" indent="-171450">
              <a:buFontTx/>
              <a:buChar char="-"/>
            </a:pPr>
            <a:r>
              <a:rPr lang="en-US" altLang="zh-CN" dirty="0"/>
              <a:t>This is also the question hung in our minds from the very first class of the </a:t>
            </a:r>
            <a:r>
              <a:rPr lang="en-US" altLang="zh-CN" dirty="0" err="1"/>
              <a:t>curriculm</a:t>
            </a:r>
            <a:r>
              <a:rPr lang="en-US" altLang="zh-CN" dirty="0"/>
              <a:t>. After our investigation and greatly Thanks to Professor Su, now we seem to find some ideas to share. </a:t>
            </a:r>
            <a:endParaRPr lang="en-US" altLang="zh-CN" dirty="0"/>
          </a:p>
          <a:p>
            <a:pPr marL="171450" indent="-171450">
              <a:buFontTx/>
              <a:buChar char="-"/>
            </a:pPr>
            <a:r>
              <a:rPr lang="en-US" altLang="zh-CN" dirty="0"/>
              <a:t>I'm , First introduce my </a:t>
            </a:r>
            <a:r>
              <a:rPr lang="en-US" altLang="zh-CN" dirty="0" err="1"/>
              <a:t>teamates</a:t>
            </a:r>
            <a:r>
              <a:rPr lang="en-US" altLang="zh-CN" dirty="0"/>
              <a:t>: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F1E881-1E51-4667-8484-082D6CB272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F1E881-1E51-4667-8484-082D6CB272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F1E881-1E51-4667-8484-082D6CB2721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584B-65A2-144F-BB35-EA9B8103EC9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C4F98-EB8F-2649-9827-6F3FC825C7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584B-65A2-144F-BB35-EA9B8103EC9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C4F98-EB8F-2649-9827-6F3FC825C7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584B-65A2-144F-BB35-EA9B8103EC9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C4F98-EB8F-2649-9827-6F3FC825C7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584B-65A2-144F-BB35-EA9B8103EC9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C4F98-EB8F-2649-9827-6F3FC825C7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584B-65A2-144F-BB35-EA9B8103EC9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C4F98-EB8F-2649-9827-6F3FC825C7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584B-65A2-144F-BB35-EA9B8103EC9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C4F98-EB8F-2649-9827-6F3FC825C7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584B-65A2-144F-BB35-EA9B8103EC9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C4F98-EB8F-2649-9827-6F3FC825C7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584B-65A2-144F-BB35-EA9B8103EC9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C4F98-EB8F-2649-9827-6F3FC825C7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584B-65A2-144F-BB35-EA9B8103EC9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C4F98-EB8F-2649-9827-6F3FC825C7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584B-65A2-144F-BB35-EA9B8103EC9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C4F98-EB8F-2649-9827-6F3FC825C7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584B-65A2-144F-BB35-EA9B8103EC9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C4F98-EB8F-2649-9827-6F3FC825C7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2B584B-65A2-144F-BB35-EA9B8103EC9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4F98-EB8F-2649-9827-6F3FC825C75A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6402422"/>
            <a:ext cx="12192000" cy="455577"/>
          </a:xfrm>
          <a:prstGeom prst="rect">
            <a:avLst/>
          </a:prstGeom>
          <a:solidFill>
            <a:srgbClr val="981E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123847" y="1758777"/>
            <a:ext cx="984941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951E2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期末</a:t>
            </a:r>
            <a:r>
              <a:rPr lang="en-US" altLang="zh-CN" sz="4000" b="1" dirty="0">
                <a:solidFill>
                  <a:srgbClr val="951E2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pre</a:t>
            </a:r>
            <a:endParaRPr lang="en-US" altLang="zh-CN" sz="4000" b="1" dirty="0">
              <a:solidFill>
                <a:srgbClr val="951E2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381370" y="3544438"/>
            <a:ext cx="542925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路畅宇</a:t>
            </a:r>
            <a:endParaRPr kumimoji="1" lang="en-US" altLang="zh-CN" sz="1600" b="1" dirty="0">
              <a:latin typeface="Arial" panose="020B0604020202090204" pitchFamily="34" charset="0"/>
              <a:ea typeface="微软雅黑" panose="020B0503020204020204" pitchFamily="34" charset="-122"/>
              <a:cs typeface="Arial" panose="020B0604020202090204" pitchFamily="34" charset="0"/>
            </a:endParaRPr>
          </a:p>
          <a:p>
            <a:pPr algn="ctr"/>
            <a:endParaRPr kumimoji="1" lang="en-US" altLang="zh-CN" sz="1600" b="1" dirty="0">
              <a:latin typeface="Arial" panose="020B0604020202090204" pitchFamily="34" charset="0"/>
              <a:ea typeface="微软雅黑" panose="020B0503020204020204" pitchFamily="34" charset="-122"/>
              <a:cs typeface="Arial" panose="020B0604020202090204" pitchFamily="34" charset="0"/>
            </a:endParaRPr>
          </a:p>
          <a:p>
            <a:pPr algn="ctr"/>
            <a:r>
              <a:rPr kumimoji="1" lang="en-US" altLang="zh-CN" sz="1600" b="1" dirty="0">
                <a:solidFill>
                  <a:srgbClr val="951E2B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Renmin University of China</a:t>
            </a:r>
            <a:endParaRPr kumimoji="1" lang="en-US" altLang="zh-CN" sz="1600" b="1" dirty="0">
              <a:solidFill>
                <a:srgbClr val="951E2B"/>
              </a:solidFill>
              <a:latin typeface="Arial" panose="020B0604020202090204" pitchFamily="34" charset="0"/>
              <a:ea typeface="微软雅黑" panose="020B0503020204020204" pitchFamily="34" charset="-122"/>
              <a:cs typeface="Arial" panose="020B0604020202090204" pitchFamily="34" charset="0"/>
            </a:endParaRPr>
          </a:p>
          <a:p>
            <a:pPr algn="ctr"/>
            <a:endParaRPr kumimoji="1" lang="en-US" altLang="zh-CN" sz="1600" b="1" dirty="0">
              <a:solidFill>
                <a:srgbClr val="951E2B"/>
              </a:solidFill>
              <a:latin typeface="Arial" panose="020B0604020202090204" pitchFamily="34" charset="0"/>
              <a:ea typeface="微软雅黑" panose="020B0503020204020204" pitchFamily="34" charset="-122"/>
              <a:cs typeface="Arial" panose="020B0604020202090204" pitchFamily="34" charset="0"/>
            </a:endParaRPr>
          </a:p>
          <a:p>
            <a:pPr algn="ctr"/>
            <a:endParaRPr kumimoji="1" lang="en-US" altLang="zh-CN" sz="1600" b="1" dirty="0">
              <a:solidFill>
                <a:srgbClr val="951E2B"/>
              </a:solidFill>
              <a:latin typeface="Arial" panose="020B0604020202090204" pitchFamily="34" charset="0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pic>
        <p:nvPicPr>
          <p:cNvPr id="3" name="Picture 1510" descr="E:\徐振杰\进行中\高校\人大ppt\jpg\01\01.png"/>
          <p:cNvPicPr>
            <a:picLocks noChangeAspect="1" noChangeArrowheads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65"/>
          <a:stretch>
            <a:fillRect/>
          </a:stretch>
        </p:blipFill>
        <p:spPr bwMode="auto">
          <a:xfrm flipH="1">
            <a:off x="9700800" y="2544555"/>
            <a:ext cx="2491200" cy="4576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任意多边形: 形状 15"/>
          <p:cNvSpPr/>
          <p:nvPr/>
        </p:nvSpPr>
        <p:spPr>
          <a:xfrm>
            <a:off x="10406060" y="0"/>
            <a:ext cx="1140052" cy="1200665"/>
          </a:xfrm>
          <a:custGeom>
            <a:avLst/>
            <a:gdLst>
              <a:gd name="connsiteX0" fmla="*/ 0 w 1140052"/>
              <a:gd name="connsiteY0" fmla="*/ 0 h 1200665"/>
              <a:gd name="connsiteX1" fmla="*/ 1140052 w 1140052"/>
              <a:gd name="connsiteY1" fmla="*/ 0 h 1200665"/>
              <a:gd name="connsiteX2" fmla="*/ 1140051 w 1140052"/>
              <a:gd name="connsiteY2" fmla="*/ 630639 h 1200665"/>
              <a:gd name="connsiteX3" fmla="*/ 570025 w 1140052"/>
              <a:gd name="connsiteY3" fmla="*/ 1200665 h 1200665"/>
              <a:gd name="connsiteX4" fmla="*/ 570026 w 1140052"/>
              <a:gd name="connsiteY4" fmla="*/ 1200664 h 1200665"/>
              <a:gd name="connsiteX5" fmla="*/ 0 w 1140052"/>
              <a:gd name="connsiteY5" fmla="*/ 630638 h 120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0052" h="1200665">
                <a:moveTo>
                  <a:pt x="0" y="0"/>
                </a:moveTo>
                <a:lnTo>
                  <a:pt x="1140052" y="0"/>
                </a:lnTo>
                <a:lnTo>
                  <a:pt x="1140051" y="630639"/>
                </a:lnTo>
                <a:cubicBezTo>
                  <a:pt x="1140051" y="945456"/>
                  <a:pt x="884842" y="1200665"/>
                  <a:pt x="570025" y="1200665"/>
                </a:cubicBezTo>
                <a:lnTo>
                  <a:pt x="570026" y="1200664"/>
                </a:lnTo>
                <a:cubicBezTo>
                  <a:pt x="255209" y="1200664"/>
                  <a:pt x="0" y="945455"/>
                  <a:pt x="0" y="630638"/>
                </a:cubicBezTo>
                <a:close/>
              </a:path>
            </a:pathLst>
          </a:custGeom>
          <a:solidFill>
            <a:srgbClr val="981E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485" y="406658"/>
            <a:ext cx="609554" cy="605882"/>
          </a:xfrm>
          <a:prstGeom prst="rect">
            <a:avLst/>
          </a:prstGeom>
        </p:spPr>
      </p:pic>
      <p:pic>
        <p:nvPicPr>
          <p:cNvPr id="21" name="Picture 1510" descr="E:\徐振杰\进行中\高校\人大ppt\jpg\01\01.png"/>
          <p:cNvPicPr>
            <a:picLocks noChangeAspect="1" noChangeArrowheads="1"/>
          </p:cNvPicPr>
          <p:nvPr/>
        </p:nvPicPr>
        <p:blipFill rotWithShape="1">
          <a:blip r:embed="rId1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8"/>
          <a:stretch>
            <a:fillRect/>
          </a:stretch>
        </p:blipFill>
        <p:spPr bwMode="auto">
          <a:xfrm rot="2003816">
            <a:off x="-917265" y="1475714"/>
            <a:ext cx="3028424" cy="3906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文本框 12"/>
          <p:cNvSpPr txBox="1"/>
          <p:nvPr/>
        </p:nvSpPr>
        <p:spPr>
          <a:xfrm>
            <a:off x="-2161309" y="6451342"/>
            <a:ext cx="16209818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6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微软雅黑" panose="020B0503020204020204" pitchFamily="34" charset="-122"/>
              <a:cs typeface="Arial" panose="020B060402020209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en-US" altLang="zh-CN" sz="16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493520" cy="6858000"/>
          </a:xfrm>
          <a:prstGeom prst="rect">
            <a:avLst/>
          </a:prstGeom>
          <a:solidFill>
            <a:srgbClr val="981E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0" name="直线连接符 49"/>
          <p:cNvCxnSpPr/>
          <p:nvPr/>
        </p:nvCxnSpPr>
        <p:spPr>
          <a:xfrm>
            <a:off x="1909388" y="1030637"/>
            <a:ext cx="9847183" cy="0"/>
          </a:xfrm>
          <a:prstGeom prst="line">
            <a:avLst/>
          </a:prstGeom>
          <a:ln w="12700">
            <a:solidFill>
              <a:schemeClr val="accent1">
                <a:alpha val="5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>
            <a:off x="1909388" y="428793"/>
            <a:ext cx="9819807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500" b="1" dirty="0">
                <a:solidFill>
                  <a:srgbClr val="951E2B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结果</a:t>
            </a:r>
            <a:endParaRPr kumimoji="1" lang="zh-CN" altLang="en-US" sz="2500" b="1" dirty="0">
              <a:solidFill>
                <a:srgbClr val="951E2B"/>
              </a:solidFill>
              <a:latin typeface="Arial" panose="020B0604020202090204" pitchFamily="34" charset="0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2" name="灯片编号占位符 32"/>
          <p:cNvSpPr txBox="1"/>
          <p:nvPr/>
        </p:nvSpPr>
        <p:spPr>
          <a:xfrm>
            <a:off x="11546112" y="6417355"/>
            <a:ext cx="6458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E8E1B5DB-024D-D44B-8941-7F375DE6A1ED}" type="slidenum">
              <a:rPr kumimoji="1" lang="zh-CN" altLang="en-US" b="1" smtClean="0">
                <a:solidFill>
                  <a:schemeClr val="accent1"/>
                </a:solidFill>
                <a:latin typeface="Arial" panose="020B0604020202090204" pitchFamily="34" charset="0"/>
                <a:cs typeface="Arial" panose="020B0604020202090204" pitchFamily="34" charset="0"/>
              </a:rPr>
            </a:fld>
            <a:endParaRPr kumimoji="1" lang="zh-CN" altLang="en-US" b="1" dirty="0">
              <a:solidFill>
                <a:schemeClr val="accent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30" name="图片 29" descr="徽标, 公司名称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868" y="217673"/>
            <a:ext cx="1139282" cy="1139282"/>
          </a:xfrm>
          <a:prstGeom prst="rect">
            <a:avLst/>
          </a:prstGeom>
        </p:spPr>
      </p:pic>
      <p:sp>
        <p:nvSpPr>
          <p:cNvPr id="12" name="矩形 16"/>
          <p:cNvSpPr/>
          <p:nvPr/>
        </p:nvSpPr>
        <p:spPr>
          <a:xfrm>
            <a:off x="2527633" y="5344924"/>
            <a:ext cx="2408031" cy="930137"/>
          </a:xfrm>
          <a:prstGeom prst="rect">
            <a:avLst/>
          </a:prstGeom>
          <a:solidFill>
            <a:schemeClr val="bg1"/>
          </a:solidFill>
          <a:ln w="15875">
            <a:noFill/>
            <a:prstDash val="dash"/>
          </a:ln>
          <a:effectLst>
            <a:outerShdw blurRad="127000" sx="102000" sy="102000" algn="ctr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ource Han Sans CN Medium" panose="020B0500000000000000" pitchFamily="34" charset="-128"/>
              <a:ea typeface="Source Han Sans CN Regular" panose="020B0500000000000000" pitchFamily="34" charset="-128"/>
            </a:endParaRPr>
          </a:p>
        </p:txBody>
      </p:sp>
      <p:sp>
        <p:nvSpPr>
          <p:cNvPr id="103" name="文本框 372"/>
          <p:cNvSpPr txBox="1"/>
          <p:nvPr/>
        </p:nvSpPr>
        <p:spPr>
          <a:xfrm>
            <a:off x="6149260" y="5145949"/>
            <a:ext cx="8002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Han Sans CN Medium" panose="020B0500000000000000" pitchFamily="34" charset="-128"/>
                <a:ea typeface="Source Han Sans CN Medium" panose="020B0500000000000000" pitchFamily="34" charset="-128"/>
              </a:rPr>
              <a:t>理念先导</a:t>
            </a:r>
            <a:endParaRPr kumimoji="0" lang="zh-CN" altLang="en-US" sz="12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Han Sans CN Medium" panose="020B0500000000000000" pitchFamily="34" charset="-128"/>
              <a:ea typeface="Source Han Sans CN Medium" panose="020B0500000000000000" pitchFamily="34" charset="-128"/>
            </a:endParaRPr>
          </a:p>
        </p:txBody>
      </p:sp>
      <p:sp>
        <p:nvSpPr>
          <p:cNvPr id="104" name="文本框 373"/>
          <p:cNvSpPr txBox="1"/>
          <p:nvPr/>
        </p:nvSpPr>
        <p:spPr>
          <a:xfrm>
            <a:off x="9998394" y="5251869"/>
            <a:ext cx="1547718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457200">
              <a:defRPr/>
            </a:pPr>
            <a:r>
              <a:rPr lang="en-US" altLang="zh-CN" sz="1400" b="1" dirty="0">
                <a:solidFill>
                  <a:srgbClr val="FFFFFF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rPr>
              <a:t>Kagle Score:</a:t>
            </a:r>
            <a:endParaRPr kumimoji="0" lang="zh-CN" altLang="en-US" sz="1400" b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Han Sans CN Medium" panose="020B0500000000000000" pitchFamily="34" charset="-128"/>
              <a:ea typeface="Source Han Sans CN Medium" panose="020B0500000000000000" pitchFamily="34" charset="-128"/>
            </a:endParaRPr>
          </a:p>
        </p:txBody>
      </p:sp>
      <p:pic>
        <p:nvPicPr>
          <p:cNvPr id="5" name="图片 4" descr="2771766653931_.p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585" y="1235075"/>
            <a:ext cx="4586605" cy="260794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445" y="4142105"/>
            <a:ext cx="4487545" cy="261937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703060" y="3843020"/>
            <a:ext cx="502602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这个重要性衡量的是：某个变量在森林里被用来做了多少次</a:t>
            </a:r>
            <a:r>
              <a:rPr lang="en-US" altLang="zh-CN"/>
              <a:t>‘</a:t>
            </a:r>
            <a:r>
              <a:rPr lang="zh-CN" altLang="en-US"/>
              <a:t>有效分裂</a:t>
            </a:r>
            <a:r>
              <a:rPr lang="en-US" altLang="zh-CN"/>
              <a:t>’</a:t>
            </a:r>
            <a:r>
              <a:rPr lang="zh-CN" altLang="en-US"/>
              <a:t>，以及这些分裂一共带来了多少误差下降</a:t>
            </a:r>
            <a:r>
              <a:rPr lang="en-US" altLang="zh-CN"/>
              <a:t>，</a:t>
            </a:r>
            <a:r>
              <a:rPr lang="zh-CN" altLang="en-US"/>
              <a:t>另外这张重要性更偏向解释相对价格差异，</a:t>
            </a:r>
            <a:endParaRPr lang="zh-CN" altLang="en-US"/>
          </a:p>
          <a:p>
            <a:r>
              <a:rPr lang="zh-CN" altLang="en-US"/>
              <a:t>规模层：建筑面积等</a:t>
            </a:r>
            <a:r>
              <a:rPr lang="en-US" altLang="zh-CN"/>
              <a:t>“</a:t>
            </a:r>
            <a:r>
              <a:rPr lang="zh-CN" altLang="en-US"/>
              <a:t>数量型属性</a:t>
            </a:r>
            <a:r>
              <a:rPr lang="en-US" altLang="zh-CN"/>
              <a:t>”</a:t>
            </a:r>
            <a:r>
              <a:rPr lang="zh-CN" altLang="en-US"/>
              <a:t>是基本盘</a:t>
            </a:r>
            <a:endParaRPr lang="zh-CN" altLang="en-US"/>
          </a:p>
          <a:p>
            <a:r>
              <a:rPr lang="zh-CN" altLang="en-US"/>
              <a:t>位置层：经纬度与城市</a:t>
            </a:r>
            <a:r>
              <a:rPr lang="en-US" altLang="zh-CN"/>
              <a:t>/</a:t>
            </a:r>
            <a:r>
              <a:rPr lang="zh-CN" altLang="en-US"/>
              <a:t>区域哑变量刻画地段与城市层级差异</a:t>
            </a:r>
            <a:r>
              <a:rPr lang="en-US" altLang="zh-CN"/>
              <a:t>，</a:t>
            </a:r>
            <a:r>
              <a:rPr lang="zh-CN" altLang="en-US"/>
              <a:t>对应地段</a:t>
            </a:r>
            <a:r>
              <a:rPr lang="zh-CN" altLang="en-US"/>
              <a:t>溢价。</a:t>
            </a:r>
            <a:endParaRPr lang="zh-CN" altLang="en-US"/>
          </a:p>
          <a:p>
            <a:r>
              <a:rPr lang="zh-CN" altLang="en-US"/>
              <a:t>品质细分层：户型、装修、地铁物业等变量进一步解释同层级内部的溢价与折价。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4190" y="1125855"/>
            <a:ext cx="4648200" cy="292100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493520" cy="6858000"/>
          </a:xfrm>
          <a:prstGeom prst="rect">
            <a:avLst/>
          </a:prstGeom>
          <a:solidFill>
            <a:srgbClr val="981E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0" name="直线连接符 49"/>
          <p:cNvCxnSpPr/>
          <p:nvPr/>
        </p:nvCxnSpPr>
        <p:spPr>
          <a:xfrm>
            <a:off x="1909388" y="1030637"/>
            <a:ext cx="9847183" cy="0"/>
          </a:xfrm>
          <a:prstGeom prst="line">
            <a:avLst/>
          </a:prstGeom>
          <a:ln w="12700">
            <a:solidFill>
              <a:schemeClr val="accent1">
                <a:alpha val="5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>
            <a:off x="1909388" y="428793"/>
            <a:ext cx="9819807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85000"/>
              <a:buFont typeface="Wingdings" panose="05000000000000000000" pitchFamily="2" charset="2"/>
              <a:buChar char="n"/>
            </a:pPr>
            <a:r>
              <a:rPr kumimoji="1" lang="zh-CN" altLang="en-US" sz="2500" b="1" dirty="0">
                <a:solidFill>
                  <a:srgbClr val="951E2B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创新点</a:t>
            </a:r>
            <a:endParaRPr kumimoji="1" lang="zh-CN" altLang="en-US" sz="2500" b="1" dirty="0">
              <a:solidFill>
                <a:srgbClr val="951E2B"/>
              </a:solidFill>
              <a:latin typeface="Arial" panose="020B0604020202090204" pitchFamily="34" charset="0"/>
              <a:ea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2" name="灯片编号占位符 32"/>
          <p:cNvSpPr txBox="1"/>
          <p:nvPr/>
        </p:nvSpPr>
        <p:spPr>
          <a:xfrm>
            <a:off x="11546112" y="6417355"/>
            <a:ext cx="6458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E8E1B5DB-024D-D44B-8941-7F375DE6A1ED}" type="slidenum">
              <a:rPr kumimoji="1" lang="zh-CN" altLang="en-US" b="1" smtClean="0">
                <a:solidFill>
                  <a:schemeClr val="accent1"/>
                </a:solidFill>
                <a:latin typeface="Arial" panose="020B0604020202090204" pitchFamily="34" charset="0"/>
                <a:cs typeface="Arial" panose="020B0604020202090204" pitchFamily="34" charset="0"/>
              </a:rPr>
            </a:fld>
            <a:endParaRPr kumimoji="1" lang="zh-CN" altLang="en-US" b="1" dirty="0">
              <a:solidFill>
                <a:schemeClr val="accent1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30" name="图片 29" descr="徽标, 公司名称&#10;&#10;描述已自动生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868" y="217673"/>
            <a:ext cx="1139282" cy="1139282"/>
          </a:xfrm>
          <a:prstGeom prst="rect">
            <a:avLst/>
          </a:prstGeom>
        </p:spPr>
      </p:pic>
      <p:sp>
        <p:nvSpPr>
          <p:cNvPr id="12" name="矩形 16"/>
          <p:cNvSpPr/>
          <p:nvPr/>
        </p:nvSpPr>
        <p:spPr>
          <a:xfrm>
            <a:off x="2527633" y="5344924"/>
            <a:ext cx="2408031" cy="930137"/>
          </a:xfrm>
          <a:prstGeom prst="rect">
            <a:avLst/>
          </a:prstGeom>
          <a:solidFill>
            <a:schemeClr val="bg1"/>
          </a:solidFill>
          <a:ln w="15875">
            <a:noFill/>
            <a:prstDash val="dash"/>
          </a:ln>
          <a:effectLst>
            <a:outerShdw blurRad="127000" sx="102000" sy="102000" algn="ctr" rotWithShape="0">
              <a:schemeClr val="tx1"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Source Han Sans CN Medium" panose="020B0500000000000000" pitchFamily="34" charset="-128"/>
              <a:ea typeface="Source Han Sans CN Regular" panose="020B0500000000000000" pitchFamily="34" charset="-128"/>
            </a:endParaRPr>
          </a:p>
        </p:txBody>
      </p:sp>
      <p:sp>
        <p:nvSpPr>
          <p:cNvPr id="103" name="文本框 372"/>
          <p:cNvSpPr txBox="1"/>
          <p:nvPr/>
        </p:nvSpPr>
        <p:spPr>
          <a:xfrm>
            <a:off x="6149260" y="5145949"/>
            <a:ext cx="8002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Han Sans CN Medium" panose="020B0500000000000000" pitchFamily="34" charset="-128"/>
                <a:ea typeface="Source Han Sans CN Medium" panose="020B0500000000000000" pitchFamily="34" charset="-128"/>
              </a:rPr>
              <a:t>理念先导</a:t>
            </a:r>
            <a:endParaRPr kumimoji="0" lang="zh-CN" altLang="en-US" sz="120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Han Sans CN Medium" panose="020B0500000000000000" pitchFamily="34" charset="-128"/>
              <a:ea typeface="Source Han Sans CN Medium" panose="020B0500000000000000" pitchFamily="34" charset="-128"/>
            </a:endParaRPr>
          </a:p>
        </p:txBody>
      </p:sp>
      <p:sp>
        <p:nvSpPr>
          <p:cNvPr id="104" name="文本框 373"/>
          <p:cNvSpPr txBox="1"/>
          <p:nvPr/>
        </p:nvSpPr>
        <p:spPr>
          <a:xfrm>
            <a:off x="9998394" y="5251869"/>
            <a:ext cx="1547718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defTabSz="457200">
              <a:defRPr/>
            </a:pPr>
            <a:r>
              <a:rPr lang="en-US" altLang="zh-CN" sz="1400" b="1" dirty="0">
                <a:solidFill>
                  <a:srgbClr val="FFFFFF"/>
                </a:solidFill>
                <a:latin typeface="Source Han Sans CN Medium" panose="020B0500000000000000" pitchFamily="34" charset="-128"/>
                <a:ea typeface="Source Han Sans CN Medium" panose="020B0500000000000000" pitchFamily="34" charset="-128"/>
              </a:rPr>
              <a:t>Kagle Score:</a:t>
            </a:r>
            <a:endParaRPr kumimoji="0" lang="zh-CN" altLang="en-US" sz="1400" b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Han Sans CN Medium" panose="020B0500000000000000" pitchFamily="34" charset="-128"/>
              <a:ea typeface="Source Han Sans CN Medium" panose="020B0500000000000000" pitchFamily="34" charset="-128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09445" y="1209675"/>
            <a:ext cx="9422765" cy="4706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1.LLM </a:t>
            </a:r>
            <a:r>
              <a:rPr lang="zh-CN" altLang="en-US"/>
              <a:t>文本打分特征</a:t>
            </a:r>
            <a:r>
              <a:rPr lang="en-US" altLang="zh-CN"/>
              <a:t>：</a:t>
            </a:r>
            <a:r>
              <a:rPr lang="zh-CN" altLang="en-US"/>
              <a:t>用本地</a:t>
            </a:r>
            <a:r>
              <a:rPr lang="en-US" altLang="zh-CN"/>
              <a:t> LLM </a:t>
            </a:r>
            <a:r>
              <a:rPr lang="zh-CN" altLang="en-US"/>
              <a:t>将</a:t>
            </a:r>
            <a:r>
              <a:rPr lang="en-US" altLang="zh-CN"/>
              <a:t>“</a:t>
            </a:r>
            <a:r>
              <a:rPr lang="zh-CN" altLang="en-US"/>
              <a:t>客户反馈</a:t>
            </a:r>
            <a:r>
              <a:rPr lang="en-US" altLang="zh-CN"/>
              <a:t>”</a:t>
            </a:r>
            <a:r>
              <a:rPr lang="zh-CN" altLang="en-US"/>
              <a:t>文本压缩为</a:t>
            </a:r>
            <a:r>
              <a:rPr lang="en-US" altLang="zh-CN"/>
              <a:t> 0–5 </a:t>
            </a:r>
            <a:r>
              <a:rPr lang="zh-CN" altLang="en-US"/>
              <a:t>满意度分数并作为特征进入模型，从而捕捉环境</a:t>
            </a:r>
            <a:r>
              <a:rPr lang="en-US" altLang="zh-CN"/>
              <a:t>/</a:t>
            </a:r>
            <a:r>
              <a:rPr lang="zh-CN" altLang="en-US"/>
              <a:t>噪音</a:t>
            </a:r>
            <a:r>
              <a:rPr lang="en-US" altLang="zh-CN"/>
              <a:t>/</a:t>
            </a:r>
            <a:r>
              <a:rPr lang="zh-CN" altLang="en-US"/>
              <a:t>物业</a:t>
            </a:r>
            <a:r>
              <a:rPr lang="en-US" altLang="zh-CN"/>
              <a:t>/</a:t>
            </a:r>
            <a:r>
              <a:rPr lang="zh-CN" altLang="en-US"/>
              <a:t>停车等表格缺失的隐含质量信息，提升解释力与泛化。</a:t>
            </a:r>
            <a:endParaRPr lang="zh-CN" altLang="en-US"/>
          </a:p>
          <a:p>
            <a:endParaRPr lang="zh-CN" altLang="en-US"/>
          </a:p>
          <a:p>
            <a:endParaRPr lang="en-US" altLang="zh-CN"/>
          </a:p>
          <a:p>
            <a:r>
              <a:rPr lang="en-US" altLang="zh-CN"/>
              <a:t>2.</a:t>
            </a:r>
            <a:r>
              <a:rPr lang="zh-CN" altLang="en-US"/>
              <a:t>稳健训练与评估</a:t>
            </a:r>
            <a:r>
              <a:rPr lang="en-US" altLang="zh-CN"/>
              <a:t>：</a:t>
            </a:r>
            <a:r>
              <a:rPr lang="zh-CN" altLang="en-US"/>
              <a:t>对目标做</a:t>
            </a:r>
            <a:r>
              <a:rPr lang="en-US" altLang="zh-CN"/>
              <a:t> log1p </a:t>
            </a:r>
            <a:r>
              <a:rPr lang="zh-CN" altLang="en-US"/>
              <a:t>变换并用</a:t>
            </a:r>
            <a:r>
              <a:rPr lang="en-US" altLang="zh-CN"/>
              <a:t> IQR </a:t>
            </a:r>
            <a:r>
              <a:rPr lang="zh-CN" altLang="en-US"/>
              <a:t>去极端值，缓解长尾与异方差、减少异常点对训练的干扰，</a:t>
            </a:r>
            <a:endParaRPr lang="zh-CN" altLang="en-US"/>
          </a:p>
          <a:p>
            <a:endParaRPr lang="zh-CN" altLang="en-US"/>
          </a:p>
          <a:p>
            <a:endParaRPr lang="en-US" altLang="zh-CN"/>
          </a:p>
          <a:p>
            <a:r>
              <a:rPr lang="en-US" altLang="zh-CN"/>
              <a:t>3.Early Stopping：</a:t>
            </a:r>
            <a:r>
              <a:rPr lang="zh-CN" altLang="en-US"/>
              <a:t>使用</a:t>
            </a:r>
            <a:r>
              <a:rPr lang="en-US" altLang="zh-CN"/>
              <a:t> XGBoost </a:t>
            </a:r>
            <a:r>
              <a:rPr lang="zh-CN" altLang="en-US"/>
              <a:t>的</a:t>
            </a:r>
            <a:r>
              <a:rPr lang="en-US" altLang="zh-CN"/>
              <a:t> early stopping </a:t>
            </a:r>
            <a:r>
              <a:rPr lang="zh-CN" altLang="en-US"/>
              <a:t>在验证集上自动选出最佳迭代轮数（树的数量），让模型在</a:t>
            </a:r>
            <a:r>
              <a:rPr lang="en-US" altLang="zh-CN"/>
              <a:t>“</a:t>
            </a:r>
            <a:r>
              <a:rPr lang="zh-CN" altLang="en-US"/>
              <a:t>更强拟合能力</a:t>
            </a:r>
            <a:r>
              <a:rPr lang="en-US" altLang="zh-CN"/>
              <a:t>”</a:t>
            </a:r>
            <a:r>
              <a:rPr lang="zh-CN" altLang="en-US"/>
              <a:t>和</a:t>
            </a:r>
            <a:r>
              <a:rPr lang="en-US" altLang="zh-CN"/>
              <a:t>“</a:t>
            </a:r>
            <a:r>
              <a:rPr lang="zh-CN" altLang="en-US"/>
              <a:t>更稳泛化能力</a:t>
            </a:r>
            <a:r>
              <a:rPr lang="en-US" altLang="zh-CN"/>
              <a:t>”</a:t>
            </a:r>
            <a:r>
              <a:rPr lang="zh-CN" altLang="en-US"/>
              <a:t>之间自动取平衡，从而有效抑制过拟合</a:t>
            </a:r>
            <a:r>
              <a:rPr lang="en-US" altLang="zh-CN"/>
              <a:t>。</a:t>
            </a:r>
            <a:r>
              <a:rPr lang="zh-CN" altLang="en-US"/>
              <a:t>同时对参数进行小样本上调参</a:t>
            </a:r>
            <a:r>
              <a:rPr lang="en-US" altLang="zh-CN"/>
              <a:t>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en-US" altLang="zh-CN"/>
          </a:p>
          <a:p>
            <a:r>
              <a:rPr lang="en-US" altLang="zh-CN"/>
              <a:t>4.</a:t>
            </a:r>
            <a:r>
              <a:rPr lang="zh-CN" altLang="en-US"/>
              <a:t>加权集成</a:t>
            </a:r>
            <a:r>
              <a:rPr lang="en-US" altLang="zh-CN"/>
              <a:t>：</a:t>
            </a:r>
            <a:r>
              <a:rPr lang="zh-CN" altLang="en-US"/>
              <a:t>将</a:t>
            </a:r>
            <a:r>
              <a:rPr lang="en-US" altLang="zh-CN"/>
              <a:t> RF</a:t>
            </a:r>
            <a:r>
              <a:rPr lang="zh-CN" altLang="en-US"/>
              <a:t>（稳健抗噪）与</a:t>
            </a:r>
            <a:r>
              <a:rPr lang="en-US" altLang="zh-CN"/>
              <a:t> XGB，LGB</a:t>
            </a:r>
            <a:r>
              <a:rPr lang="zh-CN" altLang="en-US"/>
              <a:t>（强非线性与交互刻画）的预测做加权融合，利用误差互补降低整体方差并提升泛化稳定性，同时支持</a:t>
            </a:r>
            <a:r>
              <a:rPr lang="en-US" altLang="zh-CN"/>
              <a:t> equal </a:t>
            </a:r>
            <a:r>
              <a:rPr lang="zh-CN" altLang="en-US"/>
              <a:t>与</a:t>
            </a:r>
            <a:r>
              <a:rPr lang="en-US" altLang="zh-CN"/>
              <a:t> softmax </a:t>
            </a:r>
            <a:r>
              <a:rPr lang="zh-CN" altLang="en-US"/>
              <a:t>权重以在稳健性与性能之间自适应权衡。</a:t>
            </a:r>
            <a:endParaRPr lang="zh-CN" altLang="en-US"/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Office 主题​​">
  <a:themeElements>
    <a:clrScheme name="自定义 199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A215A"/>
      </a:accent1>
      <a:accent2>
        <a:srgbClr val="992159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607</Words>
  <Application>WPS 表格</Application>
  <PresentationFormat>Widescreen</PresentationFormat>
  <Paragraphs>45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汉仪旗黑</vt:lpstr>
      <vt:lpstr>Source Han Sans CN Medium</vt:lpstr>
      <vt:lpstr>Source Han Sans CN Regular</vt:lpstr>
      <vt:lpstr>等线</vt:lpstr>
      <vt:lpstr>汉仪中等线KW</vt:lpstr>
      <vt:lpstr>宋体</vt:lpstr>
      <vt:lpstr>Arial Unicode MS</vt:lpstr>
      <vt:lpstr>等线 Light</vt:lpstr>
      <vt:lpstr>冬青黑体简体中文</vt:lpstr>
      <vt:lpstr>Calibri</vt:lpstr>
      <vt:lpstr>Helvetica Neue</vt:lpstr>
      <vt:lpstr>汉仪书宋二KW</vt:lpstr>
      <vt:lpstr>Source Han Sans CN Medium</vt:lpstr>
      <vt:lpstr>Source Han Sans CN Regular</vt:lpstr>
      <vt:lpstr>Wingdings</vt:lpstr>
      <vt:lpstr>微软雅黑</vt:lpstr>
      <vt:lpstr>苹方-简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cristiano</cp:lastModifiedBy>
  <cp:revision>51</cp:revision>
  <dcterms:created xsi:type="dcterms:W3CDTF">2025-12-25T15:32:09Z</dcterms:created>
  <dcterms:modified xsi:type="dcterms:W3CDTF">2025-12-25T15:32:09Z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CBD83D69DE051FDDF9584D69FF143DA8_43</vt:lpwstr>
  </property>
  <property fmtid="{D5CDD505-2E9C-101B-9397-08002B2CF9AE}" pid="3" name="KSOProductBuildVer">
    <vt:lpwstr>2052-7.3.1.8967</vt:lpwstr>
  </property>
</Properties>
</file>