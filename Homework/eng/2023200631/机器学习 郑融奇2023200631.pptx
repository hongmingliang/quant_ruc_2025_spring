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486" r:id="rId3"/>
    <p:sldId id="527" r:id="rId5"/>
    <p:sldId id="489" r:id="rId6"/>
    <p:sldId id="526" r:id="rId7"/>
  </p:sldIdLst>
  <p:sldSz cx="12192000" cy="6858000"/>
  <p:notesSz cx="6858000" cy="9144000"/>
  <p:embeddedFontLst>
    <p:embeddedFont>
      <p:font typeface="微软雅黑" panose="020B0503020204020204" pitchFamily="34" charset="-122"/>
      <p:regular r:id="rId12"/>
    </p:embeddedFont>
    <p:embeddedFont>
      <p:font typeface="Arial Black" panose="020B0A04020102020204" pitchFamily="34" charset="0"/>
      <p:bold r:id="rId13"/>
    </p:embeddedFont>
    <p:embeddedFont>
      <p:font typeface="Calibri" panose="020F0502020204030204"/>
      <p:regular r:id="rId14"/>
      <p:bold r:id="rId15"/>
      <p:italic r:id="rId16"/>
      <p:boldItalic r:id="rId17"/>
    </p:embeddedFont>
    <p:embeddedFont>
      <p:font typeface="方正公文楷体" panose="02000500000000000000" charset="-122"/>
      <p:regular r:id="rId18"/>
    </p:embeddedFont>
    <p:embeddedFont>
      <p:font typeface="Segoe UI" panose="020B0502040204020203"/>
      <p:regular r:id="rId19"/>
      <p:bold r:id="rId20"/>
      <p:italic r:id="rId21"/>
      <p:boldItalic r:id="rId22"/>
    </p:embeddedFont>
    <p:embeddedFont>
      <p:font typeface="等线" panose="02010600030101010101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100"/>
    <a:srgbClr val="9C0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12.fntdata"/><Relationship Id="rId22" Type="http://schemas.openxmlformats.org/officeDocument/2006/relationships/font" Target="fonts/font11.fntdata"/><Relationship Id="rId21" Type="http://schemas.openxmlformats.org/officeDocument/2006/relationships/font" Target="fonts/font10.fntdata"/><Relationship Id="rId20" Type="http://schemas.openxmlformats.org/officeDocument/2006/relationships/font" Target="fonts/font9.fntdata"/><Relationship Id="rId2" Type="http://schemas.openxmlformats.org/officeDocument/2006/relationships/theme" Target="theme/theme1.xml"/><Relationship Id="rId19" Type="http://schemas.openxmlformats.org/officeDocument/2006/relationships/font" Target="fonts/font8.fntdata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0CF34-5466-4C09-8B8B-5A958BCAE9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3EEB3-6DEA-48F1-9CD4-EDC2A04DB05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10330283" y="6529705"/>
            <a:ext cx="1033515" cy="296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6870" indent="-356870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6870" indent="-356870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60741" y="-1"/>
            <a:ext cx="6829305" cy="6858000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3390108" y="4969057"/>
            <a:ext cx="895350" cy="378460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rgbClr val="9901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郑融奇</a:t>
            </a:r>
            <a:endParaRPr kumimoji="1" lang="zh-CN" altLang="en-US" sz="1865" b="1" i="0" u="none" strike="noStrike" kern="1200" cap="none" spc="0" normalizeH="0" baseline="0" noProof="0" dirty="0">
              <a:ln>
                <a:noFill/>
              </a:ln>
              <a:solidFill>
                <a:srgbClr val="9901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29865" y="3001645"/>
            <a:ext cx="8483600" cy="82994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9901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9901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机器学习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9901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展示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9901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3390108" y="4166691"/>
            <a:ext cx="6709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3372002" y="2477576"/>
            <a:ext cx="5097441" cy="378460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65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中国人民</a:t>
            </a: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大学</a:t>
            </a: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2023</a:t>
            </a: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级</a:t>
            </a: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经济学院</a:t>
            </a:r>
            <a:endParaRPr kumimoji="0" lang="zh-CN" altLang="en-US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1" y="1552169"/>
            <a:ext cx="2387969" cy="3826419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rgbClr val="990100"/>
          </a:solidFill>
          <a:ln w="5" cap="flat">
            <a:solidFill>
              <a:srgbClr val="990100"/>
            </a:solidFill>
            <a:prstDash val="solid"/>
            <a:miter lim="800000"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Freeform 6"/>
          <p:cNvSpPr>
            <a:spLocks noEditPoints="1"/>
          </p:cNvSpPr>
          <p:nvPr/>
        </p:nvSpPr>
        <p:spPr bwMode="auto">
          <a:xfrm>
            <a:off x="2296560" y="2937549"/>
            <a:ext cx="182819" cy="2259004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rgbClr val="990100"/>
          </a:solidFill>
          <a:ln>
            <a:solidFill>
              <a:srgbClr val="990100"/>
            </a:solidFill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289378" y="1086770"/>
            <a:ext cx="4268565" cy="1166454"/>
            <a:chOff x="1013385" y="386506"/>
            <a:chExt cx="4268565" cy="1166454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3385" y="386506"/>
              <a:ext cx="1161573" cy="1166454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341918" y="523819"/>
              <a:ext cx="2896218" cy="640678"/>
            </a:xfrm>
            <a:prstGeom prst="rect">
              <a:avLst/>
            </a:prstGeom>
          </p:spPr>
        </p:pic>
        <p:sp>
          <p:nvSpPr>
            <p:cNvPr id="31" name="矩形 30"/>
            <p:cNvSpPr/>
            <p:nvPr/>
          </p:nvSpPr>
          <p:spPr>
            <a:xfrm>
              <a:off x="2267737" y="1128876"/>
              <a:ext cx="301421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RENMIN UNIVERSITY OF CHINA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714" y="6237729"/>
            <a:ext cx="1697786" cy="44588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rgbClr val="990100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25" y="6360910"/>
            <a:ext cx="1523493" cy="40010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55991" y="-1"/>
            <a:ext cx="6829305" cy="6858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96645" y="512445"/>
            <a:ext cx="4064000" cy="4108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NLP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使用：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fasttext</a:t>
            </a:r>
            <a:endParaRPr lang="en-US" altLang="zh-CN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3890" y="1101090"/>
            <a:ext cx="6096000" cy="2327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print("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训练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fastText...")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model = fasttext.train_unsupervised(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input=temp_train_file,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model=FT_MODEL,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dim=FT_DIM,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epoch=FT_EPOCH,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lr=FT_LR,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   verbose=1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2755" y="3617913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FastText </a:t>
            </a:r>
            <a:r>
              <a:rPr lang="zh-CN" altLang="en-US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是基于词袋模型和 </a:t>
            </a:r>
            <a:r>
              <a:rPr lang="en-US" altLang="zh-CN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n-gram </a:t>
            </a:r>
            <a:r>
              <a:rPr lang="zh-CN" altLang="en-US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的模型</a:t>
            </a:r>
            <a:r>
              <a:rPr lang="en-US" altLang="zh-CN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,</a:t>
            </a:r>
            <a:r>
              <a:rPr lang="zh-CN" altLang="en-US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速度非常快，对于大规模文本处理尤为有效。利用</a:t>
            </a:r>
            <a:r>
              <a:rPr lang="en-US" altLang="zh-CN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 n-gram </a:t>
            </a:r>
            <a:r>
              <a:rPr lang="zh-CN" altLang="en-US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方式提取特征，能通过</a:t>
            </a:r>
            <a:r>
              <a:rPr lang="en-US" altLang="zh-CN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 n-gram </a:t>
            </a:r>
            <a:r>
              <a:rPr lang="zh-CN" altLang="en-US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捕获更多的上下文和短语信息。</a:t>
            </a:r>
            <a:endParaRPr lang="zh-CN" altLang="en-US" sz="1600" b="0" i="0">
              <a:solidFill>
                <a:srgbClr val="0D0D0D"/>
              </a:solidFill>
              <a:latin typeface="方正公文楷体" panose="02000500000000000000" charset="-122"/>
              <a:ea typeface="方正公文楷体" panose="02000500000000000000" charset="-122"/>
              <a:cs typeface="方正公文楷体" panose="02000500000000000000" charset="-122"/>
            </a:endParaRPr>
          </a:p>
          <a:p>
            <a:pPr marL="0" indent="0"/>
            <a:r>
              <a:rPr lang="zh-CN" altLang="en-US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但</a:t>
            </a:r>
            <a:r>
              <a:rPr lang="en-US" altLang="zh-CN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FastText </a:t>
            </a:r>
            <a:r>
              <a:rPr lang="zh-CN" altLang="en-US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本身既不是标准的词袋模型，也不是传统的</a:t>
            </a:r>
            <a:r>
              <a:rPr lang="en-US" altLang="zh-CN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N-gram</a:t>
            </a:r>
            <a:r>
              <a:rPr lang="zh-CN" altLang="en-US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模型。</a:t>
            </a:r>
            <a:r>
              <a:rPr lang="en-US" altLang="zh-CN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​ </a:t>
            </a:r>
            <a:r>
              <a:rPr lang="zh-CN" altLang="en-US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它是利用了</a:t>
            </a:r>
            <a:r>
              <a:rPr lang="en-US" altLang="zh-CN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N-gram</a:t>
            </a:r>
            <a:r>
              <a:rPr lang="zh-CN" altLang="en-US" sz="1600" b="0" i="0">
                <a:solidFill>
                  <a:srgbClr val="0D0D0D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思想来增强词向量表示的神经网络模型</a:t>
            </a:r>
            <a:endParaRPr lang="zh-CN" altLang="en-US" sz="1600" b="0" i="0">
              <a:solidFill>
                <a:srgbClr val="0D0D0D"/>
              </a:solidFill>
              <a:latin typeface="方正公文楷体" panose="02000500000000000000" charset="-122"/>
              <a:ea typeface="方正公文楷体" panose="02000500000000000000" charset="-122"/>
              <a:cs typeface="方正公文楷体" panose="020005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96645" y="5568315"/>
            <a:ext cx="4064000" cy="4108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6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比</a:t>
            </a:r>
            <a:r>
              <a:rPr lang="en-US" altLang="zh-CN" sz="16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Bert</a:t>
            </a:r>
            <a:r>
              <a:rPr lang="zh-CN" altLang="en-US" sz="16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快，比</a:t>
            </a:r>
            <a:r>
              <a:rPr lang="en-US" altLang="zh-CN" sz="16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TFIDF</a:t>
            </a:r>
            <a:r>
              <a:rPr lang="zh-CN" altLang="en-US" sz="16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好</a:t>
            </a:r>
            <a:endParaRPr lang="zh-CN" altLang="en-US" sz="16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887085" y="2128520"/>
            <a:ext cx="5080000" cy="2799715"/>
          </a:xfrm>
          <a:prstGeom prst="rect">
            <a:avLst/>
          </a:prstGeom>
        </p:spPr>
        <p:txBody>
          <a:bodyPr>
            <a:spAutoFit/>
          </a:bodyPr>
          <a:p>
            <a:pPr marL="0" indent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效果上：字符级</a:t>
            </a:r>
            <a:r>
              <a:rPr lang="en-US" altLang="zh-CN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N-gram</a:t>
            </a:r>
            <a:r>
              <a:rPr lang="zh-CN" altLang="en-US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作为基础构件，通过神经网络学习，最终得到的稠密、低维、蕴含语义的词向量，在效果上超越了基于词级</a:t>
            </a:r>
            <a:r>
              <a:rPr lang="en-US" altLang="zh-CN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N-gram</a:t>
            </a:r>
            <a:r>
              <a:rPr lang="zh-CN" altLang="en-US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的稀疏、高维、无语义的统计特征（如</a:t>
            </a:r>
            <a:r>
              <a:rPr lang="en-US" altLang="zh-CN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TF-IDF</a:t>
            </a:r>
            <a:r>
              <a:rPr lang="zh-CN" altLang="en-US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）。</a:t>
            </a:r>
            <a:endParaRPr lang="zh-CN" altLang="en-US" sz="1600" b="0" i="0">
              <a:solidFill>
                <a:srgbClr val="000000"/>
              </a:solidFill>
              <a:latin typeface="方正公文楷体" panose="02000500000000000000" charset="-122"/>
              <a:ea typeface="方正公文楷体" panose="02000500000000000000" charset="-122"/>
              <a:cs typeface="方正公文楷体" panose="02000500000000000000" charset="-122"/>
            </a:endParaRPr>
          </a:p>
          <a:p>
            <a:pPr marL="0" indent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速度上：</a:t>
            </a:r>
            <a:r>
              <a:rPr lang="en-US" altLang="zh-CN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fast text</a:t>
            </a:r>
            <a:r>
              <a:rPr lang="zh-CN" altLang="en-US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是浅层神经网络，比</a:t>
            </a:r>
            <a:r>
              <a:rPr lang="en-US" altLang="zh-CN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Bert</a:t>
            </a:r>
            <a:r>
              <a:rPr lang="zh-CN" altLang="en-US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的深层网络简单，运行速度</a:t>
            </a:r>
            <a:r>
              <a:rPr lang="zh-CN" altLang="en-US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自然更快</a:t>
            </a:r>
            <a:endParaRPr lang="zh-CN" altLang="en-US" sz="1600" b="0" i="0">
              <a:solidFill>
                <a:srgbClr val="000000"/>
              </a:solidFill>
              <a:latin typeface="方正公文楷体" panose="02000500000000000000" charset="-122"/>
              <a:ea typeface="方正公文楷体" panose="02000500000000000000" charset="-122"/>
              <a:cs typeface="方正公文楷体" panose="02000500000000000000" charset="-122"/>
            </a:endParaRPr>
          </a:p>
          <a:p>
            <a:pPr marL="0" indent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      </a:t>
            </a:r>
            <a:r>
              <a:rPr lang="zh-CN" altLang="en-US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在处理</a:t>
            </a:r>
            <a:r>
              <a:rPr lang="en-US" altLang="zh-CN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N-gram</a:t>
            </a:r>
            <a:r>
              <a:rPr lang="zh-CN" altLang="en-US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上，它没有将每一个</a:t>
            </a:r>
            <a:r>
              <a:rPr lang="en-US" altLang="zh-CN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N-gram</a:t>
            </a:r>
            <a:r>
              <a:rPr lang="zh-CN" altLang="en-US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都作为一个特征，而是用一个固定的哈希函数，将所有可能的子词</a:t>
            </a:r>
            <a:r>
              <a:rPr lang="en-US" altLang="zh-CN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N-gram</a:t>
            </a:r>
            <a:r>
              <a:rPr lang="zh-CN" altLang="en-US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（比如</a:t>
            </a:r>
            <a:r>
              <a:rPr lang="en-US" altLang="zh-CN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3-gram</a:t>
            </a:r>
            <a:r>
              <a:rPr lang="zh-CN" altLang="en-US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到</a:t>
            </a:r>
            <a:r>
              <a:rPr lang="en-US" altLang="zh-CN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6-gram</a:t>
            </a:r>
            <a:r>
              <a:rPr lang="zh-CN" altLang="en-US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）映射到一个固定大小的哈希表（例如</a:t>
            </a:r>
            <a:r>
              <a:rPr lang="en-US" altLang="zh-CN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200</a:t>
            </a:r>
            <a:r>
              <a:rPr lang="zh-CN" altLang="en-US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万个桶）中，解决了内存爆炸的问题</a:t>
            </a:r>
            <a:r>
              <a:rPr lang="en-US" altLang="zh-CN" sz="1600" b="0" i="0">
                <a:solidFill>
                  <a:srgbClr val="000000"/>
                </a:solidFill>
                <a:latin typeface="方正公文楷体" panose="02000500000000000000" charset="-122"/>
                <a:ea typeface="方正公文楷体" panose="02000500000000000000" charset="-122"/>
                <a:cs typeface="方正公文楷体" panose="02000500000000000000" charset="-122"/>
              </a:rPr>
              <a:t> </a:t>
            </a:r>
            <a:endParaRPr lang="en-US" altLang="zh-CN" sz="1600" b="0" i="0">
              <a:solidFill>
                <a:srgbClr val="000000"/>
              </a:solidFill>
              <a:latin typeface="方正公文楷体" panose="02000500000000000000" charset="-122"/>
              <a:ea typeface="方正公文楷体" panose="02000500000000000000" charset="-122"/>
              <a:cs typeface="方正公文楷体" panose="02000500000000000000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60741" y="73659"/>
            <a:ext cx="6829305" cy="6858000"/>
          </a:xfrm>
          <a:prstGeom prst="rect">
            <a:avLst/>
          </a:prstGeom>
        </p:spPr>
      </p:pic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rgbClr val="990100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225" y="1140460"/>
            <a:ext cx="2851785" cy="552513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65" y="1219835"/>
            <a:ext cx="2635885" cy="54457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68655" y="274320"/>
            <a:ext cx="5123180" cy="366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PRICE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25970" y="274320"/>
            <a:ext cx="40640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rent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086225" y="640715"/>
            <a:ext cx="4064000" cy="23279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深度学习：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Pytorch ANN 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集成算法：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随机森林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并评估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特征重要性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两次随机森林：一次全要素，一次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top50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要素。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比较两次的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效果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在构件中，运用了目标值对数变换，频数编码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+ 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一致性处理，领域特征工程，行采样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等方法。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20" name="表格 19"/>
          <p:cNvGraphicFramePr/>
          <p:nvPr/>
        </p:nvGraphicFramePr>
        <p:xfrm>
          <a:off x="6522085" y="3029585"/>
          <a:ext cx="5013325" cy="2730500"/>
        </p:xfrm>
        <a:graphic>
          <a:graphicData uri="http://schemas.openxmlformats.org/drawingml/2006/table">
            <a:tbl>
              <a:tblPr/>
              <a:tblGrid>
                <a:gridCol w="1247140"/>
                <a:gridCol w="911225"/>
                <a:gridCol w="967105"/>
                <a:gridCol w="944245"/>
                <a:gridCol w="943610"/>
              </a:tblGrid>
              <a:tr h="5461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指标</a:t>
                      </a:r>
                      <a:endParaRPr lang="zh-CN" sz="800" b="1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样本内</a:t>
                      </a:r>
                      <a:r>
                        <a:rPr lang="en-US" altLang="zh-CN" sz="800" b="1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RMSE</a:t>
                      </a:r>
                      <a:endParaRPr lang="en-US" altLang="zh-CN" sz="800" b="1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样本外</a:t>
                      </a:r>
                      <a:r>
                        <a:rPr lang="en-US" altLang="zh-CN" sz="800" b="1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RMSE</a:t>
                      </a:r>
                      <a:endParaRPr lang="en-US" altLang="zh-CN" sz="800" b="1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 b="1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交叉验证</a:t>
                      </a:r>
                      <a:r>
                        <a:rPr lang="en-US" altLang="zh-CN" sz="800" b="1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RMSE</a:t>
                      </a:r>
                      <a:endParaRPr lang="en-US" altLang="zh-CN" sz="800" b="1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 b="1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kaggle</a:t>
                      </a:r>
                      <a:endParaRPr lang="en-US" altLang="zh-CN" sz="800" b="1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61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latin typeface="Segoe UI" panose="020B0502040204020203"/>
                          <a:ea typeface="Segoe UI" panose="020B0502040204020203"/>
                        </a:rPr>
                        <a:t>期中线性</a:t>
                      </a:r>
                      <a:endParaRPr lang="zh-CN" sz="800"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0.94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0.92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0.92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-16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61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latin typeface="Segoe UI" panose="020B0502040204020203"/>
                          <a:ea typeface="Segoe UI" panose="020B0502040204020203"/>
                        </a:rPr>
                        <a:t>随机森林</a:t>
                      </a:r>
                      <a:endParaRPr lang="zh-CN" sz="800"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defTabSz="914400"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74675" algn="l"/>
                          <a:tab pos="1073785" algn="l"/>
                        </a:tabLs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100207.013949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defTabSz="914400" latinLnBrk="1"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121743.164480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defTabSz="914400" latinLnBrk="1"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121541.490716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defTabSz="914400" latinLnBrk="1"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61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800">
                          <a:latin typeface="Segoe UI" panose="020B0502040204020203"/>
                          <a:ea typeface="Segoe UI" panose="020B0502040204020203"/>
                        </a:rPr>
                        <a:t>随机森林（</a:t>
                      </a:r>
                      <a:r>
                        <a:rPr lang="en-US" altLang="zh-CN" sz="800">
                          <a:latin typeface="Segoe UI" panose="020B0502040204020203"/>
                          <a:ea typeface="Segoe UI" panose="020B0502040204020203"/>
                        </a:rPr>
                        <a:t>t50</a:t>
                      </a:r>
                      <a:r>
                        <a:rPr lang="zh-CN" altLang="en-US" sz="800">
                          <a:latin typeface="Segoe UI" panose="020B0502040204020203"/>
                          <a:ea typeface="Segoe UI" panose="020B0502040204020203"/>
                        </a:rPr>
                        <a:t>）</a:t>
                      </a:r>
                      <a:endParaRPr lang="zh-CN" altLang="en-US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defTabSz="914400" latinLnBrk="1"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82933.296621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defTabSz="914400" latinLnBrk="1"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97700.626294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defTabSz="914400" latinLnBrk="1"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97769.677125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defTabSz="914400" latinLnBrk="1"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61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Segoe UI" panose="020B0502040204020203"/>
                          <a:ea typeface="Segoe UI" panose="020B0502040204020203"/>
                        </a:rPr>
                        <a:t>Pytorch ANN</a:t>
                      </a:r>
                      <a:endParaRPr lang="en-US" altLang="zh-CN" sz="800"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defTabSz="914400" latinLnBrk="1"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145243.5974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defTabSz="914400" latinLnBrk="1"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150644.7760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defTabSz="914400" latinLnBrk="1"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169069.4588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defTabSz="914400" latinLnBrk="1"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altLang="zh-CN" sz="800" i="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endParaRPr lang="en-US" altLang="zh-CN" sz="800" i="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3390900" y="35652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22" name="表格 21"/>
          <p:cNvGraphicFramePr/>
          <p:nvPr>
            <p:custDataLst>
              <p:tags r:id="rId4"/>
            </p:custDataLst>
          </p:nvPr>
        </p:nvGraphicFramePr>
        <p:xfrm>
          <a:off x="264795" y="3029585"/>
          <a:ext cx="5723890" cy="2729865"/>
        </p:xfrm>
        <a:graphic>
          <a:graphicData uri="http://schemas.openxmlformats.org/drawingml/2006/table">
            <a:tbl>
              <a:tblPr/>
              <a:tblGrid>
                <a:gridCol w="1412240"/>
                <a:gridCol w="1102995"/>
                <a:gridCol w="1090295"/>
                <a:gridCol w="1058545"/>
                <a:gridCol w="1059815"/>
              </a:tblGrid>
              <a:tr h="782955">
                <a:tc>
                  <a:txBody>
                    <a:bodyPr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400" b="1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指标</a:t>
                      </a:r>
                      <a:endParaRPr lang="zh-CN" altLang="en-US" sz="1400" b="1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400" b="1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样本内</a:t>
                      </a:r>
                      <a:r>
                        <a:rPr lang="en-US" altLang="zh-CN" sz="1400" b="1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RMSE</a:t>
                      </a:r>
                      <a:endParaRPr lang="en-US" altLang="zh-CN" sz="1400" b="1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400" b="1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样本外</a:t>
                      </a:r>
                      <a:r>
                        <a:rPr lang="en-US" altLang="zh-CN" sz="1400" b="1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RMSE</a:t>
                      </a:r>
                      <a:endParaRPr lang="en-US" altLang="zh-CN" sz="1400" b="1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400" b="1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交叉验证</a:t>
                      </a:r>
                      <a:r>
                        <a:rPr lang="en-US" altLang="zh-CN" sz="1400" b="1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RMSE</a:t>
                      </a:r>
                      <a:endParaRPr lang="en-US" altLang="zh-CN" sz="1400" b="1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400" b="1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kaggle</a:t>
                      </a:r>
                      <a:endParaRPr lang="en-US" altLang="zh-CN" sz="1400" b="1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3210"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期中线性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0</a:t>
                      </a:r>
                      <a:endParaRPr lang="en-US" altLang="zh-CN" sz="140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endParaRPr lang="zh-CN" altLang="en-US" sz="1400">
                        <a:solidFill>
                          <a:srgbClr val="0D0D0D"/>
                        </a:solidFill>
                        <a:latin typeface="Segoe UI" panose="020B0502040204020203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2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200">
                          <a:latin typeface="Calibri" panose="020F0502020204030204"/>
                          <a:ea typeface="宋体" panose="02010600030101010101" pitchFamily="2" charset="-122"/>
                        </a:rPr>
                        <a:t>-16 </a:t>
                      </a:r>
                      <a:endParaRPr lang="en-US" altLang="zh-CN" sz="12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3565"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随机森林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532859.749079 </a:t>
                      </a:r>
                      <a:endParaRPr lang="en-US" altLang="zh-CN" sz="140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latinLnBrk="1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 </a:t>
                      </a: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658483.206376</a:t>
                      </a:r>
                      <a:endParaRPr lang="en-US" altLang="zh-CN" sz="140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latinLnBrk="1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661513.910756</a:t>
                      </a:r>
                      <a:endParaRPr lang="en-US" altLang="zh-CN" sz="140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latinLnBrk="1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</a:t>
                      </a:r>
                      <a:endParaRPr lang="en-US" altLang="zh-CN" sz="140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3565"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随机森林（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t50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）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latinLnBrk="1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309228.617723 </a:t>
                      </a:r>
                      <a:endParaRPr lang="en-US" altLang="zh-CN" sz="140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latinLnBrk="1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356140.418788</a:t>
                      </a:r>
                      <a:endParaRPr lang="en-US" altLang="zh-CN" sz="140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latinLnBrk="1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359695.908072 </a:t>
                      </a: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 </a:t>
                      </a:r>
                      <a:endParaRPr lang="en-US" altLang="zh-CN" sz="140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latinLnBrk="1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 61</a:t>
                      </a:r>
                      <a:endParaRPr lang="en-US" altLang="zh-CN" sz="140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6570">
                <a:tc>
                  <a:txBody>
                    <a:bodyPr/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Pytorch ANN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latinLnBrk="1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589059.1292</a:t>
                      </a:r>
                      <a:endParaRPr lang="en-US" altLang="zh-CN" sz="140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latinLnBrk="1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633005.7841</a:t>
                      </a:r>
                      <a:endParaRPr lang="en-US" altLang="zh-CN" sz="140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latinLnBrk="1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735838.4948</a:t>
                      </a:r>
                      <a:endParaRPr lang="en-US" altLang="zh-CN" sz="140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latinLnBrk="1"/>
                      <a:r>
                        <a:rPr lang="en-US" sz="1400">
                          <a:solidFill>
                            <a:srgbClr val="0D0D0D"/>
                          </a:solidFill>
                          <a:latin typeface="Segoe UI" panose="020B0502040204020203"/>
                          <a:ea typeface="Segoe UI" panose="020B0502040204020203"/>
                        </a:rPr>
                        <a:t>38</a:t>
                      </a:r>
                      <a:endParaRPr lang="en-US" sz="1400">
                        <a:solidFill>
                          <a:srgbClr val="0D0D0D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rgbClr val="990100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7335" y="527685"/>
            <a:ext cx="3220085" cy="25755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87335" y="156845"/>
            <a:ext cx="40640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RENT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70" y="3326130"/>
            <a:ext cx="2588895" cy="30759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650" y="3326130"/>
            <a:ext cx="2692400" cy="31978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4770" y="3503295"/>
            <a:ext cx="2996565" cy="24352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67055"/>
            <a:ext cx="2999105" cy="23990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6775" y="196215"/>
            <a:ext cx="40640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PRICE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495" y="3429000"/>
            <a:ext cx="2295525" cy="27273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235" y="3482340"/>
            <a:ext cx="2205355" cy="26200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090" y="3503295"/>
            <a:ext cx="3198495" cy="259905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TABLE_ENDDRAG_ORIGIN_RECT" val="450*214"/>
  <p:tag name="TABLE_ENDDRAG_RECT" val="20*238*450*214"/>
</p:tagLst>
</file>

<file path=ppt/theme/theme1.xml><?xml version="1.0" encoding="utf-8"?>
<a:theme xmlns:a="http://schemas.openxmlformats.org/drawingml/2006/main" name="第一PPT，www.1ppt.com">
  <a:themeElements>
    <a:clrScheme name="自定义 2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0582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1152</Words>
  <Application>WPS 演示</Application>
  <PresentationFormat>宽屏</PresentationFormat>
  <Paragraphs>144</Paragraphs>
  <Slides>4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Arial Black</vt:lpstr>
      <vt:lpstr>Wingdings 2</vt:lpstr>
      <vt:lpstr>幼圆</vt:lpstr>
      <vt:lpstr>Calibri</vt:lpstr>
      <vt:lpstr>Arial</vt:lpstr>
      <vt:lpstr>Calibri</vt:lpstr>
      <vt:lpstr>方正公文楷体</vt:lpstr>
      <vt:lpstr>Segoe UI</vt:lpstr>
      <vt:lpstr>Arial Unicode MS</vt:lpstr>
      <vt:lpstr>等线</vt:lpstr>
      <vt:lpstr>第一PPT，www.1ppt.com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神罗皇帝马克西米利安一世</cp:lastModifiedBy>
  <cp:revision>55</cp:revision>
  <dcterms:created xsi:type="dcterms:W3CDTF">2020-10-27T11:22:00Z</dcterms:created>
  <dcterms:modified xsi:type="dcterms:W3CDTF">2025-12-25T07:27:37Z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F31FE83E20CC467FAE19D871AC2DA17F_13</vt:lpwstr>
  </property>
</Properties>
</file>