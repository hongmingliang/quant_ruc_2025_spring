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56" r:id="rId4"/>
    <p:sldId id="257" r:id="rId5"/>
    <p:sldId id="258" r:id="rId6"/>
    <p:sldId id="261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B16F-46B3-4590-BF21-DDDA6EFB82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FFCB-5DFA-4AEF-9E2F-21DB0A20F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B16F-46B3-4590-BF21-DDDA6EFB82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FFCB-5DFA-4AEF-9E2F-21DB0A20F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B16F-46B3-4590-BF21-DDDA6EFB82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FFCB-5DFA-4AEF-9E2F-21DB0A20F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B16F-46B3-4590-BF21-DDDA6EFB82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FFCB-5DFA-4AEF-9E2F-21DB0A20F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B16F-46B3-4590-BF21-DDDA6EFB82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FFCB-5DFA-4AEF-9E2F-21DB0A20F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B16F-46B3-4590-BF21-DDDA6EFB82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FFCB-5DFA-4AEF-9E2F-21DB0A20F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B16F-46B3-4590-BF21-DDDA6EFB82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FFCB-5DFA-4AEF-9E2F-21DB0A20F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B16F-46B3-4590-BF21-DDDA6EFB82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FFCB-5DFA-4AEF-9E2F-21DB0A20F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B16F-46B3-4590-BF21-DDDA6EFB82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FFCB-5DFA-4AEF-9E2F-21DB0A20F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B16F-46B3-4590-BF21-DDDA6EFB82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FFCB-5DFA-4AEF-9E2F-21DB0A20F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B16F-46B3-4590-BF21-DDDA6EFB82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BFFCB-5DFA-4AEF-9E2F-21DB0A20F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2B16F-46B3-4590-BF21-DDDA6EFB82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BFFCB-5DFA-4AEF-9E2F-21DB0A20FA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1082" y="2259239"/>
            <a:ext cx="5811983" cy="1325563"/>
          </a:xfrm>
        </p:spPr>
        <p:txBody>
          <a:bodyPr>
            <a:noAutofit/>
          </a:bodyPr>
          <a:lstStyle/>
          <a:p>
            <a:r>
              <a:rPr lang="zh-CN" altLang="en-US" sz="6000" b="1" dirty="0"/>
              <a:t>第一组期中展示</a:t>
            </a:r>
            <a:endParaRPr lang="zh-CN" altLang="en-US" sz="6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4020291" y="4162303"/>
            <a:ext cx="4613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组员：陈丽啦</a:t>
            </a:r>
            <a:r>
              <a:rPr lang="en-US" altLang="zh-CN" dirty="0"/>
              <a:t>   </a:t>
            </a:r>
            <a:r>
              <a:rPr lang="zh-CN" altLang="en-US" dirty="0"/>
              <a:t>章子航</a:t>
            </a:r>
            <a:r>
              <a:rPr lang="en-US" altLang="zh-CN" dirty="0"/>
              <a:t>   </a:t>
            </a:r>
            <a:r>
              <a:rPr lang="zh-CN" altLang="en-US" dirty="0"/>
              <a:t>李春</a:t>
            </a:r>
            <a:r>
              <a:rPr lang="en-US" altLang="zh-CN" dirty="0"/>
              <a:t>   </a:t>
            </a:r>
            <a:r>
              <a:rPr lang="zh-CN" altLang="en-US" dirty="0"/>
              <a:t>郑融奇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305" y="913632"/>
            <a:ext cx="5369023" cy="11409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671" y="913633"/>
            <a:ext cx="5369024" cy="114091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38348" y="2499372"/>
            <a:ext cx="1111530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数据预处理：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 对区间值使用平均值填充，缺失值用中位数填补，异常值通过四分位数间距识别并使用中位数替代。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 类别数据（如楼层、环线）使用编码方法转换为数值型。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 对偏度大的特征（如房价、面积）进行了对数变换，使数据更符合正态分布。</a:t>
            </a:r>
            <a:endParaRPr lang="zh-CN" altLang="en-US" dirty="0"/>
          </a:p>
          <a:p>
            <a:r>
              <a:rPr lang="zh-CN" altLang="en-US" b="1" dirty="0"/>
              <a:t>特征选择：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使用</a:t>
            </a:r>
            <a:r>
              <a:rPr lang="en-US" altLang="zh-CN" b="1" dirty="0"/>
              <a:t>Lasso</a:t>
            </a:r>
            <a:r>
              <a:rPr lang="zh-CN" altLang="en-US" b="1" dirty="0"/>
              <a:t>回归</a:t>
            </a:r>
            <a:r>
              <a:rPr lang="zh-CN" altLang="en-US" dirty="0"/>
              <a:t>通过交叉验证自动选择最优正则化参数</a:t>
            </a:r>
            <a:r>
              <a:rPr lang="en-US" altLang="zh-CN" dirty="0"/>
              <a:t>α</a:t>
            </a:r>
            <a:r>
              <a:rPr lang="zh-CN" altLang="en-US" dirty="0"/>
              <a:t>（</a:t>
            </a:r>
            <a:r>
              <a:rPr lang="en-US" altLang="zh-CN" dirty="0"/>
              <a:t>0.01</a:t>
            </a:r>
            <a:r>
              <a:rPr lang="zh-CN" altLang="en-US" dirty="0"/>
              <a:t>），筛选出对房价预测影响较大的特征。</a:t>
            </a:r>
            <a:endParaRPr lang="zh-CN" altLang="en-US" dirty="0"/>
          </a:p>
          <a:p>
            <a:r>
              <a:rPr lang="zh-CN" altLang="en-US" b="1" dirty="0"/>
              <a:t>模型选择与调参：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 结合</a:t>
            </a:r>
            <a:r>
              <a:rPr lang="en-US" altLang="zh-CN" b="1" dirty="0"/>
              <a:t>OLS</a:t>
            </a:r>
            <a:r>
              <a:rPr lang="zh-CN" altLang="en-US" b="1" dirty="0"/>
              <a:t>回归</a:t>
            </a:r>
            <a:r>
              <a:rPr lang="zh-CN" altLang="en-US" dirty="0"/>
              <a:t>、</a:t>
            </a:r>
            <a:r>
              <a:rPr lang="zh-CN" altLang="en-US" b="1" dirty="0"/>
              <a:t>岭回归</a:t>
            </a:r>
            <a:r>
              <a:rPr lang="zh-CN" altLang="en-US" dirty="0"/>
              <a:t>、</a:t>
            </a:r>
            <a:r>
              <a:rPr lang="en-US" altLang="zh-CN" b="1" dirty="0"/>
              <a:t>Lasso</a:t>
            </a:r>
            <a:r>
              <a:rPr lang="zh-CN" altLang="en-US" b="1" dirty="0"/>
              <a:t>回归</a:t>
            </a:r>
            <a:r>
              <a:rPr lang="zh-CN" altLang="en-US" dirty="0"/>
              <a:t>和</a:t>
            </a:r>
            <a:r>
              <a:rPr lang="zh-CN" altLang="en-US" b="1" dirty="0"/>
              <a:t>弹性网回归</a:t>
            </a:r>
            <a:r>
              <a:rPr lang="zh-CN" altLang="en-US" dirty="0"/>
              <a:t>四种线性模型，使用</a:t>
            </a:r>
            <a:r>
              <a:rPr lang="en-US" altLang="zh-CN" dirty="0"/>
              <a:t>5</a:t>
            </a:r>
            <a:r>
              <a:rPr lang="zh-CN" altLang="en-US" dirty="0"/>
              <a:t>折交叉验证自动调优超参数，寻找最佳模型配置。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 通过计算平均绝对误差（</a:t>
            </a:r>
            <a:r>
              <a:rPr lang="en-US" altLang="zh-CN" dirty="0"/>
              <a:t>MAE</a:t>
            </a:r>
            <a:r>
              <a:rPr lang="zh-CN" altLang="en-US" dirty="0"/>
              <a:t>）评估模型表现。</a:t>
            </a:r>
            <a:endParaRPr lang="zh-CN" altLang="en-US" dirty="0"/>
          </a:p>
          <a:p>
            <a:r>
              <a:rPr lang="zh-CN" altLang="en-US" b="1" dirty="0"/>
              <a:t>结果：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 OLS</a:t>
            </a:r>
            <a:r>
              <a:rPr lang="zh-CN" altLang="en-US" dirty="0"/>
              <a:t>、</a:t>
            </a:r>
            <a:r>
              <a:rPr lang="en-US" altLang="zh-CN" dirty="0"/>
              <a:t>Ridge</a:t>
            </a:r>
            <a:r>
              <a:rPr lang="zh-CN" altLang="en-US" dirty="0"/>
              <a:t>、</a:t>
            </a:r>
            <a:r>
              <a:rPr lang="en-US" altLang="zh-CN" dirty="0"/>
              <a:t>Lasso</a:t>
            </a:r>
            <a:r>
              <a:rPr lang="zh-CN" altLang="en-US" dirty="0"/>
              <a:t>回归模型在训练集、测试集和交叉验证中的表现接近，</a:t>
            </a:r>
            <a:r>
              <a:rPr lang="en-US" altLang="zh-CN" b="1" dirty="0" err="1"/>
              <a:t>ElasticNet</a:t>
            </a:r>
            <a:r>
              <a:rPr lang="zh-CN" altLang="en-US" dirty="0"/>
              <a:t>模型表现稍逊。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9341923" y="6382986"/>
            <a:ext cx="2731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</a:rPr>
              <a:t>Group1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</a:rPr>
              <a:t>陈丽啦 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</a:rPr>
              <a:t>2023200763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822960" y="221322"/>
          <a:ext cx="3603625" cy="2319016"/>
        </p:xfrm>
        <a:graphic>
          <a:graphicData uri="http://schemas.openxmlformats.org/drawingml/2006/table">
            <a:tbl>
              <a:tblPr firstRow="1"/>
              <a:tblGrid>
                <a:gridCol w="708025"/>
                <a:gridCol w="733425"/>
                <a:gridCol w="720725"/>
                <a:gridCol w="720725"/>
                <a:gridCol w="720725"/>
              </a:tblGrid>
              <a:tr h="579120">
                <a:tc>
                  <a:txBody>
                    <a:bodyPr/>
                    <a:lstStyle/>
                    <a:p>
                      <a:r>
                        <a:rPr lang="en-US" altLang="zh-CN" sz="1100"/>
                        <a:t>Metrics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In sample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out of sample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Cross-validation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Kaggle Score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altLang="zh-CN" sz="1100"/>
                        <a:t>OLS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963608.7721778344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973237.5196302938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964174.1126193341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24.4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altLang="zh-CN" sz="1100"/>
                        <a:t>LASSO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973237.5196302938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973173.3507281336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964088.3221113613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---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altLang="zh-CN" sz="1100"/>
                        <a:t>Ridge 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963500.1465950666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973237.5196302938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964062.0389481025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---</a:t>
                      </a:r>
                      <a:endParaRPr lang="en-US" altLang="zh-CN" sz="1100"/>
                    </a:p>
                  </a:txBody>
                  <a:tcPr marL="82867" marR="82867" marT="38417" marB="38417"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50290" y="2850515"/>
            <a:ext cx="3364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R-squared:0.57-0.59</a:t>
            </a:r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5668010" y="379095"/>
            <a:ext cx="5534660" cy="4942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/>
              <a:t>数据清洗步骤：</a:t>
            </a:r>
            <a:endParaRPr lang="zh-CN" altLang="en-US" sz="1400"/>
          </a:p>
          <a:p>
            <a:r>
              <a:rPr lang="en-US" altLang="zh-CN" sz="1400"/>
              <a:t>1.</a:t>
            </a:r>
            <a:r>
              <a:rPr lang="zh-CN" altLang="en-US" sz="1400"/>
              <a:t>删除缺失率大于</a:t>
            </a:r>
            <a:r>
              <a:rPr lang="en-US" altLang="zh-CN" sz="1400"/>
              <a:t>50%</a:t>
            </a:r>
            <a:r>
              <a:rPr lang="zh-CN" altLang="en-US" sz="1400"/>
              <a:t>的列</a:t>
            </a:r>
            <a:endParaRPr lang="zh-CN" altLang="en-US" sz="1400"/>
          </a:p>
          <a:p>
            <a:r>
              <a:rPr lang="en-US" altLang="zh-CN" sz="1400"/>
              <a:t>2.</a:t>
            </a:r>
            <a:r>
              <a:rPr lang="zh-CN" altLang="en-US" sz="1400"/>
              <a:t>删除与</a:t>
            </a:r>
            <a:r>
              <a:rPr lang="en-US" altLang="zh-CN" sz="1400"/>
              <a:t>Price </a:t>
            </a:r>
            <a:r>
              <a:rPr lang="zh-CN" altLang="en-US" sz="1400"/>
              <a:t>完全不相关的量</a:t>
            </a:r>
            <a:r>
              <a:rPr lang="en-US" altLang="zh-CN" sz="1400"/>
              <a:t>--</a:t>
            </a:r>
            <a:r>
              <a:rPr lang="zh-CN" altLang="en-US" sz="1400"/>
              <a:t>物业电话，物业公司名称（相关系数分析）</a:t>
            </a:r>
            <a:endParaRPr lang="zh-CN" altLang="en-US" sz="1400"/>
          </a:p>
          <a:p>
            <a:r>
              <a:rPr lang="en-US" altLang="zh-CN" sz="1400"/>
              <a:t>3.</a:t>
            </a:r>
            <a:r>
              <a:rPr lang="zh-CN" altLang="en-US" sz="1400"/>
              <a:t>删除无法分析的列，比如客户评价</a:t>
            </a:r>
            <a:endParaRPr lang="zh-CN" altLang="en-US" sz="1400"/>
          </a:p>
          <a:p>
            <a:r>
              <a:rPr lang="zh-CN" altLang="en-US" sz="1400"/>
              <a:t>数据预处理步骤：</a:t>
            </a:r>
            <a:endParaRPr lang="zh-CN" altLang="en-US" sz="1400"/>
          </a:p>
          <a:p>
            <a:r>
              <a:rPr lang="en-US" altLang="zh-CN" sz="1400"/>
              <a:t>1.</a:t>
            </a:r>
            <a:r>
              <a:rPr lang="zh-CN" altLang="en-US" sz="1400"/>
              <a:t>对于可用数据进行正则化，比如物业费（</a:t>
            </a:r>
            <a:r>
              <a:rPr lang="en-US" altLang="zh-CN" sz="1400"/>
              <a:t>0.6-0.61</a:t>
            </a:r>
            <a:r>
              <a:rPr lang="zh-CN" altLang="en-US" sz="1400"/>
              <a:t>元</a:t>
            </a:r>
            <a:r>
              <a:rPr lang="en-US" altLang="zh-CN" sz="1400"/>
              <a:t>/</a:t>
            </a:r>
            <a:r>
              <a:rPr lang="zh-CN" altLang="en-US" sz="1400"/>
              <a:t>月</a:t>
            </a:r>
            <a:r>
              <a:rPr lang="en-US" altLang="zh-CN" sz="1400"/>
              <a:t>/</a:t>
            </a:r>
            <a:r>
              <a:rPr lang="zh-CN" altLang="en-US" sz="1400"/>
              <a:t>㎡）提取为物业费</a:t>
            </a:r>
            <a:r>
              <a:rPr lang="en-US" altLang="zh-CN" sz="1400"/>
              <a:t>_</a:t>
            </a:r>
            <a:r>
              <a:rPr lang="zh-CN" altLang="en-US" sz="1400"/>
              <a:t>数值</a:t>
            </a:r>
            <a:r>
              <a:rPr lang="en-US" altLang="zh-CN" sz="1400"/>
              <a:t>(0.605)</a:t>
            </a:r>
            <a:r>
              <a:rPr lang="zh-CN" altLang="en-US" sz="1400"/>
              <a:t>。</a:t>
            </a:r>
            <a:endParaRPr lang="zh-CN" altLang="en-US" sz="1400"/>
          </a:p>
          <a:p>
            <a:r>
              <a:rPr lang="zh-CN" altLang="en-US" sz="1400"/>
              <a:t>房屋户型（</a:t>
            </a:r>
            <a:r>
              <a:rPr lang="en-US" altLang="zh-CN" sz="1400"/>
              <a:t>3</a:t>
            </a:r>
            <a:r>
              <a:rPr lang="zh-CN" altLang="en-US" sz="1400"/>
              <a:t>室</a:t>
            </a:r>
            <a:r>
              <a:rPr lang="en-US" altLang="zh-CN" sz="1400"/>
              <a:t>1</a:t>
            </a:r>
            <a:r>
              <a:rPr lang="zh-CN" altLang="en-US" sz="1400"/>
              <a:t>厅</a:t>
            </a:r>
            <a:r>
              <a:rPr lang="en-US" altLang="zh-CN" sz="1400"/>
              <a:t>1</a:t>
            </a:r>
            <a:r>
              <a:rPr lang="zh-CN" altLang="en-US" sz="1400"/>
              <a:t>厨</a:t>
            </a:r>
            <a:r>
              <a:rPr lang="en-US" altLang="zh-CN" sz="1400"/>
              <a:t>1</a:t>
            </a:r>
            <a:r>
              <a:rPr lang="zh-CN" altLang="en-US" sz="1400"/>
              <a:t>卫）提取为卧室数（</a:t>
            </a:r>
            <a:r>
              <a:rPr lang="en-US" altLang="zh-CN" sz="1400"/>
              <a:t>3</a:t>
            </a:r>
            <a:r>
              <a:rPr lang="zh-CN" altLang="en-US" sz="1400"/>
              <a:t>），客厅数（</a:t>
            </a:r>
            <a:r>
              <a:rPr lang="en-US" altLang="zh-CN" sz="1400"/>
              <a:t>1</a:t>
            </a:r>
            <a:r>
              <a:rPr lang="zh-CN" altLang="en-US" sz="1400"/>
              <a:t>）厨房数（</a:t>
            </a:r>
            <a:r>
              <a:rPr lang="en-US" altLang="zh-CN" sz="1400"/>
              <a:t>1</a:t>
            </a:r>
            <a:r>
              <a:rPr lang="zh-CN" altLang="en-US" sz="1400"/>
              <a:t>），卫生间数（</a:t>
            </a:r>
            <a:r>
              <a:rPr lang="en-US" altLang="zh-CN" sz="1400"/>
              <a:t>1</a:t>
            </a:r>
            <a:r>
              <a:rPr lang="zh-CN" altLang="en-US" sz="1400"/>
              <a:t>），总房间数（</a:t>
            </a:r>
            <a:r>
              <a:rPr lang="en-US" altLang="zh-CN" sz="1400"/>
              <a:t>6</a:t>
            </a:r>
            <a:r>
              <a:rPr lang="zh-CN" altLang="en-US" sz="1400"/>
              <a:t>）</a:t>
            </a:r>
            <a:endParaRPr lang="zh-CN" altLang="en-US" sz="1400"/>
          </a:p>
          <a:p>
            <a:r>
              <a:rPr lang="en-US" altLang="zh-CN" sz="1400"/>
              <a:t>2.</a:t>
            </a:r>
            <a:r>
              <a:rPr lang="zh-CN" altLang="en-US" sz="1400"/>
              <a:t>对于部分数据进行虚拟变量处理</a:t>
            </a:r>
            <a:r>
              <a:rPr lang="en-US" altLang="zh-CN" sz="1400"/>
              <a:t>,</a:t>
            </a:r>
            <a:r>
              <a:rPr lang="zh-CN" altLang="en-US" sz="1400"/>
              <a:t>比如城市，配备电梯（是否配备电梯），周边配套（是否临近地铁），产权描述（是否是共有产权）</a:t>
            </a:r>
            <a:endParaRPr lang="zh-CN" altLang="en-US" sz="1400"/>
          </a:p>
          <a:p>
            <a:r>
              <a:rPr lang="en-US" altLang="zh-CN" sz="1400"/>
              <a:t>3</a:t>
            </a:r>
            <a:r>
              <a:rPr lang="zh-CN" altLang="en-US" sz="1400"/>
              <a:t>，数据填充，对于缺失量较少的列，使用整体中位数填充，对于缺失较多的列，比如房间数，使用其他无缺失的列去预测（比如用建筑面积去预测房间数，然后进行填充，为避免数据泄露，用训练集训练然后填充整体数据的缺失）</a:t>
            </a:r>
            <a:endParaRPr lang="zh-CN" altLang="en-US" sz="1400"/>
          </a:p>
          <a:p>
            <a:r>
              <a:rPr lang="zh-CN" altLang="en-US" sz="1400"/>
              <a:t>建模：</a:t>
            </a:r>
            <a:endParaRPr lang="zh-CN" altLang="en-US" sz="1400"/>
          </a:p>
          <a:p>
            <a:r>
              <a:rPr lang="en-US" altLang="zh-CN" sz="1400"/>
              <a:t>1.</a:t>
            </a:r>
            <a:r>
              <a:rPr lang="zh-CN" altLang="en-US" sz="1400"/>
              <a:t>使用</a:t>
            </a:r>
            <a:r>
              <a:rPr lang="en-US" altLang="zh-CN" sz="1400"/>
              <a:t>ols</a:t>
            </a:r>
            <a:r>
              <a:rPr lang="zh-CN" altLang="en-US" sz="1400"/>
              <a:t>，去除</a:t>
            </a:r>
            <a:r>
              <a:rPr lang="en-US" altLang="zh-CN" sz="1400"/>
              <a:t>vif</a:t>
            </a:r>
            <a:r>
              <a:rPr lang="zh-CN" altLang="en-US" sz="1400"/>
              <a:t>较大的变量发现</a:t>
            </a:r>
            <a:r>
              <a:rPr lang="en-US" altLang="zh-CN" sz="1400"/>
              <a:t>R</a:t>
            </a:r>
            <a:r>
              <a:rPr lang="zh-CN" altLang="en-US" sz="1400"/>
              <a:t>方下降，所以选择保留</a:t>
            </a:r>
            <a:endParaRPr lang="zh-CN" altLang="en-US" sz="1400"/>
          </a:p>
          <a:p>
            <a:r>
              <a:rPr lang="en-US" altLang="zh-CN" sz="1400"/>
              <a:t>2.</a:t>
            </a:r>
            <a:r>
              <a:rPr lang="zh-CN" altLang="en-US" sz="1400"/>
              <a:t>使用</a:t>
            </a:r>
            <a:r>
              <a:rPr lang="en-US" altLang="zh-CN" sz="1400"/>
              <a:t>ridge</a:t>
            </a:r>
            <a:r>
              <a:rPr lang="zh-CN" altLang="en-US" sz="1400"/>
              <a:t>和</a:t>
            </a:r>
            <a:r>
              <a:rPr lang="en-US" altLang="zh-CN" sz="1400"/>
              <a:t>lasso</a:t>
            </a:r>
            <a:r>
              <a:rPr lang="zh-CN" altLang="en-US" sz="1400"/>
              <a:t>，先对数据进行标准化（</a:t>
            </a:r>
            <a:r>
              <a:rPr lang="en-US" altLang="zh-CN" sz="1400"/>
              <a:t>z-score),</a:t>
            </a:r>
            <a:r>
              <a:rPr lang="zh-CN" altLang="en-US" sz="1400"/>
              <a:t>利用交叉验证寻找最优超参数，带入模型与</a:t>
            </a:r>
            <a:r>
              <a:rPr lang="en-US" altLang="zh-CN" sz="1400"/>
              <a:t>OLS</a:t>
            </a:r>
            <a:r>
              <a:rPr lang="zh-CN" altLang="en-US" sz="1400"/>
              <a:t>差距不大。</a:t>
            </a:r>
            <a:endParaRPr lang="zh-CN" altLang="en-US" sz="1400"/>
          </a:p>
          <a:p>
            <a:r>
              <a:rPr lang="en-US" altLang="zh-CN" sz="1400"/>
              <a:t>3.Elastic Net</a:t>
            </a:r>
            <a:r>
              <a:rPr lang="zh-CN" altLang="en-US" sz="1400"/>
              <a:t>同</a:t>
            </a:r>
            <a:endParaRPr lang="en-US" altLang="zh-CN" sz="1400"/>
          </a:p>
          <a:p>
            <a:endParaRPr lang="zh-CN" altLang="en-US" sz="14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l="-1154" t="-3074" r="49513" b="-649"/>
          <a:stretch>
            <a:fillRect/>
          </a:stretch>
        </p:blipFill>
        <p:spPr>
          <a:xfrm>
            <a:off x="283210" y="3297555"/>
            <a:ext cx="2401570" cy="1884680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>
            <p:custDataLst>
              <p:tags r:id="rId3"/>
            </p:custDataLst>
          </p:nvPr>
        </p:nvGraphicFramePr>
        <p:xfrm>
          <a:off x="324964" y="5632112"/>
          <a:ext cx="11281410" cy="531495"/>
        </p:xfrm>
        <a:graphic>
          <a:graphicData uri="http://schemas.openxmlformats.org/drawingml/2006/table">
            <a:tbl>
              <a:tblPr/>
              <a:tblGrid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  <a:gridCol w="537210"/>
              </a:tblGrid>
              <a:tr h="53149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Price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建筑面积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绿化率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容积率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物业费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燃气费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房间总数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_11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是否整租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是否有电梯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是否有燃气</a:t>
                      </a:r>
                      <a:endParaRPr lang="zh-CN" altLang="en-US" sz="800" b="0" i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>
            <p:custDataLst>
              <p:tags r:id="rId4"/>
            </p:custDataLst>
          </p:nvPr>
        </p:nvGraphicFramePr>
        <p:xfrm>
          <a:off x="324964" y="5182235"/>
          <a:ext cx="11332845" cy="511175"/>
        </p:xfrm>
        <a:graphic>
          <a:graphicData uri="http://schemas.openxmlformats.org/drawingml/2006/table">
            <a:tbl>
              <a:tblPr/>
              <a:tblGrid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  <a:gridCol w="419735"/>
              </a:tblGrid>
              <a:tr h="51117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Price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建筑面积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电梯数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户数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梯户比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绿化率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容积率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物业费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燃气费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数值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临近地铁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房间总数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_3</a:t>
                      </a:r>
                      <a:endParaRPr lang="en-US" altLang="zh-CN" sz="800" b="0" i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_4</a:t>
                      </a:r>
                      <a:endParaRPr lang="en-US" altLang="zh-CN" sz="800" b="0" i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城市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_11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是否共有产权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是否有电梯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是否是精装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是否是简装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是否是毛坯</a:t>
                      </a:r>
                      <a:endParaRPr lang="zh-CN" altLang="en-US" sz="800" b="0" i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l="51871" t="69" r="239"/>
          <a:stretch>
            <a:fillRect/>
          </a:stretch>
        </p:blipFill>
        <p:spPr>
          <a:xfrm>
            <a:off x="2929890" y="3297555"/>
            <a:ext cx="2367915" cy="19304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339474" y="6263698"/>
            <a:ext cx="2674397" cy="45974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</a:rPr>
              <a:t>Group1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</a:rPr>
              <a:t>章子航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</a:rPr>
              <a:t> 2022200665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bbb4cef797ff38ee734db2778f16697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1456978"/>
            <a:ext cx="9745980" cy="26409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517603" y="6315124"/>
            <a:ext cx="6616700" cy="6045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</a:rPr>
              <a:t>Group1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</a:rPr>
              <a:t>李春 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</a:rPr>
              <a:t>2022201794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696585" y="662940"/>
            <a:ext cx="4956175" cy="929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创新点：在数据处理时保留了大部分文本数据，使用</a:t>
            </a:r>
            <a:r>
              <a:rPr lang="en-US" altLang="zh-CN"/>
              <a:t>snowNLP</a:t>
            </a:r>
            <a:r>
              <a:rPr lang="zh-CN" altLang="en-US"/>
              <a:t>进行情感模型处理，将客户反馈数据化。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696585" y="1947545"/>
            <a:ext cx="4868545" cy="2962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使用</a:t>
            </a:r>
            <a:r>
              <a:rPr lang="en-US" altLang="zh-CN"/>
              <a:t>TF-IDF</a:t>
            </a:r>
            <a:r>
              <a:rPr lang="zh-CN" altLang="en-US"/>
              <a:t>评估一个词在文档中的重要性，将文档转换为</a:t>
            </a:r>
            <a:r>
              <a:rPr lang="en-US" altLang="zh-CN"/>
              <a:t>TF-IDF</a:t>
            </a:r>
            <a:r>
              <a:rPr lang="zh-CN" altLang="en-US"/>
              <a:t>矩阵，并应用</a:t>
            </a:r>
            <a:r>
              <a:rPr lang="en-US" altLang="zh-CN"/>
              <a:t>SVD</a:t>
            </a:r>
            <a:r>
              <a:rPr lang="zh-CN" altLang="en-US"/>
              <a:t>进行降维。（</a:t>
            </a:r>
            <a:r>
              <a:rPr lang="en-US" altLang="zh-CN"/>
              <a:t>SVD</a:t>
            </a:r>
            <a:r>
              <a:rPr lang="zh-CN" altLang="en-US"/>
              <a:t>：用于降维，提取主要成分，减少特征数量。）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使用</a:t>
            </a:r>
            <a:r>
              <a:rPr lang="en-US" altLang="zh-CN"/>
              <a:t>OOF</a:t>
            </a:r>
            <a:r>
              <a:rPr lang="zh-CN" altLang="en-US"/>
              <a:t>防止数据泄露，在使用</a:t>
            </a:r>
            <a:r>
              <a:rPr lang="en-US" altLang="zh-CN"/>
              <a:t>K</a:t>
            </a:r>
            <a:r>
              <a:rPr lang="zh-CN" altLang="en-US"/>
              <a:t>折交叉验证时，数据集被分成</a:t>
            </a:r>
            <a:r>
              <a:rPr lang="en-US" altLang="zh-CN"/>
              <a:t>K</a:t>
            </a:r>
            <a:r>
              <a:rPr lang="zh-CN" altLang="en-US"/>
              <a:t>个部分（折），模型将在</a:t>
            </a:r>
            <a:r>
              <a:rPr lang="en-US" altLang="zh-CN"/>
              <a:t>K-1</a:t>
            </a:r>
            <a:r>
              <a:rPr lang="zh-CN" altLang="en-US"/>
              <a:t>个部分上训练，而在剩下的</a:t>
            </a:r>
            <a:r>
              <a:rPr lang="en-US" altLang="zh-CN"/>
              <a:t>1</a:t>
            </a:r>
            <a:r>
              <a:rPr lang="zh-CN" altLang="en-US"/>
              <a:t>个部分上进行验证。这个过程会重复</a:t>
            </a:r>
            <a:r>
              <a:rPr lang="en-US" altLang="zh-CN"/>
              <a:t>K</a:t>
            </a:r>
            <a:r>
              <a:rPr lang="zh-CN" altLang="en-US"/>
              <a:t>次，每次选择不同的部分作为验证集，并记录每次验证的预测结果。</a:t>
            </a:r>
            <a:endParaRPr lang="zh-CN" altLang="en-US"/>
          </a:p>
          <a:p>
            <a:r>
              <a:rPr lang="zh-CN" altLang="en-US"/>
              <a:t>最终的</a:t>
            </a:r>
            <a:r>
              <a:rPr lang="en-US" altLang="zh-CN"/>
              <a:t>OOF</a:t>
            </a:r>
            <a:r>
              <a:rPr lang="zh-CN" altLang="en-US"/>
              <a:t>特征是基于</a:t>
            </a:r>
            <a:r>
              <a:rPr lang="en-US" altLang="zh-CN"/>
              <a:t>K</a:t>
            </a:r>
            <a:r>
              <a:rPr lang="zh-CN" altLang="en-US"/>
              <a:t>次验证的预测结果，这些预测结果不会在训练过程中被使用，从而防止了数据泄漏，为后续模型训练提供更有意义的特征。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517603" y="6315124"/>
            <a:ext cx="3147431" cy="6045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</a:rPr>
              <a:t>Group1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</a:rPr>
              <a:t>郑融奇 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</a:rPr>
              <a:t>2023200631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1079500"/>
            <a:ext cx="5311775" cy="44081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05499" y="2354242"/>
            <a:ext cx="3828804" cy="1325563"/>
          </a:xfrm>
        </p:spPr>
        <p:txBody>
          <a:bodyPr>
            <a:noAutofit/>
          </a:bodyPr>
          <a:lstStyle/>
          <a:p>
            <a:r>
              <a:rPr lang="zh-CN" altLang="en-US" sz="8000" b="1" dirty="0"/>
              <a:t>谢谢！</a:t>
            </a:r>
            <a:endParaRPr lang="zh-CN" altLang="en-US" sz="8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4222172" y="4102926"/>
            <a:ext cx="4613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组员：陈丽啦</a:t>
            </a:r>
            <a:r>
              <a:rPr lang="en-US" altLang="zh-CN" dirty="0"/>
              <a:t>   </a:t>
            </a:r>
            <a:r>
              <a:rPr lang="zh-CN" altLang="en-US" dirty="0"/>
              <a:t>章子航</a:t>
            </a:r>
            <a:r>
              <a:rPr lang="en-US" altLang="zh-CN" dirty="0"/>
              <a:t>   </a:t>
            </a:r>
            <a:r>
              <a:rPr lang="zh-CN" altLang="en-US" dirty="0"/>
              <a:t>李春</a:t>
            </a:r>
            <a:r>
              <a:rPr lang="en-US" altLang="zh-CN" dirty="0"/>
              <a:t>   </a:t>
            </a:r>
            <a:r>
              <a:rPr lang="zh-CN" altLang="en-US" dirty="0"/>
              <a:t>郑融奇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83*166"/>
  <p:tag name="TABLE_ENDDRAG_RECT" val="54*8*283*166"/>
</p:tagLst>
</file>

<file path=ppt/tags/tag2.xml><?xml version="1.0" encoding="utf-8"?>
<p:tagLst xmlns:p="http://schemas.openxmlformats.org/presentationml/2006/main">
  <p:tag name="TABLE_ENDDRAG_ORIGIN_RECT" val="887*41"/>
  <p:tag name="TABLE_ENDDRAG_RECT" val="23*481*887*41"/>
</p:tagLst>
</file>

<file path=ppt/tags/tag3.xml><?xml version="1.0" encoding="utf-8"?>
<p:tagLst xmlns:p="http://schemas.openxmlformats.org/presentationml/2006/main">
  <p:tag name="TABLE_ENDDRAG_ORIGIN_RECT" val="891*40"/>
  <p:tag name="TABLE_ENDDRAG_RECT" val="23*448*891*40"/>
</p:tagLst>
</file>

<file path=ppt/tags/tag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1684</Words>
  <Application>WPS 演示</Application>
  <PresentationFormat>宽屏</PresentationFormat>
  <Paragraphs>190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等线 Light</vt:lpstr>
      <vt:lpstr>等线</vt:lpstr>
      <vt:lpstr>微软雅黑</vt:lpstr>
      <vt:lpstr>Arial Unicode MS</vt:lpstr>
      <vt:lpstr>Calibri</vt:lpstr>
      <vt:lpstr>Office 主题​​</vt:lpstr>
      <vt:lpstr>第一组期中展示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丽啦 陈</dc:creator>
  <cp:lastModifiedBy>神罗皇帝马克西米利安一世</cp:lastModifiedBy>
  <cp:revision>11</cp:revision>
  <dcterms:created xsi:type="dcterms:W3CDTF">2025-10-29T15:07:00Z</dcterms:created>
  <dcterms:modified xsi:type="dcterms:W3CDTF">2025-10-30T08:44:33Z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09B1A074BC09492CA9C941148CE45E4D_13</vt:lpwstr>
  </property>
  <property fmtid="{D5CDD505-2E9C-101B-9397-08002B2CF9AE}" pid="3" name="KSOProductBuildVer">
    <vt:lpwstr>2052-12.1.0.23125</vt:lpwstr>
  </property>
</Properties>
</file>