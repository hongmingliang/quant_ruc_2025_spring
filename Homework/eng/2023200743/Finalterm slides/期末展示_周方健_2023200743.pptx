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81" r:id="rId3"/>
    <p:sldId id="26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48" y="7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图片 100">
            <a:extLst>
              <a:ext uri="{FF2B5EF4-FFF2-40B4-BE49-F238E27FC236}">
                <a16:creationId xmlns:a16="http://schemas.microsoft.com/office/drawing/2014/main" id="{F97304F0-B60B-403A-AADF-09E9DC6FB8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515" y="68804"/>
            <a:ext cx="6741485" cy="674148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14AF5B3-D921-4C67-9B28-B91AEF076AB6}"/>
              </a:ext>
            </a:extLst>
          </p:cNvPr>
          <p:cNvSpPr/>
          <p:nvPr/>
        </p:nvSpPr>
        <p:spPr>
          <a:xfrm>
            <a:off x="0" y="-1"/>
            <a:ext cx="12192000" cy="718985"/>
          </a:xfrm>
          <a:prstGeom prst="rect">
            <a:avLst/>
          </a:prstGeom>
          <a:solidFill>
            <a:srgbClr val="9D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F6B815-D88B-4896-9696-7C3E85323295}"/>
              </a:ext>
            </a:extLst>
          </p:cNvPr>
          <p:cNvSpPr/>
          <p:nvPr/>
        </p:nvSpPr>
        <p:spPr>
          <a:xfrm>
            <a:off x="0" y="6839665"/>
            <a:ext cx="12192000" cy="45719"/>
          </a:xfrm>
          <a:prstGeom prst="rect">
            <a:avLst/>
          </a:prstGeom>
          <a:solidFill>
            <a:srgbClr val="9D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8F9056-8B9A-4ED9-8C80-C8A4D3F839A7}"/>
              </a:ext>
            </a:extLst>
          </p:cNvPr>
          <p:cNvSpPr/>
          <p:nvPr/>
        </p:nvSpPr>
        <p:spPr>
          <a:xfrm>
            <a:off x="202" y="718985"/>
            <a:ext cx="12192000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8065C9-54B9-46EE-96FA-0D2BBAC8B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5360" y="91737"/>
            <a:ext cx="535508" cy="535508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22C02FD4-361A-402A-80CB-1E5F1D934366}"/>
              </a:ext>
            </a:extLst>
          </p:cNvPr>
          <p:cNvSpPr txBox="1"/>
          <p:nvPr/>
        </p:nvSpPr>
        <p:spPr>
          <a:xfrm>
            <a:off x="983431" y="128658"/>
            <a:ext cx="400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From Linear to GBDT</a:t>
            </a:r>
            <a:endParaRPr lang="zh-CN" altLang="en-US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6F55568-9819-47F2-8D0D-FEFF7BD0EB26}"/>
              </a:ext>
            </a:extLst>
          </p:cNvPr>
          <p:cNvGrpSpPr/>
          <p:nvPr/>
        </p:nvGrpSpPr>
        <p:grpSpPr>
          <a:xfrm>
            <a:off x="409003" y="4992111"/>
            <a:ext cx="11617291" cy="438043"/>
            <a:chOff x="534438" y="3368953"/>
            <a:chExt cx="10944224" cy="438144"/>
          </a:xfrm>
          <a:solidFill>
            <a:sysClr val="window" lastClr="FFFFFF">
              <a:lumMod val="65000"/>
            </a:sysClr>
          </a:solidFill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9F4E91B-2925-4D16-B944-6249362FE72B}"/>
                </a:ext>
              </a:extLst>
            </p:cNvPr>
            <p:cNvSpPr/>
            <p:nvPr/>
          </p:nvSpPr>
          <p:spPr>
            <a:xfrm>
              <a:off x="11049789" y="3503489"/>
              <a:ext cx="50397" cy="169069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BF3E671-A71F-4B41-9041-52EFD708E7D9}"/>
                </a:ext>
              </a:extLst>
            </p:cNvPr>
            <p:cNvGrpSpPr/>
            <p:nvPr/>
          </p:nvGrpSpPr>
          <p:grpSpPr>
            <a:xfrm>
              <a:off x="534438" y="3368953"/>
              <a:ext cx="10944224" cy="438144"/>
              <a:chOff x="623889" y="3209929"/>
              <a:chExt cx="10944224" cy="438144"/>
            </a:xfrm>
            <a:grpFill/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670C205-CA95-412C-8BAE-E32020F93FF3}"/>
                  </a:ext>
                </a:extLst>
              </p:cNvPr>
              <p:cNvSpPr/>
              <p:nvPr/>
            </p:nvSpPr>
            <p:spPr>
              <a:xfrm>
                <a:off x="623889" y="3344465"/>
                <a:ext cx="50397" cy="169069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A2A6887-0B95-4149-9F33-434F34299B39}"/>
                  </a:ext>
                </a:extLst>
              </p:cNvPr>
              <p:cNvSpPr/>
              <p:nvPr/>
            </p:nvSpPr>
            <p:spPr>
              <a:xfrm>
                <a:off x="717047" y="3344465"/>
                <a:ext cx="107093" cy="169069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7E672E2-4EAC-452B-BFAA-ED334A29CD97}"/>
                  </a:ext>
                </a:extLst>
              </p:cNvPr>
              <p:cNvSpPr/>
              <p:nvPr/>
            </p:nvSpPr>
            <p:spPr>
              <a:xfrm>
                <a:off x="866901" y="3344465"/>
                <a:ext cx="198437" cy="169069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247E917-3610-4D50-8E86-E204CABA2330}"/>
                  </a:ext>
                </a:extLst>
              </p:cNvPr>
              <p:cNvSpPr/>
              <p:nvPr/>
            </p:nvSpPr>
            <p:spPr>
              <a:xfrm>
                <a:off x="1108099" y="3344465"/>
                <a:ext cx="9613876" cy="169069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7FE002E-717D-4214-AA89-B3AF7B5FB7A7}"/>
                  </a:ext>
                </a:extLst>
              </p:cNvPr>
              <p:cNvSpPr/>
              <p:nvPr/>
            </p:nvSpPr>
            <p:spPr>
              <a:xfrm>
                <a:off x="10994902" y="3344465"/>
                <a:ext cx="107093" cy="169069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956EC2C-3B9D-4706-8CF9-14395F006C21}"/>
                  </a:ext>
                </a:extLst>
              </p:cNvPr>
              <p:cNvSpPr/>
              <p:nvPr/>
            </p:nvSpPr>
            <p:spPr>
              <a:xfrm>
                <a:off x="10759220" y="3344465"/>
                <a:ext cx="198437" cy="169069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等腰三角形 19">
                <a:extLst>
                  <a:ext uri="{FF2B5EF4-FFF2-40B4-BE49-F238E27FC236}">
                    <a16:creationId xmlns:a16="http://schemas.microsoft.com/office/drawing/2014/main" id="{85B2F09A-4DD2-4AA1-9F29-69C6E2E092C0}"/>
                  </a:ext>
                </a:extLst>
              </p:cNvPr>
              <p:cNvSpPr/>
              <p:nvPr/>
            </p:nvSpPr>
            <p:spPr>
              <a:xfrm rot="5400000">
                <a:off x="11159803" y="3239763"/>
                <a:ext cx="438144" cy="378476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21917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cxnSp>
        <p:nvCxnSpPr>
          <p:cNvPr id="21" name="肘形连接符 13">
            <a:extLst>
              <a:ext uri="{FF2B5EF4-FFF2-40B4-BE49-F238E27FC236}">
                <a16:creationId xmlns:a16="http://schemas.microsoft.com/office/drawing/2014/main" id="{7236CFB6-7C4E-4734-9B26-41F8BDEEFDDD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rot="16200000" flipV="1">
            <a:off x="529461" y="3923804"/>
            <a:ext cx="830906" cy="1071821"/>
          </a:xfrm>
          <a:prstGeom prst="bentConnector4">
            <a:avLst>
              <a:gd name="adj1" fmla="val 25031"/>
              <a:gd name="adj2" fmla="val 121328"/>
            </a:avLst>
          </a:prstGeom>
          <a:noFill/>
          <a:ln w="9525" cap="flat" cmpd="sng" algn="ctr">
            <a:solidFill>
              <a:srgbClr val="414455"/>
            </a:solidFill>
            <a:prstDash val="solid"/>
          </a:ln>
          <a:effectLst/>
        </p:spPr>
      </p:cxn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B033D6E-4634-4DF7-B274-E29DE69CF2FF}"/>
              </a:ext>
            </a:extLst>
          </p:cNvPr>
          <p:cNvGrpSpPr/>
          <p:nvPr/>
        </p:nvGrpSpPr>
        <p:grpSpPr>
          <a:xfrm>
            <a:off x="1189428" y="4875168"/>
            <a:ext cx="582792" cy="676236"/>
            <a:chOff x="1109756" y="3090803"/>
            <a:chExt cx="583096" cy="676392"/>
          </a:xfrm>
          <a:solidFill>
            <a:srgbClr val="9D0B0B"/>
          </a:solidFill>
        </p:grpSpPr>
        <p:sp>
          <p:nvSpPr>
            <p:cNvPr id="23" name="六边形 22">
              <a:extLst>
                <a:ext uri="{FF2B5EF4-FFF2-40B4-BE49-F238E27FC236}">
                  <a16:creationId xmlns:a16="http://schemas.microsoft.com/office/drawing/2014/main" id="{D2713FE0-DE11-4F44-82F0-39FD334A4A08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文本框 64">
              <a:extLst>
                <a:ext uri="{FF2B5EF4-FFF2-40B4-BE49-F238E27FC236}">
                  <a16:creationId xmlns:a16="http://schemas.microsoft.com/office/drawing/2014/main" id="{9670363D-2918-4D80-8EE7-41E725316B30}"/>
                </a:ext>
              </a:extLst>
            </p:cNvPr>
            <p:cNvSpPr txBox="1"/>
            <p:nvPr/>
          </p:nvSpPr>
          <p:spPr>
            <a:xfrm>
              <a:off x="1115001" y="3231615"/>
              <a:ext cx="577851" cy="3386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宋体" panose="02010600030101010101" pitchFamily="2" charset="-122"/>
                </a:rPr>
                <a:t>1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27" name="文本框 66">
            <a:extLst>
              <a:ext uri="{FF2B5EF4-FFF2-40B4-BE49-F238E27FC236}">
                <a16:creationId xmlns:a16="http://schemas.microsoft.com/office/drawing/2014/main" id="{7BF510E5-781A-4C5A-BD3D-B167F8E7915F}"/>
              </a:ext>
            </a:extLst>
          </p:cNvPr>
          <p:cNvSpPr txBox="1"/>
          <p:nvPr/>
        </p:nvSpPr>
        <p:spPr>
          <a:xfrm>
            <a:off x="409003" y="3582597"/>
            <a:ext cx="1922420" cy="923330"/>
          </a:xfrm>
          <a:prstGeom prst="rect">
            <a:avLst/>
          </a:prstGeom>
          <a:solidFill>
            <a:srgbClr val="EEECE1"/>
          </a:solidFill>
        </p:spPr>
        <p:txBody>
          <a:bodyPr wrap="square" rtlCol="0">
            <a:spAutoFit/>
          </a:bodyPr>
          <a:lstStyle/>
          <a:p>
            <a:pPr lvl="0" algn="just" defTabSz="1219170">
              <a:defRPr/>
            </a:pPr>
            <a:r>
              <a:rPr lang="zh-CN" altLang="en-US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b="1" kern="0" dirty="0" err="1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LightGBM</a:t>
            </a:r>
            <a:r>
              <a:rPr lang="zh-CN" altLang="en-US" b="1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（使用直方图算法和</a:t>
            </a:r>
            <a:r>
              <a:rPr lang="en-US" altLang="zh-CN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EFB</a:t>
            </a:r>
            <a:r>
              <a:rPr lang="zh-CN" altLang="en-US" kern="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肘形连接符 20">
            <a:extLst>
              <a:ext uri="{FF2B5EF4-FFF2-40B4-BE49-F238E27FC236}">
                <a16:creationId xmlns:a16="http://schemas.microsoft.com/office/drawing/2014/main" id="{D8EDCDD0-0963-4344-B7F5-A70E0D6FD0EF}"/>
              </a:ext>
            </a:extLst>
          </p:cNvPr>
          <p:cNvCxnSpPr>
            <a:cxnSpLocks/>
            <a:stCxn id="30" idx="3"/>
            <a:endCxn id="34" idx="1"/>
          </p:cNvCxnSpPr>
          <p:nvPr/>
        </p:nvCxnSpPr>
        <p:spPr>
          <a:xfrm rot="16200000" flipV="1">
            <a:off x="2902476" y="3717771"/>
            <a:ext cx="931236" cy="1383557"/>
          </a:xfrm>
          <a:prstGeom prst="bentConnector4">
            <a:avLst>
              <a:gd name="adj1" fmla="val 20285"/>
              <a:gd name="adj2" fmla="val 116523"/>
            </a:avLst>
          </a:prstGeom>
          <a:noFill/>
          <a:ln w="9525" cap="flat" cmpd="sng" algn="ctr">
            <a:solidFill>
              <a:srgbClr val="414455"/>
            </a:solidFill>
            <a:prstDash val="solid"/>
          </a:ln>
          <a:effectLst/>
        </p:spPr>
      </p:cxn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D20285F-CE17-40F8-99DF-1E4267B6A26C}"/>
              </a:ext>
            </a:extLst>
          </p:cNvPr>
          <p:cNvGrpSpPr/>
          <p:nvPr/>
        </p:nvGrpSpPr>
        <p:grpSpPr>
          <a:xfrm>
            <a:off x="3768476" y="4875168"/>
            <a:ext cx="582792" cy="676236"/>
            <a:chOff x="1109756" y="3090803"/>
            <a:chExt cx="583096" cy="676392"/>
          </a:xfrm>
          <a:solidFill>
            <a:srgbClr val="9D0B0B"/>
          </a:solidFill>
        </p:grpSpPr>
        <p:sp>
          <p:nvSpPr>
            <p:cNvPr id="30" name="六边形 29">
              <a:extLst>
                <a:ext uri="{FF2B5EF4-FFF2-40B4-BE49-F238E27FC236}">
                  <a16:creationId xmlns:a16="http://schemas.microsoft.com/office/drawing/2014/main" id="{7E953EA6-A943-47FD-B13C-054FC951216E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文本框 72">
              <a:extLst>
                <a:ext uri="{FF2B5EF4-FFF2-40B4-BE49-F238E27FC236}">
                  <a16:creationId xmlns:a16="http://schemas.microsoft.com/office/drawing/2014/main" id="{C54169DF-791B-4882-8B30-D3CCEC0EF673}"/>
                </a:ext>
              </a:extLst>
            </p:cNvPr>
            <p:cNvSpPr txBox="1"/>
            <p:nvPr/>
          </p:nvSpPr>
          <p:spPr>
            <a:xfrm>
              <a:off x="1115001" y="3231615"/>
              <a:ext cx="577851" cy="3386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宋体" panose="02010600030101010101" pitchFamily="2" charset="-122"/>
                </a:rPr>
                <a:t>2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34" name="文本框 75">
            <a:extLst>
              <a:ext uri="{FF2B5EF4-FFF2-40B4-BE49-F238E27FC236}">
                <a16:creationId xmlns:a16="http://schemas.microsoft.com/office/drawing/2014/main" id="{BC72D47D-5B33-4F8C-B956-F8A06672527C}"/>
              </a:ext>
            </a:extLst>
          </p:cNvPr>
          <p:cNvSpPr txBox="1"/>
          <p:nvPr/>
        </p:nvSpPr>
        <p:spPr>
          <a:xfrm>
            <a:off x="2676315" y="3343767"/>
            <a:ext cx="3331021" cy="1200329"/>
          </a:xfrm>
          <a:prstGeom prst="rect">
            <a:avLst/>
          </a:prstGeom>
          <a:solidFill>
            <a:srgbClr val="EEECE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移除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Lasso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筛选特征和标准化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marR="0" lvl="0" indent="0" algn="just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GBDT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内置的特征重要性（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Information Gain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cxnSp>
        <p:nvCxnSpPr>
          <p:cNvPr id="35" name="肘形连接符 27">
            <a:extLst>
              <a:ext uri="{FF2B5EF4-FFF2-40B4-BE49-F238E27FC236}">
                <a16:creationId xmlns:a16="http://schemas.microsoft.com/office/drawing/2014/main" id="{388A6776-3670-4AD9-A94D-BA38EBE7395D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 rot="16200000" flipV="1">
            <a:off x="6145825" y="4382070"/>
            <a:ext cx="957181" cy="29015"/>
          </a:xfrm>
          <a:prstGeom prst="bentConnector4">
            <a:avLst>
              <a:gd name="adj1" fmla="val 21090"/>
              <a:gd name="adj2" fmla="val 1953190"/>
            </a:avLst>
          </a:prstGeom>
          <a:noFill/>
          <a:ln w="9525" cap="flat" cmpd="sng" algn="ctr">
            <a:solidFill>
              <a:srgbClr val="414455"/>
            </a:solidFill>
            <a:prstDash val="solid"/>
          </a:ln>
          <a:effectLst/>
        </p:spPr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647DD4D-500B-492E-872A-06CB92F7BB95}"/>
              </a:ext>
            </a:extLst>
          </p:cNvPr>
          <p:cNvGrpSpPr/>
          <p:nvPr/>
        </p:nvGrpSpPr>
        <p:grpSpPr>
          <a:xfrm>
            <a:off x="6347526" y="4875168"/>
            <a:ext cx="582792" cy="676236"/>
            <a:chOff x="1109756" y="3090803"/>
            <a:chExt cx="583096" cy="676392"/>
          </a:xfrm>
          <a:solidFill>
            <a:srgbClr val="9D0B0B"/>
          </a:solidFill>
        </p:grpSpPr>
        <p:sp>
          <p:nvSpPr>
            <p:cNvPr id="37" name="六边形 36">
              <a:extLst>
                <a:ext uri="{FF2B5EF4-FFF2-40B4-BE49-F238E27FC236}">
                  <a16:creationId xmlns:a16="http://schemas.microsoft.com/office/drawing/2014/main" id="{BA2EEA55-68A5-4917-9511-B19F3C7667F3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" name="文本框 79">
              <a:extLst>
                <a:ext uri="{FF2B5EF4-FFF2-40B4-BE49-F238E27FC236}">
                  <a16:creationId xmlns:a16="http://schemas.microsoft.com/office/drawing/2014/main" id="{D930E2A9-8655-4101-9932-EA67A8687803}"/>
                </a:ext>
              </a:extLst>
            </p:cNvPr>
            <p:cNvSpPr txBox="1"/>
            <p:nvPr/>
          </p:nvSpPr>
          <p:spPr>
            <a:xfrm>
              <a:off x="1115001" y="3231615"/>
              <a:ext cx="577851" cy="3386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宋体" panose="02010600030101010101" pitchFamily="2" charset="-122"/>
                </a:rPr>
                <a:t>3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41" name="文本框 82">
            <a:extLst>
              <a:ext uri="{FF2B5EF4-FFF2-40B4-BE49-F238E27FC236}">
                <a16:creationId xmlns:a16="http://schemas.microsoft.com/office/drawing/2014/main" id="{BBBF8610-5764-4581-968C-491D5E47C5A2}"/>
              </a:ext>
            </a:extLst>
          </p:cNvPr>
          <p:cNvSpPr txBox="1"/>
          <p:nvPr/>
        </p:nvSpPr>
        <p:spPr>
          <a:xfrm>
            <a:off x="6609907" y="3317822"/>
            <a:ext cx="2256519" cy="1200329"/>
          </a:xfrm>
          <a:prstGeom prst="rect">
            <a:avLst/>
          </a:prstGeom>
          <a:solidFill>
            <a:srgbClr val="EEECE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200">
                <a:gradFill>
                  <a:gsLst>
                    <a:gs pos="0">
                      <a:schemeClr val="bg1">
                        <a:shade val="30000"/>
                        <a:satMod val="115000"/>
                      </a:schemeClr>
                    </a:gs>
                    <a:gs pos="50000">
                      <a:schemeClr val="bg1">
                        <a:shade val="67500"/>
                        <a:satMod val="115000"/>
                      </a:schemeClr>
                    </a:gs>
                    <a:gs pos="100000">
                      <a:schemeClr val="bg1">
                        <a:shade val="100000"/>
                        <a:satMod val="115000"/>
                      </a:schemeClr>
                    </a:gs>
                  </a:gsLst>
                  <a:lin ang="162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放弃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One-Hot Encoding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LGBM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Native Categorical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BEB6675-6369-439F-8A72-5869C222299C}"/>
              </a:ext>
            </a:extLst>
          </p:cNvPr>
          <p:cNvGrpSpPr/>
          <p:nvPr/>
        </p:nvGrpSpPr>
        <p:grpSpPr>
          <a:xfrm>
            <a:off x="8926574" y="4875168"/>
            <a:ext cx="582792" cy="676236"/>
            <a:chOff x="1109756" y="3090803"/>
            <a:chExt cx="583096" cy="676392"/>
          </a:xfrm>
          <a:solidFill>
            <a:srgbClr val="9D0B0B"/>
          </a:solidFill>
        </p:grpSpPr>
        <p:sp>
          <p:nvSpPr>
            <p:cNvPr id="44" name="六边形 43">
              <a:extLst>
                <a:ext uri="{FF2B5EF4-FFF2-40B4-BE49-F238E27FC236}">
                  <a16:creationId xmlns:a16="http://schemas.microsoft.com/office/drawing/2014/main" id="{C479091A-AE00-4201-9959-B5F12CC4F70B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" name="文本框 86">
              <a:extLst>
                <a:ext uri="{FF2B5EF4-FFF2-40B4-BE49-F238E27FC236}">
                  <a16:creationId xmlns:a16="http://schemas.microsoft.com/office/drawing/2014/main" id="{6C9855C2-9618-4710-A01D-26942FDB1A9F}"/>
                </a:ext>
              </a:extLst>
            </p:cNvPr>
            <p:cNvSpPr txBox="1"/>
            <p:nvPr/>
          </p:nvSpPr>
          <p:spPr>
            <a:xfrm>
              <a:off x="1109757" y="3231615"/>
              <a:ext cx="577851" cy="3386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b="1" kern="0" dirty="0">
                  <a:solidFill>
                    <a:prstClr val="white"/>
                  </a:solidFill>
                  <a:latin typeface="宋体" panose="02010600030101010101" pitchFamily="2" charset="-122"/>
                </a:rPr>
                <a:t>4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BEB5A38-3CF5-4DC9-95BA-7F3B224F7F99}"/>
              </a:ext>
            </a:extLst>
          </p:cNvPr>
          <p:cNvGrpSpPr/>
          <p:nvPr/>
        </p:nvGrpSpPr>
        <p:grpSpPr>
          <a:xfrm>
            <a:off x="8567537" y="9700"/>
            <a:ext cx="3289103" cy="691397"/>
            <a:chOff x="-96688" y="198632"/>
            <a:chExt cx="3289103" cy="691397"/>
          </a:xfrm>
        </p:grpSpPr>
        <p:pic>
          <p:nvPicPr>
            <p:cNvPr id="75" name="图片 74">
              <a:extLst>
                <a:ext uri="{FF2B5EF4-FFF2-40B4-BE49-F238E27FC236}">
                  <a16:creationId xmlns:a16="http://schemas.microsoft.com/office/drawing/2014/main" id="{65FA1412-40FA-41A7-B454-3419CB5FFA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151"/>
            <a:stretch/>
          </p:blipFill>
          <p:spPr>
            <a:xfrm>
              <a:off x="-96688" y="198632"/>
              <a:ext cx="1869266" cy="691397"/>
            </a:xfrm>
            <a:prstGeom prst="rect">
              <a:avLst/>
            </a:prstGeom>
          </p:spPr>
        </p:pic>
        <p:pic>
          <p:nvPicPr>
            <p:cNvPr id="76" name="图片 75">
              <a:extLst>
                <a:ext uri="{FF2B5EF4-FFF2-40B4-BE49-F238E27FC236}">
                  <a16:creationId xmlns:a16="http://schemas.microsoft.com/office/drawing/2014/main" id="{A30B2EE4-7C8B-4E5F-B412-1E5796BCA1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864"/>
            <a:stretch/>
          </p:blipFill>
          <p:spPr>
            <a:xfrm>
              <a:off x="1323149" y="270841"/>
              <a:ext cx="1869266" cy="521643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2A990E1C-9495-0D8A-5C10-CB24525DD0F9}"/>
              </a:ext>
            </a:extLst>
          </p:cNvPr>
          <p:cNvSpPr txBox="1"/>
          <p:nvPr/>
        </p:nvSpPr>
        <p:spPr>
          <a:xfrm>
            <a:off x="811410" y="5904111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评分变化</a:t>
            </a:r>
            <a:endParaRPr lang="en-US" altLang="zh-CN" sz="2400" b="1" dirty="0"/>
          </a:p>
          <a:p>
            <a:r>
              <a:rPr lang="en-US" altLang="zh-CN" sz="2400" b="1" dirty="0"/>
              <a:t>58.5-73.8</a:t>
            </a:r>
            <a:endParaRPr lang="zh-CN" altLang="en-US" sz="2400" b="1" dirty="0"/>
          </a:p>
        </p:txBody>
      </p:sp>
      <p:sp>
        <p:nvSpPr>
          <p:cNvPr id="77" name="文本框 82">
            <a:extLst>
              <a:ext uri="{FF2B5EF4-FFF2-40B4-BE49-F238E27FC236}">
                <a16:creationId xmlns:a16="http://schemas.microsoft.com/office/drawing/2014/main" id="{F9014359-B86A-5685-3B41-FB764AADD766}"/>
              </a:ext>
            </a:extLst>
          </p:cNvPr>
          <p:cNvSpPr txBox="1"/>
          <p:nvPr/>
        </p:nvSpPr>
        <p:spPr>
          <a:xfrm>
            <a:off x="9284513" y="3264821"/>
            <a:ext cx="2362716" cy="1200330"/>
          </a:xfrm>
          <a:prstGeom prst="rect">
            <a:avLst/>
          </a:prstGeom>
          <a:solidFill>
            <a:srgbClr val="EEECE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200">
                <a:gradFill>
                  <a:gsLst>
                    <a:gs pos="0">
                      <a:schemeClr val="bg1">
                        <a:shade val="30000"/>
                        <a:satMod val="115000"/>
                      </a:schemeClr>
                    </a:gs>
                    <a:gs pos="50000">
                      <a:schemeClr val="bg1">
                        <a:shade val="67500"/>
                        <a:satMod val="115000"/>
                      </a:schemeClr>
                    </a:gs>
                    <a:gs pos="100000">
                      <a:schemeClr val="bg1">
                        <a:shade val="100000"/>
                        <a:satMod val="115000"/>
                      </a:schemeClr>
                    </a:gs>
                  </a:gsLst>
                  <a:lin ang="162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just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实施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5-Fold Cross-Validation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，确保模型在样本外 的表现稳定。</a:t>
            </a:r>
          </a:p>
        </p:txBody>
      </p:sp>
      <p:cxnSp>
        <p:nvCxnSpPr>
          <p:cNvPr id="86" name="肘形连接符 27">
            <a:extLst>
              <a:ext uri="{FF2B5EF4-FFF2-40B4-BE49-F238E27FC236}">
                <a16:creationId xmlns:a16="http://schemas.microsoft.com/office/drawing/2014/main" id="{63CF9C9F-3DC2-4858-23C8-DC4690C268C9}"/>
              </a:ext>
            </a:extLst>
          </p:cNvPr>
          <p:cNvCxnSpPr>
            <a:cxnSpLocks/>
            <a:stCxn id="44" idx="3"/>
            <a:endCxn id="77" idx="1"/>
          </p:cNvCxnSpPr>
          <p:nvPr/>
        </p:nvCxnSpPr>
        <p:spPr>
          <a:xfrm rot="5400000" flipH="1" flipV="1">
            <a:off x="8746150" y="4336806"/>
            <a:ext cx="1010182" cy="66543"/>
          </a:xfrm>
          <a:prstGeom prst="bentConnector2">
            <a:avLst/>
          </a:prstGeom>
          <a:noFill/>
          <a:ln w="9525" cap="flat" cmpd="sng" algn="ctr">
            <a:solidFill>
              <a:srgbClr val="414455"/>
            </a:solidFill>
            <a:prstDash val="solid"/>
          </a:ln>
          <a:effectLst/>
        </p:spPr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27575B50-16BD-C251-C8EC-003CA6AFF4C9}"/>
              </a:ext>
            </a:extLst>
          </p:cNvPr>
          <p:cNvSpPr txBox="1"/>
          <p:nvPr/>
        </p:nvSpPr>
        <p:spPr>
          <a:xfrm>
            <a:off x="3351986" y="5895281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评分变化</a:t>
            </a:r>
            <a:endParaRPr lang="en-US" altLang="zh-CN" sz="2400" b="1" dirty="0"/>
          </a:p>
          <a:p>
            <a:r>
              <a:rPr lang="en-US" altLang="zh-CN" sz="2400" b="1" dirty="0"/>
              <a:t>73.8-74.0</a:t>
            </a:r>
            <a:endParaRPr lang="zh-CN" altLang="en-US" sz="2400" b="1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C1030CA-C3D3-8E6F-3A70-AE3E65B73BFF}"/>
              </a:ext>
            </a:extLst>
          </p:cNvPr>
          <p:cNvSpPr txBox="1"/>
          <p:nvPr/>
        </p:nvSpPr>
        <p:spPr>
          <a:xfrm>
            <a:off x="5931036" y="5867620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评分变化</a:t>
            </a:r>
            <a:endParaRPr lang="en-US" altLang="zh-CN" sz="2400" b="1" dirty="0"/>
          </a:p>
          <a:p>
            <a:r>
              <a:rPr lang="en-US" altLang="zh-CN" sz="2400" b="1" dirty="0"/>
              <a:t>74.0-75.5</a:t>
            </a:r>
            <a:endParaRPr lang="zh-CN" altLang="en-US" sz="2400" b="1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65C588D-A7A1-99F4-E4BE-3CF13CAA4E31}"/>
              </a:ext>
            </a:extLst>
          </p:cNvPr>
          <p:cNvSpPr txBox="1"/>
          <p:nvPr/>
        </p:nvSpPr>
        <p:spPr>
          <a:xfrm>
            <a:off x="8508559" y="5878166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评分变化</a:t>
            </a:r>
            <a:endParaRPr lang="en-US" altLang="zh-CN" sz="2400" b="1" dirty="0"/>
          </a:p>
          <a:p>
            <a:r>
              <a:rPr lang="en-US" altLang="zh-CN" sz="2400" b="1" dirty="0"/>
              <a:t>76.1-76.3</a:t>
            </a:r>
            <a:endParaRPr lang="zh-CN" altLang="en-US" sz="2400" b="1" dirty="0"/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2C99874D-D80D-4B4D-E58B-D7E8631636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419" y="766043"/>
            <a:ext cx="4936522" cy="2429973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9AC1EA6F-4599-21AD-D007-E7BAF5F456F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60" y="791863"/>
            <a:ext cx="4677972" cy="249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19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58B092-1C23-F20E-4897-5FBCB7724D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515" y="68804"/>
            <a:ext cx="6741485" cy="674148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14AF5B3-D921-4C67-9B28-B91AEF076AB6}"/>
              </a:ext>
            </a:extLst>
          </p:cNvPr>
          <p:cNvSpPr/>
          <p:nvPr/>
        </p:nvSpPr>
        <p:spPr>
          <a:xfrm>
            <a:off x="0" y="-1"/>
            <a:ext cx="12192000" cy="718985"/>
          </a:xfrm>
          <a:prstGeom prst="rect">
            <a:avLst/>
          </a:prstGeom>
          <a:solidFill>
            <a:srgbClr val="9D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F6B815-D88B-4896-9696-7C3E85323295}"/>
              </a:ext>
            </a:extLst>
          </p:cNvPr>
          <p:cNvSpPr/>
          <p:nvPr/>
        </p:nvSpPr>
        <p:spPr>
          <a:xfrm>
            <a:off x="0" y="6839665"/>
            <a:ext cx="12192000" cy="45719"/>
          </a:xfrm>
          <a:prstGeom prst="rect">
            <a:avLst/>
          </a:prstGeom>
          <a:solidFill>
            <a:srgbClr val="9D0B0B"/>
          </a:solidFill>
          <a:ln>
            <a:solidFill>
              <a:srgbClr val="9D0B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8F9056-8B9A-4ED9-8C80-C8A4D3F839A7}"/>
              </a:ext>
            </a:extLst>
          </p:cNvPr>
          <p:cNvSpPr/>
          <p:nvPr/>
        </p:nvSpPr>
        <p:spPr>
          <a:xfrm>
            <a:off x="202" y="718985"/>
            <a:ext cx="12192000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8065C9-54B9-46EE-96FA-0D2BBAC8B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5360" y="91737"/>
            <a:ext cx="535508" cy="535508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22C02FD4-361A-402A-80CB-1E5F1D934366}"/>
              </a:ext>
            </a:extLst>
          </p:cNvPr>
          <p:cNvSpPr txBox="1"/>
          <p:nvPr/>
        </p:nvSpPr>
        <p:spPr>
          <a:xfrm>
            <a:off x="983432" y="128658"/>
            <a:ext cx="3363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NLP Innovations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36AC452E-3375-4B4E-874A-A9678A2AC9BD}"/>
              </a:ext>
            </a:extLst>
          </p:cNvPr>
          <p:cNvSpPr/>
          <p:nvPr/>
        </p:nvSpPr>
        <p:spPr>
          <a:xfrm>
            <a:off x="946456" y="1485900"/>
            <a:ext cx="10210800" cy="4343400"/>
          </a:xfrm>
          <a:custGeom>
            <a:avLst/>
            <a:gdLst>
              <a:gd name="connsiteX0" fmla="*/ 0 w 10420350"/>
              <a:gd name="connsiteY0" fmla="*/ 4343400 h 4343400"/>
              <a:gd name="connsiteX1" fmla="*/ 3200400 w 10420350"/>
              <a:gd name="connsiteY1" fmla="*/ 2667000 h 4343400"/>
              <a:gd name="connsiteX2" fmla="*/ 8134350 w 10420350"/>
              <a:gd name="connsiteY2" fmla="*/ 1638300 h 4343400"/>
              <a:gd name="connsiteX3" fmla="*/ 10420350 w 10420350"/>
              <a:gd name="connsiteY3" fmla="*/ 0 h 4343400"/>
              <a:gd name="connsiteX0" fmla="*/ 0 w 10420350"/>
              <a:gd name="connsiteY0" fmla="*/ 4343400 h 4343400"/>
              <a:gd name="connsiteX1" fmla="*/ 8134350 w 10420350"/>
              <a:gd name="connsiteY1" fmla="*/ 1638300 h 4343400"/>
              <a:gd name="connsiteX2" fmla="*/ 10420350 w 10420350"/>
              <a:gd name="connsiteY2" fmla="*/ 0 h 4343400"/>
              <a:gd name="connsiteX0" fmla="*/ 0 w 10420350"/>
              <a:gd name="connsiteY0" fmla="*/ 4343400 h 4343400"/>
              <a:gd name="connsiteX1" fmla="*/ 10420350 w 10420350"/>
              <a:gd name="connsiteY1" fmla="*/ 0 h 4343400"/>
              <a:gd name="connsiteX0" fmla="*/ 0 w 10420350"/>
              <a:gd name="connsiteY0" fmla="*/ 4343400 h 4343400"/>
              <a:gd name="connsiteX1" fmla="*/ 10420350 w 10420350"/>
              <a:gd name="connsiteY1" fmla="*/ 0 h 4343400"/>
              <a:gd name="connsiteX0" fmla="*/ 0 w 10420350"/>
              <a:gd name="connsiteY0" fmla="*/ 4343400 h 4343400"/>
              <a:gd name="connsiteX1" fmla="*/ 10420350 w 10420350"/>
              <a:gd name="connsiteY1" fmla="*/ 0 h 4343400"/>
              <a:gd name="connsiteX0" fmla="*/ 0 w 10420350"/>
              <a:gd name="connsiteY0" fmla="*/ 4343400 h 4343400"/>
              <a:gd name="connsiteX1" fmla="*/ 10420350 w 10420350"/>
              <a:gd name="connsiteY1" fmla="*/ 0 h 4343400"/>
              <a:gd name="connsiteX0" fmla="*/ 0 w 10420350"/>
              <a:gd name="connsiteY0" fmla="*/ 4343400 h 4343400"/>
              <a:gd name="connsiteX1" fmla="*/ 10420350 w 10420350"/>
              <a:gd name="connsiteY1" fmla="*/ 0 h 4343400"/>
              <a:gd name="connsiteX0" fmla="*/ 0 w 10210800"/>
              <a:gd name="connsiteY0" fmla="*/ 4343400 h 4343400"/>
              <a:gd name="connsiteX1" fmla="*/ 10210800 w 10210800"/>
              <a:gd name="connsiteY1" fmla="*/ 0 h 4343400"/>
              <a:gd name="connsiteX0" fmla="*/ 0 w 10210800"/>
              <a:gd name="connsiteY0" fmla="*/ 4343400 h 4343400"/>
              <a:gd name="connsiteX1" fmla="*/ 10210800 w 10210800"/>
              <a:gd name="connsiteY1" fmla="*/ 0 h 4343400"/>
              <a:gd name="connsiteX0" fmla="*/ 0 w 10210800"/>
              <a:gd name="connsiteY0" fmla="*/ 4343400 h 4343400"/>
              <a:gd name="connsiteX1" fmla="*/ 10210800 w 10210800"/>
              <a:gd name="connsiteY1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10800" h="4343400">
                <a:moveTo>
                  <a:pt x="0" y="4343400"/>
                </a:moveTo>
                <a:cubicBezTo>
                  <a:pt x="6445250" y="3714750"/>
                  <a:pt x="4089400" y="1524000"/>
                  <a:pt x="10210800" y="0"/>
                </a:cubicBezTo>
              </a:path>
            </a:pathLst>
          </a:custGeom>
          <a:noFill/>
          <a:ln w="15875" cap="rnd" cmpd="sng" algn="ctr">
            <a:solidFill>
              <a:srgbClr val="AE1C1C">
                <a:shade val="50000"/>
              </a:srgbClr>
            </a:solidFill>
            <a:prstDash val="solid"/>
            <a:round/>
            <a:tailEnd type="triangle" w="lg" len="lg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C94E1778-26FF-4AC1-AD8C-8C4B1C7DFA55}"/>
              </a:ext>
            </a:extLst>
          </p:cNvPr>
          <p:cNvGrpSpPr/>
          <p:nvPr/>
        </p:nvGrpSpPr>
        <p:grpSpPr>
          <a:xfrm>
            <a:off x="829994" y="5662736"/>
            <a:ext cx="316510" cy="316510"/>
            <a:chOff x="4767943" y="1679949"/>
            <a:chExt cx="769255" cy="769255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BF98EBDA-036A-445F-AE5C-46DBFE9B24F1}"/>
                </a:ext>
              </a:extLst>
            </p:cNvPr>
            <p:cNvSpPr/>
            <p:nvPr/>
          </p:nvSpPr>
          <p:spPr>
            <a:xfrm>
              <a:off x="4767943" y="1679949"/>
              <a:ext cx="769255" cy="769255"/>
            </a:xfrm>
            <a:prstGeom prst="ellipse">
              <a:avLst/>
            </a:prstGeom>
            <a:solidFill>
              <a:srgbClr val="AE1C1C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8159C954-9DF8-4D00-AE97-4C71F397CDCF}"/>
                </a:ext>
              </a:extLst>
            </p:cNvPr>
            <p:cNvSpPr/>
            <p:nvPr/>
          </p:nvSpPr>
          <p:spPr>
            <a:xfrm>
              <a:off x="4855028" y="1767034"/>
              <a:ext cx="595085" cy="595085"/>
            </a:xfrm>
            <a:prstGeom prst="ellipse">
              <a:avLst/>
            </a:prstGeom>
            <a:solidFill>
              <a:srgbClr val="AE1C1C">
                <a:alpha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8BCF148D-0A67-493A-8719-C3D1A60DFC57}"/>
                </a:ext>
              </a:extLst>
            </p:cNvPr>
            <p:cNvSpPr/>
            <p:nvPr/>
          </p:nvSpPr>
          <p:spPr>
            <a:xfrm>
              <a:off x="4942113" y="1854119"/>
              <a:ext cx="420914" cy="420914"/>
            </a:xfrm>
            <a:prstGeom prst="ellipse">
              <a:avLst/>
            </a:prstGeom>
            <a:solidFill>
              <a:srgbClr val="AE1C1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45619D5-7034-4B19-B2E7-12DB1E78869A}"/>
              </a:ext>
            </a:extLst>
          </p:cNvPr>
          <p:cNvCxnSpPr>
            <a:cxnSpLocks/>
          </p:cNvCxnSpPr>
          <p:nvPr/>
        </p:nvCxnSpPr>
        <p:spPr>
          <a:xfrm>
            <a:off x="988249" y="3172532"/>
            <a:ext cx="0" cy="2526035"/>
          </a:xfrm>
          <a:prstGeom prst="line">
            <a:avLst/>
          </a:prstGeom>
          <a:noFill/>
          <a:ln w="15875" cap="rnd" cmpd="sng" algn="ctr">
            <a:gradFill flip="none" rotWithShape="1">
              <a:gsLst>
                <a:gs pos="3000">
                  <a:srgbClr val="AE1C1C"/>
                </a:gs>
                <a:gs pos="100000">
                  <a:srgbClr val="AE1C1C">
                    <a:alpha val="0"/>
                  </a:srgbClr>
                </a:gs>
              </a:gsLst>
              <a:lin ang="5400000" scaled="1"/>
              <a:tileRect/>
            </a:gradFill>
            <a:prstDash val="solid"/>
            <a:round/>
          </a:ln>
          <a:effectLst/>
        </p:spPr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A23500B5-6173-49F4-A23F-09C6E77F84EB}"/>
              </a:ext>
            </a:extLst>
          </p:cNvPr>
          <p:cNvSpPr/>
          <p:nvPr/>
        </p:nvSpPr>
        <p:spPr>
          <a:xfrm>
            <a:off x="1113801" y="3153323"/>
            <a:ext cx="2357516" cy="83099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AE1C1C"/>
                </a:solidFill>
                <a:latin typeface="微软雅黑" panose="020B0503020204020204" pitchFamily="34" charset="-122"/>
                <a:ea typeface="微软雅黑"/>
              </a:rPr>
              <a:t>The Limitation of SVD</a:t>
            </a:r>
            <a:endParaRPr lang="zh-CN" altLang="en-US" sz="2400" b="1" dirty="0">
              <a:solidFill>
                <a:srgbClr val="AE1C1C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6D58577-F4A4-4B17-8C57-F138B245D5DB}"/>
              </a:ext>
            </a:extLst>
          </p:cNvPr>
          <p:cNvSpPr/>
          <p:nvPr/>
        </p:nvSpPr>
        <p:spPr>
          <a:xfrm>
            <a:off x="1068881" y="4101589"/>
            <a:ext cx="2682879" cy="1497654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初始尝试 </a:t>
            </a:r>
            <a:r>
              <a:rPr lang="en-US" altLang="zh-CN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TF-IDF + SVD 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降维（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维）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评分：</a:t>
            </a:r>
            <a:r>
              <a:rPr lang="en-US" altLang="zh-CN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76.1-76.1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19B0E38-326E-4D68-A577-6222993941EE}"/>
              </a:ext>
            </a:extLst>
          </p:cNvPr>
          <p:cNvGrpSpPr/>
          <p:nvPr/>
        </p:nvGrpSpPr>
        <p:grpSpPr>
          <a:xfrm>
            <a:off x="3551997" y="5185398"/>
            <a:ext cx="316510" cy="316510"/>
            <a:chOff x="4767943" y="1679949"/>
            <a:chExt cx="769255" cy="769255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0E4B5E2A-CBC3-4721-9685-EBEAEE38B822}"/>
                </a:ext>
              </a:extLst>
            </p:cNvPr>
            <p:cNvSpPr/>
            <p:nvPr/>
          </p:nvSpPr>
          <p:spPr>
            <a:xfrm>
              <a:off x="4767943" y="1679949"/>
              <a:ext cx="769255" cy="769255"/>
            </a:xfrm>
            <a:prstGeom prst="ellipse">
              <a:avLst/>
            </a:prstGeom>
            <a:solidFill>
              <a:srgbClr val="AE1C1C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EA0E8EC9-151C-4480-82CB-108898A3989C}"/>
                </a:ext>
              </a:extLst>
            </p:cNvPr>
            <p:cNvSpPr/>
            <p:nvPr/>
          </p:nvSpPr>
          <p:spPr>
            <a:xfrm>
              <a:off x="4855028" y="1767034"/>
              <a:ext cx="595085" cy="595085"/>
            </a:xfrm>
            <a:prstGeom prst="ellipse">
              <a:avLst/>
            </a:prstGeom>
            <a:solidFill>
              <a:srgbClr val="AE1C1C">
                <a:alpha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9B5F4C18-BC1E-40F7-A04B-BB3EF519A330}"/>
                </a:ext>
              </a:extLst>
            </p:cNvPr>
            <p:cNvSpPr/>
            <p:nvPr/>
          </p:nvSpPr>
          <p:spPr>
            <a:xfrm>
              <a:off x="4942113" y="1854119"/>
              <a:ext cx="420914" cy="420914"/>
            </a:xfrm>
            <a:prstGeom prst="ellipse">
              <a:avLst/>
            </a:prstGeom>
            <a:solidFill>
              <a:srgbClr val="AE1C1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BEE49E9-F03F-42DF-94CA-C3CBD034BCF2}"/>
              </a:ext>
            </a:extLst>
          </p:cNvPr>
          <p:cNvCxnSpPr>
            <a:cxnSpLocks/>
          </p:cNvCxnSpPr>
          <p:nvPr/>
        </p:nvCxnSpPr>
        <p:spPr>
          <a:xfrm>
            <a:off x="3710252" y="1343984"/>
            <a:ext cx="0" cy="3877245"/>
          </a:xfrm>
          <a:prstGeom prst="line">
            <a:avLst/>
          </a:prstGeom>
          <a:noFill/>
          <a:ln w="15875" cap="rnd" cmpd="sng" algn="ctr">
            <a:gradFill flip="none" rotWithShape="1">
              <a:gsLst>
                <a:gs pos="3000">
                  <a:srgbClr val="AE1C1C"/>
                </a:gs>
                <a:gs pos="100000">
                  <a:srgbClr val="AE1C1C">
                    <a:alpha val="0"/>
                  </a:srgbClr>
                </a:gs>
              </a:gsLst>
              <a:lin ang="5400000" scaled="1"/>
              <a:tileRect/>
            </a:gradFill>
            <a:prstDash val="solid"/>
            <a:round/>
          </a:ln>
          <a:effectLst/>
        </p:spPr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2BCA7C5-194E-4A2D-91EB-4C07FE85BFCF}"/>
              </a:ext>
            </a:extLst>
          </p:cNvPr>
          <p:cNvSpPr/>
          <p:nvPr/>
        </p:nvSpPr>
        <p:spPr>
          <a:xfrm>
            <a:off x="3812006" y="1275450"/>
            <a:ext cx="2929964" cy="83099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AE1C1C"/>
                </a:solidFill>
                <a:latin typeface="微软雅黑" panose="020B0503020204020204" pitchFamily="34" charset="-122"/>
                <a:ea typeface="微软雅黑"/>
              </a:rPr>
              <a:t>High-Dimensional Sparse Input</a:t>
            </a:r>
            <a:endParaRPr lang="zh-CN" altLang="en-US" sz="2400" b="1" dirty="0">
              <a:solidFill>
                <a:srgbClr val="AE1C1C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84FCDD3-53FF-4421-BC4C-F0E4040E1E6F}"/>
              </a:ext>
            </a:extLst>
          </p:cNvPr>
          <p:cNvSpPr/>
          <p:nvPr/>
        </p:nvSpPr>
        <p:spPr>
          <a:xfrm>
            <a:off x="3791170" y="2053690"/>
            <a:ext cx="2682879" cy="257795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移除 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SVD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，构建 </a:t>
            </a:r>
            <a:r>
              <a:rPr lang="en-US" altLang="zh-CN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Sparse Matrix Pipeline</a:t>
            </a: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将文本稀疏矩阵直接与数值特征拼接输入 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LGBM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EFB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技术）。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评分：</a:t>
            </a:r>
            <a:r>
              <a:rPr lang="en-US" altLang="zh-CN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76.3-76.9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DB965D9-F176-477E-AC4C-EEC9B0161612}"/>
              </a:ext>
            </a:extLst>
          </p:cNvPr>
          <p:cNvGrpSpPr/>
          <p:nvPr/>
        </p:nvGrpSpPr>
        <p:grpSpPr>
          <a:xfrm>
            <a:off x="5681338" y="4127974"/>
            <a:ext cx="316510" cy="316510"/>
            <a:chOff x="4767943" y="1679949"/>
            <a:chExt cx="769255" cy="769255"/>
          </a:xfrm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BE6C4CFC-E27C-439B-A4C0-A23A4930ED20}"/>
                </a:ext>
              </a:extLst>
            </p:cNvPr>
            <p:cNvSpPr/>
            <p:nvPr/>
          </p:nvSpPr>
          <p:spPr>
            <a:xfrm>
              <a:off x="4767943" y="1679949"/>
              <a:ext cx="769255" cy="769255"/>
            </a:xfrm>
            <a:prstGeom prst="ellipse">
              <a:avLst/>
            </a:prstGeom>
            <a:solidFill>
              <a:srgbClr val="AE1C1C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88D65676-E2A1-482A-9D01-CF46FCCEF783}"/>
                </a:ext>
              </a:extLst>
            </p:cNvPr>
            <p:cNvSpPr/>
            <p:nvPr/>
          </p:nvSpPr>
          <p:spPr>
            <a:xfrm>
              <a:off x="4855028" y="1767034"/>
              <a:ext cx="595085" cy="595085"/>
            </a:xfrm>
            <a:prstGeom prst="ellipse">
              <a:avLst/>
            </a:prstGeom>
            <a:solidFill>
              <a:srgbClr val="AE1C1C">
                <a:alpha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23FF7C5B-CACE-40DF-AB74-6F124703B4A0}"/>
                </a:ext>
              </a:extLst>
            </p:cNvPr>
            <p:cNvSpPr/>
            <p:nvPr/>
          </p:nvSpPr>
          <p:spPr>
            <a:xfrm>
              <a:off x="4942113" y="1854119"/>
              <a:ext cx="420914" cy="420914"/>
            </a:xfrm>
            <a:prstGeom prst="ellipse">
              <a:avLst/>
            </a:prstGeom>
            <a:solidFill>
              <a:srgbClr val="AE1C1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9733143F-CE21-4005-BA17-B852D1EAD8B9}"/>
              </a:ext>
            </a:extLst>
          </p:cNvPr>
          <p:cNvGrpSpPr/>
          <p:nvPr/>
        </p:nvGrpSpPr>
        <p:grpSpPr>
          <a:xfrm>
            <a:off x="8482842" y="2166065"/>
            <a:ext cx="316510" cy="316510"/>
            <a:chOff x="4767943" y="1679949"/>
            <a:chExt cx="769255" cy="769255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C5C2A611-23CD-461D-92B5-11EAD8FE92E5}"/>
                </a:ext>
              </a:extLst>
            </p:cNvPr>
            <p:cNvSpPr/>
            <p:nvPr/>
          </p:nvSpPr>
          <p:spPr>
            <a:xfrm>
              <a:off x="4767943" y="1679949"/>
              <a:ext cx="769255" cy="769255"/>
            </a:xfrm>
            <a:prstGeom prst="ellipse">
              <a:avLst/>
            </a:prstGeom>
            <a:solidFill>
              <a:srgbClr val="AE1C1C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895E7C08-A936-4694-A4A5-113A7AA394D4}"/>
                </a:ext>
              </a:extLst>
            </p:cNvPr>
            <p:cNvSpPr/>
            <p:nvPr/>
          </p:nvSpPr>
          <p:spPr>
            <a:xfrm>
              <a:off x="4855028" y="1767034"/>
              <a:ext cx="595085" cy="595085"/>
            </a:xfrm>
            <a:prstGeom prst="ellipse">
              <a:avLst/>
            </a:prstGeom>
            <a:solidFill>
              <a:srgbClr val="AE1C1C">
                <a:alpha val="5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4BBFDE36-C750-474E-B505-8A9D76EE3742}"/>
                </a:ext>
              </a:extLst>
            </p:cNvPr>
            <p:cNvSpPr/>
            <p:nvPr/>
          </p:nvSpPr>
          <p:spPr>
            <a:xfrm>
              <a:off x="4942113" y="1854119"/>
              <a:ext cx="420914" cy="420914"/>
            </a:xfrm>
            <a:prstGeom prst="ellipse">
              <a:avLst/>
            </a:prstGeom>
            <a:solidFill>
              <a:srgbClr val="AE1C1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zh-CN" altLang="en-US" kern="0">
                <a:solidFill>
                  <a:prstClr val="white"/>
                </a:solidFill>
                <a:latin typeface="Arial"/>
                <a:ea typeface="微软雅黑"/>
              </a:endParaRPr>
            </a:p>
          </p:txBody>
        </p:sp>
      </p:grp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13289639-1CBE-454F-861D-9767B3AA55B5}"/>
              </a:ext>
            </a:extLst>
          </p:cNvPr>
          <p:cNvCxnSpPr>
            <a:cxnSpLocks/>
          </p:cNvCxnSpPr>
          <p:nvPr/>
        </p:nvCxnSpPr>
        <p:spPr>
          <a:xfrm flipV="1">
            <a:off x="8641097" y="2377613"/>
            <a:ext cx="0" cy="3650192"/>
          </a:xfrm>
          <a:prstGeom prst="line">
            <a:avLst/>
          </a:prstGeom>
          <a:noFill/>
          <a:ln w="15875" cap="rnd" cmpd="sng" algn="ctr">
            <a:gradFill flip="none" rotWithShape="1">
              <a:gsLst>
                <a:gs pos="3000">
                  <a:srgbClr val="AE1C1C"/>
                </a:gs>
                <a:gs pos="100000">
                  <a:srgbClr val="AE1C1C">
                    <a:alpha val="0"/>
                  </a:srgbClr>
                </a:gs>
              </a:gsLst>
              <a:lin ang="5400000" scaled="1"/>
              <a:tileRect/>
            </a:gradFill>
            <a:prstDash val="solid"/>
            <a:round/>
          </a:ln>
          <a:effectLst/>
        </p:spPr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6F7F7610-DE76-4FA6-8180-3B6E12EA7209}"/>
              </a:ext>
            </a:extLst>
          </p:cNvPr>
          <p:cNvSpPr/>
          <p:nvPr/>
        </p:nvSpPr>
        <p:spPr>
          <a:xfrm>
            <a:off x="8783372" y="4618368"/>
            <a:ext cx="2682879" cy="83099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AE1C1C"/>
                </a:solidFill>
                <a:latin typeface="微软雅黑" panose="020B0503020204020204" pitchFamily="34" charset="-122"/>
                <a:ea typeface="微软雅黑"/>
              </a:rPr>
              <a:t>High-value keywords</a:t>
            </a:r>
            <a:endParaRPr lang="zh-CN" altLang="en-US" sz="2400" b="1" dirty="0">
              <a:solidFill>
                <a:srgbClr val="AE1C1C"/>
              </a:solidFill>
              <a:latin typeface="微软雅黑" panose="020B0503020204020204" pitchFamily="34" charset="-122"/>
              <a:ea typeface="微软雅黑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2338CC3F-ABE5-48B5-B171-FF29B7139CF6}"/>
              </a:ext>
            </a:extLst>
          </p:cNvPr>
          <p:cNvCxnSpPr>
            <a:cxnSpLocks/>
          </p:cNvCxnSpPr>
          <p:nvPr/>
        </p:nvCxnSpPr>
        <p:spPr>
          <a:xfrm flipH="1" flipV="1">
            <a:off x="5837130" y="4331720"/>
            <a:ext cx="2463" cy="2218776"/>
          </a:xfrm>
          <a:prstGeom prst="line">
            <a:avLst/>
          </a:prstGeom>
          <a:noFill/>
          <a:ln w="15875" cap="rnd" cmpd="sng" algn="ctr">
            <a:gradFill flip="none" rotWithShape="1">
              <a:gsLst>
                <a:gs pos="3000">
                  <a:srgbClr val="AE1C1C"/>
                </a:gs>
                <a:gs pos="100000">
                  <a:srgbClr val="AE1C1C">
                    <a:alpha val="0"/>
                  </a:srgbClr>
                </a:gs>
              </a:gsLst>
              <a:lin ang="5400000" scaled="1"/>
              <a:tileRect/>
            </a:gradFill>
            <a:prstDash val="solid"/>
            <a:round/>
          </a:ln>
          <a:effectLst/>
        </p:spPr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13C048E5-15FF-470F-93BF-39406387C570}"/>
              </a:ext>
            </a:extLst>
          </p:cNvPr>
          <p:cNvSpPr/>
          <p:nvPr/>
        </p:nvSpPr>
        <p:spPr>
          <a:xfrm>
            <a:off x="5690320" y="5788304"/>
            <a:ext cx="3120336" cy="83099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AE1C1C"/>
                </a:solidFill>
                <a:latin typeface="微软雅黑" panose="020B0503020204020204" pitchFamily="34" charset="-122"/>
                <a:ea typeface="微软雅黑"/>
              </a:rPr>
              <a:t>Domain-Specific Tokenization</a:t>
            </a:r>
            <a:endParaRPr lang="zh-CN" altLang="en-US" sz="2400" b="1" dirty="0">
              <a:solidFill>
                <a:srgbClr val="AE1C1C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5505648-C4C2-4582-B30B-BDA67EB5349C}"/>
              </a:ext>
            </a:extLst>
          </p:cNvPr>
          <p:cNvSpPr/>
          <p:nvPr/>
        </p:nvSpPr>
        <p:spPr>
          <a:xfrm>
            <a:off x="5956055" y="4323336"/>
            <a:ext cx="2682879" cy="1497654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 </a:t>
            </a:r>
            <a:r>
              <a:rPr lang="en-US" altLang="zh-CN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Jieba</a:t>
            </a:r>
            <a:r>
              <a:rPr lang="en-US" altLang="zh-CN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分词库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替代传统的字符级切分。并</a:t>
            </a: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加入噪声过滤 </a:t>
            </a:r>
            <a:r>
              <a:rPr lang="en-US" altLang="zh-CN" b="1" dirty="0" err="1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min_df</a:t>
            </a:r>
            <a:r>
              <a:rPr lang="zh-CN" alt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solidFill>
                <a:prstClr val="black">
                  <a:lumMod val="85000"/>
                  <a:lumOff val="1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评分：</a:t>
            </a:r>
            <a:r>
              <a:rPr lang="en-US" altLang="zh-CN" b="1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77.5-77.7</a:t>
            </a: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391F0803-0513-4023-A9AD-EBB360AC8F22}"/>
              </a:ext>
            </a:extLst>
          </p:cNvPr>
          <p:cNvGrpSpPr/>
          <p:nvPr/>
        </p:nvGrpSpPr>
        <p:grpSpPr>
          <a:xfrm>
            <a:off x="8567537" y="9700"/>
            <a:ext cx="3289103" cy="691397"/>
            <a:chOff x="-96688" y="198632"/>
            <a:chExt cx="3289103" cy="691397"/>
          </a:xfrm>
        </p:grpSpPr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C82B34A3-32B5-4A0F-80ED-D5844735F4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151"/>
            <a:stretch/>
          </p:blipFill>
          <p:spPr>
            <a:xfrm>
              <a:off x="-96688" y="198632"/>
              <a:ext cx="1869266" cy="691397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FE6AD909-8E6F-4C1A-979F-62EF8A4D2B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864"/>
            <a:stretch/>
          </p:blipFill>
          <p:spPr>
            <a:xfrm>
              <a:off x="1323149" y="270841"/>
              <a:ext cx="1869266" cy="521643"/>
            </a:xfrm>
            <a:prstGeom prst="rect">
              <a:avLst/>
            </a:prstGeom>
          </p:spPr>
        </p:pic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24A8271A-833B-F766-E33A-6F79B6EE223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582" y="2503247"/>
            <a:ext cx="4570261" cy="189301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AC89525-CFF8-C35D-ED9C-3D89E56255A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953" y="918713"/>
            <a:ext cx="4557718" cy="158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41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7E2852A-CF20-5F1E-20AF-A62EB93CFD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515" y="68804"/>
            <a:ext cx="6741485" cy="674148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14AF5B3-D921-4C67-9B28-B91AEF076AB6}"/>
              </a:ext>
            </a:extLst>
          </p:cNvPr>
          <p:cNvSpPr/>
          <p:nvPr/>
        </p:nvSpPr>
        <p:spPr>
          <a:xfrm>
            <a:off x="0" y="-1"/>
            <a:ext cx="12192000" cy="718985"/>
          </a:xfrm>
          <a:prstGeom prst="rect">
            <a:avLst/>
          </a:prstGeom>
          <a:solidFill>
            <a:srgbClr val="9D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F6B815-D88B-4896-9696-7C3E85323295}"/>
              </a:ext>
            </a:extLst>
          </p:cNvPr>
          <p:cNvSpPr/>
          <p:nvPr/>
        </p:nvSpPr>
        <p:spPr>
          <a:xfrm>
            <a:off x="0" y="6839665"/>
            <a:ext cx="12192000" cy="45719"/>
          </a:xfrm>
          <a:prstGeom prst="rect">
            <a:avLst/>
          </a:prstGeom>
          <a:solidFill>
            <a:srgbClr val="9D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8F9056-8B9A-4ED9-8C80-C8A4D3F839A7}"/>
              </a:ext>
            </a:extLst>
          </p:cNvPr>
          <p:cNvSpPr/>
          <p:nvPr/>
        </p:nvSpPr>
        <p:spPr>
          <a:xfrm>
            <a:off x="202" y="718985"/>
            <a:ext cx="12192000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8065C9-54B9-46EE-96FA-0D2BBAC8B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5360" y="91737"/>
            <a:ext cx="535508" cy="535508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22C02FD4-361A-402A-80CB-1E5F1D934366}"/>
              </a:ext>
            </a:extLst>
          </p:cNvPr>
          <p:cNvSpPr txBox="1"/>
          <p:nvPr/>
        </p:nvSpPr>
        <p:spPr>
          <a:xfrm>
            <a:off x="983432" y="128658"/>
            <a:ext cx="63693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Optuna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&amp; Regularization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7A83B3B-79B4-4F19-9244-86965A78EB85}"/>
              </a:ext>
            </a:extLst>
          </p:cNvPr>
          <p:cNvGrpSpPr/>
          <p:nvPr/>
        </p:nvGrpSpPr>
        <p:grpSpPr>
          <a:xfrm>
            <a:off x="3862973" y="1791606"/>
            <a:ext cx="2557424" cy="907751"/>
            <a:chOff x="3666731" y="1984470"/>
            <a:chExt cx="2636520" cy="1447800"/>
          </a:xfrm>
        </p:grpSpPr>
        <p:sp>
          <p:nvSpPr>
            <p:cNvPr id="9" name="任意多边形 3">
              <a:extLst>
                <a:ext uri="{FF2B5EF4-FFF2-40B4-BE49-F238E27FC236}">
                  <a16:creationId xmlns:a16="http://schemas.microsoft.com/office/drawing/2014/main" id="{6EA7EE2D-6590-43FC-925D-C7E84008AF23}"/>
                </a:ext>
              </a:extLst>
            </p:cNvPr>
            <p:cNvSpPr/>
            <p:nvPr/>
          </p:nvSpPr>
          <p:spPr>
            <a:xfrm>
              <a:off x="3666731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9D0B0B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3" name="文本框 47">
              <a:extLst>
                <a:ext uri="{FF2B5EF4-FFF2-40B4-BE49-F238E27FC236}">
                  <a16:creationId xmlns:a16="http://schemas.microsoft.com/office/drawing/2014/main" id="{50615CB9-7E88-49DB-8EBD-AA62482800A4}"/>
                </a:ext>
              </a:extLst>
            </p:cNvPr>
            <p:cNvSpPr txBox="1"/>
            <p:nvPr/>
          </p:nvSpPr>
          <p:spPr>
            <a:xfrm>
              <a:off x="3971726" y="2389299"/>
              <a:ext cx="2230360" cy="6381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kern="0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优化</a:t>
              </a: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过拟合</a:t>
              </a:r>
              <a:endParaRPr kumimoji="0" lang="zh-CN" altLang="en-US" sz="2000" b="1" i="0" u="none" strike="noStrike" kern="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C0657FA-2D66-48F0-96F4-FCA86084447D}"/>
              </a:ext>
            </a:extLst>
          </p:cNvPr>
          <p:cNvGrpSpPr/>
          <p:nvPr/>
        </p:nvGrpSpPr>
        <p:grpSpPr>
          <a:xfrm>
            <a:off x="1725452" y="1791606"/>
            <a:ext cx="2557424" cy="907751"/>
            <a:chOff x="1436370" y="1984470"/>
            <a:chExt cx="2636520" cy="1447800"/>
          </a:xfrm>
        </p:grpSpPr>
        <p:sp>
          <p:nvSpPr>
            <p:cNvPr id="15" name="任意多边形 6">
              <a:extLst>
                <a:ext uri="{FF2B5EF4-FFF2-40B4-BE49-F238E27FC236}">
                  <a16:creationId xmlns:a16="http://schemas.microsoft.com/office/drawing/2014/main" id="{11657B3D-CE96-4367-A0A3-81DAC276A0B7}"/>
                </a:ext>
              </a:extLst>
            </p:cNvPr>
            <p:cNvSpPr/>
            <p:nvPr/>
          </p:nvSpPr>
          <p:spPr>
            <a:xfrm>
              <a:off x="1436370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9D0B0B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3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6" name="文本框 50">
              <a:extLst>
                <a:ext uri="{FF2B5EF4-FFF2-40B4-BE49-F238E27FC236}">
                  <a16:creationId xmlns:a16="http://schemas.microsoft.com/office/drawing/2014/main" id="{ADFE827F-E870-42DF-BC2B-22B14742C946}"/>
                </a:ext>
              </a:extLst>
            </p:cNvPr>
            <p:cNvSpPr txBox="1"/>
            <p:nvPr/>
          </p:nvSpPr>
          <p:spPr>
            <a:xfrm>
              <a:off x="1709209" y="2365162"/>
              <a:ext cx="2293960" cy="68641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121917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自动化调参</a:t>
              </a:r>
              <a:endParaRPr kumimoji="0" lang="zh-CN" altLang="en-US" sz="2000" b="1" i="0" u="none" strike="noStrike" kern="0" cap="none" spc="0" normalizeH="0" baseline="-3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D5B38D0-9484-452C-B0D4-8B822443C51A}"/>
              </a:ext>
            </a:extLst>
          </p:cNvPr>
          <p:cNvGrpSpPr/>
          <p:nvPr/>
        </p:nvGrpSpPr>
        <p:grpSpPr>
          <a:xfrm>
            <a:off x="6000492" y="1791606"/>
            <a:ext cx="5870217" cy="907751"/>
            <a:chOff x="5897092" y="1984470"/>
            <a:chExt cx="2636520" cy="1447800"/>
          </a:xfrm>
        </p:grpSpPr>
        <p:sp>
          <p:nvSpPr>
            <p:cNvPr id="21" name="任意多边形 13">
              <a:extLst>
                <a:ext uri="{FF2B5EF4-FFF2-40B4-BE49-F238E27FC236}">
                  <a16:creationId xmlns:a16="http://schemas.microsoft.com/office/drawing/2014/main" id="{1A2C3228-3F01-4BA4-9BF3-501688BF85E2}"/>
                </a:ext>
              </a:extLst>
            </p:cNvPr>
            <p:cNvSpPr/>
            <p:nvPr/>
          </p:nvSpPr>
          <p:spPr>
            <a:xfrm>
              <a:off x="5897092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9D0B0B"/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533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2" name="文本框 56">
              <a:extLst>
                <a:ext uri="{FF2B5EF4-FFF2-40B4-BE49-F238E27FC236}">
                  <a16:creationId xmlns:a16="http://schemas.microsoft.com/office/drawing/2014/main" id="{9ADBB49D-EF1A-444A-924E-20821F89A9B5}"/>
                </a:ext>
              </a:extLst>
            </p:cNvPr>
            <p:cNvSpPr txBox="1"/>
            <p:nvPr/>
          </p:nvSpPr>
          <p:spPr>
            <a:xfrm>
              <a:off x="6227711" y="2383525"/>
              <a:ext cx="2205655" cy="64970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ctr" defTabSz="121917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0" cap="none" spc="0" normalizeH="0" baseline="-3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结果表格</a:t>
              </a:r>
            </a:p>
          </p:txBody>
        </p:sp>
      </p:grpSp>
      <p:sp>
        <p:nvSpPr>
          <p:cNvPr id="23" name="矩形 47">
            <a:extLst>
              <a:ext uri="{FF2B5EF4-FFF2-40B4-BE49-F238E27FC236}">
                <a16:creationId xmlns:a16="http://schemas.microsoft.com/office/drawing/2014/main" id="{243132F1-8686-44F0-9AC5-DDE649D2C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249" y="5884244"/>
            <a:ext cx="9385451" cy="700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ctr" defTabSz="121917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感谢！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7708279-31D6-4267-84E3-3D07817A964F}"/>
              </a:ext>
            </a:extLst>
          </p:cNvPr>
          <p:cNvSpPr/>
          <p:nvPr/>
        </p:nvSpPr>
        <p:spPr>
          <a:xfrm>
            <a:off x="1377958" y="2900745"/>
            <a:ext cx="2616404" cy="441203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ctr" defTabSz="1219170"/>
            <a:r>
              <a:rPr lang="zh-CN" altLang="en-US" sz="22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引入 </a:t>
            </a:r>
            <a:r>
              <a:rPr lang="en-US" altLang="zh-CN" sz="2267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Optuna</a:t>
            </a:r>
            <a:r>
              <a:rPr lang="en-US" altLang="zh-CN" sz="22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2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框架</a:t>
            </a:r>
            <a:endParaRPr lang="en-US" altLang="zh-CN" sz="2267" b="1" dirty="0">
              <a:solidFill>
                <a:prstClr val="black">
                  <a:lumMod val="75000"/>
                  <a:lumOff val="2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47">
            <a:extLst>
              <a:ext uri="{FF2B5EF4-FFF2-40B4-BE49-F238E27FC236}">
                <a16:creationId xmlns:a16="http://schemas.microsoft.com/office/drawing/2014/main" id="{8C8C9F23-2FF8-487C-800D-9C7495BFF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452" y="3418560"/>
            <a:ext cx="1907885" cy="225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just" defTabSz="121917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1467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相比 </a:t>
            </a:r>
            <a:r>
              <a:rPr kumimoji="0" lang="en-US" altLang="zh-CN" sz="1467" b="0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GridSearch</a:t>
            </a:r>
            <a:r>
              <a:rPr kumimoji="0" lang="en-US" altLang="zh-CN" sz="1467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kumimoji="0" lang="zh-CN" altLang="en-US" sz="1467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的暴力穷举，</a:t>
            </a:r>
            <a:r>
              <a:rPr kumimoji="0" lang="en-US" altLang="zh-CN" sz="1467" b="1" i="0" u="none" strike="noStrike" kern="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Optuna</a:t>
            </a:r>
            <a:r>
              <a:rPr kumimoji="0" lang="en-US" altLang="zh-CN" sz="1467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采用贝叶斯优化</a:t>
            </a:r>
            <a:r>
              <a:rPr kumimoji="0" lang="zh-CN" altLang="en-US" sz="1467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，能在更短时间内找到全局最优解。</a:t>
            </a:r>
            <a:endParaRPr kumimoji="0" lang="en-US" altLang="zh-CN" sz="1467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marL="0" marR="0" lvl="0" indent="0" algn="just" defTabSz="121917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zh-CN" sz="1467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marL="0" marR="0" lvl="0" indent="0" algn="just" defTabSz="121917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zh-CN" sz="1467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just" defTabSz="121917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评分：</a:t>
            </a:r>
            <a:r>
              <a:rPr lang="en-US" altLang="zh-CN" sz="1600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76.9-77.5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881B9D-B402-4F0B-94A9-9104A22424CC}"/>
              </a:ext>
            </a:extLst>
          </p:cNvPr>
          <p:cNvSpPr/>
          <p:nvPr/>
        </p:nvSpPr>
        <p:spPr>
          <a:xfrm>
            <a:off x="4010371" y="2780796"/>
            <a:ext cx="2188401" cy="790080"/>
          </a:xfrm>
          <a:prstGeom prst="rect">
            <a:avLst/>
          </a:prstGeom>
        </p:spPr>
        <p:txBody>
          <a:bodyPr wrap="none" lIns="91431" tIns="45716" rIns="91431" bIns="45716">
            <a:spAutoFit/>
          </a:bodyPr>
          <a:lstStyle/>
          <a:p>
            <a:pPr algn="ctr" defTabSz="1219170"/>
            <a:r>
              <a:rPr lang="zh-CN" altLang="en-US" sz="22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样本内外</a:t>
            </a:r>
            <a:r>
              <a:rPr lang="en-US" altLang="zh-CN" sz="22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RMSE</a:t>
            </a:r>
          </a:p>
          <a:p>
            <a:pPr algn="ctr" defTabSz="1219170"/>
            <a:r>
              <a:rPr lang="zh-CN" altLang="en-US" sz="2267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差距过大</a:t>
            </a:r>
            <a:endParaRPr lang="en-US" altLang="zh-CN" sz="2267" b="1" dirty="0">
              <a:solidFill>
                <a:prstClr val="black">
                  <a:lumMod val="75000"/>
                  <a:lumOff val="2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47">
            <a:extLst>
              <a:ext uri="{FF2B5EF4-FFF2-40B4-BE49-F238E27FC236}">
                <a16:creationId xmlns:a16="http://schemas.microsoft.com/office/drawing/2014/main" id="{92EB00C2-CAC4-4B78-AFB0-AEC262422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5131" y="3525598"/>
            <a:ext cx="1875361" cy="2532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marL="0" marR="0" lvl="0" indent="0" algn="just" defTabSz="121917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提升 </a:t>
            </a:r>
            <a:r>
              <a:rPr kumimoji="0" lang="en-US" altLang="zh-CN" sz="1467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L1/L2 </a:t>
            </a: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正则化最小参数范围；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marL="0" marR="0" lvl="0" indent="0" algn="just" defTabSz="121917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限制</a:t>
            </a:r>
            <a:r>
              <a:rPr kumimoji="0" lang="en-US" altLang="zh-CN" sz="1467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Feature Sampling </a:t>
            </a:r>
            <a:r>
              <a:rPr kumimoji="0" lang="zh-CN" altLang="en-US" sz="1467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强制每棵树只学习部分特征，增加模型多样性。</a:t>
            </a:r>
            <a:endParaRPr kumimoji="0" lang="en-US" altLang="zh-CN" sz="1467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marL="0" marR="0" lvl="0" indent="0" algn="just" defTabSz="121917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zh-CN" sz="1467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algn="just" defTabSz="121917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1600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评分：</a:t>
            </a:r>
            <a:r>
              <a:rPr lang="en-US" altLang="zh-CN" sz="1600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77.7-77.9</a:t>
            </a:r>
          </a:p>
          <a:p>
            <a:pPr marL="0" marR="0" lvl="0" indent="0" algn="just" defTabSz="121917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zh-CN" altLang="en-US" sz="1467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cxnSp>
        <p:nvCxnSpPr>
          <p:cNvPr id="32" name="直接连接符 8">
            <a:extLst>
              <a:ext uri="{FF2B5EF4-FFF2-40B4-BE49-F238E27FC236}">
                <a16:creationId xmlns:a16="http://schemas.microsoft.com/office/drawing/2014/main" id="{8A99615E-BF0D-4801-9184-DFBB3DE44081}"/>
              </a:ext>
            </a:extLst>
          </p:cNvPr>
          <p:cNvCxnSpPr/>
          <p:nvPr/>
        </p:nvCxnSpPr>
        <p:spPr>
          <a:xfrm>
            <a:off x="1377958" y="5739268"/>
            <a:ext cx="9359900" cy="0"/>
          </a:xfrm>
          <a:prstGeom prst="line">
            <a:avLst/>
          </a:prstGeom>
          <a:noFill/>
          <a:ln w="9525" cap="flat" cmpd="sng" algn="ctr">
            <a:solidFill>
              <a:srgbClr val="9D0B0B"/>
            </a:solidFill>
            <a:prstDash val="solid"/>
          </a:ln>
          <a:effectLst/>
        </p:spPr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A2BEF32-E46A-4682-86E0-7884862987A3}"/>
              </a:ext>
            </a:extLst>
          </p:cNvPr>
          <p:cNvGrpSpPr/>
          <p:nvPr/>
        </p:nvGrpSpPr>
        <p:grpSpPr>
          <a:xfrm>
            <a:off x="8567537" y="9700"/>
            <a:ext cx="3289103" cy="691397"/>
            <a:chOff x="-96688" y="198632"/>
            <a:chExt cx="3289103" cy="691397"/>
          </a:xfrm>
        </p:grpSpPr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DE2C3D3D-070D-4AFD-9EE7-BE46989602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151"/>
            <a:stretch/>
          </p:blipFill>
          <p:spPr>
            <a:xfrm>
              <a:off x="-96688" y="198632"/>
              <a:ext cx="1869266" cy="691397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40E98DDF-E2E9-45A1-B7E7-E676B3D4F1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864"/>
            <a:stretch/>
          </p:blipFill>
          <p:spPr>
            <a:xfrm>
              <a:off x="1323149" y="270841"/>
              <a:ext cx="1869266" cy="521643"/>
            </a:xfrm>
            <a:prstGeom prst="rect">
              <a:avLst/>
            </a:prstGeom>
          </p:spPr>
        </p:pic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50A09297-557A-E9C9-3716-3823027513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138" y="4340778"/>
            <a:ext cx="5870217" cy="136911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B971BE3-33E9-35B7-936F-4C0612692B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974" y="2792463"/>
            <a:ext cx="5870216" cy="148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77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223</Words>
  <Application>Microsoft Office PowerPoint</Application>
  <PresentationFormat>宽屏</PresentationFormat>
  <Paragraphs>48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微软雅黑</vt:lpstr>
      <vt:lpstr>Arial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周方健</dc:creator>
  <cp:lastModifiedBy>方健 周</cp:lastModifiedBy>
  <cp:revision>17</cp:revision>
  <dcterms:created xsi:type="dcterms:W3CDTF">2023-08-09T12:44:00Z</dcterms:created>
  <dcterms:modified xsi:type="dcterms:W3CDTF">2025-12-24T13:11:55Z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