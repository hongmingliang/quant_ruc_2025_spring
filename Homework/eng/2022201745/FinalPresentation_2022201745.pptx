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487" r:id="rId2"/>
    <p:sldId id="490" r:id="rId3"/>
    <p:sldId id="49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100"/>
    <a:srgbClr val="9C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0CF34-5466-4C09-8B8B-5A958BCAE99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3EEB3-6DEA-48F1-9CD4-EDC2A04DB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559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94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39A17-C2E5-38DA-479B-946D3299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78F50B-F754-2D3E-106B-1B68F55D3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2130C5-B6DE-5F52-7407-E99B41136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DA2E17-A452-92E4-7827-BD6DF09BD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1856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545C9-0A84-D199-8521-65BBF455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5FF006-D1FC-D887-F8CD-C27403BCD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23F94F-93A6-EE2A-5525-1EFCD87C7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03535D-4CE1-EAB9-2EEB-0BAD0E698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82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57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pPr algn="ctr">
                <a:defRPr/>
              </a:pPr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23156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33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98557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10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672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79" indent="-357179" algn="just" defTabSz="914377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79" indent="-357179" algn="just" defTabSz="914377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/>
        </p:nvSpPr>
        <p:spPr bwMode="auto">
          <a:xfrm>
            <a:off x="3177" y="3514337"/>
            <a:ext cx="12188825" cy="1446568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rgbClr val="990100">
                <a:alpha val="8392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792A7A8B-AF71-4B91-A9D3-54F313C09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3640" y="69689"/>
            <a:ext cx="824090" cy="8275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D8E5267-97DF-88C4-BC16-3E3AB8E7ECD5}"/>
              </a:ext>
            </a:extLst>
          </p:cNvPr>
          <p:cNvSpPr txBox="1"/>
          <p:nvPr/>
        </p:nvSpPr>
        <p:spPr>
          <a:xfrm>
            <a:off x="333556" y="102208"/>
            <a:ext cx="2432648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latin typeface="+mn-ea"/>
              </a:rPr>
              <a:t>张嘉麟 </a:t>
            </a:r>
            <a:r>
              <a:rPr lang="en-US" altLang="zh-CN" sz="1600" b="1" dirty="0">
                <a:latin typeface="+mn-ea"/>
              </a:rPr>
              <a:t>2022201745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0DA7E6-9ABE-C6E2-0E2E-BEDBE8A61369}"/>
              </a:ext>
            </a:extLst>
          </p:cNvPr>
          <p:cNvSpPr txBox="1"/>
          <p:nvPr/>
        </p:nvSpPr>
        <p:spPr>
          <a:xfrm>
            <a:off x="1043797" y="656000"/>
            <a:ext cx="7769524" cy="597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特征工程：</a:t>
            </a:r>
            <a:r>
              <a: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NLP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3A6A362-FEBC-E912-7D6E-72DB3E083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852" y="897243"/>
            <a:ext cx="6448787" cy="30827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33D9826-5A2E-7728-3FAE-87E19BAD2101}"/>
              </a:ext>
            </a:extLst>
          </p:cNvPr>
          <p:cNvSpPr txBox="1"/>
          <p:nvPr/>
        </p:nvSpPr>
        <p:spPr>
          <a:xfrm>
            <a:off x="1104180" y="1539819"/>
            <a:ext cx="4094672" cy="4613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词语重复性较高，没有复杂含义，因此考虑：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N-gram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处理（类似于词频）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字到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字词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最小出现频率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最大出现频率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60%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SVD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降维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对字段矩阵进行降维（类似于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PCA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~9000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维→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维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586D4201-C701-402E-A9FF-C6B53BEFA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852" y="4154079"/>
            <a:ext cx="6054787" cy="251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32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140E-9C59-E7FE-26CF-FB84CFF7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5ADBC62A-DC51-3730-F74F-6D791BF7A92A}"/>
              </a:ext>
            </a:extLst>
          </p:cNvPr>
          <p:cNvSpPr>
            <a:spLocks/>
          </p:cNvSpPr>
          <p:nvPr/>
        </p:nvSpPr>
        <p:spPr bwMode="auto">
          <a:xfrm>
            <a:off x="3177" y="3514337"/>
            <a:ext cx="12188825" cy="1446568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rgbClr val="990100">
                <a:alpha val="8392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EF1BBA50-4C56-5A04-C7B2-8B8FDBAF1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3640" y="69689"/>
            <a:ext cx="824090" cy="8275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F517D87-7F93-787F-C750-539E0E176434}"/>
              </a:ext>
            </a:extLst>
          </p:cNvPr>
          <p:cNvSpPr txBox="1"/>
          <p:nvPr/>
        </p:nvSpPr>
        <p:spPr>
          <a:xfrm>
            <a:off x="333556" y="102208"/>
            <a:ext cx="2432648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latin typeface="+mn-ea"/>
              </a:rPr>
              <a:t>张嘉麟 </a:t>
            </a:r>
            <a:r>
              <a:rPr lang="en-US" altLang="zh-CN" sz="1600" b="1" dirty="0">
                <a:latin typeface="+mn-ea"/>
              </a:rPr>
              <a:t>2022201745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6775CB-179B-01D2-37E0-8F42D443444A}"/>
              </a:ext>
            </a:extLst>
          </p:cNvPr>
          <p:cNvSpPr txBox="1"/>
          <p:nvPr/>
        </p:nvSpPr>
        <p:spPr>
          <a:xfrm>
            <a:off x="1032296" y="405767"/>
            <a:ext cx="7769524" cy="597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模型假设：</a:t>
            </a:r>
            <a:r>
              <a:rPr lang="en-US" altLang="zh-CN" sz="28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base_price</a:t>
            </a:r>
            <a:r>
              <a: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 + residual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7BD3BF-A376-2447-F629-BB669F58956D}"/>
              </a:ext>
            </a:extLst>
          </p:cNvPr>
          <p:cNvSpPr txBox="1"/>
          <p:nvPr/>
        </p:nvSpPr>
        <p:spPr>
          <a:xfrm>
            <a:off x="1084205" y="1166004"/>
            <a:ext cx="4094672" cy="5028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计算基准价格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base_price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对每个城市、区域、板块求平均每平米价格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样本过少的城市用全局平均价格进行平滑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乘以面积得出不同的基准价格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对不同颗粒度基准价格加权求和，得出最终基准价格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计算误差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residual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对价格和基准价格分别求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log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，作差，得出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residual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后续用特征预测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residual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7D7E7C23-61A6-F8AA-0C9C-677B40138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710" y="901559"/>
            <a:ext cx="5163687" cy="745865"/>
          </a:xfrm>
          <a:prstGeom prst="rect">
            <a:avLst/>
          </a:prstGeom>
        </p:spPr>
      </p:pic>
      <p:pic>
        <p:nvPicPr>
          <p:cNvPr id="10" name="图片 9" descr="银色的钟表&#10;&#10;AI 生成的内容可能不正确。">
            <a:extLst>
              <a:ext uri="{FF2B5EF4-FFF2-40B4-BE49-F238E27FC236}">
                <a16:creationId xmlns:a16="http://schemas.microsoft.com/office/drawing/2014/main" id="{84B425F2-61A1-37E5-99AD-27CA16848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710" y="1698125"/>
            <a:ext cx="3897012" cy="570591"/>
          </a:xfrm>
          <a:prstGeom prst="rect">
            <a:avLst/>
          </a:prstGeom>
        </p:spPr>
      </p:pic>
      <p:pic>
        <p:nvPicPr>
          <p:cNvPr id="15" name="图片 14" descr="文本&#10;&#10;AI 生成的内容可能不正确。">
            <a:extLst>
              <a:ext uri="{FF2B5EF4-FFF2-40B4-BE49-F238E27FC236}">
                <a16:creationId xmlns:a16="http://schemas.microsoft.com/office/drawing/2014/main" id="{02BA45B4-8880-7F08-FECE-4BBEF3A1A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7710" y="3090721"/>
            <a:ext cx="5531829" cy="747033"/>
          </a:xfrm>
          <a:prstGeom prst="rect">
            <a:avLst/>
          </a:prstGeom>
        </p:spPr>
      </p:pic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B0588A4C-FD19-EC0C-BE3C-CD7FFB9DEF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7710" y="2319416"/>
            <a:ext cx="4991241" cy="720605"/>
          </a:xfrm>
          <a:prstGeom prst="rect">
            <a:avLst/>
          </a:prstGeom>
        </p:spPr>
      </p:pic>
      <p:pic>
        <p:nvPicPr>
          <p:cNvPr id="19" name="图片 18" descr="文本&#10;&#10;AI 生成的内容可能不正确。">
            <a:extLst>
              <a:ext uri="{FF2B5EF4-FFF2-40B4-BE49-F238E27FC236}">
                <a16:creationId xmlns:a16="http://schemas.microsoft.com/office/drawing/2014/main" id="{8C6AED24-4F64-78CD-9B7E-F62E01E310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7710" y="3844090"/>
            <a:ext cx="3424110" cy="215340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D3D57E6-2081-61D1-1CA6-3656950951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9260" y="6038143"/>
            <a:ext cx="6912333" cy="46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15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BC0E6-028F-E62D-5B49-6C3FEC72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04A4B851-FD4F-917E-46EF-5D2C2FD77E23}"/>
              </a:ext>
            </a:extLst>
          </p:cNvPr>
          <p:cNvSpPr>
            <a:spLocks/>
          </p:cNvSpPr>
          <p:nvPr/>
        </p:nvSpPr>
        <p:spPr bwMode="auto">
          <a:xfrm>
            <a:off x="3177" y="3514337"/>
            <a:ext cx="12188825" cy="1446568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rgbClr val="990100">
                <a:alpha val="8392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2AFC86A2-7024-38E3-5C83-C45169B41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3640" y="69689"/>
            <a:ext cx="824090" cy="8275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FF1B13B-FC8D-40FB-1D91-7A5FB0407682}"/>
              </a:ext>
            </a:extLst>
          </p:cNvPr>
          <p:cNvSpPr txBox="1"/>
          <p:nvPr/>
        </p:nvSpPr>
        <p:spPr>
          <a:xfrm>
            <a:off x="333556" y="102208"/>
            <a:ext cx="2432648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latin typeface="+mn-ea"/>
              </a:rPr>
              <a:t>张嘉麟 </a:t>
            </a:r>
            <a:r>
              <a:rPr lang="en-US" altLang="zh-CN" sz="1600" b="1" dirty="0">
                <a:latin typeface="+mn-ea"/>
              </a:rPr>
              <a:t>2022201745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940342-C70D-4E99-D31E-E89A33C66C93}"/>
              </a:ext>
            </a:extLst>
          </p:cNvPr>
          <p:cNvSpPr txBox="1"/>
          <p:nvPr/>
        </p:nvSpPr>
        <p:spPr>
          <a:xfrm>
            <a:off x="1032296" y="405767"/>
            <a:ext cx="7769524" cy="597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模型构建：</a:t>
            </a:r>
            <a:r>
              <a: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Stacking Model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44791E-2609-424D-94D9-82981DEFEF67}"/>
              </a:ext>
            </a:extLst>
          </p:cNvPr>
          <p:cNvSpPr txBox="1"/>
          <p:nvPr/>
        </p:nvSpPr>
        <p:spPr>
          <a:xfrm>
            <a:off x="891396" y="993476"/>
            <a:ext cx="4091322" cy="5028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residual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作为目标变量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使用多个树模型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神经网络作为基模型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Xgboost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LightGBM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Random forest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：网格搜索调参，损失函数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rmse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神经网络：输入→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256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层→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128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层→输出；随机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drop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掉神经元防止过拟合，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ReLU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非线性性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线性模型作为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meta model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Ridge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alpha=0.5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折交叉验证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B1CB1824-68B8-DD9F-955B-C3740F5DA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513" y="1002982"/>
            <a:ext cx="3096153" cy="5488196"/>
          </a:xfrm>
          <a:prstGeom prst="rect">
            <a:avLst/>
          </a:prstGeom>
        </p:spPr>
      </p:pic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F2A45394-657E-557D-E96C-0DBD21BF3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7666" y="984788"/>
            <a:ext cx="3890648" cy="2442003"/>
          </a:xfrm>
          <a:prstGeom prst="rect">
            <a:avLst/>
          </a:prstGeom>
        </p:spPr>
      </p:pic>
      <p:pic>
        <p:nvPicPr>
          <p:cNvPr id="16" name="图片 15" descr="文本&#10;&#10;AI 生成的内容可能不正确。">
            <a:extLst>
              <a:ext uri="{FF2B5EF4-FFF2-40B4-BE49-F238E27FC236}">
                <a16:creationId xmlns:a16="http://schemas.microsoft.com/office/drawing/2014/main" id="{62807991-A76D-2493-B575-50BC9FE66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212" y="3514336"/>
            <a:ext cx="3421385" cy="3169168"/>
          </a:xfrm>
          <a:prstGeom prst="rect">
            <a:avLst/>
          </a:prstGeom>
        </p:spPr>
      </p:pic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E5B8F4DD-4EFE-49C0-62B0-860E1D0F0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859538"/>
              </p:ext>
            </p:extLst>
          </p:nvPr>
        </p:nvGraphicFramePr>
        <p:xfrm>
          <a:off x="5156076" y="3005702"/>
          <a:ext cx="6509609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216">
                  <a:extLst>
                    <a:ext uri="{9D8B030D-6E8A-4147-A177-3AD203B41FA5}">
                      <a16:colId xmlns:a16="http://schemas.microsoft.com/office/drawing/2014/main" val="3687800061"/>
                    </a:ext>
                  </a:extLst>
                </a:gridCol>
                <a:gridCol w="1380227">
                  <a:extLst>
                    <a:ext uri="{9D8B030D-6E8A-4147-A177-3AD203B41FA5}">
                      <a16:colId xmlns:a16="http://schemas.microsoft.com/office/drawing/2014/main" val="1066975848"/>
                    </a:ext>
                  </a:extLst>
                </a:gridCol>
                <a:gridCol w="1190445">
                  <a:extLst>
                    <a:ext uri="{9D8B030D-6E8A-4147-A177-3AD203B41FA5}">
                      <a16:colId xmlns:a16="http://schemas.microsoft.com/office/drawing/2014/main" val="4162903382"/>
                    </a:ext>
                  </a:extLst>
                </a:gridCol>
                <a:gridCol w="1345721">
                  <a:extLst>
                    <a:ext uri="{9D8B030D-6E8A-4147-A177-3AD203B41FA5}">
                      <a16:colId xmlns:a16="http://schemas.microsoft.com/office/drawing/2014/main" val="2152046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Model</a:t>
                      </a:r>
                      <a:endParaRPr lang="zh-CN" altLang="en-US" sz="2000" dirty="0"/>
                    </a:p>
                  </a:txBody>
                  <a:tcPr>
                    <a:solidFill>
                      <a:srgbClr val="9C01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Trainset</a:t>
                      </a:r>
                    </a:p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Rent               Price</a:t>
                      </a:r>
                      <a:endParaRPr lang="zh-CN" altLang="en-US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C01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Kaggle</a:t>
                      </a:r>
                      <a:endParaRPr lang="zh-CN" altLang="en-US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C0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90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 Stacking Model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0.0527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76.9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995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 Stacking Model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0.0473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77.0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443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Random Forest(midterm)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61.2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497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095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自定义 2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0582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242</Words>
  <Application>Microsoft Office PowerPoint</Application>
  <PresentationFormat>宽屏</PresentationFormat>
  <Paragraphs>49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微软雅黑</vt:lpstr>
      <vt:lpstr>幼圆</vt:lpstr>
      <vt:lpstr>Arial</vt:lpstr>
      <vt:lpstr>Arial Black</vt:lpstr>
      <vt:lpstr>Calibri</vt:lpstr>
      <vt:lpstr>Wingdings 2</vt:lpstr>
      <vt:lpstr>第一PPT，www.1ppt.com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嘉麟 张</cp:lastModifiedBy>
  <cp:revision>54</cp:revision>
  <dcterms:created xsi:type="dcterms:W3CDTF">2020-10-27T11:22:29Z</dcterms:created>
  <dcterms:modified xsi:type="dcterms:W3CDTF">2025-12-24T14:33:43Z</dcterms:modified>
</cp:coreProperties>
</file>