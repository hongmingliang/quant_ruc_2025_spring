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63" r:id="rId3"/>
    <p:sldId id="264" r:id="rId5"/>
    <p:sldId id="265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7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34"/>
        <p:guide pos="37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6.pn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6.pn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2"/>
          <p:cNvPicPr/>
          <p:nvPr/>
        </p:nvPicPr>
        <p:blipFill rotWithShape="1">
          <a:blip r:embed="rId1" cstate="print"/>
          <a:srcRect b="18789"/>
          <a:stretch>
            <a:fillRect/>
          </a:stretch>
        </p:blipFill>
        <p:spPr>
          <a:xfrm>
            <a:off x="8194549" y="0"/>
            <a:ext cx="3997451" cy="4707830"/>
          </a:xfrm>
          <a:prstGeom prst="rect">
            <a:avLst/>
          </a:prstGeom>
        </p:spPr>
      </p:pic>
      <p:pic>
        <p:nvPicPr>
          <p:cNvPr id="53" name="image 107"/>
          <p:cNvPicPr>
            <a:picLocks noChangeAspect="1"/>
          </p:cNvPicPr>
          <p:nvPr/>
        </p:nvPicPr>
        <p:blipFill>
          <a:blip r:embed="rId2">
            <a:alphaModFix amt="13000"/>
          </a:blip>
          <a:srcRect t="16666" b="16666"/>
          <a:stretch>
            <a:fillRect/>
          </a:stretch>
        </p:blipFill>
        <p:spPr>
          <a:xfrm rot="10800000">
            <a:off x="8872286" y="5044293"/>
            <a:ext cx="2761615" cy="228155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10489"/>
            <a:ext cx="3584549" cy="1021334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1389" b="-12110"/>
          <a:stretch>
            <a:fillRect/>
          </a:stretch>
        </p:blipFill>
        <p:spPr>
          <a:xfrm>
            <a:off x="9952355" y="433070"/>
            <a:ext cx="1618615" cy="387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02"/>
          <p:cNvPicPr>
            <a:picLocks noChangeAspect="1"/>
          </p:cNvPicPr>
          <p:nvPr/>
        </p:nvPicPr>
        <p:blipFill>
          <a:blip r:embed="rId6">
            <a:alphaModFix amt="13000"/>
          </a:blip>
          <a:srcRect t="16666" b="16666"/>
          <a:stretch>
            <a:fillRect/>
          </a:stretch>
        </p:blipFill>
        <p:spPr>
          <a:xfrm>
            <a:off x="0" y="-110"/>
            <a:ext cx="3159371" cy="25412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" y="1356995"/>
            <a:ext cx="5046345" cy="2833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3030" y="507365"/>
            <a:ext cx="2980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ea"/>
                <a:ea typeface="+mj-ea"/>
                <a:cs typeface="华文仿宋" panose="02010600040101010101" charset="-122"/>
              </a:rPr>
              <a:t>TVAE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逆向工程提取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去噪特征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74970" y="694690"/>
            <a:ext cx="5918835" cy="150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我偶然间发现原始数据附带大量噪音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如果想要进行逆向工程还原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z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向量，必须适用干净的特征。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我设计了一个零样本的评估方法，首先选取国外国内各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3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主流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llm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，同样的提示词，抽同样的样本回答五次让他根据特征之间的逻辑一致性结合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gan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生产数据的缺陷判断，对于同一个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llm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回答的方差用幻觉率修正，得到可信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(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前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25%)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，稍可信，噪音特征，完全不可信四个级别，对于方差大的根据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kaggle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评分推算特征到底干不干净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只把可信和稍可信的特征，对于稍可信的借鉴去噪自编码器的原理，随机翻转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20%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的样本，让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tvae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自己根据干净特征把错误特征去噪。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3030" y="4360545"/>
            <a:ext cx="7433310" cy="2396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鉴于官方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sdv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完全封装且运行慢，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pytorch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手写定制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tvae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，用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ghostBN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加速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20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倍。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数值特征：有明确边界的采用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GMM 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建模，输出所属高斯分量及峰内相对位置；无边界且非多峰的施以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log1p 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变换，支持外推。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类别特征：高基数采用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6 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折目标编码，低基数采用独热编码。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缺失值处理：数值特征填均值，类别特征填众数，并额外生成缺失指示列。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网络输出层设计：类别特征对应列使用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softmax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，数值特征对应列使用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tanh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隐藏层均采用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ReLU 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激活。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7640" y="3872865"/>
            <a:ext cx="6053455" cy="835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8640" y="5885180"/>
            <a:ext cx="4563745" cy="9728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5495" y="3277870"/>
            <a:ext cx="4892040" cy="17081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666605" y="5935980"/>
            <a:ext cx="25253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王泽疆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algn="r"/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2023200910</a:t>
            </a:r>
            <a:endParaRPr lang="en-US" altLang="zh-CN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algn="r"/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kaggle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：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shudiaoh</a:t>
            </a:r>
            <a:endParaRPr lang="en-US" altLang="zh-CN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2"/>
          <p:cNvPicPr/>
          <p:nvPr/>
        </p:nvPicPr>
        <p:blipFill rotWithShape="1">
          <a:blip r:embed="rId1" cstate="print"/>
          <a:srcRect b="18789"/>
          <a:stretch>
            <a:fillRect/>
          </a:stretch>
        </p:blipFill>
        <p:spPr>
          <a:xfrm>
            <a:off x="8194549" y="0"/>
            <a:ext cx="3997451" cy="4707830"/>
          </a:xfrm>
          <a:prstGeom prst="rect">
            <a:avLst/>
          </a:prstGeom>
        </p:spPr>
      </p:pic>
      <p:pic>
        <p:nvPicPr>
          <p:cNvPr id="53" name="image 107"/>
          <p:cNvPicPr>
            <a:picLocks noChangeAspect="1"/>
          </p:cNvPicPr>
          <p:nvPr/>
        </p:nvPicPr>
        <p:blipFill>
          <a:blip r:embed="rId2">
            <a:alphaModFix amt="13000"/>
          </a:blip>
          <a:srcRect t="16666" b="16666"/>
          <a:stretch>
            <a:fillRect/>
          </a:stretch>
        </p:blipFill>
        <p:spPr>
          <a:xfrm rot="10800000">
            <a:off x="9469821" y="4360398"/>
            <a:ext cx="2761615" cy="228155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10489"/>
            <a:ext cx="3584549" cy="1021334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1389" b="-12110"/>
          <a:stretch>
            <a:fillRect/>
          </a:stretch>
        </p:blipFill>
        <p:spPr>
          <a:xfrm>
            <a:off x="9952355" y="433070"/>
            <a:ext cx="1618615" cy="387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02"/>
          <p:cNvPicPr>
            <a:picLocks noChangeAspect="1"/>
          </p:cNvPicPr>
          <p:nvPr/>
        </p:nvPicPr>
        <p:blipFill>
          <a:blip r:embed="rId6">
            <a:alphaModFix amt="13000"/>
          </a:blip>
          <a:srcRect t="16666" b="16666"/>
          <a:stretch>
            <a:fillRect/>
          </a:stretch>
        </p:blipFill>
        <p:spPr>
          <a:xfrm>
            <a:off x="-111125" y="-110"/>
            <a:ext cx="3159371" cy="254120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1590" y="1337945"/>
            <a:ext cx="2573655" cy="12617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1435" y="2570480"/>
            <a:ext cx="2604135" cy="1487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1530" y="821055"/>
            <a:ext cx="3638550" cy="2150745"/>
          </a:xfrm>
          <a:prstGeom prst="rect">
            <a:avLst/>
          </a:prstGeom>
        </p:spPr>
      </p:pic>
      <p:pic>
        <p:nvPicPr>
          <p:cNvPr id="4" name="图片 3" descr="price_umap_hdbscan_20251219_1144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4320" y="920115"/>
            <a:ext cx="2258060" cy="16795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69515" y="2882900"/>
            <a:ext cx="3735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</a:rPr>
              <a:t>激进的参数退火设计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52700" y="3701415"/>
            <a:ext cx="2472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</a:rPr>
              <a:t>多种子训练，一旦模型训练发生后验坍缩直接剪枝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2355" y="3220085"/>
            <a:ext cx="1162050" cy="8382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975985" y="3303270"/>
            <a:ext cx="31007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</a:rPr>
              <a:t>用孤立森林在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</a:rPr>
              <a:t>z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</a:rPr>
              <a:t>空间把异常点找出来，同时把异常分数作为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</a:rPr>
              <a:t>特征这种方法对长尾更友好！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4053840" y="3350260"/>
            <a:ext cx="567690" cy="3511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803140" y="4360545"/>
            <a:ext cx="41986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</a:rPr>
              <a:t>在做消融实验和调参的过程中我有一个惊人的发现！</a:t>
            </a:r>
            <a:endParaRPr lang="en-US" altLang="zh-CN" sz="16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52700" y="1468120"/>
            <a:ext cx="6096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用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mcmc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采样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30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次平均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得到测试集的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z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特征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55240" y="168910"/>
            <a:ext cx="2247900" cy="1257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52070" y="4057650"/>
            <a:ext cx="2520950" cy="279717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51155" y="499745"/>
            <a:ext cx="2428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后续处理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72550" y="1426210"/>
            <a:ext cx="2846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降维后用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hdbscan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聚类，距离簇中心作为特征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468880" y="4944110"/>
            <a:ext cx="7320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tvae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过程中生产的对数似然、重构误差、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z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到原点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距离也作为特征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降维后的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16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个特征，再和原始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9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个特征手动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加减乘除交叉，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shap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筛选前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50</a:t>
            </a:r>
            <a:endParaRPr lang="en-US" altLang="zh-CN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468880" y="5581015"/>
            <a:ext cx="75380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测试集是训练集年份后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10%,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特征的对年份根据库茨涅兹周期和其三个子周期构造共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17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个三角函数特征，希望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xgb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能据此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外推，测试集含有训练集没有的年份，另外对房价特征进行时间一致性检验，房租年份特别集中不用管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2"/>
          <p:cNvPicPr/>
          <p:nvPr/>
        </p:nvPicPr>
        <p:blipFill rotWithShape="1">
          <a:blip r:embed="rId1" cstate="print"/>
          <a:srcRect b="18789"/>
          <a:stretch>
            <a:fillRect/>
          </a:stretch>
        </p:blipFill>
        <p:spPr>
          <a:xfrm>
            <a:off x="8194549" y="0"/>
            <a:ext cx="3997451" cy="4707830"/>
          </a:xfrm>
          <a:prstGeom prst="rect">
            <a:avLst/>
          </a:prstGeom>
        </p:spPr>
      </p:pic>
      <p:pic>
        <p:nvPicPr>
          <p:cNvPr id="53" name="image 107"/>
          <p:cNvPicPr>
            <a:picLocks noChangeAspect="1"/>
          </p:cNvPicPr>
          <p:nvPr/>
        </p:nvPicPr>
        <p:blipFill>
          <a:blip r:embed="rId2">
            <a:alphaModFix amt="13000"/>
          </a:blip>
          <a:srcRect t="16666" b="16666"/>
          <a:stretch>
            <a:fillRect/>
          </a:stretch>
        </p:blipFill>
        <p:spPr>
          <a:xfrm>
            <a:off x="7557201" y="1783568"/>
            <a:ext cx="2761615" cy="228155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10489"/>
            <a:ext cx="3584549" cy="1021334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1389" b="-12110"/>
          <a:stretch>
            <a:fillRect/>
          </a:stretch>
        </p:blipFill>
        <p:spPr>
          <a:xfrm>
            <a:off x="9952355" y="433070"/>
            <a:ext cx="1618615" cy="387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02"/>
          <p:cNvPicPr>
            <a:picLocks noChangeAspect="1"/>
          </p:cNvPicPr>
          <p:nvPr/>
        </p:nvPicPr>
        <p:blipFill>
          <a:blip r:embed="rId6">
            <a:alphaModFix amt="13000"/>
          </a:blip>
          <a:srcRect t="16666" b="16666"/>
          <a:stretch>
            <a:fillRect/>
          </a:stretch>
        </p:blipFill>
        <p:spPr>
          <a:xfrm>
            <a:off x="0" y="-110"/>
            <a:ext cx="3159371" cy="25412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544320"/>
            <a:ext cx="7924800" cy="2857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1790" y="499745"/>
            <a:ext cx="2732405" cy="591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知识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蒸馏的堆叠集成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94675" y="1676400"/>
            <a:ext cx="38696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基于误差正交原理，我设计了老师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-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学生架构的堆叠集成，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四个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xgboost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参数设置各异，保证学生模型的多样化和误差正交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401820"/>
            <a:ext cx="12192000" cy="24339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88690" y="67945"/>
            <a:ext cx="58794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缺失填补让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catboost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做</a:t>
            </a:r>
            <a:endParaRPr lang="en-US" altLang="zh-CN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类别特征让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catboost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做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老师模型让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catboost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做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软标签和老师模型预测一致性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特征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为学生模型提供更鲁棒的决策边界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4675" y="11430"/>
            <a:ext cx="1486535" cy="15328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152640" y="1176020"/>
            <a:ext cx="1628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catboost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887335" y="3137535"/>
            <a:ext cx="41770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交的版本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tvae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未用改稍可信特征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tvae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，全程只用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9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个原始特征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6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折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cv rmae 0.1108 kaggle 71.1</a:t>
            </a:r>
            <a:endParaRPr lang="en-US" altLang="zh-CN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反思：过度去噪特征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过少带来的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过拟合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1067</Words>
  <Application>WPS 演示</Application>
  <PresentationFormat>宽屏</PresentationFormat>
  <Paragraphs>61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Calibri</vt:lpstr>
      <vt:lpstr>华文仿宋</vt:lpstr>
      <vt:lpstr>黑体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Administrator</cp:lastModifiedBy>
  <cp:revision>57</cp:revision>
  <dcterms:created xsi:type="dcterms:W3CDTF">2025-10-29T13:10:00Z</dcterms:created>
  <dcterms:modified xsi:type="dcterms:W3CDTF">2025-12-24T15:43:25Z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D2A2A1508494430B94C6E75C07BBB1BC_13</vt:lpwstr>
  </property>
</Properties>
</file>