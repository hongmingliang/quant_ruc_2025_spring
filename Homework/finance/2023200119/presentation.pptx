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347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18279b2d9053e6eae1ff31e2039a3e75013e33ef.jpg"/>
          <p:cNvPicPr>
            <a:picLocks noChangeAspect="1"/>
          </p:cNvPicPr>
          <p:nvPr/>
        </p:nvPicPr>
        <p:blipFill>
          <a:blip r:embed="rId3">
            <a:alphaModFix amt="10000"/>
          </a:blip>
          <a:srcRect t="33167" b="33167"/>
          <a:stretch/>
        </p:blipFill>
        <p:spPr>
          <a:xfrm>
            <a:off x="8102549" y="0"/>
            <a:ext cx="4085791" cy="245147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26863" y="326863"/>
            <a:ext cx="32686" cy="326863"/>
          </a:xfrm>
          <a:custGeom>
            <a:avLst/>
            <a:gdLst/>
            <a:ahLst/>
            <a:cxnLst/>
            <a:rect l="l" t="t" r="r" b="b"/>
            <a:pathLst>
              <a:path w="32686" h="326863">
                <a:moveTo>
                  <a:pt x="0" y="0"/>
                </a:moveTo>
                <a:lnTo>
                  <a:pt x="32686" y="0"/>
                </a:lnTo>
                <a:lnTo>
                  <a:pt x="32686" y="326863"/>
                </a:lnTo>
                <a:lnTo>
                  <a:pt x="0" y="326863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457609" y="326863"/>
            <a:ext cx="3383035" cy="326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6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模型性能概览与核心亮点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718835" y="414785"/>
            <a:ext cx="5636691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8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Performance Overview &amp; Key Innovations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6863" y="706238"/>
            <a:ext cx="11538273" cy="1688063"/>
          </a:xfrm>
          <a:custGeom>
            <a:avLst/>
            <a:gdLst/>
            <a:ahLst/>
            <a:cxnLst/>
            <a:rect l="l" t="t" r="r" b="b"/>
            <a:pathLst>
              <a:path w="11538273" h="1217566">
                <a:moveTo>
                  <a:pt x="65371" y="0"/>
                </a:moveTo>
                <a:lnTo>
                  <a:pt x="11472902" y="0"/>
                </a:lnTo>
                <a:cubicBezTo>
                  <a:pt x="11509006" y="0"/>
                  <a:pt x="11538273" y="29268"/>
                  <a:pt x="11538273" y="65371"/>
                </a:cubicBezTo>
                <a:lnTo>
                  <a:pt x="11538273" y="1152195"/>
                </a:lnTo>
                <a:cubicBezTo>
                  <a:pt x="11538273" y="1188298"/>
                  <a:pt x="11509006" y="1217566"/>
                  <a:pt x="11472902" y="1217566"/>
                </a:cubicBezTo>
                <a:lnTo>
                  <a:pt x="65371" y="1217566"/>
                </a:lnTo>
                <a:cubicBezTo>
                  <a:pt x="29268" y="1217566"/>
                  <a:pt x="0" y="1188298"/>
                  <a:pt x="0" y="1152195"/>
                </a:cubicBezTo>
                <a:lnTo>
                  <a:pt x="0" y="65371"/>
                </a:lnTo>
                <a:cubicBezTo>
                  <a:pt x="0" y="29292"/>
                  <a:pt x="29292" y="0"/>
                  <a:pt x="65371" y="0"/>
                </a:cubicBezTo>
                <a:close/>
              </a:path>
            </a:pathLst>
          </a:custGeom>
          <a:solidFill>
            <a:srgbClr val="262626"/>
          </a:solidFill>
          <a:ln/>
          <a:effectLst>
            <a:outerShdw blurRad="122574" dist="81716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451943" y="792643"/>
            <a:ext cx="183861" cy="163432"/>
          </a:xfrm>
          <a:custGeom>
            <a:avLst/>
            <a:gdLst/>
            <a:ahLst/>
            <a:cxnLst/>
            <a:rect l="l" t="t" r="r" b="b"/>
            <a:pathLst>
              <a:path w="183861" h="163432">
                <a:moveTo>
                  <a:pt x="98793" y="-6033"/>
                </a:moveTo>
                <a:cubicBezTo>
                  <a:pt x="97484" y="-8587"/>
                  <a:pt x="94835" y="-10214"/>
                  <a:pt x="91962" y="-10214"/>
                </a:cubicBezTo>
                <a:cubicBezTo>
                  <a:pt x="89089" y="-10214"/>
                  <a:pt x="86440" y="-8587"/>
                  <a:pt x="85131" y="-6033"/>
                </a:cubicBezTo>
                <a:lnTo>
                  <a:pt x="61638" y="39996"/>
                </a:lnTo>
                <a:lnTo>
                  <a:pt x="10598" y="48104"/>
                </a:lnTo>
                <a:cubicBezTo>
                  <a:pt x="7757" y="48551"/>
                  <a:pt x="5395" y="50562"/>
                  <a:pt x="4501" y="53307"/>
                </a:cubicBezTo>
                <a:cubicBezTo>
                  <a:pt x="3607" y="56052"/>
                  <a:pt x="4341" y="59052"/>
                  <a:pt x="6352" y="61095"/>
                </a:cubicBezTo>
                <a:lnTo>
                  <a:pt x="42869" y="97644"/>
                </a:lnTo>
                <a:lnTo>
                  <a:pt x="34825" y="148684"/>
                </a:lnTo>
                <a:cubicBezTo>
                  <a:pt x="34378" y="151525"/>
                  <a:pt x="35559" y="154398"/>
                  <a:pt x="37889" y="156090"/>
                </a:cubicBezTo>
                <a:cubicBezTo>
                  <a:pt x="40220" y="157782"/>
                  <a:pt x="43284" y="158037"/>
                  <a:pt x="45869" y="156728"/>
                </a:cubicBezTo>
                <a:lnTo>
                  <a:pt x="91962" y="133299"/>
                </a:lnTo>
                <a:lnTo>
                  <a:pt x="138023" y="156728"/>
                </a:lnTo>
                <a:cubicBezTo>
                  <a:pt x="140577" y="158037"/>
                  <a:pt x="143673" y="157782"/>
                  <a:pt x="146003" y="156090"/>
                </a:cubicBezTo>
                <a:cubicBezTo>
                  <a:pt x="148333" y="154398"/>
                  <a:pt x="149514" y="151557"/>
                  <a:pt x="149068" y="148684"/>
                </a:cubicBezTo>
                <a:lnTo>
                  <a:pt x="140992" y="97644"/>
                </a:lnTo>
                <a:lnTo>
                  <a:pt x="177508" y="61095"/>
                </a:lnTo>
                <a:cubicBezTo>
                  <a:pt x="179551" y="59052"/>
                  <a:pt x="180254" y="56052"/>
                  <a:pt x="179360" y="53307"/>
                </a:cubicBezTo>
                <a:cubicBezTo>
                  <a:pt x="178466" y="50562"/>
                  <a:pt x="176136" y="48551"/>
                  <a:pt x="173263" y="48104"/>
                </a:cubicBezTo>
                <a:lnTo>
                  <a:pt x="122255" y="39996"/>
                </a:lnTo>
                <a:lnTo>
                  <a:pt x="98793" y="-603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94584" y="734447"/>
            <a:ext cx="11154209" cy="273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7" b="1" dirty="0" err="1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模型亮点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0468" y="952643"/>
            <a:ext cx="11154209" cy="136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</a:rPr>
              <a:t>1.</a:t>
            </a:r>
            <a:r>
              <a:rPr lang="zh-CN" altLang="en-US" sz="1200" dirty="0">
                <a:solidFill>
                  <a:schemeClr val="bg1"/>
                </a:solidFill>
              </a:rPr>
              <a:t>尝试对不同语义分别独立提取特征并做</a:t>
            </a:r>
            <a:r>
              <a:rPr lang="en-US" altLang="zh-CN" sz="1200" dirty="0">
                <a:solidFill>
                  <a:schemeClr val="bg1"/>
                </a:solidFill>
              </a:rPr>
              <a:t>PCA</a:t>
            </a:r>
            <a:r>
              <a:rPr lang="zh-CN" altLang="en-US" sz="1200" dirty="0">
                <a:solidFill>
                  <a:schemeClr val="bg1"/>
                </a:solidFill>
              </a:rPr>
              <a:t>降维。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</a:rPr>
              <a:t>2.</a:t>
            </a:r>
            <a:r>
              <a:rPr lang="zh-CN" altLang="en-US" sz="1200" dirty="0">
                <a:solidFill>
                  <a:schemeClr val="bg1"/>
                </a:solidFill>
              </a:rPr>
              <a:t>使用</a:t>
            </a:r>
            <a:r>
              <a:rPr lang="en-US" altLang="zh-CN" sz="1200" dirty="0">
                <a:solidFill>
                  <a:schemeClr val="bg1"/>
                </a:solidFill>
              </a:rPr>
              <a:t>Stack Model</a:t>
            </a:r>
            <a:r>
              <a:rPr lang="zh-CN" altLang="en-US" sz="1200" dirty="0">
                <a:solidFill>
                  <a:schemeClr val="bg1"/>
                </a:solidFill>
              </a:rPr>
              <a:t>后样本内和样本外</a:t>
            </a:r>
            <a:r>
              <a:rPr lang="en-US" altLang="zh-CN" sz="1200" dirty="0">
                <a:solidFill>
                  <a:schemeClr val="bg1"/>
                </a:solidFill>
              </a:rPr>
              <a:t>MAE</a:t>
            </a:r>
            <a:r>
              <a:rPr lang="zh-CN" altLang="en-US" sz="1200" dirty="0">
                <a:solidFill>
                  <a:schemeClr val="bg1"/>
                </a:solidFill>
              </a:rPr>
              <a:t>接近且更低，泛化程度更高。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</a:rPr>
              <a:t>3.</a:t>
            </a:r>
            <a:r>
              <a:rPr lang="zh-CN" altLang="en-US" sz="1200" dirty="0">
                <a:solidFill>
                  <a:schemeClr val="bg1"/>
                </a:solidFill>
              </a:rPr>
              <a:t>在</a:t>
            </a:r>
            <a:r>
              <a:rPr lang="en-US" altLang="zh-CN" sz="1200" dirty="0">
                <a:solidFill>
                  <a:schemeClr val="bg1"/>
                </a:solidFill>
              </a:rPr>
              <a:t>Stack Model</a:t>
            </a:r>
            <a:r>
              <a:rPr lang="zh-CN" altLang="en-US" sz="1200" dirty="0">
                <a:solidFill>
                  <a:schemeClr val="bg1"/>
                </a:solidFill>
              </a:rPr>
              <a:t>中给不同的</a:t>
            </a:r>
            <a:r>
              <a:rPr lang="en-US" altLang="zh-CN" sz="1200" dirty="0">
                <a:solidFill>
                  <a:schemeClr val="bg1"/>
                </a:solidFill>
              </a:rPr>
              <a:t>estimator</a:t>
            </a:r>
            <a:r>
              <a:rPr lang="zh-CN" altLang="en-US" sz="1200" dirty="0">
                <a:solidFill>
                  <a:schemeClr val="bg1"/>
                </a:solidFill>
              </a:rPr>
              <a:t>用不同类型的数据训练，在树模型中使用实数值变量和稀疏矩阵变量（独热编码），在线性和神经网络模型中使用实数值、聚类特征和稠密矩阵特征（正则化特征、</a:t>
            </a:r>
            <a:r>
              <a:rPr lang="en-US" altLang="zh-CN" sz="1200" dirty="0">
                <a:solidFill>
                  <a:schemeClr val="bg1"/>
                </a:solidFill>
              </a:rPr>
              <a:t>BERT</a:t>
            </a:r>
            <a:r>
              <a:rPr lang="zh-CN" altLang="en-US" sz="1200" dirty="0">
                <a:solidFill>
                  <a:schemeClr val="bg1"/>
                </a:solidFill>
              </a:rPr>
              <a:t>特征）。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</a:rPr>
              <a:t>4.</a:t>
            </a:r>
            <a:r>
              <a:rPr lang="zh-CN" altLang="en-US" sz="1200" dirty="0">
                <a:solidFill>
                  <a:schemeClr val="bg1"/>
                </a:solidFill>
              </a:rPr>
              <a:t>使用</a:t>
            </a:r>
            <a:r>
              <a:rPr lang="en-US" altLang="zh-CN" sz="1200" dirty="0">
                <a:solidFill>
                  <a:schemeClr val="bg1"/>
                </a:solidFill>
              </a:rPr>
              <a:t>PCA</a:t>
            </a:r>
            <a:r>
              <a:rPr lang="zh-CN" altLang="en-US" sz="1200" dirty="0">
                <a:solidFill>
                  <a:schemeClr val="bg1"/>
                </a:solidFill>
              </a:rPr>
              <a:t>压缩高维</a:t>
            </a:r>
            <a:r>
              <a:rPr lang="en-US" altLang="zh-CN" sz="1200" dirty="0">
                <a:solidFill>
                  <a:schemeClr val="bg1"/>
                </a:solidFill>
              </a:rPr>
              <a:t>BERT</a:t>
            </a:r>
            <a:r>
              <a:rPr lang="zh-CN" altLang="en-US" sz="1200" dirty="0">
                <a:solidFill>
                  <a:schemeClr val="bg1"/>
                </a:solidFill>
              </a:rPr>
              <a:t>特征。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</a:rPr>
              <a:t>5.</a:t>
            </a:r>
            <a:r>
              <a:rPr lang="zh-CN" altLang="en-US" sz="1200" dirty="0">
                <a:solidFill>
                  <a:schemeClr val="bg1"/>
                </a:solidFill>
              </a:rPr>
              <a:t>对</a:t>
            </a:r>
            <a:r>
              <a:rPr lang="en-US" altLang="zh-CN" sz="1200" dirty="0">
                <a:solidFill>
                  <a:schemeClr val="bg1"/>
                </a:solidFill>
              </a:rPr>
              <a:t>estimator</a:t>
            </a:r>
            <a:r>
              <a:rPr lang="zh-CN" altLang="en-US" sz="1200" dirty="0">
                <a:solidFill>
                  <a:schemeClr val="bg1"/>
                </a:solidFill>
              </a:rPr>
              <a:t>进行超参调整。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43206" y="2423555"/>
            <a:ext cx="11521930" cy="2067410"/>
          </a:xfrm>
          <a:custGeom>
            <a:avLst/>
            <a:gdLst/>
            <a:ahLst/>
            <a:cxnLst/>
            <a:rect l="l" t="t" r="r" b="b"/>
            <a:pathLst>
              <a:path w="11521930" h="2067410">
                <a:moveTo>
                  <a:pt x="32686" y="0"/>
                </a:moveTo>
                <a:lnTo>
                  <a:pt x="11456559" y="0"/>
                </a:lnTo>
                <a:cubicBezTo>
                  <a:pt x="11492662" y="0"/>
                  <a:pt x="11521930" y="29268"/>
                  <a:pt x="11521930" y="65372"/>
                </a:cubicBezTo>
                <a:lnTo>
                  <a:pt x="11521930" y="2002039"/>
                </a:lnTo>
                <a:cubicBezTo>
                  <a:pt x="11521930" y="2038142"/>
                  <a:pt x="11492662" y="2067410"/>
                  <a:pt x="11456559" y="2067410"/>
                </a:cubicBezTo>
                <a:lnTo>
                  <a:pt x="32686" y="2067410"/>
                </a:lnTo>
                <a:cubicBezTo>
                  <a:pt x="14634" y="2067410"/>
                  <a:pt x="0" y="2052776"/>
                  <a:pt x="0" y="2034724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029" dist="32686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343206" y="2423555"/>
            <a:ext cx="32686" cy="2067410"/>
          </a:xfrm>
          <a:custGeom>
            <a:avLst/>
            <a:gdLst/>
            <a:ahLst/>
            <a:cxnLst/>
            <a:rect l="l" t="t" r="r" b="b"/>
            <a:pathLst>
              <a:path w="32686" h="2067410">
                <a:moveTo>
                  <a:pt x="32686" y="0"/>
                </a:moveTo>
                <a:lnTo>
                  <a:pt x="32686" y="0"/>
                </a:lnTo>
                <a:lnTo>
                  <a:pt x="32686" y="2067410"/>
                </a:lnTo>
                <a:lnTo>
                  <a:pt x="32686" y="2067410"/>
                </a:lnTo>
                <a:cubicBezTo>
                  <a:pt x="14634" y="2067410"/>
                  <a:pt x="0" y="2052776"/>
                  <a:pt x="0" y="2034724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478038" y="2562472"/>
            <a:ext cx="147088" cy="147088"/>
          </a:xfrm>
          <a:custGeom>
            <a:avLst/>
            <a:gdLst/>
            <a:ahLst/>
            <a:cxnLst/>
            <a:rect l="l" t="t" r="r" b="b"/>
            <a:pathLst>
              <a:path w="147088" h="147088">
                <a:moveTo>
                  <a:pt x="79807" y="2471"/>
                </a:moveTo>
                <a:cubicBezTo>
                  <a:pt x="76273" y="-804"/>
                  <a:pt x="70815" y="-804"/>
                  <a:pt x="67310" y="2471"/>
                </a:cubicBezTo>
                <a:lnTo>
                  <a:pt x="2959" y="62225"/>
                </a:lnTo>
                <a:cubicBezTo>
                  <a:pt x="201" y="64811"/>
                  <a:pt x="-718" y="68804"/>
                  <a:pt x="661" y="72309"/>
                </a:cubicBezTo>
                <a:cubicBezTo>
                  <a:pt x="2040" y="75814"/>
                  <a:pt x="5401" y="78141"/>
                  <a:pt x="9193" y="78141"/>
                </a:cubicBezTo>
                <a:lnTo>
                  <a:pt x="13790" y="78141"/>
                </a:lnTo>
                <a:lnTo>
                  <a:pt x="13790" y="128702"/>
                </a:lnTo>
                <a:cubicBezTo>
                  <a:pt x="13790" y="138843"/>
                  <a:pt x="22035" y="147088"/>
                  <a:pt x="32176" y="147088"/>
                </a:cubicBezTo>
                <a:lnTo>
                  <a:pt x="114913" y="147088"/>
                </a:lnTo>
                <a:cubicBezTo>
                  <a:pt x="125054" y="147088"/>
                  <a:pt x="133299" y="138843"/>
                  <a:pt x="133299" y="128702"/>
                </a:cubicBezTo>
                <a:lnTo>
                  <a:pt x="133299" y="78141"/>
                </a:lnTo>
                <a:lnTo>
                  <a:pt x="137895" y="78141"/>
                </a:lnTo>
                <a:cubicBezTo>
                  <a:pt x="141688" y="78141"/>
                  <a:pt x="145077" y="75814"/>
                  <a:pt x="146456" y="72309"/>
                </a:cubicBezTo>
                <a:cubicBezTo>
                  <a:pt x="147835" y="68804"/>
                  <a:pt x="146916" y="64782"/>
                  <a:pt x="144158" y="62225"/>
                </a:cubicBezTo>
                <a:lnTo>
                  <a:pt x="79807" y="2471"/>
                </a:lnTo>
                <a:close/>
                <a:moveTo>
                  <a:pt x="68948" y="91930"/>
                </a:moveTo>
                <a:lnTo>
                  <a:pt x="78141" y="91930"/>
                </a:lnTo>
                <a:cubicBezTo>
                  <a:pt x="85754" y="91930"/>
                  <a:pt x="91930" y="98107"/>
                  <a:pt x="91930" y="105720"/>
                </a:cubicBezTo>
                <a:lnTo>
                  <a:pt x="91930" y="133299"/>
                </a:lnTo>
                <a:lnTo>
                  <a:pt x="55158" y="133299"/>
                </a:lnTo>
                <a:lnTo>
                  <a:pt x="55158" y="105720"/>
                </a:lnTo>
                <a:cubicBezTo>
                  <a:pt x="55158" y="98107"/>
                  <a:pt x="61335" y="91930"/>
                  <a:pt x="68948" y="9193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645555" y="2521614"/>
            <a:ext cx="1609802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8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房价预测模型性能对比</a:t>
            </a:r>
            <a:endParaRPr lang="en-US" sz="1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872953"/>
              </p:ext>
            </p:extLst>
          </p:nvPr>
        </p:nvGraphicFramePr>
        <p:xfrm>
          <a:off x="457609" y="2815791"/>
          <a:ext cx="11309469" cy="1645920"/>
        </p:xfrm>
        <a:graphic>
          <a:graphicData uri="http://schemas.openxmlformats.org/drawingml/2006/table">
            <a:tbl>
              <a:tblPr/>
              <a:tblGrid>
                <a:gridCol w="2518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0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3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1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2853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Model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In_sample_MAE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Out_of_sample_MAE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CV_MAE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Kaggle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Random_Forest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106,246.88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220,341.49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227,040.11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XGBoost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137,207.40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224,891.74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227,830.71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LightGBM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196,170.84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242,766.55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241,400.03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MLP_Regressor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333,043.22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453,023.74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490,098.32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StackModel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131,785.72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186,366.52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190,661.91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76.7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Shape 26"/>
          <p:cNvSpPr/>
          <p:nvPr/>
        </p:nvSpPr>
        <p:spPr>
          <a:xfrm>
            <a:off x="326863" y="4586300"/>
            <a:ext cx="11521930" cy="2067410"/>
          </a:xfrm>
          <a:custGeom>
            <a:avLst/>
            <a:gdLst/>
            <a:ahLst/>
            <a:cxnLst/>
            <a:rect l="l" t="t" r="r" b="b"/>
            <a:pathLst>
              <a:path w="11521930" h="2067410">
                <a:moveTo>
                  <a:pt x="32686" y="0"/>
                </a:moveTo>
                <a:lnTo>
                  <a:pt x="11456559" y="0"/>
                </a:lnTo>
                <a:cubicBezTo>
                  <a:pt x="11492662" y="0"/>
                  <a:pt x="11521930" y="29268"/>
                  <a:pt x="11521930" y="65372"/>
                </a:cubicBezTo>
                <a:lnTo>
                  <a:pt x="11521930" y="2002039"/>
                </a:lnTo>
                <a:cubicBezTo>
                  <a:pt x="11521930" y="2038142"/>
                  <a:pt x="11492662" y="2067410"/>
                  <a:pt x="11456559" y="2067410"/>
                </a:cubicBezTo>
                <a:lnTo>
                  <a:pt x="32686" y="2067410"/>
                </a:lnTo>
                <a:cubicBezTo>
                  <a:pt x="14634" y="2067410"/>
                  <a:pt x="0" y="2052776"/>
                  <a:pt x="0" y="2034724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029" dist="32686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7"/>
          <p:cNvSpPr/>
          <p:nvPr/>
        </p:nvSpPr>
        <p:spPr>
          <a:xfrm>
            <a:off x="343206" y="4586300"/>
            <a:ext cx="32686" cy="2067410"/>
          </a:xfrm>
          <a:custGeom>
            <a:avLst/>
            <a:gdLst/>
            <a:ahLst/>
            <a:cxnLst/>
            <a:rect l="l" t="t" r="r" b="b"/>
            <a:pathLst>
              <a:path w="32686" h="2067410">
                <a:moveTo>
                  <a:pt x="32686" y="0"/>
                </a:moveTo>
                <a:lnTo>
                  <a:pt x="32686" y="0"/>
                </a:lnTo>
                <a:lnTo>
                  <a:pt x="32686" y="2067410"/>
                </a:lnTo>
                <a:lnTo>
                  <a:pt x="32686" y="2067410"/>
                </a:lnTo>
                <a:cubicBezTo>
                  <a:pt x="14634" y="2067410"/>
                  <a:pt x="0" y="2052776"/>
                  <a:pt x="0" y="2034724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8"/>
          <p:cNvSpPr/>
          <p:nvPr/>
        </p:nvSpPr>
        <p:spPr>
          <a:xfrm>
            <a:off x="478038" y="4725217"/>
            <a:ext cx="147088" cy="147088"/>
          </a:xfrm>
          <a:custGeom>
            <a:avLst/>
            <a:gdLst/>
            <a:ahLst/>
            <a:cxnLst/>
            <a:rect l="l" t="t" r="r" b="b"/>
            <a:pathLst>
              <a:path w="147088" h="147088">
                <a:moveTo>
                  <a:pt x="96527" y="101123"/>
                </a:moveTo>
                <a:cubicBezTo>
                  <a:pt x="124451" y="101123"/>
                  <a:pt x="147088" y="78485"/>
                  <a:pt x="147088" y="50562"/>
                </a:cubicBezTo>
                <a:cubicBezTo>
                  <a:pt x="147088" y="22638"/>
                  <a:pt x="124451" y="0"/>
                  <a:pt x="96527" y="0"/>
                </a:cubicBezTo>
                <a:cubicBezTo>
                  <a:pt x="68603" y="0"/>
                  <a:pt x="45965" y="22638"/>
                  <a:pt x="45965" y="50562"/>
                </a:cubicBezTo>
                <a:cubicBezTo>
                  <a:pt x="45965" y="55934"/>
                  <a:pt x="46798" y="61134"/>
                  <a:pt x="48350" y="65989"/>
                </a:cubicBezTo>
                <a:lnTo>
                  <a:pt x="2011" y="112327"/>
                </a:lnTo>
                <a:cubicBezTo>
                  <a:pt x="718" y="113620"/>
                  <a:pt x="0" y="115373"/>
                  <a:pt x="0" y="117211"/>
                </a:cubicBezTo>
                <a:lnTo>
                  <a:pt x="0" y="140194"/>
                </a:lnTo>
                <a:cubicBezTo>
                  <a:pt x="0" y="144015"/>
                  <a:pt x="3074" y="147088"/>
                  <a:pt x="6895" y="147088"/>
                </a:cubicBezTo>
                <a:lnTo>
                  <a:pt x="29877" y="147088"/>
                </a:lnTo>
                <a:cubicBezTo>
                  <a:pt x="33698" y="147088"/>
                  <a:pt x="36772" y="144015"/>
                  <a:pt x="36772" y="140194"/>
                </a:cubicBezTo>
                <a:lnTo>
                  <a:pt x="36772" y="128702"/>
                </a:lnTo>
                <a:lnTo>
                  <a:pt x="48263" y="128702"/>
                </a:lnTo>
                <a:cubicBezTo>
                  <a:pt x="52084" y="128702"/>
                  <a:pt x="55158" y="125628"/>
                  <a:pt x="55158" y="121808"/>
                </a:cubicBezTo>
                <a:lnTo>
                  <a:pt x="55158" y="110316"/>
                </a:lnTo>
                <a:lnTo>
                  <a:pt x="66649" y="110316"/>
                </a:lnTo>
                <a:cubicBezTo>
                  <a:pt x="68488" y="110316"/>
                  <a:pt x="70240" y="109598"/>
                  <a:pt x="71533" y="108305"/>
                </a:cubicBezTo>
                <a:lnTo>
                  <a:pt x="81100" y="98739"/>
                </a:lnTo>
                <a:cubicBezTo>
                  <a:pt x="85955" y="100290"/>
                  <a:pt x="91155" y="101123"/>
                  <a:pt x="96527" y="101123"/>
                </a:cubicBezTo>
                <a:close/>
                <a:moveTo>
                  <a:pt x="108018" y="27579"/>
                </a:moveTo>
                <a:cubicBezTo>
                  <a:pt x="114360" y="27579"/>
                  <a:pt x="119509" y="32728"/>
                  <a:pt x="119509" y="39070"/>
                </a:cubicBezTo>
                <a:cubicBezTo>
                  <a:pt x="119509" y="45413"/>
                  <a:pt x="114360" y="50562"/>
                  <a:pt x="108018" y="50562"/>
                </a:cubicBezTo>
                <a:cubicBezTo>
                  <a:pt x="101676" y="50562"/>
                  <a:pt x="96527" y="45413"/>
                  <a:pt x="96527" y="39070"/>
                </a:cubicBezTo>
                <a:cubicBezTo>
                  <a:pt x="96527" y="32728"/>
                  <a:pt x="101676" y="27579"/>
                  <a:pt x="108018" y="27579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9"/>
          <p:cNvSpPr/>
          <p:nvPr/>
        </p:nvSpPr>
        <p:spPr>
          <a:xfrm>
            <a:off x="645555" y="4684359"/>
            <a:ext cx="1609802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8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租金预测模型性能对比</a:t>
            </a:r>
            <a:endParaRPr lang="en-US" sz="16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991555"/>
              </p:ext>
            </p:extLst>
          </p:nvPr>
        </p:nvGraphicFramePr>
        <p:xfrm>
          <a:off x="457609" y="4978536"/>
          <a:ext cx="11309470" cy="1645920"/>
        </p:xfrm>
        <a:graphic>
          <a:graphicData uri="http://schemas.openxmlformats.org/drawingml/2006/table">
            <a:tbl>
              <a:tblPr/>
              <a:tblGrid>
                <a:gridCol w="2504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1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3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0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7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2853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Model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In_sample_MAE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Out_of_sample_MAE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CV_MAE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Kaggle</a:t>
                      </a: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C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Random_Forest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26,215.88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51,969.25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53,547.52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XGBoost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33,711.61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52,090.60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53,481.83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LightGBM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44,165.83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53,236.91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54,629.76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Ridge_Regression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134,450.09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134,976.87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134,671.19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5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StackModel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35,482.61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48,335.29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49,517.38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76.7</a:t>
                      </a: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" name="Shape 31"/>
          <p:cNvSpPr/>
          <p:nvPr/>
        </p:nvSpPr>
        <p:spPr>
          <a:xfrm>
            <a:off x="326863" y="7463378"/>
            <a:ext cx="11538273" cy="5448"/>
          </a:xfrm>
          <a:custGeom>
            <a:avLst/>
            <a:gdLst/>
            <a:ahLst/>
            <a:cxnLst/>
            <a:rect l="l" t="t" r="r" b="b"/>
            <a:pathLst>
              <a:path w="11538273" h="5448">
                <a:moveTo>
                  <a:pt x="0" y="0"/>
                </a:moveTo>
                <a:lnTo>
                  <a:pt x="11538273" y="0"/>
                </a:lnTo>
                <a:lnTo>
                  <a:pt x="11538273" y="5448"/>
                </a:lnTo>
                <a:lnTo>
                  <a:pt x="0" y="5448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2"/>
          <p:cNvSpPr/>
          <p:nvPr/>
        </p:nvSpPr>
        <p:spPr>
          <a:xfrm>
            <a:off x="339121" y="7542370"/>
            <a:ext cx="98059" cy="98059"/>
          </a:xfrm>
          <a:custGeom>
            <a:avLst/>
            <a:gdLst/>
            <a:ahLst/>
            <a:cxnLst/>
            <a:rect l="l" t="t" r="r" b="b"/>
            <a:pathLst>
              <a:path w="98059" h="98059">
                <a:moveTo>
                  <a:pt x="49029" y="98059"/>
                </a:moveTo>
                <a:cubicBezTo>
                  <a:pt x="76090" y="98059"/>
                  <a:pt x="98059" y="76090"/>
                  <a:pt x="98059" y="49029"/>
                </a:cubicBezTo>
                <a:cubicBezTo>
                  <a:pt x="98059" y="21969"/>
                  <a:pt x="76090" y="0"/>
                  <a:pt x="49029" y="0"/>
                </a:cubicBezTo>
                <a:cubicBezTo>
                  <a:pt x="21969" y="0"/>
                  <a:pt x="0" y="21969"/>
                  <a:pt x="0" y="49029"/>
                </a:cubicBezTo>
                <a:cubicBezTo>
                  <a:pt x="0" y="76090"/>
                  <a:pt x="21969" y="98059"/>
                  <a:pt x="49029" y="98059"/>
                </a:cubicBezTo>
                <a:close/>
                <a:moveTo>
                  <a:pt x="42901" y="30643"/>
                </a:moveTo>
                <a:cubicBezTo>
                  <a:pt x="42901" y="27261"/>
                  <a:pt x="45647" y="24515"/>
                  <a:pt x="49029" y="24515"/>
                </a:cubicBezTo>
                <a:cubicBezTo>
                  <a:pt x="52412" y="24515"/>
                  <a:pt x="55158" y="27261"/>
                  <a:pt x="55158" y="30643"/>
                </a:cubicBezTo>
                <a:cubicBezTo>
                  <a:pt x="55158" y="34026"/>
                  <a:pt x="52412" y="36772"/>
                  <a:pt x="49029" y="36772"/>
                </a:cubicBezTo>
                <a:cubicBezTo>
                  <a:pt x="45647" y="36772"/>
                  <a:pt x="42901" y="34026"/>
                  <a:pt x="42901" y="30643"/>
                </a:cubicBezTo>
                <a:close/>
                <a:moveTo>
                  <a:pt x="41369" y="42901"/>
                </a:moveTo>
                <a:lnTo>
                  <a:pt x="50562" y="42901"/>
                </a:lnTo>
                <a:cubicBezTo>
                  <a:pt x="53109" y="42901"/>
                  <a:pt x="55158" y="44950"/>
                  <a:pt x="55158" y="47497"/>
                </a:cubicBezTo>
                <a:lnTo>
                  <a:pt x="55158" y="64351"/>
                </a:lnTo>
                <a:lnTo>
                  <a:pt x="56690" y="64351"/>
                </a:lnTo>
                <a:cubicBezTo>
                  <a:pt x="59238" y="64351"/>
                  <a:pt x="61287" y="66400"/>
                  <a:pt x="61287" y="68948"/>
                </a:cubicBezTo>
                <a:cubicBezTo>
                  <a:pt x="61287" y="71495"/>
                  <a:pt x="59238" y="73544"/>
                  <a:pt x="56690" y="73544"/>
                </a:cubicBezTo>
                <a:lnTo>
                  <a:pt x="41369" y="73544"/>
                </a:lnTo>
                <a:cubicBezTo>
                  <a:pt x="38821" y="73544"/>
                  <a:pt x="36772" y="71495"/>
                  <a:pt x="36772" y="68948"/>
                </a:cubicBezTo>
                <a:cubicBezTo>
                  <a:pt x="36772" y="66400"/>
                  <a:pt x="38821" y="64351"/>
                  <a:pt x="41369" y="64351"/>
                </a:cubicBezTo>
                <a:lnTo>
                  <a:pt x="45965" y="64351"/>
                </a:lnTo>
                <a:lnTo>
                  <a:pt x="45965" y="52094"/>
                </a:lnTo>
                <a:lnTo>
                  <a:pt x="41369" y="52094"/>
                </a:lnTo>
                <a:cubicBezTo>
                  <a:pt x="38821" y="52094"/>
                  <a:pt x="36772" y="50045"/>
                  <a:pt x="36772" y="47497"/>
                </a:cubicBezTo>
                <a:cubicBezTo>
                  <a:pt x="36772" y="44950"/>
                  <a:pt x="38821" y="42901"/>
                  <a:pt x="41369" y="42901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3"/>
          <p:cNvSpPr/>
          <p:nvPr/>
        </p:nvSpPr>
        <p:spPr>
          <a:xfrm>
            <a:off x="470468" y="7531475"/>
            <a:ext cx="11443698" cy="130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2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StackModel在两个预测任务中均取得最佳性能,样本内外MAE接近,展现出优秀的泛化能力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338e208091d604aebed8db8512021398a83cefe6.jp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620" r="12620"/>
          <a:stretch/>
        </p:blipFill>
        <p:spPr>
          <a:xfrm>
            <a:off x="0" y="4000500"/>
            <a:ext cx="3810000" cy="28575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533400" y="381000"/>
            <a:ext cx="3943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模型调试过程与优化路径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7700" y="838200"/>
            <a:ext cx="11249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Debugging Process &amp; Optimization Journey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257300"/>
            <a:ext cx="3733800" cy="1704975"/>
          </a:xfrm>
          <a:custGeom>
            <a:avLst/>
            <a:gdLst/>
            <a:ahLst/>
            <a:cxnLst/>
            <a:rect l="l" t="t" r="r" b="b"/>
            <a:pathLst>
              <a:path w="3733800" h="1704975">
                <a:moveTo>
                  <a:pt x="76195" y="0"/>
                </a:moveTo>
                <a:lnTo>
                  <a:pt x="3657605" y="0"/>
                </a:lnTo>
                <a:cubicBezTo>
                  <a:pt x="3699686" y="0"/>
                  <a:pt x="3733800" y="34114"/>
                  <a:pt x="3733800" y="76195"/>
                </a:cubicBezTo>
                <a:lnTo>
                  <a:pt x="3733800" y="1628780"/>
                </a:lnTo>
                <a:cubicBezTo>
                  <a:pt x="3733800" y="1670861"/>
                  <a:pt x="3699686" y="1704975"/>
                  <a:pt x="3657605" y="1704975"/>
                </a:cubicBezTo>
                <a:lnTo>
                  <a:pt x="76195" y="1704975"/>
                </a:lnTo>
                <a:cubicBezTo>
                  <a:pt x="34114" y="1704975"/>
                  <a:pt x="0" y="1670861"/>
                  <a:pt x="0" y="162878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chemeClr val="tx1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533400" y="140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619125" y="15144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28588" y="10716"/>
                </a:moveTo>
                <a:lnTo>
                  <a:pt x="171450" y="10716"/>
                </a:lnTo>
                <a:cubicBezTo>
                  <a:pt x="177377" y="10716"/>
                  <a:pt x="182166" y="15504"/>
                  <a:pt x="182166" y="21431"/>
                </a:cubicBezTo>
                <a:cubicBezTo>
                  <a:pt x="182166" y="27358"/>
                  <a:pt x="177377" y="32147"/>
                  <a:pt x="171450" y="32147"/>
                </a:cubicBezTo>
                <a:lnTo>
                  <a:pt x="133410" y="32147"/>
                </a:lnTo>
                <a:cubicBezTo>
                  <a:pt x="131668" y="40786"/>
                  <a:pt x="125741" y="47919"/>
                  <a:pt x="117872" y="51335"/>
                </a:cubicBezTo>
                <a:lnTo>
                  <a:pt x="117872" y="150019"/>
                </a:lnTo>
                <a:lnTo>
                  <a:pt x="171450" y="150019"/>
                </a:lnTo>
                <a:cubicBezTo>
                  <a:pt x="177377" y="150019"/>
                  <a:pt x="182166" y="154807"/>
                  <a:pt x="182166" y="160734"/>
                </a:cubicBezTo>
                <a:cubicBezTo>
                  <a:pt x="182166" y="166661"/>
                  <a:pt x="177377" y="171450"/>
                  <a:pt x="171450" y="171450"/>
                </a:cubicBezTo>
                <a:lnTo>
                  <a:pt x="42863" y="171450"/>
                </a:lnTo>
                <a:cubicBezTo>
                  <a:pt x="36935" y="171450"/>
                  <a:pt x="32147" y="166661"/>
                  <a:pt x="32147" y="160734"/>
                </a:cubicBezTo>
                <a:cubicBezTo>
                  <a:pt x="32147" y="154807"/>
                  <a:pt x="36935" y="150019"/>
                  <a:pt x="42863" y="150019"/>
                </a:cubicBezTo>
                <a:lnTo>
                  <a:pt x="96441" y="150019"/>
                </a:lnTo>
                <a:lnTo>
                  <a:pt x="96441" y="51335"/>
                </a:lnTo>
                <a:cubicBezTo>
                  <a:pt x="88571" y="47885"/>
                  <a:pt x="82644" y="40753"/>
                  <a:pt x="80903" y="32147"/>
                </a:cubicBezTo>
                <a:lnTo>
                  <a:pt x="42863" y="32147"/>
                </a:lnTo>
                <a:cubicBezTo>
                  <a:pt x="36935" y="32147"/>
                  <a:pt x="32147" y="27358"/>
                  <a:pt x="32147" y="21431"/>
                </a:cubicBezTo>
                <a:cubicBezTo>
                  <a:pt x="32147" y="15504"/>
                  <a:pt x="36935" y="10716"/>
                  <a:pt x="42863" y="10716"/>
                </a:cubicBezTo>
                <a:lnTo>
                  <a:pt x="85725" y="10716"/>
                </a:lnTo>
                <a:cubicBezTo>
                  <a:pt x="90614" y="4219"/>
                  <a:pt x="98383" y="0"/>
                  <a:pt x="107156" y="0"/>
                </a:cubicBezTo>
                <a:cubicBezTo>
                  <a:pt x="115930" y="0"/>
                  <a:pt x="123698" y="4219"/>
                  <a:pt x="128588" y="10716"/>
                </a:cubicBezTo>
                <a:close/>
                <a:moveTo>
                  <a:pt x="147206" y="107156"/>
                </a:moveTo>
                <a:lnTo>
                  <a:pt x="195694" y="107156"/>
                </a:lnTo>
                <a:lnTo>
                  <a:pt x="171450" y="65566"/>
                </a:lnTo>
                <a:lnTo>
                  <a:pt x="147206" y="107156"/>
                </a:lnTo>
                <a:close/>
                <a:moveTo>
                  <a:pt x="171450" y="139303"/>
                </a:moveTo>
                <a:cubicBezTo>
                  <a:pt x="150387" y="139303"/>
                  <a:pt x="132874" y="127918"/>
                  <a:pt x="129257" y="112882"/>
                </a:cubicBezTo>
                <a:cubicBezTo>
                  <a:pt x="128387" y="109199"/>
                  <a:pt x="129592" y="105415"/>
                  <a:pt x="131501" y="102133"/>
                </a:cubicBezTo>
                <a:lnTo>
                  <a:pt x="163380" y="47484"/>
                </a:lnTo>
                <a:cubicBezTo>
                  <a:pt x="165054" y="44604"/>
                  <a:pt x="168135" y="42863"/>
                  <a:pt x="171450" y="42863"/>
                </a:cubicBezTo>
                <a:cubicBezTo>
                  <a:pt x="174765" y="42863"/>
                  <a:pt x="177846" y="44637"/>
                  <a:pt x="179520" y="47484"/>
                </a:cubicBezTo>
                <a:lnTo>
                  <a:pt x="211399" y="102133"/>
                </a:lnTo>
                <a:cubicBezTo>
                  <a:pt x="213308" y="105415"/>
                  <a:pt x="214513" y="109199"/>
                  <a:pt x="213643" y="112882"/>
                </a:cubicBezTo>
                <a:cubicBezTo>
                  <a:pt x="210026" y="127884"/>
                  <a:pt x="192513" y="139303"/>
                  <a:pt x="171450" y="139303"/>
                </a:cubicBezTo>
                <a:close/>
                <a:moveTo>
                  <a:pt x="42461" y="65566"/>
                </a:moveTo>
                <a:lnTo>
                  <a:pt x="18217" y="107156"/>
                </a:lnTo>
                <a:lnTo>
                  <a:pt x="66738" y="107156"/>
                </a:lnTo>
                <a:lnTo>
                  <a:pt x="42461" y="65566"/>
                </a:lnTo>
                <a:close/>
                <a:moveTo>
                  <a:pt x="301" y="112882"/>
                </a:moveTo>
                <a:cubicBezTo>
                  <a:pt x="-569" y="109199"/>
                  <a:pt x="636" y="105415"/>
                  <a:pt x="2545" y="102133"/>
                </a:cubicBezTo>
                <a:lnTo>
                  <a:pt x="34424" y="47484"/>
                </a:lnTo>
                <a:cubicBezTo>
                  <a:pt x="36098" y="44604"/>
                  <a:pt x="39179" y="42863"/>
                  <a:pt x="42494" y="42863"/>
                </a:cubicBezTo>
                <a:cubicBezTo>
                  <a:pt x="45809" y="42863"/>
                  <a:pt x="48890" y="44637"/>
                  <a:pt x="50564" y="47484"/>
                </a:cubicBezTo>
                <a:lnTo>
                  <a:pt x="82443" y="102133"/>
                </a:lnTo>
                <a:cubicBezTo>
                  <a:pt x="84352" y="105415"/>
                  <a:pt x="85558" y="109199"/>
                  <a:pt x="84687" y="112882"/>
                </a:cubicBezTo>
                <a:cubicBezTo>
                  <a:pt x="81070" y="127884"/>
                  <a:pt x="63557" y="139303"/>
                  <a:pt x="42494" y="139303"/>
                </a:cubicBezTo>
                <a:cubicBezTo>
                  <a:pt x="21431" y="139303"/>
                  <a:pt x="3918" y="127918"/>
                  <a:pt x="301" y="112882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028700" y="146685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案例一: 权重修正策略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3400" y="1863726"/>
            <a:ext cx="34956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现象:</a:t>
            </a:r>
            <a:r>
              <a:rPr lang="en-US" sz="12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房价预测中Ridge模型MAE较大但权重异常高,起到修正作用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2925" y="2338388"/>
            <a:ext cx="19050" cy="466725"/>
          </a:xfrm>
          <a:custGeom>
            <a:avLst/>
            <a:gdLst/>
            <a:ahLst/>
            <a:cxnLst/>
            <a:rect l="l" t="t" r="r" b="b"/>
            <a:pathLst>
              <a:path w="19050" h="466725">
                <a:moveTo>
                  <a:pt x="19050" y="0"/>
                </a:moveTo>
                <a:lnTo>
                  <a:pt x="19050" y="0"/>
                </a:lnTo>
                <a:lnTo>
                  <a:pt x="19050" y="466725"/>
                </a:lnTo>
                <a:lnTo>
                  <a:pt x="19050" y="466725"/>
                </a:lnTo>
                <a:cubicBezTo>
                  <a:pt x="8536" y="466725"/>
                  <a:pt x="0" y="458189"/>
                  <a:pt x="0" y="447675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628650" y="2414588"/>
            <a:ext cx="33147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策略:</a:t>
            </a:r>
            <a:r>
              <a:rPr lang="en-US" sz="12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选取最强特征消除噪音,强化修正作用。虽然Ridge模型MAE上升,但成功降低总模型MAE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29100" y="1257300"/>
            <a:ext cx="3733800" cy="1704975"/>
          </a:xfrm>
          <a:custGeom>
            <a:avLst/>
            <a:gdLst/>
            <a:ahLst/>
            <a:cxnLst/>
            <a:rect l="l" t="t" r="r" b="b"/>
            <a:pathLst>
              <a:path w="3733800" h="1704975">
                <a:moveTo>
                  <a:pt x="76195" y="0"/>
                </a:moveTo>
                <a:lnTo>
                  <a:pt x="3657605" y="0"/>
                </a:lnTo>
                <a:cubicBezTo>
                  <a:pt x="3699686" y="0"/>
                  <a:pt x="3733800" y="34114"/>
                  <a:pt x="3733800" y="76195"/>
                </a:cubicBezTo>
                <a:lnTo>
                  <a:pt x="3733800" y="1628780"/>
                </a:lnTo>
                <a:cubicBezTo>
                  <a:pt x="3733800" y="1670861"/>
                  <a:pt x="3699686" y="1704975"/>
                  <a:pt x="3657605" y="1704975"/>
                </a:cubicBezTo>
                <a:lnTo>
                  <a:pt x="76195" y="1704975"/>
                </a:lnTo>
                <a:cubicBezTo>
                  <a:pt x="34114" y="1704975"/>
                  <a:pt x="0" y="1670861"/>
                  <a:pt x="0" y="162878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chemeClr val="tx1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4381500" y="140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4488656" y="15144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2698" y="75009"/>
                </a:moveTo>
                <a:lnTo>
                  <a:pt x="104477" y="75009"/>
                </a:lnTo>
                <a:cubicBezTo>
                  <a:pt x="100024" y="75009"/>
                  <a:pt x="96441" y="71426"/>
                  <a:pt x="96441" y="66973"/>
                </a:cubicBezTo>
                <a:lnTo>
                  <a:pt x="96441" y="18752"/>
                </a:lnTo>
                <a:cubicBezTo>
                  <a:pt x="96441" y="15504"/>
                  <a:pt x="98383" y="12557"/>
                  <a:pt x="101397" y="11318"/>
                </a:cubicBezTo>
                <a:cubicBezTo>
                  <a:pt x="104410" y="10079"/>
                  <a:pt x="107859" y="10783"/>
                  <a:pt x="110170" y="13060"/>
                </a:cubicBezTo>
                <a:lnTo>
                  <a:pt x="123565" y="26454"/>
                </a:lnTo>
                <a:lnTo>
                  <a:pt x="148144" y="1875"/>
                </a:lnTo>
                <a:cubicBezTo>
                  <a:pt x="149349" y="670"/>
                  <a:pt x="150990" y="0"/>
                  <a:pt x="152698" y="0"/>
                </a:cubicBezTo>
                <a:cubicBezTo>
                  <a:pt x="154405" y="0"/>
                  <a:pt x="156046" y="670"/>
                  <a:pt x="157285" y="1909"/>
                </a:cubicBezTo>
                <a:lnTo>
                  <a:pt x="169575" y="14198"/>
                </a:lnTo>
                <a:cubicBezTo>
                  <a:pt x="170780" y="15404"/>
                  <a:pt x="171450" y="17045"/>
                  <a:pt x="171450" y="18752"/>
                </a:cubicBezTo>
                <a:cubicBezTo>
                  <a:pt x="171450" y="20460"/>
                  <a:pt x="170780" y="22101"/>
                  <a:pt x="169541" y="23340"/>
                </a:cubicBezTo>
                <a:lnTo>
                  <a:pt x="144996" y="47885"/>
                </a:lnTo>
                <a:lnTo>
                  <a:pt x="158390" y="61280"/>
                </a:lnTo>
                <a:cubicBezTo>
                  <a:pt x="160701" y="63591"/>
                  <a:pt x="161371" y="67040"/>
                  <a:pt x="160132" y="70053"/>
                </a:cubicBezTo>
                <a:cubicBezTo>
                  <a:pt x="158893" y="73067"/>
                  <a:pt x="155946" y="75009"/>
                  <a:pt x="152698" y="75009"/>
                </a:cubicBezTo>
                <a:close/>
                <a:moveTo>
                  <a:pt x="152698" y="96441"/>
                </a:moveTo>
                <a:cubicBezTo>
                  <a:pt x="155946" y="96441"/>
                  <a:pt x="158893" y="98383"/>
                  <a:pt x="160132" y="101397"/>
                </a:cubicBezTo>
                <a:cubicBezTo>
                  <a:pt x="161371" y="104410"/>
                  <a:pt x="160701" y="107859"/>
                  <a:pt x="158390" y="110170"/>
                </a:cubicBezTo>
                <a:lnTo>
                  <a:pt x="144996" y="123565"/>
                </a:lnTo>
                <a:lnTo>
                  <a:pt x="169575" y="148144"/>
                </a:lnTo>
                <a:cubicBezTo>
                  <a:pt x="170780" y="149349"/>
                  <a:pt x="171483" y="150990"/>
                  <a:pt x="171483" y="152731"/>
                </a:cubicBezTo>
                <a:cubicBezTo>
                  <a:pt x="171483" y="154472"/>
                  <a:pt x="170814" y="156080"/>
                  <a:pt x="169575" y="157319"/>
                </a:cubicBezTo>
                <a:lnTo>
                  <a:pt x="157285" y="169608"/>
                </a:lnTo>
                <a:cubicBezTo>
                  <a:pt x="156046" y="170780"/>
                  <a:pt x="154405" y="171450"/>
                  <a:pt x="152698" y="171450"/>
                </a:cubicBezTo>
                <a:cubicBezTo>
                  <a:pt x="150990" y="171450"/>
                  <a:pt x="149349" y="170780"/>
                  <a:pt x="148110" y="169541"/>
                </a:cubicBezTo>
                <a:lnTo>
                  <a:pt x="123565" y="144996"/>
                </a:lnTo>
                <a:lnTo>
                  <a:pt x="110170" y="158390"/>
                </a:lnTo>
                <a:cubicBezTo>
                  <a:pt x="107859" y="160701"/>
                  <a:pt x="104410" y="161371"/>
                  <a:pt x="101397" y="160132"/>
                </a:cubicBezTo>
                <a:cubicBezTo>
                  <a:pt x="98383" y="158893"/>
                  <a:pt x="96441" y="155946"/>
                  <a:pt x="96441" y="152698"/>
                </a:cubicBezTo>
                <a:lnTo>
                  <a:pt x="96441" y="104477"/>
                </a:lnTo>
                <a:cubicBezTo>
                  <a:pt x="96441" y="100024"/>
                  <a:pt x="100024" y="96441"/>
                  <a:pt x="104477" y="96441"/>
                </a:cubicBezTo>
                <a:lnTo>
                  <a:pt x="152698" y="96441"/>
                </a:lnTo>
                <a:close/>
                <a:moveTo>
                  <a:pt x="66973" y="96441"/>
                </a:moveTo>
                <a:cubicBezTo>
                  <a:pt x="71426" y="96441"/>
                  <a:pt x="75009" y="100024"/>
                  <a:pt x="75009" y="104477"/>
                </a:cubicBezTo>
                <a:lnTo>
                  <a:pt x="75009" y="152698"/>
                </a:lnTo>
                <a:cubicBezTo>
                  <a:pt x="75009" y="155946"/>
                  <a:pt x="73067" y="158893"/>
                  <a:pt x="70053" y="160132"/>
                </a:cubicBezTo>
                <a:cubicBezTo>
                  <a:pt x="67040" y="161371"/>
                  <a:pt x="63591" y="160701"/>
                  <a:pt x="61280" y="158390"/>
                </a:cubicBezTo>
                <a:lnTo>
                  <a:pt x="47885" y="144996"/>
                </a:lnTo>
                <a:lnTo>
                  <a:pt x="23306" y="169575"/>
                </a:lnTo>
                <a:cubicBezTo>
                  <a:pt x="22101" y="170780"/>
                  <a:pt x="20460" y="171450"/>
                  <a:pt x="18752" y="171450"/>
                </a:cubicBezTo>
                <a:cubicBezTo>
                  <a:pt x="17045" y="171450"/>
                  <a:pt x="15404" y="170780"/>
                  <a:pt x="14165" y="169541"/>
                </a:cubicBezTo>
                <a:lnTo>
                  <a:pt x="1909" y="157285"/>
                </a:lnTo>
                <a:cubicBezTo>
                  <a:pt x="670" y="156046"/>
                  <a:pt x="0" y="154405"/>
                  <a:pt x="0" y="152698"/>
                </a:cubicBezTo>
                <a:cubicBezTo>
                  <a:pt x="0" y="150990"/>
                  <a:pt x="670" y="149349"/>
                  <a:pt x="1909" y="148110"/>
                </a:cubicBezTo>
                <a:lnTo>
                  <a:pt x="26454" y="123565"/>
                </a:lnTo>
                <a:lnTo>
                  <a:pt x="13060" y="110170"/>
                </a:lnTo>
                <a:cubicBezTo>
                  <a:pt x="10749" y="107859"/>
                  <a:pt x="10079" y="104410"/>
                  <a:pt x="11318" y="101397"/>
                </a:cubicBezTo>
                <a:cubicBezTo>
                  <a:pt x="12557" y="98383"/>
                  <a:pt x="15504" y="96441"/>
                  <a:pt x="18752" y="96441"/>
                </a:cubicBezTo>
                <a:lnTo>
                  <a:pt x="66973" y="96441"/>
                </a:lnTo>
                <a:close/>
                <a:moveTo>
                  <a:pt x="18752" y="75009"/>
                </a:moveTo>
                <a:cubicBezTo>
                  <a:pt x="15504" y="75009"/>
                  <a:pt x="12557" y="73067"/>
                  <a:pt x="11318" y="70053"/>
                </a:cubicBezTo>
                <a:cubicBezTo>
                  <a:pt x="10079" y="67040"/>
                  <a:pt x="10783" y="63591"/>
                  <a:pt x="13060" y="61280"/>
                </a:cubicBezTo>
                <a:lnTo>
                  <a:pt x="26454" y="47885"/>
                </a:lnTo>
                <a:lnTo>
                  <a:pt x="1909" y="23340"/>
                </a:lnTo>
                <a:cubicBezTo>
                  <a:pt x="670" y="22101"/>
                  <a:pt x="0" y="20460"/>
                  <a:pt x="0" y="18752"/>
                </a:cubicBezTo>
                <a:cubicBezTo>
                  <a:pt x="0" y="17045"/>
                  <a:pt x="670" y="15404"/>
                  <a:pt x="1909" y="14165"/>
                </a:cubicBezTo>
                <a:lnTo>
                  <a:pt x="14165" y="1909"/>
                </a:lnTo>
                <a:cubicBezTo>
                  <a:pt x="15404" y="670"/>
                  <a:pt x="17045" y="0"/>
                  <a:pt x="18752" y="0"/>
                </a:cubicBezTo>
                <a:cubicBezTo>
                  <a:pt x="20460" y="0"/>
                  <a:pt x="22101" y="670"/>
                  <a:pt x="23340" y="1909"/>
                </a:cubicBezTo>
                <a:lnTo>
                  <a:pt x="47885" y="26454"/>
                </a:lnTo>
                <a:lnTo>
                  <a:pt x="61280" y="13060"/>
                </a:lnTo>
                <a:cubicBezTo>
                  <a:pt x="63591" y="10749"/>
                  <a:pt x="67040" y="10079"/>
                  <a:pt x="70053" y="11318"/>
                </a:cubicBezTo>
                <a:cubicBezTo>
                  <a:pt x="73067" y="12557"/>
                  <a:pt x="75009" y="15504"/>
                  <a:pt x="75009" y="18752"/>
                </a:cubicBezTo>
                <a:lnTo>
                  <a:pt x="75009" y="66973"/>
                </a:lnTo>
                <a:cubicBezTo>
                  <a:pt x="75009" y="71426"/>
                  <a:pt x="71426" y="75009"/>
                  <a:pt x="66973" y="75009"/>
                </a:cubicBezTo>
                <a:lnTo>
                  <a:pt x="18752" y="75009"/>
                </a:ln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4876800" y="146685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案例二: PCA维度优化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381500" y="1905000"/>
            <a:ext cx="34956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现象:</a:t>
            </a:r>
            <a:r>
              <a:rPr lang="en-US" sz="12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初始BERT特征PCA压缩至64维,使用BERT与不用BERT无明显区别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91025" y="2495550"/>
            <a:ext cx="19050" cy="314325"/>
          </a:xfrm>
          <a:custGeom>
            <a:avLst/>
            <a:gdLst/>
            <a:ahLst/>
            <a:cxnLst/>
            <a:rect l="l" t="t" r="r" b="b"/>
            <a:pathLst>
              <a:path w="19050" h="314325">
                <a:moveTo>
                  <a:pt x="19050" y="0"/>
                </a:moveTo>
                <a:lnTo>
                  <a:pt x="19050" y="0"/>
                </a:lnTo>
                <a:lnTo>
                  <a:pt x="19050" y="314325"/>
                </a:lnTo>
                <a:lnTo>
                  <a:pt x="19050" y="314325"/>
                </a:lnTo>
                <a:cubicBezTo>
                  <a:pt x="8536" y="314325"/>
                  <a:pt x="0" y="305789"/>
                  <a:pt x="0" y="295275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4476750" y="2571750"/>
            <a:ext cx="33147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策略:</a:t>
            </a:r>
            <a:r>
              <a:rPr lang="en-US" sz="12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调参PCA维度至16维,有效消除噪音,MAE显著降低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077200" y="1257300"/>
            <a:ext cx="3733800" cy="1704975"/>
          </a:xfrm>
          <a:custGeom>
            <a:avLst/>
            <a:gdLst/>
            <a:ahLst/>
            <a:cxnLst/>
            <a:rect l="l" t="t" r="r" b="b"/>
            <a:pathLst>
              <a:path w="3733800" h="1704975">
                <a:moveTo>
                  <a:pt x="76195" y="0"/>
                </a:moveTo>
                <a:lnTo>
                  <a:pt x="3657605" y="0"/>
                </a:lnTo>
                <a:cubicBezTo>
                  <a:pt x="3699686" y="0"/>
                  <a:pt x="3733800" y="34114"/>
                  <a:pt x="3733800" y="76195"/>
                </a:cubicBezTo>
                <a:lnTo>
                  <a:pt x="3733800" y="1628780"/>
                </a:lnTo>
                <a:cubicBezTo>
                  <a:pt x="3733800" y="1670861"/>
                  <a:pt x="3699686" y="1704975"/>
                  <a:pt x="3657605" y="1704975"/>
                </a:cubicBezTo>
                <a:lnTo>
                  <a:pt x="76195" y="1704975"/>
                </a:lnTo>
                <a:cubicBezTo>
                  <a:pt x="34114" y="1704975"/>
                  <a:pt x="0" y="1670861"/>
                  <a:pt x="0" y="162878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chemeClr val="tx1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8229600" y="140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8347472" y="15144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-10716"/>
                </a:moveTo>
                <a:cubicBezTo>
                  <a:pt x="77353" y="-10716"/>
                  <a:pt x="79597" y="-9678"/>
                  <a:pt x="81137" y="-7869"/>
                </a:cubicBezTo>
                <a:lnTo>
                  <a:pt x="126679" y="45709"/>
                </a:lnTo>
                <a:cubicBezTo>
                  <a:pt x="128721" y="48086"/>
                  <a:pt x="129157" y="51435"/>
                  <a:pt x="127851" y="54281"/>
                </a:cubicBezTo>
                <a:cubicBezTo>
                  <a:pt x="126545" y="57128"/>
                  <a:pt x="123698" y="58936"/>
                  <a:pt x="120551" y="58936"/>
                </a:cubicBezTo>
                <a:lnTo>
                  <a:pt x="112213" y="58936"/>
                </a:lnTo>
                <a:lnTo>
                  <a:pt x="137394" y="88571"/>
                </a:lnTo>
                <a:cubicBezTo>
                  <a:pt x="139437" y="90949"/>
                  <a:pt x="139872" y="94298"/>
                  <a:pt x="138566" y="97144"/>
                </a:cubicBezTo>
                <a:cubicBezTo>
                  <a:pt x="137260" y="99990"/>
                  <a:pt x="134414" y="101798"/>
                  <a:pt x="131266" y="101798"/>
                </a:cubicBezTo>
                <a:lnTo>
                  <a:pt x="118374" y="101798"/>
                </a:lnTo>
                <a:lnTo>
                  <a:pt x="148110" y="136792"/>
                </a:lnTo>
                <a:cubicBezTo>
                  <a:pt x="150153" y="139169"/>
                  <a:pt x="150588" y="142518"/>
                  <a:pt x="149282" y="145364"/>
                </a:cubicBezTo>
                <a:cubicBezTo>
                  <a:pt x="147976" y="148210"/>
                  <a:pt x="145130" y="150019"/>
                  <a:pt x="141982" y="150019"/>
                </a:cubicBezTo>
                <a:lnTo>
                  <a:pt x="85725" y="150019"/>
                </a:lnTo>
                <a:lnTo>
                  <a:pt x="85725" y="171450"/>
                </a:lnTo>
                <a:cubicBezTo>
                  <a:pt x="85725" y="177377"/>
                  <a:pt x="80936" y="182166"/>
                  <a:pt x="75009" y="182166"/>
                </a:cubicBezTo>
                <a:cubicBezTo>
                  <a:pt x="69082" y="182166"/>
                  <a:pt x="64294" y="177377"/>
                  <a:pt x="64294" y="171450"/>
                </a:cubicBezTo>
                <a:lnTo>
                  <a:pt x="64294" y="150019"/>
                </a:lnTo>
                <a:lnTo>
                  <a:pt x="8037" y="150019"/>
                </a:lnTo>
                <a:cubicBezTo>
                  <a:pt x="4889" y="150019"/>
                  <a:pt x="2043" y="148210"/>
                  <a:pt x="737" y="145364"/>
                </a:cubicBezTo>
                <a:cubicBezTo>
                  <a:pt x="-569" y="142518"/>
                  <a:pt x="-134" y="139169"/>
                  <a:pt x="1909" y="136792"/>
                </a:cubicBezTo>
                <a:lnTo>
                  <a:pt x="31645" y="101798"/>
                </a:lnTo>
                <a:lnTo>
                  <a:pt x="18752" y="101798"/>
                </a:lnTo>
                <a:cubicBezTo>
                  <a:pt x="15605" y="101798"/>
                  <a:pt x="12758" y="99990"/>
                  <a:pt x="11452" y="97144"/>
                </a:cubicBezTo>
                <a:cubicBezTo>
                  <a:pt x="10146" y="94298"/>
                  <a:pt x="10582" y="90949"/>
                  <a:pt x="12624" y="88571"/>
                </a:cubicBezTo>
                <a:lnTo>
                  <a:pt x="37806" y="58936"/>
                </a:lnTo>
                <a:lnTo>
                  <a:pt x="29468" y="58936"/>
                </a:lnTo>
                <a:cubicBezTo>
                  <a:pt x="26320" y="58936"/>
                  <a:pt x="23474" y="57128"/>
                  <a:pt x="22168" y="54281"/>
                </a:cubicBezTo>
                <a:cubicBezTo>
                  <a:pt x="20862" y="51435"/>
                  <a:pt x="21297" y="48086"/>
                  <a:pt x="23340" y="45709"/>
                </a:cubicBezTo>
                <a:lnTo>
                  <a:pt x="68881" y="-7869"/>
                </a:lnTo>
                <a:cubicBezTo>
                  <a:pt x="70422" y="-9678"/>
                  <a:pt x="72665" y="-10716"/>
                  <a:pt x="75009" y="-10716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8724900" y="146685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案例三: 模型精简优化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229600" y="1905000"/>
            <a:ext cx="34956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现象:</a:t>
            </a:r>
            <a:r>
              <a:rPr lang="en-US" sz="12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租金模型中部分estimator权重过低,拖慢整体性能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239125" y="2495550"/>
            <a:ext cx="19050" cy="314325"/>
          </a:xfrm>
          <a:custGeom>
            <a:avLst/>
            <a:gdLst/>
            <a:ahLst/>
            <a:cxnLst/>
            <a:rect l="l" t="t" r="r" b="b"/>
            <a:pathLst>
              <a:path w="19050" h="314325">
                <a:moveTo>
                  <a:pt x="19050" y="0"/>
                </a:moveTo>
                <a:lnTo>
                  <a:pt x="19050" y="0"/>
                </a:lnTo>
                <a:lnTo>
                  <a:pt x="19050" y="314325"/>
                </a:lnTo>
                <a:lnTo>
                  <a:pt x="19050" y="314325"/>
                </a:lnTo>
                <a:cubicBezTo>
                  <a:pt x="8536" y="314325"/>
                  <a:pt x="0" y="305789"/>
                  <a:pt x="0" y="295275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8324850" y="2571750"/>
            <a:ext cx="33147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策略:</a:t>
            </a:r>
            <a:r>
              <a:rPr lang="en-US" sz="1200" dirty="0">
                <a:solidFill>
                  <a:srgbClr val="E5E5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仅保留树模型,投喂8维BERT特征,MAE获得显著提升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00050" y="3071813"/>
            <a:ext cx="5619750" cy="3171825"/>
          </a:xfrm>
          <a:custGeom>
            <a:avLst/>
            <a:gdLst/>
            <a:ahLst/>
            <a:cxnLst/>
            <a:rect l="l" t="t" r="r" b="b"/>
            <a:pathLst>
              <a:path w="5619750" h="3171825">
                <a:moveTo>
                  <a:pt x="38100" y="0"/>
                </a:moveTo>
                <a:lnTo>
                  <a:pt x="5543563" y="0"/>
                </a:lnTo>
                <a:cubicBezTo>
                  <a:pt x="5585640" y="0"/>
                  <a:pt x="5619750" y="34110"/>
                  <a:pt x="5619750" y="76187"/>
                </a:cubicBezTo>
                <a:lnTo>
                  <a:pt x="5619750" y="3095638"/>
                </a:lnTo>
                <a:cubicBezTo>
                  <a:pt x="5619750" y="3137715"/>
                  <a:pt x="5585640" y="3171825"/>
                  <a:pt x="5543563" y="3171825"/>
                </a:cubicBezTo>
                <a:lnTo>
                  <a:pt x="38100" y="3171825"/>
                </a:lnTo>
                <a:cubicBezTo>
                  <a:pt x="17072" y="3171825"/>
                  <a:pt x="0" y="3154753"/>
                  <a:pt x="0" y="3133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8"/>
          <p:cNvSpPr/>
          <p:nvPr/>
        </p:nvSpPr>
        <p:spPr>
          <a:xfrm>
            <a:off x="400050" y="3071813"/>
            <a:ext cx="38100" cy="3171825"/>
          </a:xfrm>
          <a:custGeom>
            <a:avLst/>
            <a:gdLst/>
            <a:ahLst/>
            <a:cxnLst/>
            <a:rect l="l" t="t" r="r" b="b"/>
            <a:pathLst>
              <a:path w="38100" h="3171825">
                <a:moveTo>
                  <a:pt x="38100" y="0"/>
                </a:moveTo>
                <a:lnTo>
                  <a:pt x="38100" y="0"/>
                </a:lnTo>
                <a:lnTo>
                  <a:pt x="38100" y="3171825"/>
                </a:lnTo>
                <a:lnTo>
                  <a:pt x="38100" y="3171825"/>
                </a:lnTo>
                <a:cubicBezTo>
                  <a:pt x="17072" y="3171825"/>
                  <a:pt x="0" y="3154753"/>
                  <a:pt x="0" y="3133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9"/>
          <p:cNvSpPr/>
          <p:nvPr/>
        </p:nvSpPr>
        <p:spPr>
          <a:xfrm>
            <a:off x="595313" y="327183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3025" y="2880"/>
                </a:moveTo>
                <a:cubicBezTo>
                  <a:pt x="88906" y="-938"/>
                  <a:pt x="82544" y="-938"/>
                  <a:pt x="78458" y="2880"/>
                </a:cubicBezTo>
                <a:lnTo>
                  <a:pt x="3449" y="72531"/>
                </a:lnTo>
                <a:cubicBezTo>
                  <a:pt x="234" y="75545"/>
                  <a:pt x="-837" y="80200"/>
                  <a:pt x="770" y="84285"/>
                </a:cubicBezTo>
                <a:cubicBezTo>
                  <a:pt x="2378" y="88370"/>
                  <a:pt x="6295" y="91083"/>
                  <a:pt x="10716" y="91083"/>
                </a:cubicBezTo>
                <a:lnTo>
                  <a:pt x="16073" y="91083"/>
                </a:lnTo>
                <a:lnTo>
                  <a:pt x="16073" y="150019"/>
                </a:lnTo>
                <a:cubicBezTo>
                  <a:pt x="16073" y="161839"/>
                  <a:pt x="25684" y="171450"/>
                  <a:pt x="37505" y="171450"/>
                </a:cubicBezTo>
                <a:lnTo>
                  <a:pt x="133945" y="171450"/>
                </a:lnTo>
                <a:cubicBezTo>
                  <a:pt x="145766" y="171450"/>
                  <a:pt x="155377" y="161839"/>
                  <a:pt x="155377" y="150019"/>
                </a:cubicBezTo>
                <a:lnTo>
                  <a:pt x="155377" y="91083"/>
                </a:lnTo>
                <a:lnTo>
                  <a:pt x="160734" y="91083"/>
                </a:lnTo>
                <a:cubicBezTo>
                  <a:pt x="165155" y="91083"/>
                  <a:pt x="169106" y="88370"/>
                  <a:pt x="170713" y="84285"/>
                </a:cubicBezTo>
                <a:cubicBezTo>
                  <a:pt x="172321" y="80200"/>
                  <a:pt x="171249" y="75512"/>
                  <a:pt x="168034" y="72531"/>
                </a:cubicBezTo>
                <a:lnTo>
                  <a:pt x="93025" y="2880"/>
                </a:lnTo>
                <a:close/>
                <a:moveTo>
                  <a:pt x="80367" y="107156"/>
                </a:moveTo>
                <a:lnTo>
                  <a:pt x="91083" y="107156"/>
                </a:lnTo>
                <a:cubicBezTo>
                  <a:pt x="99957" y="107156"/>
                  <a:pt x="107156" y="114356"/>
                  <a:pt x="107156" y="123230"/>
                </a:cubicBezTo>
                <a:lnTo>
                  <a:pt x="107156" y="155377"/>
                </a:lnTo>
                <a:lnTo>
                  <a:pt x="64294" y="155377"/>
                </a:lnTo>
                <a:lnTo>
                  <a:pt x="64294" y="123230"/>
                </a:lnTo>
                <a:cubicBezTo>
                  <a:pt x="64294" y="114356"/>
                  <a:pt x="71493" y="107156"/>
                  <a:pt x="80367" y="107156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790575" y="3224213"/>
            <a:ext cx="193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房价模型Estimator权重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089400" y="3281363"/>
            <a:ext cx="1838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 Model OOF MAE: 190,661.91</a:t>
            </a:r>
            <a:endParaRPr lang="en-US" sz="1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780371"/>
              </p:ext>
            </p:extLst>
          </p:nvPr>
        </p:nvGraphicFramePr>
        <p:xfrm>
          <a:off x="571500" y="3567113"/>
          <a:ext cx="5295900" cy="2524123"/>
        </p:xfrm>
        <a:graphic>
          <a:graphicData uri="http://schemas.openxmlformats.org/drawingml/2006/table">
            <a:tbl>
              <a:tblPr/>
              <a:tblGrid>
                <a:gridCol w="1326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8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1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58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Base_Model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Importance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Abs_Importance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角色分析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RF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0.5408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0.5408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XGB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0.2670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0.2670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LGB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0.2235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0.2235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Ridge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-0.0214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0.0214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修正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SGD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-0.0049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0.0049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噪音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MLP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0.0027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0.0027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噪音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" name="Shape 32"/>
          <p:cNvSpPr/>
          <p:nvPr/>
        </p:nvSpPr>
        <p:spPr>
          <a:xfrm>
            <a:off x="6191250" y="3071813"/>
            <a:ext cx="5619750" cy="3171825"/>
          </a:xfrm>
          <a:custGeom>
            <a:avLst/>
            <a:gdLst/>
            <a:ahLst/>
            <a:cxnLst/>
            <a:rect l="l" t="t" r="r" b="b"/>
            <a:pathLst>
              <a:path w="5619750" h="3171825">
                <a:moveTo>
                  <a:pt x="38100" y="0"/>
                </a:moveTo>
                <a:lnTo>
                  <a:pt x="5543563" y="0"/>
                </a:lnTo>
                <a:cubicBezTo>
                  <a:pt x="5585640" y="0"/>
                  <a:pt x="5619750" y="34110"/>
                  <a:pt x="5619750" y="76187"/>
                </a:cubicBezTo>
                <a:lnTo>
                  <a:pt x="5619750" y="3095638"/>
                </a:lnTo>
                <a:cubicBezTo>
                  <a:pt x="5619750" y="3137715"/>
                  <a:pt x="5585640" y="3171825"/>
                  <a:pt x="5543563" y="3171825"/>
                </a:cubicBezTo>
                <a:lnTo>
                  <a:pt x="38100" y="3171825"/>
                </a:lnTo>
                <a:cubicBezTo>
                  <a:pt x="17072" y="3171825"/>
                  <a:pt x="0" y="3154753"/>
                  <a:pt x="0" y="3133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3"/>
          <p:cNvSpPr/>
          <p:nvPr/>
        </p:nvSpPr>
        <p:spPr>
          <a:xfrm>
            <a:off x="6191250" y="3071813"/>
            <a:ext cx="38100" cy="3171825"/>
          </a:xfrm>
          <a:custGeom>
            <a:avLst/>
            <a:gdLst/>
            <a:ahLst/>
            <a:cxnLst/>
            <a:rect l="l" t="t" r="r" b="b"/>
            <a:pathLst>
              <a:path w="38100" h="3171825">
                <a:moveTo>
                  <a:pt x="38100" y="0"/>
                </a:moveTo>
                <a:lnTo>
                  <a:pt x="38100" y="0"/>
                </a:lnTo>
                <a:lnTo>
                  <a:pt x="38100" y="3171825"/>
                </a:lnTo>
                <a:lnTo>
                  <a:pt x="38100" y="3171825"/>
                </a:lnTo>
                <a:cubicBezTo>
                  <a:pt x="17072" y="3171825"/>
                  <a:pt x="0" y="3154753"/>
                  <a:pt x="0" y="3133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4"/>
          <p:cNvSpPr/>
          <p:nvPr/>
        </p:nvSpPr>
        <p:spPr>
          <a:xfrm>
            <a:off x="6386513" y="327183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2514" y="117872"/>
                </a:moveTo>
                <a:cubicBezTo>
                  <a:pt x="145063" y="117872"/>
                  <a:pt x="171450" y="91485"/>
                  <a:pt x="171450" y="58936"/>
                </a:cubicBezTo>
                <a:cubicBezTo>
                  <a:pt x="171450" y="26387"/>
                  <a:pt x="145063" y="0"/>
                  <a:pt x="112514" y="0"/>
                </a:cubicBezTo>
                <a:cubicBezTo>
                  <a:pt x="79965" y="0"/>
                  <a:pt x="53578" y="26387"/>
                  <a:pt x="53578" y="58936"/>
                </a:cubicBezTo>
                <a:cubicBezTo>
                  <a:pt x="53578" y="65198"/>
                  <a:pt x="54549" y="71259"/>
                  <a:pt x="56357" y="76918"/>
                </a:cubicBezTo>
                <a:lnTo>
                  <a:pt x="2344" y="130932"/>
                </a:lnTo>
                <a:cubicBezTo>
                  <a:pt x="837" y="132438"/>
                  <a:pt x="0" y="134481"/>
                  <a:pt x="0" y="136624"/>
                </a:cubicBezTo>
                <a:lnTo>
                  <a:pt x="0" y="163413"/>
                </a:lnTo>
                <a:cubicBezTo>
                  <a:pt x="0" y="167867"/>
                  <a:pt x="3583" y="171450"/>
                  <a:pt x="8037" y="171450"/>
                </a:cubicBezTo>
                <a:lnTo>
                  <a:pt x="34826" y="171450"/>
                </a:lnTo>
                <a:cubicBezTo>
                  <a:pt x="39279" y="171450"/>
                  <a:pt x="42863" y="167867"/>
                  <a:pt x="42863" y="163413"/>
                </a:cubicBezTo>
                <a:lnTo>
                  <a:pt x="42863" y="150019"/>
                </a:lnTo>
                <a:lnTo>
                  <a:pt x="56257" y="150019"/>
                </a:lnTo>
                <a:cubicBezTo>
                  <a:pt x="60711" y="150019"/>
                  <a:pt x="64294" y="146436"/>
                  <a:pt x="64294" y="141982"/>
                </a:cubicBezTo>
                <a:lnTo>
                  <a:pt x="64294" y="128588"/>
                </a:lnTo>
                <a:lnTo>
                  <a:pt x="77688" y="128588"/>
                </a:lnTo>
                <a:cubicBezTo>
                  <a:pt x="79831" y="128588"/>
                  <a:pt x="81874" y="127750"/>
                  <a:pt x="83381" y="126243"/>
                </a:cubicBezTo>
                <a:lnTo>
                  <a:pt x="94532" y="115093"/>
                </a:lnTo>
                <a:cubicBezTo>
                  <a:pt x="100191" y="116901"/>
                  <a:pt x="106252" y="117872"/>
                  <a:pt x="112514" y="117872"/>
                </a:cubicBezTo>
                <a:close/>
                <a:moveTo>
                  <a:pt x="125909" y="32147"/>
                </a:moveTo>
                <a:cubicBezTo>
                  <a:pt x="133301" y="32147"/>
                  <a:pt x="139303" y="38149"/>
                  <a:pt x="139303" y="45541"/>
                </a:cubicBezTo>
                <a:cubicBezTo>
                  <a:pt x="139303" y="52934"/>
                  <a:pt x="133301" y="58936"/>
                  <a:pt x="125909" y="58936"/>
                </a:cubicBezTo>
                <a:cubicBezTo>
                  <a:pt x="118516" y="58936"/>
                  <a:pt x="112514" y="52934"/>
                  <a:pt x="112514" y="45541"/>
                </a:cubicBezTo>
                <a:cubicBezTo>
                  <a:pt x="112514" y="38149"/>
                  <a:pt x="118516" y="32147"/>
                  <a:pt x="125909" y="32147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5"/>
          <p:cNvSpPr/>
          <p:nvPr/>
        </p:nvSpPr>
        <p:spPr>
          <a:xfrm>
            <a:off x="6581775" y="3224213"/>
            <a:ext cx="193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租金模型Estimator权重</a:t>
            </a: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9899650" y="3281363"/>
            <a:ext cx="1819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 Model OOF MAE: 53,768.78</a:t>
            </a:r>
            <a:endParaRPr lang="en-US" sz="16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83637"/>
              </p:ext>
            </p:extLst>
          </p:nvPr>
        </p:nvGraphicFramePr>
        <p:xfrm>
          <a:off x="6362700" y="3567113"/>
          <a:ext cx="5295900" cy="2524123"/>
        </p:xfrm>
        <a:graphic>
          <a:graphicData uri="http://schemas.openxmlformats.org/drawingml/2006/table">
            <a:tbl>
              <a:tblPr/>
              <a:tblGrid>
                <a:gridCol w="1326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8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1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58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Base_Model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Importance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Abs_Importance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角色分析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C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-0.5227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0.5227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有问题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XGB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0.4529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0.4529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LGB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0.3253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0.3253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RF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0.1870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0.1870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辅助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MLP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0.0806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0.0806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噪音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Ridge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-0.0268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0.0268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修正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2" name="Shape 37"/>
          <p:cNvSpPr/>
          <p:nvPr/>
        </p:nvSpPr>
        <p:spPr>
          <a:xfrm>
            <a:off x="381000" y="6245224"/>
            <a:ext cx="11430000" cy="6350"/>
          </a:xfrm>
          <a:custGeom>
            <a:avLst/>
            <a:gdLst/>
            <a:ahLst/>
            <a:cxnLst/>
            <a:rect l="l" t="t" r="r" b="b"/>
            <a:pathLst>
              <a:path w="11430000" h="6350">
                <a:moveTo>
                  <a:pt x="0" y="0"/>
                </a:moveTo>
                <a:lnTo>
                  <a:pt x="11430000" y="0"/>
                </a:lnTo>
                <a:lnTo>
                  <a:pt x="114300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38"/>
          <p:cNvSpPr/>
          <p:nvPr/>
        </p:nvSpPr>
        <p:spPr>
          <a:xfrm>
            <a:off x="409575" y="6337299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65388" y="85725"/>
                </a:moveTo>
                <a:cubicBezTo>
                  <a:pt x="67017" y="80747"/>
                  <a:pt x="70277" y="76237"/>
                  <a:pt x="73960" y="72353"/>
                </a:cubicBezTo>
                <a:cubicBezTo>
                  <a:pt x="81260" y="64673"/>
                  <a:pt x="85725" y="54293"/>
                  <a:pt x="85725" y="42863"/>
                </a:cubicBezTo>
                <a:cubicBezTo>
                  <a:pt x="85725" y="19199"/>
                  <a:pt x="66526" y="0"/>
                  <a:pt x="42862" y="0"/>
                </a:cubicBezTo>
                <a:cubicBezTo>
                  <a:pt x="19199" y="0"/>
                  <a:pt x="0" y="19199"/>
                  <a:pt x="0" y="42863"/>
                </a:cubicBezTo>
                <a:cubicBezTo>
                  <a:pt x="0" y="54293"/>
                  <a:pt x="4465" y="64673"/>
                  <a:pt x="11765" y="72353"/>
                </a:cubicBezTo>
                <a:cubicBezTo>
                  <a:pt x="15448" y="76237"/>
                  <a:pt x="18730" y="80747"/>
                  <a:pt x="20337" y="85725"/>
                </a:cubicBezTo>
                <a:lnTo>
                  <a:pt x="65365" y="85725"/>
                </a:lnTo>
                <a:close/>
                <a:moveTo>
                  <a:pt x="64294" y="96441"/>
                </a:moveTo>
                <a:lnTo>
                  <a:pt x="21431" y="96441"/>
                </a:lnTo>
                <a:lnTo>
                  <a:pt x="21431" y="100013"/>
                </a:lnTo>
                <a:cubicBezTo>
                  <a:pt x="21431" y="109880"/>
                  <a:pt x="29423" y="117872"/>
                  <a:pt x="39291" y="117872"/>
                </a:cubicBezTo>
                <a:lnTo>
                  <a:pt x="46434" y="117872"/>
                </a:lnTo>
                <a:cubicBezTo>
                  <a:pt x="56302" y="117872"/>
                  <a:pt x="64294" y="109880"/>
                  <a:pt x="64294" y="100013"/>
                </a:cubicBezTo>
                <a:lnTo>
                  <a:pt x="64294" y="96441"/>
                </a:lnTo>
                <a:close/>
                <a:moveTo>
                  <a:pt x="41077" y="25003"/>
                </a:moveTo>
                <a:cubicBezTo>
                  <a:pt x="32192" y="25003"/>
                  <a:pt x="25003" y="32192"/>
                  <a:pt x="25003" y="41077"/>
                </a:cubicBezTo>
                <a:cubicBezTo>
                  <a:pt x="25003" y="44046"/>
                  <a:pt x="22614" y="46434"/>
                  <a:pt x="19645" y="46434"/>
                </a:cubicBezTo>
                <a:cubicBezTo>
                  <a:pt x="16676" y="46434"/>
                  <a:pt x="14288" y="44046"/>
                  <a:pt x="14288" y="41077"/>
                </a:cubicBezTo>
                <a:cubicBezTo>
                  <a:pt x="14288" y="26276"/>
                  <a:pt x="26276" y="14288"/>
                  <a:pt x="41077" y="14288"/>
                </a:cubicBezTo>
                <a:cubicBezTo>
                  <a:pt x="44046" y="14288"/>
                  <a:pt x="46434" y="16676"/>
                  <a:pt x="46434" y="19645"/>
                </a:cubicBezTo>
                <a:cubicBezTo>
                  <a:pt x="46434" y="22614"/>
                  <a:pt x="44046" y="25003"/>
                  <a:pt x="41077" y="25003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9"/>
          <p:cNvSpPr/>
          <p:nvPr/>
        </p:nvSpPr>
        <p:spPr>
          <a:xfrm>
            <a:off x="552450" y="6324600"/>
            <a:ext cx="11315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核心洞察:</a:t>
            </a:r>
            <a:r>
              <a:rPr lang="en-US" sz="9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通过精准的权重分析和特征工程优化,StackModel在两项预测任务中均实现显著性能提升,展现出强大的集成学习能力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398</Words>
  <Application>Microsoft Office PowerPoint</Application>
  <PresentationFormat>宽屏</PresentationFormat>
  <Paragraphs>137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MiSans</vt:lpstr>
      <vt:lpstr>微软雅黑</vt:lpstr>
      <vt:lpstr>Arial</vt:lpstr>
      <vt:lpstr>Custom Theme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模型性能展示</dc:title>
  <dc:subject>模型性能展示</dc:subject>
  <dc:creator>Kimi</dc:creator>
  <cp:lastModifiedBy>tl x</cp:lastModifiedBy>
  <cp:revision>3</cp:revision>
  <dcterms:created xsi:type="dcterms:W3CDTF">2025-12-23T17:55:00Z</dcterms:created>
  <dcterms:modified xsi:type="dcterms:W3CDTF">2025-12-23T18:05:03Z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{"Label":"模型性能展示","ContentProducer":"001191110108MACG2KBH8F10000","ProduceID":"19b4c4fb-a192-8c32-8000-00007c43a727","ReservedCode1":"","ContentPropagator":"001191110108MACG2KBH8F20000","PropagateID":"19b4c4fb-a192-8c32-8000-00007c43a727","ReservedCode2":""}</vt:lpwstr>
  </property>
</Properties>
</file>