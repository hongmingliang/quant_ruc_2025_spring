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0" r:id="rId3"/>
    <p:sldId id="272" r:id="rId4"/>
    <p:sldId id="275" r:id="rId5"/>
    <p:sldId id="274" r:id="rId6"/>
    <p:sldId id="273" r:id="rId7"/>
  </p:sldIdLst>
  <p:sldSz cx="12192000" cy="6858000"/>
  <p:notesSz cx="6858000" cy="9144000"/>
  <p:embeddedFontLst>
    <p:embeddedFont>
      <p:font typeface="楷体" panose="02010609060101010101" pitchFamily="49" charset="-122"/>
      <p:regular r:id="rId11"/>
    </p:embeddedFont>
    <p:embeddedFont>
      <p:font typeface="Calibri" panose="020F0502020204030204" charset="0"/>
      <p:regular r:id="rId12"/>
      <p:bold r:id="rId13"/>
      <p:italic r:id="rId14"/>
      <p:boldItalic r:id="rId15"/>
    </p:embeddedFont>
    <p:embeddedFont>
      <p:font typeface="微软雅黑" panose="020B0503020204020204" charset="-122"/>
      <p:regular r:id="rId1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CCEC"/>
    <a:srgbClr val="627AAC"/>
    <a:srgbClr val="91B1E1"/>
    <a:srgbClr val="1C3867"/>
    <a:srgbClr val="376EC9"/>
    <a:srgbClr val="264C8C"/>
    <a:srgbClr val="6D8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71" autoAdjust="0"/>
    <p:restoredTop sz="94660"/>
  </p:normalViewPr>
  <p:slideViewPr>
    <p:cSldViewPr snapToGrid="0">
      <p:cViewPr>
        <p:scale>
          <a:sx n="101" d="100"/>
          <a:sy n="101" d="100"/>
        </p:scale>
        <p:origin x="83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004570" y="-331470"/>
            <a:ext cx="14208125" cy="7506970"/>
            <a:chOff x="-1582" y="-522"/>
            <a:chExt cx="22375" cy="11822"/>
          </a:xfrm>
        </p:grpSpPr>
        <p:grpSp>
          <p:nvGrpSpPr>
            <p:cNvPr id="47" name="组合 46"/>
            <p:cNvGrpSpPr/>
            <p:nvPr/>
          </p:nvGrpSpPr>
          <p:grpSpPr>
            <a:xfrm>
              <a:off x="419" y="9302"/>
              <a:ext cx="434" cy="1065"/>
              <a:chOff x="537" y="8479"/>
              <a:chExt cx="434" cy="1065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椭圆 2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18348" y="434"/>
              <a:ext cx="434" cy="1065"/>
              <a:chOff x="537" y="8479"/>
              <a:chExt cx="434" cy="1065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62" name="椭圆 6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66" name="椭圆 6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 flipH="1" flipV="1">
              <a:off x="-1582" y="-522"/>
              <a:ext cx="3159" cy="4320"/>
              <a:chOff x="16465" y="4210"/>
              <a:chExt cx="5458" cy="7464"/>
            </a:xfrm>
          </p:grpSpPr>
          <p:sp>
            <p:nvSpPr>
              <p:cNvPr id="77" name="任意多边形 76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17635" y="6980"/>
              <a:ext cx="3159" cy="4320"/>
              <a:chOff x="16465" y="4210"/>
              <a:chExt cx="5458" cy="7464"/>
            </a:xfrm>
          </p:grpSpPr>
          <p:sp>
            <p:nvSpPr>
              <p:cNvPr id="3" name="任意多边形 2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任意多边形 3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6" name="表格 5"/>
          <p:cNvGraphicFramePr/>
          <p:nvPr/>
        </p:nvGraphicFramePr>
        <p:xfrm>
          <a:off x="2294255" y="1586865"/>
          <a:ext cx="7198995" cy="25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/>
                <a:gridCol w="1436370"/>
                <a:gridCol w="1428750"/>
                <a:gridCol w="1733550"/>
                <a:gridCol w="1061085"/>
              </a:tblGrid>
              <a:tr h="499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训练集</a:t>
                      </a:r>
                      <a:r>
                        <a:rPr lang="en-US" altLang="zh-CN"/>
                        <a:t>MAE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测试集</a:t>
                      </a:r>
                      <a:r>
                        <a:rPr lang="en-US" altLang="zh-CN"/>
                        <a:t>MAE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交叉验证</a:t>
                      </a:r>
                      <a:r>
                        <a:rPr lang="en-US" altLang="zh-CN"/>
                        <a:t>MAE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KAGGLE</a:t>
                      </a:r>
                      <a:endParaRPr lang="en-US" altLang="zh-CN"/>
                    </a:p>
                  </a:txBody>
                  <a:tcPr/>
                </a:tc>
              </a:tr>
              <a:tr h="5575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OLS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 159119.51    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244671.97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 159213.50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36.2</a:t>
                      </a:r>
                      <a:endParaRPr lang="en-US" altLang="zh-CN"/>
                    </a:p>
                  </a:txBody>
                  <a:tcPr/>
                </a:tc>
              </a:tr>
              <a:tr h="5054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Ridge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159119.21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244672.28 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 159224.72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36.2</a:t>
                      </a:r>
                      <a:endParaRPr lang="en-US" altLang="zh-CN"/>
                    </a:p>
                  </a:txBody>
                  <a:tcPr/>
                </a:tc>
              </a:tr>
              <a:tr h="5054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Lasso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159119.12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244671.83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159224.71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36.2</a:t>
                      </a:r>
                      <a:endParaRPr lang="en-US" altLang="zh-CN"/>
                    </a:p>
                  </a:txBody>
                  <a:tcPr/>
                </a:tc>
              </a:tr>
              <a:tr h="504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ElasticNet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169565.78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257518.99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169618.04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30.3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401175" y="5960745"/>
            <a:ext cx="1843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杨舒惠</a:t>
            </a:r>
            <a:r>
              <a:rPr lang="en-US" altLang="zh-CN"/>
              <a:t> 2023200177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004570" y="-331470"/>
            <a:ext cx="12931140" cy="7506970"/>
            <a:chOff x="-1582" y="-522"/>
            <a:chExt cx="20364" cy="11822"/>
          </a:xfrm>
        </p:grpSpPr>
        <p:grpSp>
          <p:nvGrpSpPr>
            <p:cNvPr id="47" name="组合 46"/>
            <p:cNvGrpSpPr/>
            <p:nvPr/>
          </p:nvGrpSpPr>
          <p:grpSpPr>
            <a:xfrm>
              <a:off x="419" y="9302"/>
              <a:ext cx="434" cy="1065"/>
              <a:chOff x="537" y="8479"/>
              <a:chExt cx="434" cy="1065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椭圆 2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18348" y="434"/>
              <a:ext cx="434" cy="1065"/>
              <a:chOff x="537" y="8479"/>
              <a:chExt cx="434" cy="1065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62" name="椭圆 6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66" name="椭圆 6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 flipH="1" flipV="1">
              <a:off x="-1582" y="-522"/>
              <a:ext cx="3159" cy="4320"/>
              <a:chOff x="16465" y="4210"/>
              <a:chExt cx="5458" cy="7464"/>
            </a:xfrm>
          </p:grpSpPr>
          <p:sp>
            <p:nvSpPr>
              <p:cNvPr id="77" name="任意多边形 76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任意多边形 2"/>
            <p:cNvSpPr/>
            <p:nvPr/>
          </p:nvSpPr>
          <p:spPr>
            <a:xfrm rot="2700000">
              <a:off x="17729" y="10310"/>
              <a:ext cx="990" cy="990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1" h="1711">
                  <a:moveTo>
                    <a:pt x="326" y="0"/>
                  </a:moveTo>
                  <a:lnTo>
                    <a:pt x="1630" y="0"/>
                  </a:lnTo>
                  <a:cubicBezTo>
                    <a:pt x="1655" y="0"/>
                    <a:pt x="1680" y="3"/>
                    <a:pt x="1704" y="8"/>
                  </a:cubicBezTo>
                  <a:lnTo>
                    <a:pt x="1711" y="10"/>
                  </a:lnTo>
                  <a:lnTo>
                    <a:pt x="10" y="1711"/>
                  </a:lnTo>
                  <a:lnTo>
                    <a:pt x="8" y="1704"/>
                  </a:lnTo>
                  <a:cubicBezTo>
                    <a:pt x="3" y="1680"/>
                    <a:pt x="0" y="1655"/>
                    <a:pt x="0" y="1630"/>
                  </a:cubicBezTo>
                  <a:lnTo>
                    <a:pt x="0" y="326"/>
                  </a:lnTo>
                  <a:cubicBezTo>
                    <a:pt x="0" y="146"/>
                    <a:pt x="146" y="0"/>
                    <a:pt x="326" y="0"/>
                  </a:cubicBezTo>
                  <a:close/>
                </a:path>
              </a:pathLst>
            </a:custGeom>
            <a:solidFill>
              <a:srgbClr val="6D84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6" name="表格 5"/>
          <p:cNvGraphicFramePr/>
          <p:nvPr/>
        </p:nvGraphicFramePr>
        <p:xfrm>
          <a:off x="1416914" y="2607111"/>
          <a:ext cx="4679315" cy="2071370"/>
        </p:xfrm>
        <a:graphic>
          <a:graphicData uri="http://schemas.openxmlformats.org/drawingml/2006/table">
            <a:tbl>
              <a:tblPr/>
              <a:tblGrid>
                <a:gridCol w="846455"/>
                <a:gridCol w="845185"/>
                <a:gridCol w="847725"/>
                <a:gridCol w="1069340"/>
                <a:gridCol w="1070610"/>
              </a:tblGrid>
              <a:tr h="438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385399.41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391603.32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400258.98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68.1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388495.38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395534.24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414781.10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68.0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457295.95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456979.85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462428.00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64.5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522174.25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518961.39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525604.52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60.87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183721" y="379700"/>
            <a:ext cx="2461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李怡伽｜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2023201150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6533515" y="2527876"/>
          <a:ext cx="5117465" cy="2063210"/>
        </p:xfrm>
        <a:graphic>
          <a:graphicData uri="http://schemas.openxmlformats.org/drawingml/2006/table">
            <a:tbl>
              <a:tblPr/>
              <a:tblGrid>
                <a:gridCol w="925195"/>
                <a:gridCol w="925195"/>
                <a:gridCol w="925830"/>
                <a:gridCol w="1171575"/>
                <a:gridCol w="1169670"/>
              </a:tblGrid>
              <a:tr h="5747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97671.59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100440.49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99990.33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68.1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99229.19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101601.49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101714.33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68.0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117020.73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117673.14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117773.32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64.5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124518.82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125953.30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125131.07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60.87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430633" y="1922863"/>
            <a:ext cx="132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Model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67971" y="1927279"/>
            <a:ext cx="137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Model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004570" y="-331470"/>
            <a:ext cx="12931140" cy="7506970"/>
            <a:chOff x="-1582" y="-522"/>
            <a:chExt cx="20364" cy="11822"/>
          </a:xfrm>
        </p:grpSpPr>
        <p:grpSp>
          <p:nvGrpSpPr>
            <p:cNvPr id="47" name="组合 46"/>
            <p:cNvGrpSpPr/>
            <p:nvPr/>
          </p:nvGrpSpPr>
          <p:grpSpPr>
            <a:xfrm>
              <a:off x="419" y="9302"/>
              <a:ext cx="434" cy="1065"/>
              <a:chOff x="537" y="8479"/>
              <a:chExt cx="434" cy="1065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椭圆 2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18348" y="434"/>
              <a:ext cx="434" cy="1065"/>
              <a:chOff x="537" y="8479"/>
              <a:chExt cx="434" cy="1065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62" name="椭圆 6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66" name="椭圆 6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 flipH="1" flipV="1">
              <a:off x="-1582" y="-522"/>
              <a:ext cx="3159" cy="4320"/>
              <a:chOff x="16465" y="4210"/>
              <a:chExt cx="5458" cy="7464"/>
            </a:xfrm>
          </p:grpSpPr>
          <p:sp>
            <p:nvSpPr>
              <p:cNvPr id="77" name="任意多边形 76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任意多边形 2"/>
            <p:cNvSpPr/>
            <p:nvPr/>
          </p:nvSpPr>
          <p:spPr>
            <a:xfrm rot="2700000">
              <a:off x="17729" y="10310"/>
              <a:ext cx="990" cy="990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1" h="1711">
                  <a:moveTo>
                    <a:pt x="326" y="0"/>
                  </a:moveTo>
                  <a:lnTo>
                    <a:pt x="1630" y="0"/>
                  </a:lnTo>
                  <a:cubicBezTo>
                    <a:pt x="1655" y="0"/>
                    <a:pt x="1680" y="3"/>
                    <a:pt x="1704" y="8"/>
                  </a:cubicBezTo>
                  <a:lnTo>
                    <a:pt x="1711" y="10"/>
                  </a:lnTo>
                  <a:lnTo>
                    <a:pt x="10" y="1711"/>
                  </a:lnTo>
                  <a:lnTo>
                    <a:pt x="8" y="1704"/>
                  </a:lnTo>
                  <a:cubicBezTo>
                    <a:pt x="3" y="1680"/>
                    <a:pt x="0" y="1655"/>
                    <a:pt x="0" y="1630"/>
                  </a:cubicBezTo>
                  <a:lnTo>
                    <a:pt x="0" y="326"/>
                  </a:lnTo>
                  <a:cubicBezTo>
                    <a:pt x="0" y="146"/>
                    <a:pt x="146" y="0"/>
                    <a:pt x="326" y="0"/>
                  </a:cubicBezTo>
                  <a:close/>
                </a:path>
              </a:pathLst>
            </a:custGeom>
            <a:solidFill>
              <a:srgbClr val="6D84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183505" y="379730"/>
            <a:ext cx="2592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杨嘉皓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 2023201775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37593" y="1991443"/>
            <a:ext cx="132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Model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93906" y="1698679"/>
            <a:ext cx="137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Model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10235" y="2292350"/>
          <a:ext cx="526605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340"/>
                <a:gridCol w="1176020"/>
                <a:gridCol w="1176655"/>
                <a:gridCol w="1176020"/>
                <a:gridCol w="1176020"/>
              </a:tblGrid>
              <a:tr h="43688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  <a:tr h="37782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320891.05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346894.38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334636.83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65.96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  <a:tr h="37719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710060.04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784314.35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852408.57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65.98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  <a:tr h="37782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321564.20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513767.09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1313767.06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65.97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6396355" y="2667000"/>
          <a:ext cx="5006975" cy="154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395"/>
                <a:gridCol w="1001395"/>
                <a:gridCol w="1001395"/>
                <a:gridCol w="1001395"/>
                <a:gridCol w="1001395"/>
              </a:tblGrid>
              <a:tr h="38671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  <a:tr h="38671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112643.27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112283.35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112811.85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65.96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  <a:tr h="38671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112789.75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112346.83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112942.90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65.98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  <a:tr h="38671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112643.50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112283.89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112812.16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65.97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004570" y="-331470"/>
            <a:ext cx="14208125" cy="7506970"/>
            <a:chOff x="-1582" y="-522"/>
            <a:chExt cx="22375" cy="11822"/>
          </a:xfrm>
        </p:grpSpPr>
        <p:grpSp>
          <p:nvGrpSpPr>
            <p:cNvPr id="47" name="组合 46"/>
            <p:cNvGrpSpPr/>
            <p:nvPr/>
          </p:nvGrpSpPr>
          <p:grpSpPr>
            <a:xfrm>
              <a:off x="419" y="9302"/>
              <a:ext cx="434" cy="1065"/>
              <a:chOff x="537" y="8479"/>
              <a:chExt cx="434" cy="1065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椭圆 2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18348" y="434"/>
              <a:ext cx="434" cy="1065"/>
              <a:chOff x="537" y="8479"/>
              <a:chExt cx="434" cy="1065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62" name="椭圆 6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66" name="椭圆 6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 flipH="1" flipV="1">
              <a:off x="-1582" y="-522"/>
              <a:ext cx="3159" cy="4320"/>
              <a:chOff x="16465" y="4210"/>
              <a:chExt cx="5458" cy="7464"/>
            </a:xfrm>
          </p:grpSpPr>
          <p:sp>
            <p:nvSpPr>
              <p:cNvPr id="77" name="任意多边形 76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17635" y="6980"/>
              <a:ext cx="3159" cy="4320"/>
              <a:chOff x="16465" y="4210"/>
              <a:chExt cx="5458" cy="7464"/>
            </a:xfrm>
          </p:grpSpPr>
          <p:sp>
            <p:nvSpPr>
              <p:cNvPr id="3" name="任意多边形 2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任意多边形 3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1580515" y="492125"/>
            <a:ext cx="24479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Price Model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80515" y="3430270"/>
            <a:ext cx="2171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Rent Model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225040" y="1020445"/>
          <a:ext cx="8185150" cy="2162175"/>
        </p:xfrm>
        <a:graphic>
          <a:graphicData uri="http://schemas.openxmlformats.org/drawingml/2006/table">
            <a:tbl>
              <a:tblPr/>
              <a:tblGrid>
                <a:gridCol w="1189990"/>
                <a:gridCol w="1748790"/>
                <a:gridCol w="1749425"/>
                <a:gridCol w="1747520"/>
                <a:gridCol w="1749425"/>
              </a:tblGrid>
              <a:tr h="72136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368191.84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374093.16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369322.58 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381370.23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386994.97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381370.23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67.0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368862.94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374673.44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368862.94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67.0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369007.10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374915.61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369007.1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68.5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214880" y="3978910"/>
          <a:ext cx="8185150" cy="1889125"/>
        </p:xfrm>
        <a:graphic>
          <a:graphicData uri="http://schemas.openxmlformats.org/drawingml/2006/table">
            <a:tbl>
              <a:tblPr/>
              <a:tblGrid>
                <a:gridCol w="1637030"/>
                <a:gridCol w="1637030"/>
                <a:gridCol w="1637030"/>
                <a:gridCol w="1637030"/>
                <a:gridCol w="1637030"/>
              </a:tblGrid>
              <a:tr h="62992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89402.12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91003.59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89611.35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91941.48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93658.24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91941.48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67.0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89407.80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91021.69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89407.80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67.0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89818.14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91525.93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89818.14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68.5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928610" y="6156960"/>
            <a:ext cx="2854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张祖豪</a:t>
            </a:r>
            <a:r>
              <a:rPr lang="en-US" altLang="zh-CN" sz="24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2023200234</a:t>
            </a:r>
            <a:endParaRPr lang="en-US" altLang="zh-CN" sz="24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004570" y="-331470"/>
            <a:ext cx="12931140" cy="7506970"/>
            <a:chOff x="-1582" y="-522"/>
            <a:chExt cx="20364" cy="11822"/>
          </a:xfrm>
        </p:grpSpPr>
        <p:grpSp>
          <p:nvGrpSpPr>
            <p:cNvPr id="47" name="组合 46"/>
            <p:cNvGrpSpPr/>
            <p:nvPr/>
          </p:nvGrpSpPr>
          <p:grpSpPr>
            <a:xfrm>
              <a:off x="419" y="9302"/>
              <a:ext cx="434" cy="1065"/>
              <a:chOff x="537" y="8479"/>
              <a:chExt cx="434" cy="1065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22" name="椭圆 2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28" name="椭圆 2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椭圆 2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椭圆 4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18348" y="434"/>
              <a:ext cx="434" cy="1065"/>
              <a:chOff x="537" y="8479"/>
              <a:chExt cx="434" cy="1065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537" y="8479"/>
                <a:ext cx="434" cy="84"/>
                <a:chOff x="537" y="8479"/>
                <a:chExt cx="434" cy="84"/>
              </a:xfrm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537" y="8672"/>
                <a:ext cx="434" cy="84"/>
                <a:chOff x="537" y="8479"/>
                <a:chExt cx="434" cy="84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37" y="8873"/>
                <a:ext cx="434" cy="84"/>
                <a:chOff x="537" y="8479"/>
                <a:chExt cx="434" cy="84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537" y="9066"/>
                <a:ext cx="434" cy="84"/>
                <a:chOff x="537" y="8479"/>
                <a:chExt cx="434" cy="84"/>
              </a:xfrm>
            </p:grpSpPr>
            <p:sp>
              <p:nvSpPr>
                <p:cNvPr id="62" name="椭圆 61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37" y="9267"/>
                <a:ext cx="434" cy="84"/>
                <a:chOff x="537" y="8479"/>
                <a:chExt cx="434" cy="84"/>
              </a:xfrm>
            </p:grpSpPr>
            <p:sp>
              <p:nvSpPr>
                <p:cNvPr id="66" name="椭圆 65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537" y="9460"/>
                <a:ext cx="434" cy="84"/>
                <a:chOff x="537" y="8479"/>
                <a:chExt cx="434" cy="84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53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705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887" y="8479"/>
                  <a:ext cx="85" cy="85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76" name="组合 75"/>
            <p:cNvGrpSpPr/>
            <p:nvPr/>
          </p:nvGrpSpPr>
          <p:grpSpPr>
            <a:xfrm flipH="1" flipV="1">
              <a:off x="-1582" y="-522"/>
              <a:ext cx="3159" cy="4320"/>
              <a:chOff x="16465" y="4210"/>
              <a:chExt cx="5458" cy="7464"/>
            </a:xfrm>
          </p:grpSpPr>
          <p:sp>
            <p:nvSpPr>
              <p:cNvPr id="77" name="任意多边形 76"/>
              <p:cNvSpPr/>
              <p:nvPr/>
            </p:nvSpPr>
            <p:spPr>
              <a:xfrm rot="2700000">
                <a:off x="16627" y="9964"/>
                <a:ext cx="1711" cy="1711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6D84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 77"/>
              <p:cNvSpPr/>
              <p:nvPr/>
            </p:nvSpPr>
            <p:spPr>
              <a:xfrm rot="18900000">
                <a:off x="16465" y="4210"/>
                <a:ext cx="5459" cy="5459"/>
              </a:xfrm>
              <a:custGeom>
                <a:avLst/>
                <a:gdLst>
                  <a:gd name="adj" fmla="val 16667"/>
                  <a:gd name="a" fmla="pin 0 adj 50000"/>
                  <a:gd name="x1" fmla="*/ ss a 100000"/>
                  <a:gd name="x2" fmla="+- r 0 x1"/>
                  <a:gd name="y2" fmla="+- b 0 x1"/>
                  <a:gd name="il" fmla="*/ x1 29289 100000"/>
                  <a:gd name="ir" fmla="+- r 0 il"/>
                  <a:gd name="ib" fmla="+- b 0 il"/>
                </a:gdLst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711">
                    <a:moveTo>
                      <a:pt x="326" y="0"/>
                    </a:moveTo>
                    <a:lnTo>
                      <a:pt x="1630" y="0"/>
                    </a:lnTo>
                    <a:cubicBezTo>
                      <a:pt x="1655" y="0"/>
                      <a:pt x="1680" y="3"/>
                      <a:pt x="1704" y="8"/>
                    </a:cubicBezTo>
                    <a:lnTo>
                      <a:pt x="1711" y="10"/>
                    </a:lnTo>
                    <a:lnTo>
                      <a:pt x="10" y="1711"/>
                    </a:lnTo>
                    <a:lnTo>
                      <a:pt x="8" y="1704"/>
                    </a:lnTo>
                    <a:cubicBezTo>
                      <a:pt x="3" y="1680"/>
                      <a:pt x="0" y="1655"/>
                      <a:pt x="0" y="1630"/>
                    </a:cubicBezTo>
                    <a:lnTo>
                      <a:pt x="0" y="326"/>
                    </a:lnTo>
                    <a:cubicBezTo>
                      <a:pt x="0" y="146"/>
                      <a:pt x="146" y="0"/>
                      <a:pt x="326" y="0"/>
                    </a:cubicBezTo>
                    <a:close/>
                  </a:path>
                </a:pathLst>
              </a:custGeom>
              <a:solidFill>
                <a:srgbClr val="1C38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任意多边形 2"/>
            <p:cNvSpPr/>
            <p:nvPr/>
          </p:nvSpPr>
          <p:spPr>
            <a:xfrm rot="2700000">
              <a:off x="17729" y="10310"/>
              <a:ext cx="990" cy="990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1" h="1711">
                  <a:moveTo>
                    <a:pt x="326" y="0"/>
                  </a:moveTo>
                  <a:lnTo>
                    <a:pt x="1630" y="0"/>
                  </a:lnTo>
                  <a:cubicBezTo>
                    <a:pt x="1655" y="0"/>
                    <a:pt x="1680" y="3"/>
                    <a:pt x="1704" y="8"/>
                  </a:cubicBezTo>
                  <a:lnTo>
                    <a:pt x="1711" y="10"/>
                  </a:lnTo>
                  <a:lnTo>
                    <a:pt x="10" y="1711"/>
                  </a:lnTo>
                  <a:lnTo>
                    <a:pt x="8" y="1704"/>
                  </a:lnTo>
                  <a:cubicBezTo>
                    <a:pt x="3" y="1680"/>
                    <a:pt x="0" y="1655"/>
                    <a:pt x="0" y="1630"/>
                  </a:cubicBezTo>
                  <a:lnTo>
                    <a:pt x="0" y="326"/>
                  </a:lnTo>
                  <a:cubicBezTo>
                    <a:pt x="0" y="146"/>
                    <a:pt x="146" y="0"/>
                    <a:pt x="326" y="0"/>
                  </a:cubicBezTo>
                  <a:close/>
                </a:path>
              </a:pathLst>
            </a:custGeom>
            <a:solidFill>
              <a:srgbClr val="6D84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6" name="表格 5"/>
          <p:cNvGraphicFramePr/>
          <p:nvPr/>
        </p:nvGraphicFramePr>
        <p:xfrm>
          <a:off x="1416914" y="2607111"/>
          <a:ext cx="4679315" cy="2071370"/>
        </p:xfrm>
        <a:graphic>
          <a:graphicData uri="http://schemas.openxmlformats.org/drawingml/2006/table">
            <a:tbl>
              <a:tblPr/>
              <a:tblGrid>
                <a:gridCol w="846455"/>
                <a:gridCol w="845185"/>
                <a:gridCol w="847725"/>
                <a:gridCol w="1069340"/>
                <a:gridCol w="1070610"/>
              </a:tblGrid>
              <a:tr h="438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368248.34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374145.54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369379.06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69.2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CEC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381402.72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387028.76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381402.72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66.8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368925.58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374733.65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368925.5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67.7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369061.92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374966.15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369061.92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+mn-cs"/>
                        </a:rPr>
                        <a:t>67.9</a:t>
                      </a:r>
                      <a:endParaRPr lang="en-US" altLang="zh-CN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+mn-cs"/>
                      </a:endParaRPr>
                    </a:p>
                  </a:txBody>
                  <a:tcPr marL="6667" marR="6667" marT="666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938041" y="636915"/>
            <a:ext cx="3191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小组合并代码结果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6533515" y="2527876"/>
          <a:ext cx="5117465" cy="2063210"/>
        </p:xfrm>
        <a:graphic>
          <a:graphicData uri="http://schemas.openxmlformats.org/drawingml/2006/table">
            <a:tbl>
              <a:tblPr/>
              <a:tblGrid>
                <a:gridCol w="925195"/>
                <a:gridCol w="925195"/>
                <a:gridCol w="925830"/>
                <a:gridCol w="1171575"/>
                <a:gridCol w="1169670"/>
              </a:tblGrid>
              <a:tr h="5747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Metrics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 Sample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Out of Sample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Cross-validation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Kaggle Score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OLS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115686.63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116267.38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116030.46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69.2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CCEC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Lasso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118598.46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118960.93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118598.46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66.8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Ridge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115689.70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116287.99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115689.70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i="0" kern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+mn-cs"/>
                        </a:rPr>
                        <a:t>67.7</a:t>
                      </a:r>
                      <a:endParaRPr lang="zh-CN" altLang="en-US" sz="1400" b="0" i="0" kern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ElasticNet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116069.85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116704.85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116069.85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67.9</a:t>
                      </a:r>
                      <a:endParaRPr lang="en-US" altLang="zh-CN" sz="1400" b="0" i="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430633" y="1922863"/>
            <a:ext cx="132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Model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67971" y="1927279"/>
            <a:ext cx="137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Model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02*172"/>
  <p:tag name="TABLE_ENDDRAG_RECT" val="504*87*402*172"/>
</p:tagLst>
</file>

<file path=ppt/tags/tag2.xml><?xml version="1.0" encoding="utf-8"?>
<p:tagLst xmlns:p="http://schemas.openxmlformats.org/presentationml/2006/main">
  <p:tag name="TABLE_ENDDRAG_ORIGIN_RECT" val="414*123"/>
  <p:tag name="TABLE_ENDDRAG_RECT" val="88*120*414*123"/>
</p:tagLst>
</file>

<file path=ppt/tags/tag3.xml><?xml version="1.0" encoding="utf-8"?>
<p:tagLst xmlns:p="http://schemas.openxmlformats.org/presentationml/2006/main">
  <p:tag name="TABLE_ENDDRAG_ORIGIN_RECT" val="394*121"/>
  <p:tag name="TABLE_ENDDRAG_RECT" val="144*210*394*121"/>
</p:tagLst>
</file>

<file path=ppt/tags/tag4.xml><?xml version="1.0" encoding="utf-8"?>
<p:tagLst xmlns:p="http://schemas.openxmlformats.org/presentationml/2006/main">
  <p:tag name="TABLE_ENDDRAG_ORIGIN_RECT" val="644*170"/>
  <p:tag name="TABLE_ENDDRAG_RECT" val="174*87*644*170"/>
</p:tagLst>
</file>

<file path=ppt/tags/tag5.xml><?xml version="1.0" encoding="utf-8"?>
<p:tagLst xmlns:p="http://schemas.openxmlformats.org/presentationml/2006/main">
  <p:tag name="TABLE_ENDDRAG_ORIGIN_RECT" val="402*172"/>
  <p:tag name="TABLE_ENDDRAG_RECT" val="504*87*402*17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1892</Words>
  <Application>WPS 演示</Application>
  <PresentationFormat>宽屏</PresentationFormat>
  <Paragraphs>456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Times New Roman</vt:lpstr>
      <vt:lpstr>楷体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立刻出发</cp:lastModifiedBy>
  <cp:revision>82</cp:revision>
  <dcterms:created xsi:type="dcterms:W3CDTF">2022-01-10T08:39:00Z</dcterms:created>
  <dcterms:modified xsi:type="dcterms:W3CDTF">2025-11-06T04:34:14Z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02E37140E5E44E8E859580EAFF395CDD_13</vt:lpwstr>
  </property>
  <property fmtid="{D5CDD505-2E9C-101B-9397-08002B2CF9AE}" pid="3" name="KSOProductBuildVer">
    <vt:lpwstr>2052-12.1.0.23125</vt:lpwstr>
  </property>
  <property fmtid="{D5CDD505-2E9C-101B-9397-08002B2CF9AE}" pid="4" name="KSOTemplateUUID">
    <vt:lpwstr>v1.0_mb_WoKnZcaJtTglmqmAlSPvgQ==</vt:lpwstr>
  </property>
</Properties>
</file>