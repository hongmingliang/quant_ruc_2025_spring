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p:sldMasterIdLst>
    <p:sldMasterId id="2147483648" r:id="rId1"/>
  </p:sldMasterIdLst>
  <p:sldIdLst>
    <p:sldId id="256" r:id="rId2"/>
    <p:sldId id="259" r:id="rId3"/>
    <p:sldId id="271" r:id="rId4"/>
    <p:sldId id="260" r:id="rId5"/>
    <p:sldId id="272" r:id="rId6"/>
  </p:sldIdLst>
  <p:sldSz cx="12192000" cy="6858000"/>
  <p:notesSz cx="6858000" cy="9144000"/>
  <p:embeddedFontLst>
    <p:embeddedFont>
      <p:font typeface="汉仪中黑简" panose="02010600000101010101" pitchFamily="2" charset="-122"/>
      <p:regular r:id="rId7"/>
    </p:embeddedFont>
    <p:embeddedFont>
      <p:font typeface="楷体" panose="02010609060101010101" pitchFamily="49" charset="-122"/>
      <p:regular r:id="rId8"/>
    </p:embeddedFont>
  </p:embeddedFontLst>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B9CCEC"/>
    <a:srgbClr val="627AAC"/>
    <a:srgbClr val="91B1E1"/>
    <a:srgbClr val="1C3867"/>
    <a:srgbClr val="376EC9"/>
    <a:srgbClr val="264C8C"/>
    <a:srgbClr val="6D84A1"/>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23386" autoAdjust="0"/>
    <p:restoredTop sz="94660"/>
  </p:normalViewPr>
  <p:slideViewPr>
    <p:cSldViewPr snapToGrid="0">
      <p:cViewPr varScale="1">
        <p:scale>
          <a:sx n="106" d="100"/>
          <a:sy n="106" d="100"/>
        </p:scale>
        <p:origin x="200" y="62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font" Target="fonts/font2.fntdata"/><Relationship Id="rId3" Type="http://schemas.openxmlformats.org/officeDocument/2006/relationships/slide" Target="slides/slide2.xml"/><Relationship Id="rId7" Type="http://schemas.openxmlformats.org/officeDocument/2006/relationships/font" Target="fonts/font1.fntdata"/><Relationship Id="rId12"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theme" Target="theme/theme1.xml"/><Relationship Id="rId5" Type="http://schemas.openxmlformats.org/officeDocument/2006/relationships/slide" Target="slides/slide4.xml"/><Relationship Id="rId10"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presProps" Target="pres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p:cNvSpPr>
            <a:spLocks noGrp="1"/>
          </p:cNvSpPr>
          <p:nvPr>
            <p:ph type="ctrTitle"/>
          </p:nvPr>
        </p:nvSpPr>
        <p:spPr>
          <a:xfrm>
            <a:off x="1524000" y="1122363"/>
            <a:ext cx="9144000" cy="2387600"/>
          </a:xfrm>
        </p:spPr>
        <p:txBody>
          <a:bodyPr anchor="b"/>
          <a:lstStyle>
            <a:lvl1pPr algn="ctr">
              <a:defRPr sz="6000"/>
            </a:lvl1pPr>
          </a:lstStyle>
          <a:p>
            <a:r>
              <a:rPr lang="zh-CN" altLang="en-US"/>
              <a:t>单击此处编辑母版标题样式</a:t>
            </a:r>
          </a:p>
        </p:txBody>
      </p:sp>
      <p:sp>
        <p:nvSpPr>
          <p:cNvPr id="3" name="副标题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a:t>单击此处编辑母版副标题样式</a:t>
            </a:r>
          </a:p>
        </p:txBody>
      </p:sp>
      <p:sp>
        <p:nvSpPr>
          <p:cNvPr id="4" name="日期占位符 3"/>
          <p:cNvSpPr>
            <a:spLocks noGrp="1"/>
          </p:cNvSpPr>
          <p:nvPr>
            <p:ph type="dt" sz="half" idx="10"/>
          </p:nvPr>
        </p:nvSpPr>
        <p:spPr/>
        <p:txBody>
          <a:bodyPr/>
          <a:lstStyle/>
          <a:p>
            <a:fld id="{D997B5FA-0921-464F-AAE1-844C04324D75}" type="datetimeFigureOut">
              <a:rPr lang="zh-CN" altLang="en-US" smtClean="0"/>
              <a:t>2025/10/30</a:t>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565CE74E-AB26-4998-AD42-012C4C1AD076}" type="slidenum">
              <a:rPr lang="zh-CN" altLang="en-US" smtClean="0"/>
              <a:t>‹#›</a:t>
            </a:fld>
            <a:endParaRPr lang="zh-CN" alt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内容占位符 2"/>
          <p:cNvSpPr>
            <a:spLocks noGrp="1"/>
          </p:cNvSpPr>
          <p:nvPr>
            <p:ph idx="1"/>
          </p:nvPr>
        </p:nvSpPr>
        <p:spPr/>
        <p:txBody>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日期占位符 3"/>
          <p:cNvSpPr>
            <a:spLocks noGrp="1"/>
          </p:cNvSpPr>
          <p:nvPr>
            <p:ph type="dt" sz="half" idx="10"/>
          </p:nvPr>
        </p:nvSpPr>
        <p:spPr/>
        <p:txBody>
          <a:bodyPr/>
          <a:lstStyle/>
          <a:p>
            <a:fld id="{D997B5FA-0921-464F-AAE1-844C04324D75}" type="datetimeFigureOut">
              <a:rPr lang="zh-CN" altLang="en-US" smtClean="0"/>
              <a:t>2025/10/30</a:t>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565CE74E-AB26-4998-AD42-012C4C1AD076}" type="slidenum">
              <a:rPr lang="zh-CN" altLang="en-US" smtClean="0"/>
              <a:t>‹#›</a:t>
            </a:fld>
            <a:endParaRPr lang="zh-CN" alt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p:nvPr>
        </p:nvSpPr>
        <p:spPr>
          <a:xfrm>
            <a:off x="831850" y="1709738"/>
            <a:ext cx="10515600" cy="2852737"/>
          </a:xfrm>
        </p:spPr>
        <p:txBody>
          <a:bodyPr anchor="b"/>
          <a:lstStyle>
            <a:lvl1pPr>
              <a:defRPr sz="6000"/>
            </a:lvl1pPr>
          </a:lstStyle>
          <a:p>
            <a:r>
              <a:rPr lang="zh-CN" altLang="en-US"/>
              <a:t>单击此处编辑母版标题样式</a:t>
            </a:r>
          </a:p>
        </p:txBody>
      </p:sp>
      <p:sp>
        <p:nvSpPr>
          <p:cNvPr id="3" name="文本占位符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zh-CN" altLang="en-US"/>
              <a:t>单击此处编辑母版文本样式</a:t>
            </a:r>
          </a:p>
        </p:txBody>
      </p:sp>
      <p:sp>
        <p:nvSpPr>
          <p:cNvPr id="4" name="日期占位符 3"/>
          <p:cNvSpPr>
            <a:spLocks noGrp="1"/>
          </p:cNvSpPr>
          <p:nvPr>
            <p:ph type="dt" sz="half" idx="10"/>
          </p:nvPr>
        </p:nvSpPr>
        <p:spPr/>
        <p:txBody>
          <a:bodyPr/>
          <a:lstStyle/>
          <a:p>
            <a:fld id="{D997B5FA-0921-464F-AAE1-844C04324D75}" type="datetimeFigureOut">
              <a:rPr lang="zh-CN" altLang="en-US" smtClean="0"/>
              <a:t>2025/10/30</a:t>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565CE74E-AB26-4998-AD42-012C4C1AD076}" type="slidenum">
              <a:rPr lang="zh-CN" altLang="en-US" smtClean="0"/>
              <a:t>‹#›</a:t>
            </a:fld>
            <a:endParaRPr lang="zh-CN" alt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内容占位符 2"/>
          <p:cNvSpPr>
            <a:spLocks noGrp="1"/>
          </p:cNvSpPr>
          <p:nvPr>
            <p:ph sz="half" idx="1"/>
          </p:nvPr>
        </p:nvSpPr>
        <p:spPr>
          <a:xfrm>
            <a:off x="838200" y="1825625"/>
            <a:ext cx="5181600" cy="4351338"/>
          </a:xfrm>
        </p:spPr>
        <p:txBody>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内容占位符 3"/>
          <p:cNvSpPr>
            <a:spLocks noGrp="1"/>
          </p:cNvSpPr>
          <p:nvPr>
            <p:ph sz="half" idx="2"/>
          </p:nvPr>
        </p:nvSpPr>
        <p:spPr>
          <a:xfrm>
            <a:off x="6172200" y="1825625"/>
            <a:ext cx="5181600" cy="4351338"/>
          </a:xfrm>
        </p:spPr>
        <p:txBody>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5" name="日期占位符 4"/>
          <p:cNvSpPr>
            <a:spLocks noGrp="1"/>
          </p:cNvSpPr>
          <p:nvPr>
            <p:ph type="dt" sz="half" idx="10"/>
          </p:nvPr>
        </p:nvSpPr>
        <p:spPr/>
        <p:txBody>
          <a:bodyPr/>
          <a:lstStyle/>
          <a:p>
            <a:fld id="{D997B5FA-0921-464F-AAE1-844C04324D75}" type="datetimeFigureOut">
              <a:rPr lang="zh-CN" altLang="en-US" smtClean="0"/>
              <a:t>2025/10/30</a:t>
            </a:fld>
            <a:endParaRPr lang="zh-CN" altLang="en-US"/>
          </a:p>
        </p:txBody>
      </p:sp>
      <p:sp>
        <p:nvSpPr>
          <p:cNvPr id="6" name="页脚占位符 5"/>
          <p:cNvSpPr>
            <a:spLocks noGrp="1"/>
          </p:cNvSpPr>
          <p:nvPr>
            <p:ph type="ftr" sz="quarter" idx="11"/>
          </p:nvPr>
        </p:nvSpPr>
        <p:spPr/>
        <p:txBody>
          <a:bodyPr/>
          <a:lstStyle/>
          <a:p>
            <a:endParaRPr lang="zh-CN" altLang="en-US"/>
          </a:p>
        </p:txBody>
      </p:sp>
      <p:sp>
        <p:nvSpPr>
          <p:cNvPr id="7" name="灯片编号占位符 6"/>
          <p:cNvSpPr>
            <a:spLocks noGrp="1"/>
          </p:cNvSpPr>
          <p:nvPr>
            <p:ph type="sldNum" sz="quarter" idx="12"/>
          </p:nvPr>
        </p:nvSpPr>
        <p:spPr/>
        <p:txBody>
          <a:bodyPr/>
          <a:lstStyle/>
          <a:p>
            <a:fld id="{565CE74E-AB26-4998-AD42-012C4C1AD076}" type="slidenum">
              <a:rPr lang="zh-CN" altLang="en-US" smtClean="0"/>
              <a:t>‹#›</a:t>
            </a:fld>
            <a:endParaRPr lang="zh-CN" alt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a:xfrm>
            <a:off x="839788" y="365125"/>
            <a:ext cx="10515600" cy="1325563"/>
          </a:xfrm>
        </p:spPr>
        <p:txBody>
          <a:bodyPr/>
          <a:lstStyle/>
          <a:p>
            <a:r>
              <a:rPr lang="zh-CN" altLang="en-US"/>
              <a:t>单击此处编辑母版标题样式</a:t>
            </a:r>
          </a:p>
        </p:txBody>
      </p:sp>
      <p:sp>
        <p:nvSpPr>
          <p:cNvPr id="3" name="文本占位符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4" name="内容占位符 3"/>
          <p:cNvSpPr>
            <a:spLocks noGrp="1"/>
          </p:cNvSpPr>
          <p:nvPr>
            <p:ph sz="half" idx="2"/>
          </p:nvPr>
        </p:nvSpPr>
        <p:spPr>
          <a:xfrm>
            <a:off x="839788" y="2505075"/>
            <a:ext cx="5157787" cy="3684588"/>
          </a:xfrm>
        </p:spPr>
        <p:txBody>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5" name="文本占位符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6" name="内容占位符 5"/>
          <p:cNvSpPr>
            <a:spLocks noGrp="1"/>
          </p:cNvSpPr>
          <p:nvPr>
            <p:ph sz="quarter" idx="4"/>
          </p:nvPr>
        </p:nvSpPr>
        <p:spPr>
          <a:xfrm>
            <a:off x="6172200" y="2505075"/>
            <a:ext cx="5183188" cy="3684588"/>
          </a:xfrm>
        </p:spPr>
        <p:txBody>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7" name="日期占位符 6"/>
          <p:cNvSpPr>
            <a:spLocks noGrp="1"/>
          </p:cNvSpPr>
          <p:nvPr>
            <p:ph type="dt" sz="half" idx="10"/>
          </p:nvPr>
        </p:nvSpPr>
        <p:spPr/>
        <p:txBody>
          <a:bodyPr/>
          <a:lstStyle/>
          <a:p>
            <a:fld id="{D997B5FA-0921-464F-AAE1-844C04324D75}" type="datetimeFigureOut">
              <a:rPr lang="zh-CN" altLang="en-US" smtClean="0"/>
              <a:t>2025/10/30</a:t>
            </a:fld>
            <a:endParaRPr lang="zh-CN" altLang="en-US"/>
          </a:p>
        </p:txBody>
      </p:sp>
      <p:sp>
        <p:nvSpPr>
          <p:cNvPr id="8" name="页脚占位符 7"/>
          <p:cNvSpPr>
            <a:spLocks noGrp="1"/>
          </p:cNvSpPr>
          <p:nvPr>
            <p:ph type="ftr" sz="quarter" idx="11"/>
          </p:nvPr>
        </p:nvSpPr>
        <p:spPr/>
        <p:txBody>
          <a:bodyPr/>
          <a:lstStyle/>
          <a:p>
            <a:endParaRPr lang="zh-CN" altLang="en-US"/>
          </a:p>
        </p:txBody>
      </p:sp>
      <p:sp>
        <p:nvSpPr>
          <p:cNvPr id="9" name="灯片编号占位符 8"/>
          <p:cNvSpPr>
            <a:spLocks noGrp="1"/>
          </p:cNvSpPr>
          <p:nvPr>
            <p:ph type="sldNum" sz="quarter" idx="12"/>
          </p:nvPr>
        </p:nvSpPr>
        <p:spPr/>
        <p:txBody>
          <a:bodyPr/>
          <a:lstStyle/>
          <a:p>
            <a:fld id="{565CE74E-AB26-4998-AD42-012C4C1AD076}" type="slidenum">
              <a:rPr lang="zh-CN" altLang="en-US" smtClean="0"/>
              <a:t>‹#›</a:t>
            </a:fld>
            <a:endParaRPr lang="zh-CN" alt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日期占位符 2"/>
          <p:cNvSpPr>
            <a:spLocks noGrp="1"/>
          </p:cNvSpPr>
          <p:nvPr>
            <p:ph type="dt" sz="half" idx="10"/>
          </p:nvPr>
        </p:nvSpPr>
        <p:spPr/>
        <p:txBody>
          <a:bodyPr/>
          <a:lstStyle/>
          <a:p>
            <a:fld id="{D997B5FA-0921-464F-AAE1-844C04324D75}" type="datetimeFigureOut">
              <a:rPr lang="zh-CN" altLang="en-US" smtClean="0"/>
              <a:t>2025/10/30</a:t>
            </a:fld>
            <a:endParaRPr lang="zh-CN" altLang="en-US"/>
          </a:p>
        </p:txBody>
      </p:sp>
      <p:sp>
        <p:nvSpPr>
          <p:cNvPr id="4" name="页脚占位符 3"/>
          <p:cNvSpPr>
            <a:spLocks noGrp="1"/>
          </p:cNvSpPr>
          <p:nvPr>
            <p:ph type="ftr" sz="quarter" idx="11"/>
          </p:nvPr>
        </p:nvSpPr>
        <p:spPr/>
        <p:txBody>
          <a:bodyPr/>
          <a:lstStyle/>
          <a:p>
            <a:endParaRPr lang="zh-CN" altLang="en-US"/>
          </a:p>
        </p:txBody>
      </p:sp>
      <p:sp>
        <p:nvSpPr>
          <p:cNvPr id="5" name="灯片编号占位符 4"/>
          <p:cNvSpPr>
            <a:spLocks noGrp="1"/>
          </p:cNvSpPr>
          <p:nvPr>
            <p:ph type="sldNum" sz="quarter" idx="12"/>
          </p:nvPr>
        </p:nvSpPr>
        <p:spPr/>
        <p:txBody>
          <a:bodyPr/>
          <a:lstStyle/>
          <a:p>
            <a:fld id="{565CE74E-AB26-4998-AD42-012C4C1AD076}" type="slidenum">
              <a:rPr lang="zh-CN" altLang="en-US" smtClean="0"/>
              <a:t>‹#›</a:t>
            </a:fld>
            <a:endParaRPr lang="zh-CN" alt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nvPr>
        </p:nvSpPr>
        <p:spPr/>
        <p:txBody>
          <a:bodyPr/>
          <a:lstStyle/>
          <a:p>
            <a:fld id="{D997B5FA-0921-464F-AAE1-844C04324D75}" type="datetimeFigureOut">
              <a:rPr lang="zh-CN" altLang="en-US" smtClean="0"/>
              <a:t>2025/10/30</a:t>
            </a:fld>
            <a:endParaRPr lang="zh-CN" altLang="en-US"/>
          </a:p>
        </p:txBody>
      </p:sp>
      <p:sp>
        <p:nvSpPr>
          <p:cNvPr id="3" name="页脚占位符 2"/>
          <p:cNvSpPr>
            <a:spLocks noGrp="1"/>
          </p:cNvSpPr>
          <p:nvPr>
            <p:ph type="ftr" sz="quarter" idx="11"/>
          </p:nvPr>
        </p:nvSpPr>
        <p:spPr/>
        <p:txBody>
          <a:bodyPr/>
          <a:lstStyle/>
          <a:p>
            <a:endParaRPr lang="zh-CN" altLang="en-US"/>
          </a:p>
        </p:txBody>
      </p:sp>
      <p:sp>
        <p:nvSpPr>
          <p:cNvPr id="4" name="灯片编号占位符 3"/>
          <p:cNvSpPr>
            <a:spLocks noGrp="1"/>
          </p:cNvSpPr>
          <p:nvPr>
            <p:ph type="sldNum" sz="quarter" idx="12"/>
          </p:nvPr>
        </p:nvSpPr>
        <p:spPr/>
        <p:txBody>
          <a:bodyPr/>
          <a:lstStyle/>
          <a:p>
            <a:fld id="{565CE74E-AB26-4998-AD42-012C4C1AD076}" type="slidenum">
              <a:rPr lang="zh-CN" altLang="en-US" smtClean="0"/>
              <a:t>‹#›</a:t>
            </a:fld>
            <a:endParaRPr lang="zh-CN" alt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p:cNvSpPr>
            <a:spLocks noGrp="1"/>
          </p:cNvSpPr>
          <p:nvPr>
            <p:ph type="title"/>
          </p:nvPr>
        </p:nvSpPr>
        <p:spPr>
          <a:xfrm>
            <a:off x="839788" y="457200"/>
            <a:ext cx="3932237" cy="1600200"/>
          </a:xfrm>
        </p:spPr>
        <p:txBody>
          <a:bodyPr anchor="b"/>
          <a:lstStyle>
            <a:lvl1pPr>
              <a:defRPr sz="3200"/>
            </a:lvl1pPr>
          </a:lstStyle>
          <a:p>
            <a:r>
              <a:rPr lang="zh-CN" altLang="en-US"/>
              <a:t>单击此处编辑母版标题样式</a:t>
            </a:r>
          </a:p>
        </p:txBody>
      </p:sp>
      <p:sp>
        <p:nvSpPr>
          <p:cNvPr id="3" name="内容占位符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文本占位符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单击此处编辑母版文本样式</a:t>
            </a:r>
          </a:p>
        </p:txBody>
      </p:sp>
      <p:sp>
        <p:nvSpPr>
          <p:cNvPr id="5" name="日期占位符 4"/>
          <p:cNvSpPr>
            <a:spLocks noGrp="1"/>
          </p:cNvSpPr>
          <p:nvPr>
            <p:ph type="dt" sz="half" idx="10"/>
          </p:nvPr>
        </p:nvSpPr>
        <p:spPr/>
        <p:txBody>
          <a:bodyPr/>
          <a:lstStyle/>
          <a:p>
            <a:fld id="{D997B5FA-0921-464F-AAE1-844C04324D75}" type="datetimeFigureOut">
              <a:rPr lang="zh-CN" altLang="en-US" smtClean="0"/>
              <a:t>2025/10/30</a:t>
            </a:fld>
            <a:endParaRPr lang="zh-CN" altLang="en-US"/>
          </a:p>
        </p:txBody>
      </p:sp>
      <p:sp>
        <p:nvSpPr>
          <p:cNvPr id="6" name="页脚占位符 5"/>
          <p:cNvSpPr>
            <a:spLocks noGrp="1"/>
          </p:cNvSpPr>
          <p:nvPr>
            <p:ph type="ftr" sz="quarter" idx="11"/>
          </p:nvPr>
        </p:nvSpPr>
        <p:spPr/>
        <p:txBody>
          <a:bodyPr/>
          <a:lstStyle/>
          <a:p>
            <a:endParaRPr lang="zh-CN" altLang="en-US"/>
          </a:p>
        </p:txBody>
      </p:sp>
      <p:sp>
        <p:nvSpPr>
          <p:cNvPr id="7" name="灯片编号占位符 6"/>
          <p:cNvSpPr>
            <a:spLocks noGrp="1"/>
          </p:cNvSpPr>
          <p:nvPr>
            <p:ph type="sldNum" sz="quarter" idx="12"/>
          </p:nvPr>
        </p:nvSpPr>
        <p:spPr/>
        <p:txBody>
          <a:bodyPr/>
          <a:lstStyle/>
          <a:p>
            <a:fld id="{565CE74E-AB26-4998-AD42-012C4C1AD076}" type="slidenum">
              <a:rPr lang="zh-CN" altLang="en-US" smtClean="0"/>
              <a:t>‹#›</a:t>
            </a:fld>
            <a:endParaRPr lang="zh-CN" alt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p:nvPr>
        </p:nvSpPr>
        <p:spPr>
          <a:xfrm>
            <a:off x="839788" y="457200"/>
            <a:ext cx="3932237" cy="1600200"/>
          </a:xfrm>
        </p:spPr>
        <p:txBody>
          <a:bodyPr anchor="b"/>
          <a:lstStyle>
            <a:lvl1pPr>
              <a:defRPr sz="3200"/>
            </a:lvl1pPr>
          </a:lstStyle>
          <a:p>
            <a:r>
              <a:rPr lang="zh-CN" altLang="en-US"/>
              <a:t>单击此处编辑母版标题样式</a:t>
            </a:r>
          </a:p>
        </p:txBody>
      </p:sp>
      <p:sp>
        <p:nvSpPr>
          <p:cNvPr id="3" name="图片占位符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zh-CN" altLang="en-US"/>
          </a:p>
        </p:txBody>
      </p:sp>
      <p:sp>
        <p:nvSpPr>
          <p:cNvPr id="4" name="文本占位符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单击此处编辑母版文本样式</a:t>
            </a:r>
          </a:p>
        </p:txBody>
      </p:sp>
      <p:sp>
        <p:nvSpPr>
          <p:cNvPr id="5" name="日期占位符 4"/>
          <p:cNvSpPr>
            <a:spLocks noGrp="1"/>
          </p:cNvSpPr>
          <p:nvPr>
            <p:ph type="dt" sz="half" idx="10"/>
          </p:nvPr>
        </p:nvSpPr>
        <p:spPr/>
        <p:txBody>
          <a:bodyPr/>
          <a:lstStyle/>
          <a:p>
            <a:fld id="{D997B5FA-0921-464F-AAE1-844C04324D75}" type="datetimeFigureOut">
              <a:rPr lang="zh-CN" altLang="en-US" smtClean="0"/>
              <a:t>2025/10/30</a:t>
            </a:fld>
            <a:endParaRPr lang="zh-CN" altLang="en-US"/>
          </a:p>
        </p:txBody>
      </p:sp>
      <p:sp>
        <p:nvSpPr>
          <p:cNvPr id="6" name="页脚占位符 5"/>
          <p:cNvSpPr>
            <a:spLocks noGrp="1"/>
          </p:cNvSpPr>
          <p:nvPr>
            <p:ph type="ftr" sz="quarter" idx="11"/>
          </p:nvPr>
        </p:nvSpPr>
        <p:spPr/>
        <p:txBody>
          <a:bodyPr/>
          <a:lstStyle/>
          <a:p>
            <a:endParaRPr lang="zh-CN" altLang="en-US"/>
          </a:p>
        </p:txBody>
      </p:sp>
      <p:sp>
        <p:nvSpPr>
          <p:cNvPr id="7" name="灯片编号占位符 6"/>
          <p:cNvSpPr>
            <a:spLocks noGrp="1"/>
          </p:cNvSpPr>
          <p:nvPr>
            <p:ph type="sldNum" sz="quarter" idx="12"/>
          </p:nvPr>
        </p:nvSpPr>
        <p:spPr/>
        <p:txBody>
          <a:bodyPr/>
          <a:lstStyle/>
          <a:p>
            <a:fld id="{565CE74E-AB26-4998-AD42-012C4C1AD076}" type="slidenum">
              <a:rPr lang="zh-CN" altLang="en-US" smtClean="0"/>
              <a:t>‹#›</a:t>
            </a:fld>
            <a:endParaRPr lang="zh-CN" alt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竖排文字占位符 2"/>
          <p:cNvSpPr>
            <a:spLocks noGrp="1"/>
          </p:cNvSpPr>
          <p:nvPr>
            <p:ph type="body" orient="vert" idx="1"/>
          </p:nvPr>
        </p:nvSpPr>
        <p:spPr/>
        <p:txBody>
          <a:bodyPr vert="eaVert"/>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日期占位符 3"/>
          <p:cNvSpPr>
            <a:spLocks noGrp="1"/>
          </p:cNvSpPr>
          <p:nvPr>
            <p:ph type="dt" sz="half" idx="10"/>
          </p:nvPr>
        </p:nvSpPr>
        <p:spPr/>
        <p:txBody>
          <a:bodyPr/>
          <a:lstStyle/>
          <a:p>
            <a:fld id="{D997B5FA-0921-464F-AAE1-844C04324D75}" type="datetimeFigureOut">
              <a:rPr lang="zh-CN" altLang="en-US" smtClean="0"/>
              <a:t>2025/10/30</a:t>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565CE74E-AB26-4998-AD42-012C4C1AD076}" type="slidenum">
              <a:rPr lang="zh-CN" altLang="en-US" smtClean="0"/>
              <a:t>‹#›</a:t>
            </a:fld>
            <a:endParaRPr lang="zh-CN" alt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垂直排列标题与&#10;文本">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8724900" y="365125"/>
            <a:ext cx="2628900" cy="5811838"/>
          </a:xfrm>
        </p:spPr>
        <p:txBody>
          <a:bodyPr vert="eaVert"/>
          <a:lstStyle/>
          <a:p>
            <a:r>
              <a:rPr lang="zh-CN" altLang="en-US"/>
              <a:t>单击此处编辑母版标题样式</a:t>
            </a:r>
          </a:p>
        </p:txBody>
      </p:sp>
      <p:sp>
        <p:nvSpPr>
          <p:cNvPr id="3" name="竖排文字占位符 2"/>
          <p:cNvSpPr>
            <a:spLocks noGrp="1"/>
          </p:cNvSpPr>
          <p:nvPr>
            <p:ph type="body" orient="vert" idx="1"/>
          </p:nvPr>
        </p:nvSpPr>
        <p:spPr>
          <a:xfrm>
            <a:off x="838200" y="365125"/>
            <a:ext cx="7734300" cy="5811838"/>
          </a:xfrm>
        </p:spPr>
        <p:txBody>
          <a:bodyPr vert="eaVert"/>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日期占位符 3"/>
          <p:cNvSpPr>
            <a:spLocks noGrp="1"/>
          </p:cNvSpPr>
          <p:nvPr>
            <p:ph type="dt" sz="half" idx="10"/>
          </p:nvPr>
        </p:nvSpPr>
        <p:spPr/>
        <p:txBody>
          <a:bodyPr/>
          <a:lstStyle/>
          <a:p>
            <a:fld id="{D997B5FA-0921-464F-AAE1-844C04324D75}" type="datetimeFigureOut">
              <a:rPr lang="zh-CN" altLang="en-US" smtClean="0"/>
              <a:t>2025/10/30</a:t>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565CE74E-AB26-4998-AD42-012C4C1AD076}" type="slidenum">
              <a:rPr lang="zh-CN" altLang="en-US" smtClean="0"/>
              <a:t>‹#›</a:t>
            </a:fld>
            <a:endParaRPr lang="zh-CN" alt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标题占位符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zh-CN" altLang="en-US"/>
              <a:t>单击此处编辑母版标题样式</a:t>
            </a:r>
          </a:p>
        </p:txBody>
      </p:sp>
      <p:sp>
        <p:nvSpPr>
          <p:cNvPr id="3" name="文本占位符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日期占位符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D997B5FA-0921-464F-AAE1-844C04324D75}" type="datetimeFigureOut">
              <a:rPr lang="zh-CN" altLang="en-US" smtClean="0"/>
              <a:t>2025/10/30</a:t>
            </a:fld>
            <a:endParaRPr lang="zh-CN" altLang="en-US"/>
          </a:p>
        </p:txBody>
      </p:sp>
      <p:sp>
        <p:nvSpPr>
          <p:cNvPr id="5" name="页脚占位符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zh-CN" altLang="en-US"/>
          </a:p>
        </p:txBody>
      </p:sp>
      <p:sp>
        <p:nvSpPr>
          <p:cNvPr id="6" name="灯片编号占位符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565CE74E-AB26-4998-AD42-012C4C1AD076}" type="slidenum">
              <a:rPr lang="zh-CN" altLang="en-US" smtClean="0"/>
              <a:t>‹#›</a:t>
            </a:fld>
            <a:endParaRPr lang="zh-CN" alt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slideLayout" Target="../slideLayouts/slideLayout1.xml"/><Relationship Id="rId1" Type="http://schemas.openxmlformats.org/officeDocument/2006/relationships/tags" Target="../tags/tag1.xml"/></Relationships>
</file>

<file path=ppt/slides/_rels/slide3.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tags" Target="../tags/tag2.xml"/></Relationships>
</file>

<file path=ppt/slides/_rels/slide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tags" Target="../tags/tag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88" name="组合 87"/>
          <p:cNvGrpSpPr/>
          <p:nvPr/>
        </p:nvGrpSpPr>
        <p:grpSpPr>
          <a:xfrm>
            <a:off x="-1726565" y="-553085"/>
            <a:ext cx="15647670" cy="7966075"/>
            <a:chOff x="-2719" y="-871"/>
            <a:chExt cx="24642" cy="12545"/>
          </a:xfrm>
        </p:grpSpPr>
        <p:grpSp>
          <p:nvGrpSpPr>
            <p:cNvPr id="17" name="组合 16"/>
            <p:cNvGrpSpPr/>
            <p:nvPr/>
          </p:nvGrpSpPr>
          <p:grpSpPr>
            <a:xfrm>
              <a:off x="16465" y="4210"/>
              <a:ext cx="5458" cy="7464"/>
              <a:chOff x="16465" y="4210"/>
              <a:chExt cx="5458" cy="7464"/>
            </a:xfrm>
          </p:grpSpPr>
          <p:sp>
            <p:nvSpPr>
              <p:cNvPr id="6" name="任意多边形 5"/>
              <p:cNvSpPr/>
              <p:nvPr/>
            </p:nvSpPr>
            <p:spPr>
              <a:xfrm rot="2700000">
                <a:off x="16627" y="9964"/>
                <a:ext cx="1711" cy="1711"/>
              </a:xfrm>
              <a:custGeom>
                <a:avLst/>
                <a:gdLst>
                  <a:gd name="adj" fmla="val 16667"/>
                  <a:gd name="a" fmla="pin 0 adj 50000"/>
                  <a:gd name="x1" fmla="*/ ss a 100000"/>
                  <a:gd name="x2" fmla="+- r 0 x1"/>
                  <a:gd name="y2" fmla="+- b 0 x1"/>
                  <a:gd name="il" fmla="*/ x1 29289 100000"/>
                  <a:gd name="ir" fmla="+- r 0 il"/>
                  <a:gd name="ib" fmla="+- b 0 il"/>
                </a:gdLst>
                <a:ahLst/>
                <a:cxnLst>
                  <a:cxn ang="3">
                    <a:pos x="hc" y="t"/>
                  </a:cxn>
                  <a:cxn ang="cd2">
                    <a:pos x="l" y="vc"/>
                  </a:cxn>
                  <a:cxn ang="cd4">
                    <a:pos x="hc" y="b"/>
                  </a:cxn>
                  <a:cxn ang="0">
                    <a:pos x="r" y="vc"/>
                  </a:cxn>
                </a:cxnLst>
                <a:rect l="l" t="t" r="r" b="b"/>
                <a:pathLst>
                  <a:path w="1711" h="1711">
                    <a:moveTo>
                      <a:pt x="326" y="0"/>
                    </a:moveTo>
                    <a:lnTo>
                      <a:pt x="1630" y="0"/>
                    </a:lnTo>
                    <a:cubicBezTo>
                      <a:pt x="1655" y="0"/>
                      <a:pt x="1680" y="3"/>
                      <a:pt x="1704" y="8"/>
                    </a:cubicBezTo>
                    <a:lnTo>
                      <a:pt x="1711" y="10"/>
                    </a:lnTo>
                    <a:lnTo>
                      <a:pt x="10" y="1711"/>
                    </a:lnTo>
                    <a:lnTo>
                      <a:pt x="8" y="1704"/>
                    </a:lnTo>
                    <a:cubicBezTo>
                      <a:pt x="3" y="1680"/>
                      <a:pt x="0" y="1655"/>
                      <a:pt x="0" y="1630"/>
                    </a:cubicBezTo>
                    <a:lnTo>
                      <a:pt x="0" y="326"/>
                    </a:lnTo>
                    <a:cubicBezTo>
                      <a:pt x="0" y="146"/>
                      <a:pt x="146" y="0"/>
                      <a:pt x="326" y="0"/>
                    </a:cubicBezTo>
                    <a:close/>
                  </a:path>
                </a:pathLst>
              </a:custGeom>
              <a:solidFill>
                <a:srgbClr val="6D84A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a:p>
            </p:txBody>
          </p:sp>
          <p:sp>
            <p:nvSpPr>
              <p:cNvPr id="16" name="任意多边形 15"/>
              <p:cNvSpPr/>
              <p:nvPr/>
            </p:nvSpPr>
            <p:spPr>
              <a:xfrm rot="18900000">
                <a:off x="16465" y="4210"/>
                <a:ext cx="5459" cy="5459"/>
              </a:xfrm>
              <a:custGeom>
                <a:avLst/>
                <a:gdLst>
                  <a:gd name="adj" fmla="val 16667"/>
                  <a:gd name="a" fmla="pin 0 adj 50000"/>
                  <a:gd name="x1" fmla="*/ ss a 100000"/>
                  <a:gd name="x2" fmla="+- r 0 x1"/>
                  <a:gd name="y2" fmla="+- b 0 x1"/>
                  <a:gd name="il" fmla="*/ x1 29289 100000"/>
                  <a:gd name="ir" fmla="+- r 0 il"/>
                  <a:gd name="ib" fmla="+- b 0 il"/>
                </a:gdLst>
                <a:ahLst/>
                <a:cxnLst>
                  <a:cxn ang="3">
                    <a:pos x="hc" y="t"/>
                  </a:cxn>
                  <a:cxn ang="cd2">
                    <a:pos x="l" y="vc"/>
                  </a:cxn>
                  <a:cxn ang="cd4">
                    <a:pos x="hc" y="b"/>
                  </a:cxn>
                  <a:cxn ang="0">
                    <a:pos x="r" y="vc"/>
                  </a:cxn>
                </a:cxnLst>
                <a:rect l="l" t="t" r="r" b="b"/>
                <a:pathLst>
                  <a:path w="1711" h="1711">
                    <a:moveTo>
                      <a:pt x="326" y="0"/>
                    </a:moveTo>
                    <a:lnTo>
                      <a:pt x="1630" y="0"/>
                    </a:lnTo>
                    <a:cubicBezTo>
                      <a:pt x="1655" y="0"/>
                      <a:pt x="1680" y="3"/>
                      <a:pt x="1704" y="8"/>
                    </a:cubicBezTo>
                    <a:lnTo>
                      <a:pt x="1711" y="10"/>
                    </a:lnTo>
                    <a:lnTo>
                      <a:pt x="10" y="1711"/>
                    </a:lnTo>
                    <a:lnTo>
                      <a:pt x="8" y="1704"/>
                    </a:lnTo>
                    <a:cubicBezTo>
                      <a:pt x="3" y="1680"/>
                      <a:pt x="0" y="1655"/>
                      <a:pt x="0" y="1630"/>
                    </a:cubicBezTo>
                    <a:lnTo>
                      <a:pt x="0" y="326"/>
                    </a:lnTo>
                    <a:cubicBezTo>
                      <a:pt x="0" y="146"/>
                      <a:pt x="146" y="0"/>
                      <a:pt x="326" y="0"/>
                    </a:cubicBezTo>
                    <a:close/>
                  </a:path>
                </a:pathLst>
              </a:custGeom>
              <a:solidFill>
                <a:srgbClr val="1C3867"/>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a:p>
            </p:txBody>
          </p:sp>
        </p:grpSp>
        <p:grpSp>
          <p:nvGrpSpPr>
            <p:cNvPr id="47" name="组合 46"/>
            <p:cNvGrpSpPr/>
            <p:nvPr/>
          </p:nvGrpSpPr>
          <p:grpSpPr>
            <a:xfrm>
              <a:off x="419" y="9302"/>
              <a:ext cx="434" cy="1065"/>
              <a:chOff x="537" y="8479"/>
              <a:chExt cx="434" cy="1065"/>
            </a:xfrm>
          </p:grpSpPr>
          <p:grpSp>
            <p:nvGrpSpPr>
              <p:cNvPr id="26" name="组合 25"/>
              <p:cNvGrpSpPr/>
              <p:nvPr/>
            </p:nvGrpSpPr>
            <p:grpSpPr>
              <a:xfrm>
                <a:off x="537" y="8479"/>
                <a:ext cx="434" cy="84"/>
                <a:chOff x="537" y="8479"/>
                <a:chExt cx="434" cy="84"/>
              </a:xfrm>
            </p:grpSpPr>
            <p:sp>
              <p:nvSpPr>
                <p:cNvPr id="22" name="椭圆 21"/>
                <p:cNvSpPr/>
                <p:nvPr/>
              </p:nvSpPr>
              <p:spPr>
                <a:xfrm>
                  <a:off x="537" y="8479"/>
                  <a:ext cx="85" cy="85"/>
                </a:xfrm>
                <a:prstGeom prst="ellipse">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3" name="椭圆 22"/>
                <p:cNvSpPr/>
                <p:nvPr/>
              </p:nvSpPr>
              <p:spPr>
                <a:xfrm>
                  <a:off x="705" y="8479"/>
                  <a:ext cx="85" cy="85"/>
                </a:xfrm>
                <a:prstGeom prst="ellipse">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 name="椭圆 24"/>
                <p:cNvSpPr/>
                <p:nvPr/>
              </p:nvSpPr>
              <p:spPr>
                <a:xfrm>
                  <a:off x="887" y="8479"/>
                  <a:ext cx="85" cy="85"/>
                </a:xfrm>
                <a:prstGeom prst="ellipse">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27" name="组合 26"/>
              <p:cNvGrpSpPr/>
              <p:nvPr/>
            </p:nvGrpSpPr>
            <p:grpSpPr>
              <a:xfrm>
                <a:off x="537" y="8672"/>
                <a:ext cx="434" cy="84"/>
                <a:chOff x="537" y="8479"/>
                <a:chExt cx="434" cy="84"/>
              </a:xfrm>
            </p:grpSpPr>
            <p:sp>
              <p:nvSpPr>
                <p:cNvPr id="28" name="椭圆 27"/>
                <p:cNvSpPr/>
                <p:nvPr/>
              </p:nvSpPr>
              <p:spPr>
                <a:xfrm>
                  <a:off x="537" y="8479"/>
                  <a:ext cx="85" cy="85"/>
                </a:xfrm>
                <a:prstGeom prst="ellipse">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9" name="椭圆 28"/>
                <p:cNvSpPr/>
                <p:nvPr/>
              </p:nvSpPr>
              <p:spPr>
                <a:xfrm>
                  <a:off x="705" y="8479"/>
                  <a:ext cx="85" cy="85"/>
                </a:xfrm>
                <a:prstGeom prst="ellipse">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0" name="椭圆 29"/>
                <p:cNvSpPr/>
                <p:nvPr/>
              </p:nvSpPr>
              <p:spPr>
                <a:xfrm>
                  <a:off x="887" y="8479"/>
                  <a:ext cx="85" cy="85"/>
                </a:xfrm>
                <a:prstGeom prst="ellipse">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31" name="组合 30"/>
              <p:cNvGrpSpPr/>
              <p:nvPr/>
            </p:nvGrpSpPr>
            <p:grpSpPr>
              <a:xfrm>
                <a:off x="537" y="8873"/>
                <a:ext cx="434" cy="84"/>
                <a:chOff x="537" y="8479"/>
                <a:chExt cx="434" cy="84"/>
              </a:xfrm>
            </p:grpSpPr>
            <p:sp>
              <p:nvSpPr>
                <p:cNvPr id="32" name="椭圆 31"/>
                <p:cNvSpPr/>
                <p:nvPr/>
              </p:nvSpPr>
              <p:spPr>
                <a:xfrm>
                  <a:off x="537" y="8479"/>
                  <a:ext cx="85" cy="85"/>
                </a:xfrm>
                <a:prstGeom prst="ellipse">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3" name="椭圆 32"/>
                <p:cNvSpPr/>
                <p:nvPr/>
              </p:nvSpPr>
              <p:spPr>
                <a:xfrm>
                  <a:off x="705" y="8479"/>
                  <a:ext cx="85" cy="85"/>
                </a:xfrm>
                <a:prstGeom prst="ellipse">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4" name="椭圆 33"/>
                <p:cNvSpPr/>
                <p:nvPr/>
              </p:nvSpPr>
              <p:spPr>
                <a:xfrm>
                  <a:off x="887" y="8479"/>
                  <a:ext cx="85" cy="85"/>
                </a:xfrm>
                <a:prstGeom prst="ellipse">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35" name="组合 34"/>
              <p:cNvGrpSpPr/>
              <p:nvPr/>
            </p:nvGrpSpPr>
            <p:grpSpPr>
              <a:xfrm>
                <a:off x="537" y="9066"/>
                <a:ext cx="434" cy="84"/>
                <a:chOff x="537" y="8479"/>
                <a:chExt cx="434" cy="84"/>
              </a:xfrm>
            </p:grpSpPr>
            <p:sp>
              <p:nvSpPr>
                <p:cNvPr id="36" name="椭圆 35"/>
                <p:cNvSpPr/>
                <p:nvPr/>
              </p:nvSpPr>
              <p:spPr>
                <a:xfrm>
                  <a:off x="537" y="8479"/>
                  <a:ext cx="85" cy="85"/>
                </a:xfrm>
                <a:prstGeom prst="ellipse">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7" name="椭圆 36"/>
                <p:cNvSpPr/>
                <p:nvPr/>
              </p:nvSpPr>
              <p:spPr>
                <a:xfrm>
                  <a:off x="705" y="8479"/>
                  <a:ext cx="85" cy="85"/>
                </a:xfrm>
                <a:prstGeom prst="ellipse">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8" name="椭圆 37"/>
                <p:cNvSpPr/>
                <p:nvPr/>
              </p:nvSpPr>
              <p:spPr>
                <a:xfrm>
                  <a:off x="887" y="8479"/>
                  <a:ext cx="85" cy="85"/>
                </a:xfrm>
                <a:prstGeom prst="ellipse">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39" name="组合 38"/>
              <p:cNvGrpSpPr/>
              <p:nvPr/>
            </p:nvGrpSpPr>
            <p:grpSpPr>
              <a:xfrm>
                <a:off x="537" y="9267"/>
                <a:ext cx="434" cy="84"/>
                <a:chOff x="537" y="8479"/>
                <a:chExt cx="434" cy="84"/>
              </a:xfrm>
            </p:grpSpPr>
            <p:sp>
              <p:nvSpPr>
                <p:cNvPr id="40" name="椭圆 39"/>
                <p:cNvSpPr/>
                <p:nvPr/>
              </p:nvSpPr>
              <p:spPr>
                <a:xfrm>
                  <a:off x="537" y="8479"/>
                  <a:ext cx="85" cy="85"/>
                </a:xfrm>
                <a:prstGeom prst="ellipse">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1" name="椭圆 40"/>
                <p:cNvSpPr/>
                <p:nvPr/>
              </p:nvSpPr>
              <p:spPr>
                <a:xfrm>
                  <a:off x="705" y="8479"/>
                  <a:ext cx="85" cy="85"/>
                </a:xfrm>
                <a:prstGeom prst="ellipse">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2" name="椭圆 41"/>
                <p:cNvSpPr/>
                <p:nvPr/>
              </p:nvSpPr>
              <p:spPr>
                <a:xfrm>
                  <a:off x="887" y="8479"/>
                  <a:ext cx="85" cy="85"/>
                </a:xfrm>
                <a:prstGeom prst="ellipse">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43" name="组合 42"/>
              <p:cNvGrpSpPr/>
              <p:nvPr/>
            </p:nvGrpSpPr>
            <p:grpSpPr>
              <a:xfrm>
                <a:off x="537" y="9460"/>
                <a:ext cx="434" cy="84"/>
                <a:chOff x="537" y="8479"/>
                <a:chExt cx="434" cy="84"/>
              </a:xfrm>
            </p:grpSpPr>
            <p:sp>
              <p:nvSpPr>
                <p:cNvPr id="44" name="椭圆 43"/>
                <p:cNvSpPr/>
                <p:nvPr/>
              </p:nvSpPr>
              <p:spPr>
                <a:xfrm>
                  <a:off x="537" y="8479"/>
                  <a:ext cx="85" cy="85"/>
                </a:xfrm>
                <a:prstGeom prst="ellipse">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5" name="椭圆 44"/>
                <p:cNvSpPr/>
                <p:nvPr/>
              </p:nvSpPr>
              <p:spPr>
                <a:xfrm>
                  <a:off x="705" y="8479"/>
                  <a:ext cx="85" cy="85"/>
                </a:xfrm>
                <a:prstGeom prst="ellipse">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6" name="椭圆 45"/>
                <p:cNvSpPr/>
                <p:nvPr/>
              </p:nvSpPr>
              <p:spPr>
                <a:xfrm>
                  <a:off x="887" y="8479"/>
                  <a:ext cx="85" cy="85"/>
                </a:xfrm>
                <a:prstGeom prst="ellipse">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grpSp>
          <p:nvGrpSpPr>
            <p:cNvPr id="48" name="组合 47"/>
            <p:cNvGrpSpPr/>
            <p:nvPr/>
          </p:nvGrpSpPr>
          <p:grpSpPr>
            <a:xfrm>
              <a:off x="18348" y="434"/>
              <a:ext cx="434" cy="1065"/>
              <a:chOff x="537" y="8479"/>
              <a:chExt cx="434" cy="1065"/>
            </a:xfrm>
          </p:grpSpPr>
          <p:grpSp>
            <p:nvGrpSpPr>
              <p:cNvPr id="49" name="组合 48"/>
              <p:cNvGrpSpPr/>
              <p:nvPr/>
            </p:nvGrpSpPr>
            <p:grpSpPr>
              <a:xfrm>
                <a:off x="537" y="8479"/>
                <a:ext cx="434" cy="84"/>
                <a:chOff x="537" y="8479"/>
                <a:chExt cx="434" cy="84"/>
              </a:xfrm>
            </p:grpSpPr>
            <p:sp>
              <p:nvSpPr>
                <p:cNvPr id="50" name="椭圆 49"/>
                <p:cNvSpPr/>
                <p:nvPr/>
              </p:nvSpPr>
              <p:spPr>
                <a:xfrm>
                  <a:off x="537" y="8479"/>
                  <a:ext cx="85" cy="85"/>
                </a:xfrm>
                <a:prstGeom prst="ellipse">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1" name="椭圆 50"/>
                <p:cNvSpPr/>
                <p:nvPr/>
              </p:nvSpPr>
              <p:spPr>
                <a:xfrm>
                  <a:off x="705" y="8479"/>
                  <a:ext cx="85" cy="85"/>
                </a:xfrm>
                <a:prstGeom prst="ellipse">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2" name="椭圆 51"/>
                <p:cNvSpPr/>
                <p:nvPr/>
              </p:nvSpPr>
              <p:spPr>
                <a:xfrm>
                  <a:off x="887" y="8479"/>
                  <a:ext cx="85" cy="85"/>
                </a:xfrm>
                <a:prstGeom prst="ellipse">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53" name="组合 52"/>
              <p:cNvGrpSpPr/>
              <p:nvPr/>
            </p:nvGrpSpPr>
            <p:grpSpPr>
              <a:xfrm>
                <a:off x="537" y="8672"/>
                <a:ext cx="434" cy="84"/>
                <a:chOff x="537" y="8479"/>
                <a:chExt cx="434" cy="84"/>
              </a:xfrm>
            </p:grpSpPr>
            <p:sp>
              <p:nvSpPr>
                <p:cNvPr id="54" name="椭圆 53"/>
                <p:cNvSpPr/>
                <p:nvPr/>
              </p:nvSpPr>
              <p:spPr>
                <a:xfrm>
                  <a:off x="537" y="8479"/>
                  <a:ext cx="85" cy="85"/>
                </a:xfrm>
                <a:prstGeom prst="ellipse">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5" name="椭圆 54"/>
                <p:cNvSpPr/>
                <p:nvPr/>
              </p:nvSpPr>
              <p:spPr>
                <a:xfrm>
                  <a:off x="705" y="8479"/>
                  <a:ext cx="85" cy="85"/>
                </a:xfrm>
                <a:prstGeom prst="ellipse">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6" name="椭圆 55"/>
                <p:cNvSpPr/>
                <p:nvPr/>
              </p:nvSpPr>
              <p:spPr>
                <a:xfrm>
                  <a:off x="887" y="8479"/>
                  <a:ext cx="85" cy="85"/>
                </a:xfrm>
                <a:prstGeom prst="ellipse">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57" name="组合 56"/>
              <p:cNvGrpSpPr/>
              <p:nvPr/>
            </p:nvGrpSpPr>
            <p:grpSpPr>
              <a:xfrm>
                <a:off x="537" y="8873"/>
                <a:ext cx="434" cy="84"/>
                <a:chOff x="537" y="8479"/>
                <a:chExt cx="434" cy="84"/>
              </a:xfrm>
            </p:grpSpPr>
            <p:sp>
              <p:nvSpPr>
                <p:cNvPr id="58" name="椭圆 57"/>
                <p:cNvSpPr/>
                <p:nvPr/>
              </p:nvSpPr>
              <p:spPr>
                <a:xfrm>
                  <a:off x="537" y="8479"/>
                  <a:ext cx="85" cy="85"/>
                </a:xfrm>
                <a:prstGeom prst="ellipse">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9" name="椭圆 58"/>
                <p:cNvSpPr/>
                <p:nvPr/>
              </p:nvSpPr>
              <p:spPr>
                <a:xfrm>
                  <a:off x="705" y="8479"/>
                  <a:ext cx="85" cy="85"/>
                </a:xfrm>
                <a:prstGeom prst="ellipse">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0" name="椭圆 59"/>
                <p:cNvSpPr/>
                <p:nvPr/>
              </p:nvSpPr>
              <p:spPr>
                <a:xfrm>
                  <a:off x="887" y="8479"/>
                  <a:ext cx="85" cy="85"/>
                </a:xfrm>
                <a:prstGeom prst="ellipse">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61" name="组合 60"/>
              <p:cNvGrpSpPr/>
              <p:nvPr/>
            </p:nvGrpSpPr>
            <p:grpSpPr>
              <a:xfrm>
                <a:off x="537" y="9066"/>
                <a:ext cx="434" cy="84"/>
                <a:chOff x="537" y="8479"/>
                <a:chExt cx="434" cy="84"/>
              </a:xfrm>
            </p:grpSpPr>
            <p:sp>
              <p:nvSpPr>
                <p:cNvPr id="62" name="椭圆 61"/>
                <p:cNvSpPr/>
                <p:nvPr/>
              </p:nvSpPr>
              <p:spPr>
                <a:xfrm>
                  <a:off x="537" y="8479"/>
                  <a:ext cx="85" cy="85"/>
                </a:xfrm>
                <a:prstGeom prst="ellipse">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3" name="椭圆 62"/>
                <p:cNvSpPr/>
                <p:nvPr/>
              </p:nvSpPr>
              <p:spPr>
                <a:xfrm>
                  <a:off x="705" y="8479"/>
                  <a:ext cx="85" cy="85"/>
                </a:xfrm>
                <a:prstGeom prst="ellipse">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4" name="椭圆 63"/>
                <p:cNvSpPr/>
                <p:nvPr/>
              </p:nvSpPr>
              <p:spPr>
                <a:xfrm>
                  <a:off x="887" y="8479"/>
                  <a:ext cx="85" cy="85"/>
                </a:xfrm>
                <a:prstGeom prst="ellipse">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65" name="组合 64"/>
              <p:cNvGrpSpPr/>
              <p:nvPr/>
            </p:nvGrpSpPr>
            <p:grpSpPr>
              <a:xfrm>
                <a:off x="537" y="9267"/>
                <a:ext cx="434" cy="84"/>
                <a:chOff x="537" y="8479"/>
                <a:chExt cx="434" cy="84"/>
              </a:xfrm>
            </p:grpSpPr>
            <p:sp>
              <p:nvSpPr>
                <p:cNvPr id="66" name="椭圆 65"/>
                <p:cNvSpPr/>
                <p:nvPr/>
              </p:nvSpPr>
              <p:spPr>
                <a:xfrm>
                  <a:off x="537" y="8479"/>
                  <a:ext cx="85" cy="85"/>
                </a:xfrm>
                <a:prstGeom prst="ellipse">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7" name="椭圆 66"/>
                <p:cNvSpPr/>
                <p:nvPr/>
              </p:nvSpPr>
              <p:spPr>
                <a:xfrm>
                  <a:off x="705" y="8479"/>
                  <a:ext cx="85" cy="85"/>
                </a:xfrm>
                <a:prstGeom prst="ellipse">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8" name="椭圆 67"/>
                <p:cNvSpPr/>
                <p:nvPr/>
              </p:nvSpPr>
              <p:spPr>
                <a:xfrm>
                  <a:off x="887" y="8479"/>
                  <a:ext cx="85" cy="85"/>
                </a:xfrm>
                <a:prstGeom prst="ellipse">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69" name="组合 68"/>
              <p:cNvGrpSpPr/>
              <p:nvPr/>
            </p:nvGrpSpPr>
            <p:grpSpPr>
              <a:xfrm>
                <a:off x="537" y="9460"/>
                <a:ext cx="434" cy="84"/>
                <a:chOff x="537" y="8479"/>
                <a:chExt cx="434" cy="84"/>
              </a:xfrm>
            </p:grpSpPr>
            <p:sp>
              <p:nvSpPr>
                <p:cNvPr id="70" name="椭圆 69"/>
                <p:cNvSpPr/>
                <p:nvPr/>
              </p:nvSpPr>
              <p:spPr>
                <a:xfrm>
                  <a:off x="537" y="8479"/>
                  <a:ext cx="85" cy="85"/>
                </a:xfrm>
                <a:prstGeom prst="ellipse">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1" name="椭圆 70"/>
                <p:cNvSpPr/>
                <p:nvPr/>
              </p:nvSpPr>
              <p:spPr>
                <a:xfrm>
                  <a:off x="705" y="8479"/>
                  <a:ext cx="85" cy="85"/>
                </a:xfrm>
                <a:prstGeom prst="ellipse">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2" name="椭圆 71"/>
                <p:cNvSpPr/>
                <p:nvPr/>
              </p:nvSpPr>
              <p:spPr>
                <a:xfrm>
                  <a:off x="887" y="8479"/>
                  <a:ext cx="85" cy="85"/>
                </a:xfrm>
                <a:prstGeom prst="ellipse">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grpSp>
          <p:nvGrpSpPr>
            <p:cNvPr id="76" name="组合 75"/>
            <p:cNvGrpSpPr/>
            <p:nvPr/>
          </p:nvGrpSpPr>
          <p:grpSpPr>
            <a:xfrm flipH="1" flipV="1">
              <a:off x="-2719" y="-871"/>
              <a:ext cx="5458" cy="7464"/>
              <a:chOff x="16465" y="4210"/>
              <a:chExt cx="5458" cy="7464"/>
            </a:xfrm>
          </p:grpSpPr>
          <p:sp>
            <p:nvSpPr>
              <p:cNvPr id="77" name="任意多边形 76"/>
              <p:cNvSpPr/>
              <p:nvPr/>
            </p:nvSpPr>
            <p:spPr>
              <a:xfrm rot="2700000">
                <a:off x="16627" y="9964"/>
                <a:ext cx="1711" cy="1711"/>
              </a:xfrm>
              <a:custGeom>
                <a:avLst/>
                <a:gdLst>
                  <a:gd name="adj" fmla="val 16667"/>
                  <a:gd name="a" fmla="pin 0 adj 50000"/>
                  <a:gd name="x1" fmla="*/ ss a 100000"/>
                  <a:gd name="x2" fmla="+- r 0 x1"/>
                  <a:gd name="y2" fmla="+- b 0 x1"/>
                  <a:gd name="il" fmla="*/ x1 29289 100000"/>
                  <a:gd name="ir" fmla="+- r 0 il"/>
                  <a:gd name="ib" fmla="+- b 0 il"/>
                </a:gdLst>
                <a:ahLst/>
                <a:cxnLst>
                  <a:cxn ang="3">
                    <a:pos x="hc" y="t"/>
                  </a:cxn>
                  <a:cxn ang="cd2">
                    <a:pos x="l" y="vc"/>
                  </a:cxn>
                  <a:cxn ang="cd4">
                    <a:pos x="hc" y="b"/>
                  </a:cxn>
                  <a:cxn ang="0">
                    <a:pos x="r" y="vc"/>
                  </a:cxn>
                </a:cxnLst>
                <a:rect l="l" t="t" r="r" b="b"/>
                <a:pathLst>
                  <a:path w="1711" h="1711">
                    <a:moveTo>
                      <a:pt x="326" y="0"/>
                    </a:moveTo>
                    <a:lnTo>
                      <a:pt x="1630" y="0"/>
                    </a:lnTo>
                    <a:cubicBezTo>
                      <a:pt x="1655" y="0"/>
                      <a:pt x="1680" y="3"/>
                      <a:pt x="1704" y="8"/>
                    </a:cubicBezTo>
                    <a:lnTo>
                      <a:pt x="1711" y="10"/>
                    </a:lnTo>
                    <a:lnTo>
                      <a:pt x="10" y="1711"/>
                    </a:lnTo>
                    <a:lnTo>
                      <a:pt x="8" y="1704"/>
                    </a:lnTo>
                    <a:cubicBezTo>
                      <a:pt x="3" y="1680"/>
                      <a:pt x="0" y="1655"/>
                      <a:pt x="0" y="1630"/>
                    </a:cubicBezTo>
                    <a:lnTo>
                      <a:pt x="0" y="326"/>
                    </a:lnTo>
                    <a:cubicBezTo>
                      <a:pt x="0" y="146"/>
                      <a:pt x="146" y="0"/>
                      <a:pt x="326" y="0"/>
                    </a:cubicBezTo>
                    <a:close/>
                  </a:path>
                </a:pathLst>
              </a:custGeom>
              <a:solidFill>
                <a:srgbClr val="6D84A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a:p>
            </p:txBody>
          </p:sp>
          <p:sp>
            <p:nvSpPr>
              <p:cNvPr id="78" name="任意多边形 77"/>
              <p:cNvSpPr/>
              <p:nvPr/>
            </p:nvSpPr>
            <p:spPr>
              <a:xfrm rot="18900000">
                <a:off x="16465" y="4210"/>
                <a:ext cx="5459" cy="5459"/>
              </a:xfrm>
              <a:custGeom>
                <a:avLst/>
                <a:gdLst>
                  <a:gd name="adj" fmla="val 16667"/>
                  <a:gd name="a" fmla="pin 0 adj 50000"/>
                  <a:gd name="x1" fmla="*/ ss a 100000"/>
                  <a:gd name="x2" fmla="+- r 0 x1"/>
                  <a:gd name="y2" fmla="+- b 0 x1"/>
                  <a:gd name="il" fmla="*/ x1 29289 100000"/>
                  <a:gd name="ir" fmla="+- r 0 il"/>
                  <a:gd name="ib" fmla="+- b 0 il"/>
                </a:gdLst>
                <a:ahLst/>
                <a:cxnLst>
                  <a:cxn ang="3">
                    <a:pos x="hc" y="t"/>
                  </a:cxn>
                  <a:cxn ang="cd2">
                    <a:pos x="l" y="vc"/>
                  </a:cxn>
                  <a:cxn ang="cd4">
                    <a:pos x="hc" y="b"/>
                  </a:cxn>
                  <a:cxn ang="0">
                    <a:pos x="r" y="vc"/>
                  </a:cxn>
                </a:cxnLst>
                <a:rect l="l" t="t" r="r" b="b"/>
                <a:pathLst>
                  <a:path w="1711" h="1711">
                    <a:moveTo>
                      <a:pt x="326" y="0"/>
                    </a:moveTo>
                    <a:lnTo>
                      <a:pt x="1630" y="0"/>
                    </a:lnTo>
                    <a:cubicBezTo>
                      <a:pt x="1655" y="0"/>
                      <a:pt x="1680" y="3"/>
                      <a:pt x="1704" y="8"/>
                    </a:cubicBezTo>
                    <a:lnTo>
                      <a:pt x="1711" y="10"/>
                    </a:lnTo>
                    <a:lnTo>
                      <a:pt x="10" y="1711"/>
                    </a:lnTo>
                    <a:lnTo>
                      <a:pt x="8" y="1704"/>
                    </a:lnTo>
                    <a:cubicBezTo>
                      <a:pt x="3" y="1680"/>
                      <a:pt x="0" y="1655"/>
                      <a:pt x="0" y="1630"/>
                    </a:cubicBezTo>
                    <a:lnTo>
                      <a:pt x="0" y="326"/>
                    </a:lnTo>
                    <a:cubicBezTo>
                      <a:pt x="0" y="146"/>
                      <a:pt x="146" y="0"/>
                      <a:pt x="326" y="0"/>
                    </a:cubicBezTo>
                    <a:close/>
                  </a:path>
                </a:pathLst>
              </a:custGeom>
              <a:solidFill>
                <a:srgbClr val="1C3867"/>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a:p>
            </p:txBody>
          </p:sp>
        </p:grpSp>
      </p:grpSp>
      <p:grpSp>
        <p:nvGrpSpPr>
          <p:cNvPr id="86" name="组合 85"/>
          <p:cNvGrpSpPr/>
          <p:nvPr/>
        </p:nvGrpSpPr>
        <p:grpSpPr>
          <a:xfrm>
            <a:off x="2319020" y="2145030"/>
            <a:ext cx="7554595" cy="1874520"/>
            <a:chOff x="3652" y="3378"/>
            <a:chExt cx="11897" cy="2952"/>
          </a:xfrm>
        </p:grpSpPr>
        <p:sp>
          <p:nvSpPr>
            <p:cNvPr id="79" name="文本框 78"/>
            <p:cNvSpPr txBox="1"/>
            <p:nvPr/>
          </p:nvSpPr>
          <p:spPr>
            <a:xfrm>
              <a:off x="3652" y="3378"/>
              <a:ext cx="11897" cy="1888"/>
            </a:xfrm>
            <a:prstGeom prst="rect">
              <a:avLst/>
            </a:prstGeom>
            <a:noFill/>
          </p:spPr>
          <p:txBody>
            <a:bodyPr wrap="square" rtlCol="0">
              <a:spAutoFit/>
            </a:bodyPr>
            <a:lstStyle/>
            <a:p>
              <a:pPr algn="ctr"/>
              <a:r>
                <a:rPr lang="zh-CN" altLang="en-US" sz="7200" dirty="0">
                  <a:solidFill>
                    <a:srgbClr val="1C3867"/>
                  </a:solidFill>
                  <a:latin typeface="汉仪中黑简" panose="02010600000101010101" charset="-122"/>
                  <a:ea typeface="汉仪中黑简" panose="02010600000101010101" charset="-122"/>
                </a:rPr>
                <a:t>第九组汇报</a:t>
              </a:r>
            </a:p>
          </p:txBody>
        </p:sp>
        <p:sp>
          <p:nvSpPr>
            <p:cNvPr id="80" name="文本框 79"/>
            <p:cNvSpPr txBox="1"/>
            <p:nvPr/>
          </p:nvSpPr>
          <p:spPr>
            <a:xfrm>
              <a:off x="4639" y="5702"/>
              <a:ext cx="9922" cy="628"/>
            </a:xfrm>
            <a:prstGeom prst="rect">
              <a:avLst/>
            </a:prstGeom>
            <a:noFill/>
          </p:spPr>
          <p:txBody>
            <a:bodyPr wrap="square" rtlCol="0">
              <a:spAutoFit/>
            </a:bodyPr>
            <a:lstStyle/>
            <a:p>
              <a:pPr algn="ctr"/>
              <a:r>
                <a:rPr lang="zh-CN" altLang="en-US" sz="2000" dirty="0">
                  <a:solidFill>
                    <a:srgbClr val="1C3867"/>
                  </a:solidFill>
                  <a:latin typeface="汉仪中黑简" panose="02010600000101010101" charset="-122"/>
                  <a:ea typeface="汉仪中黑简" panose="02010600000101010101" charset="-122"/>
                  <a:cs typeface="汉仪中黑简" panose="02010600000101010101" charset="-122"/>
                </a:rPr>
                <a:t>组员：张祖豪、杨嘉皓、杨舒惠、李怡伽</a:t>
              </a:r>
            </a:p>
          </p:txBody>
        </p:sp>
      </p:gr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组合 4"/>
          <p:cNvGrpSpPr/>
          <p:nvPr/>
        </p:nvGrpSpPr>
        <p:grpSpPr>
          <a:xfrm>
            <a:off x="-1004570" y="-331470"/>
            <a:ext cx="14208125" cy="7506970"/>
            <a:chOff x="-1582" y="-522"/>
            <a:chExt cx="22375" cy="11822"/>
          </a:xfrm>
        </p:grpSpPr>
        <p:grpSp>
          <p:nvGrpSpPr>
            <p:cNvPr id="47" name="组合 46"/>
            <p:cNvGrpSpPr/>
            <p:nvPr/>
          </p:nvGrpSpPr>
          <p:grpSpPr>
            <a:xfrm>
              <a:off x="419" y="9302"/>
              <a:ext cx="434" cy="1065"/>
              <a:chOff x="537" y="8479"/>
              <a:chExt cx="434" cy="1065"/>
            </a:xfrm>
          </p:grpSpPr>
          <p:grpSp>
            <p:nvGrpSpPr>
              <p:cNvPr id="26" name="组合 25"/>
              <p:cNvGrpSpPr/>
              <p:nvPr/>
            </p:nvGrpSpPr>
            <p:grpSpPr>
              <a:xfrm>
                <a:off x="537" y="8479"/>
                <a:ext cx="434" cy="84"/>
                <a:chOff x="537" y="8479"/>
                <a:chExt cx="434" cy="84"/>
              </a:xfrm>
            </p:grpSpPr>
            <p:sp>
              <p:nvSpPr>
                <p:cNvPr id="22" name="椭圆 21"/>
                <p:cNvSpPr/>
                <p:nvPr/>
              </p:nvSpPr>
              <p:spPr>
                <a:xfrm>
                  <a:off x="537" y="8479"/>
                  <a:ext cx="85" cy="85"/>
                </a:xfrm>
                <a:prstGeom prst="ellipse">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3" name="椭圆 22"/>
                <p:cNvSpPr/>
                <p:nvPr/>
              </p:nvSpPr>
              <p:spPr>
                <a:xfrm>
                  <a:off x="705" y="8479"/>
                  <a:ext cx="85" cy="85"/>
                </a:xfrm>
                <a:prstGeom prst="ellipse">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 name="椭圆 24"/>
                <p:cNvSpPr/>
                <p:nvPr/>
              </p:nvSpPr>
              <p:spPr>
                <a:xfrm>
                  <a:off x="887" y="8479"/>
                  <a:ext cx="85" cy="85"/>
                </a:xfrm>
                <a:prstGeom prst="ellipse">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27" name="组合 26"/>
              <p:cNvGrpSpPr/>
              <p:nvPr/>
            </p:nvGrpSpPr>
            <p:grpSpPr>
              <a:xfrm>
                <a:off x="537" y="8672"/>
                <a:ext cx="434" cy="84"/>
                <a:chOff x="537" y="8479"/>
                <a:chExt cx="434" cy="84"/>
              </a:xfrm>
            </p:grpSpPr>
            <p:sp>
              <p:nvSpPr>
                <p:cNvPr id="28" name="椭圆 27"/>
                <p:cNvSpPr/>
                <p:nvPr/>
              </p:nvSpPr>
              <p:spPr>
                <a:xfrm>
                  <a:off x="537" y="8479"/>
                  <a:ext cx="85" cy="85"/>
                </a:xfrm>
                <a:prstGeom prst="ellipse">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9" name="椭圆 28"/>
                <p:cNvSpPr/>
                <p:nvPr/>
              </p:nvSpPr>
              <p:spPr>
                <a:xfrm>
                  <a:off x="705" y="8479"/>
                  <a:ext cx="85" cy="85"/>
                </a:xfrm>
                <a:prstGeom prst="ellipse">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0" name="椭圆 29"/>
                <p:cNvSpPr/>
                <p:nvPr/>
              </p:nvSpPr>
              <p:spPr>
                <a:xfrm>
                  <a:off x="887" y="8479"/>
                  <a:ext cx="85" cy="85"/>
                </a:xfrm>
                <a:prstGeom prst="ellipse">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31" name="组合 30"/>
              <p:cNvGrpSpPr/>
              <p:nvPr/>
            </p:nvGrpSpPr>
            <p:grpSpPr>
              <a:xfrm>
                <a:off x="537" y="8873"/>
                <a:ext cx="434" cy="84"/>
                <a:chOff x="537" y="8479"/>
                <a:chExt cx="434" cy="84"/>
              </a:xfrm>
            </p:grpSpPr>
            <p:sp>
              <p:nvSpPr>
                <p:cNvPr id="32" name="椭圆 31"/>
                <p:cNvSpPr/>
                <p:nvPr/>
              </p:nvSpPr>
              <p:spPr>
                <a:xfrm>
                  <a:off x="537" y="8479"/>
                  <a:ext cx="85" cy="85"/>
                </a:xfrm>
                <a:prstGeom prst="ellipse">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3" name="椭圆 32"/>
                <p:cNvSpPr/>
                <p:nvPr/>
              </p:nvSpPr>
              <p:spPr>
                <a:xfrm>
                  <a:off x="705" y="8479"/>
                  <a:ext cx="85" cy="85"/>
                </a:xfrm>
                <a:prstGeom prst="ellipse">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4" name="椭圆 33"/>
                <p:cNvSpPr/>
                <p:nvPr/>
              </p:nvSpPr>
              <p:spPr>
                <a:xfrm>
                  <a:off x="887" y="8479"/>
                  <a:ext cx="85" cy="85"/>
                </a:xfrm>
                <a:prstGeom prst="ellipse">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35" name="组合 34"/>
              <p:cNvGrpSpPr/>
              <p:nvPr/>
            </p:nvGrpSpPr>
            <p:grpSpPr>
              <a:xfrm>
                <a:off x="537" y="9066"/>
                <a:ext cx="434" cy="84"/>
                <a:chOff x="537" y="8479"/>
                <a:chExt cx="434" cy="84"/>
              </a:xfrm>
            </p:grpSpPr>
            <p:sp>
              <p:nvSpPr>
                <p:cNvPr id="36" name="椭圆 35"/>
                <p:cNvSpPr/>
                <p:nvPr/>
              </p:nvSpPr>
              <p:spPr>
                <a:xfrm>
                  <a:off x="537" y="8479"/>
                  <a:ext cx="85" cy="85"/>
                </a:xfrm>
                <a:prstGeom prst="ellipse">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7" name="椭圆 36"/>
                <p:cNvSpPr/>
                <p:nvPr/>
              </p:nvSpPr>
              <p:spPr>
                <a:xfrm>
                  <a:off x="705" y="8479"/>
                  <a:ext cx="85" cy="85"/>
                </a:xfrm>
                <a:prstGeom prst="ellipse">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8" name="椭圆 37"/>
                <p:cNvSpPr/>
                <p:nvPr/>
              </p:nvSpPr>
              <p:spPr>
                <a:xfrm>
                  <a:off x="887" y="8479"/>
                  <a:ext cx="85" cy="85"/>
                </a:xfrm>
                <a:prstGeom prst="ellipse">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39" name="组合 38"/>
              <p:cNvGrpSpPr/>
              <p:nvPr/>
            </p:nvGrpSpPr>
            <p:grpSpPr>
              <a:xfrm>
                <a:off x="537" y="9267"/>
                <a:ext cx="434" cy="84"/>
                <a:chOff x="537" y="8479"/>
                <a:chExt cx="434" cy="84"/>
              </a:xfrm>
            </p:grpSpPr>
            <p:sp>
              <p:nvSpPr>
                <p:cNvPr id="40" name="椭圆 39"/>
                <p:cNvSpPr/>
                <p:nvPr/>
              </p:nvSpPr>
              <p:spPr>
                <a:xfrm>
                  <a:off x="537" y="8479"/>
                  <a:ext cx="85" cy="85"/>
                </a:xfrm>
                <a:prstGeom prst="ellipse">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1" name="椭圆 40"/>
                <p:cNvSpPr/>
                <p:nvPr/>
              </p:nvSpPr>
              <p:spPr>
                <a:xfrm>
                  <a:off x="705" y="8479"/>
                  <a:ext cx="85" cy="85"/>
                </a:xfrm>
                <a:prstGeom prst="ellipse">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2" name="椭圆 41"/>
                <p:cNvSpPr/>
                <p:nvPr/>
              </p:nvSpPr>
              <p:spPr>
                <a:xfrm>
                  <a:off x="887" y="8479"/>
                  <a:ext cx="85" cy="85"/>
                </a:xfrm>
                <a:prstGeom prst="ellipse">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43" name="组合 42"/>
              <p:cNvGrpSpPr/>
              <p:nvPr/>
            </p:nvGrpSpPr>
            <p:grpSpPr>
              <a:xfrm>
                <a:off x="537" y="9460"/>
                <a:ext cx="434" cy="84"/>
                <a:chOff x="537" y="8479"/>
                <a:chExt cx="434" cy="84"/>
              </a:xfrm>
            </p:grpSpPr>
            <p:sp>
              <p:nvSpPr>
                <p:cNvPr id="44" name="椭圆 43"/>
                <p:cNvSpPr/>
                <p:nvPr/>
              </p:nvSpPr>
              <p:spPr>
                <a:xfrm>
                  <a:off x="537" y="8479"/>
                  <a:ext cx="85" cy="85"/>
                </a:xfrm>
                <a:prstGeom prst="ellipse">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5" name="椭圆 44"/>
                <p:cNvSpPr/>
                <p:nvPr/>
              </p:nvSpPr>
              <p:spPr>
                <a:xfrm>
                  <a:off x="705" y="8479"/>
                  <a:ext cx="85" cy="85"/>
                </a:xfrm>
                <a:prstGeom prst="ellipse">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6" name="椭圆 45"/>
                <p:cNvSpPr/>
                <p:nvPr/>
              </p:nvSpPr>
              <p:spPr>
                <a:xfrm>
                  <a:off x="887" y="8479"/>
                  <a:ext cx="85" cy="85"/>
                </a:xfrm>
                <a:prstGeom prst="ellipse">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grpSp>
          <p:nvGrpSpPr>
            <p:cNvPr id="48" name="组合 47"/>
            <p:cNvGrpSpPr/>
            <p:nvPr/>
          </p:nvGrpSpPr>
          <p:grpSpPr>
            <a:xfrm>
              <a:off x="18348" y="434"/>
              <a:ext cx="434" cy="1065"/>
              <a:chOff x="537" y="8479"/>
              <a:chExt cx="434" cy="1065"/>
            </a:xfrm>
          </p:grpSpPr>
          <p:grpSp>
            <p:nvGrpSpPr>
              <p:cNvPr id="49" name="组合 48"/>
              <p:cNvGrpSpPr/>
              <p:nvPr/>
            </p:nvGrpSpPr>
            <p:grpSpPr>
              <a:xfrm>
                <a:off x="537" y="8479"/>
                <a:ext cx="434" cy="84"/>
                <a:chOff x="537" y="8479"/>
                <a:chExt cx="434" cy="84"/>
              </a:xfrm>
            </p:grpSpPr>
            <p:sp>
              <p:nvSpPr>
                <p:cNvPr id="50" name="椭圆 49"/>
                <p:cNvSpPr/>
                <p:nvPr/>
              </p:nvSpPr>
              <p:spPr>
                <a:xfrm>
                  <a:off x="537" y="8479"/>
                  <a:ext cx="85" cy="85"/>
                </a:xfrm>
                <a:prstGeom prst="ellipse">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1" name="椭圆 50"/>
                <p:cNvSpPr/>
                <p:nvPr/>
              </p:nvSpPr>
              <p:spPr>
                <a:xfrm>
                  <a:off x="705" y="8479"/>
                  <a:ext cx="85" cy="85"/>
                </a:xfrm>
                <a:prstGeom prst="ellipse">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2" name="椭圆 51"/>
                <p:cNvSpPr/>
                <p:nvPr/>
              </p:nvSpPr>
              <p:spPr>
                <a:xfrm>
                  <a:off x="887" y="8479"/>
                  <a:ext cx="85" cy="85"/>
                </a:xfrm>
                <a:prstGeom prst="ellipse">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53" name="组合 52"/>
              <p:cNvGrpSpPr/>
              <p:nvPr/>
            </p:nvGrpSpPr>
            <p:grpSpPr>
              <a:xfrm>
                <a:off x="537" y="8672"/>
                <a:ext cx="434" cy="84"/>
                <a:chOff x="537" y="8479"/>
                <a:chExt cx="434" cy="84"/>
              </a:xfrm>
            </p:grpSpPr>
            <p:sp>
              <p:nvSpPr>
                <p:cNvPr id="54" name="椭圆 53"/>
                <p:cNvSpPr/>
                <p:nvPr/>
              </p:nvSpPr>
              <p:spPr>
                <a:xfrm>
                  <a:off x="537" y="8479"/>
                  <a:ext cx="85" cy="85"/>
                </a:xfrm>
                <a:prstGeom prst="ellipse">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5" name="椭圆 54"/>
                <p:cNvSpPr/>
                <p:nvPr/>
              </p:nvSpPr>
              <p:spPr>
                <a:xfrm>
                  <a:off x="705" y="8479"/>
                  <a:ext cx="85" cy="85"/>
                </a:xfrm>
                <a:prstGeom prst="ellipse">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6" name="椭圆 55"/>
                <p:cNvSpPr/>
                <p:nvPr/>
              </p:nvSpPr>
              <p:spPr>
                <a:xfrm>
                  <a:off x="887" y="8479"/>
                  <a:ext cx="85" cy="85"/>
                </a:xfrm>
                <a:prstGeom prst="ellipse">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57" name="组合 56"/>
              <p:cNvGrpSpPr/>
              <p:nvPr/>
            </p:nvGrpSpPr>
            <p:grpSpPr>
              <a:xfrm>
                <a:off x="537" y="8873"/>
                <a:ext cx="434" cy="84"/>
                <a:chOff x="537" y="8479"/>
                <a:chExt cx="434" cy="84"/>
              </a:xfrm>
            </p:grpSpPr>
            <p:sp>
              <p:nvSpPr>
                <p:cNvPr id="58" name="椭圆 57"/>
                <p:cNvSpPr/>
                <p:nvPr/>
              </p:nvSpPr>
              <p:spPr>
                <a:xfrm>
                  <a:off x="537" y="8479"/>
                  <a:ext cx="85" cy="85"/>
                </a:xfrm>
                <a:prstGeom prst="ellipse">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9" name="椭圆 58"/>
                <p:cNvSpPr/>
                <p:nvPr/>
              </p:nvSpPr>
              <p:spPr>
                <a:xfrm>
                  <a:off x="705" y="8479"/>
                  <a:ext cx="85" cy="85"/>
                </a:xfrm>
                <a:prstGeom prst="ellipse">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0" name="椭圆 59"/>
                <p:cNvSpPr/>
                <p:nvPr/>
              </p:nvSpPr>
              <p:spPr>
                <a:xfrm>
                  <a:off x="887" y="8479"/>
                  <a:ext cx="85" cy="85"/>
                </a:xfrm>
                <a:prstGeom prst="ellipse">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61" name="组合 60"/>
              <p:cNvGrpSpPr/>
              <p:nvPr/>
            </p:nvGrpSpPr>
            <p:grpSpPr>
              <a:xfrm>
                <a:off x="537" y="9066"/>
                <a:ext cx="434" cy="84"/>
                <a:chOff x="537" y="8479"/>
                <a:chExt cx="434" cy="84"/>
              </a:xfrm>
            </p:grpSpPr>
            <p:sp>
              <p:nvSpPr>
                <p:cNvPr id="62" name="椭圆 61"/>
                <p:cNvSpPr/>
                <p:nvPr/>
              </p:nvSpPr>
              <p:spPr>
                <a:xfrm>
                  <a:off x="537" y="8479"/>
                  <a:ext cx="85" cy="85"/>
                </a:xfrm>
                <a:prstGeom prst="ellipse">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3" name="椭圆 62"/>
                <p:cNvSpPr/>
                <p:nvPr/>
              </p:nvSpPr>
              <p:spPr>
                <a:xfrm>
                  <a:off x="705" y="8479"/>
                  <a:ext cx="85" cy="85"/>
                </a:xfrm>
                <a:prstGeom prst="ellipse">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4" name="椭圆 63"/>
                <p:cNvSpPr/>
                <p:nvPr/>
              </p:nvSpPr>
              <p:spPr>
                <a:xfrm>
                  <a:off x="887" y="8479"/>
                  <a:ext cx="85" cy="85"/>
                </a:xfrm>
                <a:prstGeom prst="ellipse">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65" name="组合 64"/>
              <p:cNvGrpSpPr/>
              <p:nvPr/>
            </p:nvGrpSpPr>
            <p:grpSpPr>
              <a:xfrm>
                <a:off x="537" y="9267"/>
                <a:ext cx="434" cy="84"/>
                <a:chOff x="537" y="8479"/>
                <a:chExt cx="434" cy="84"/>
              </a:xfrm>
            </p:grpSpPr>
            <p:sp>
              <p:nvSpPr>
                <p:cNvPr id="66" name="椭圆 65"/>
                <p:cNvSpPr/>
                <p:nvPr/>
              </p:nvSpPr>
              <p:spPr>
                <a:xfrm>
                  <a:off x="537" y="8479"/>
                  <a:ext cx="85" cy="85"/>
                </a:xfrm>
                <a:prstGeom prst="ellipse">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7" name="椭圆 66"/>
                <p:cNvSpPr/>
                <p:nvPr/>
              </p:nvSpPr>
              <p:spPr>
                <a:xfrm>
                  <a:off x="705" y="8479"/>
                  <a:ext cx="85" cy="85"/>
                </a:xfrm>
                <a:prstGeom prst="ellipse">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8" name="椭圆 67"/>
                <p:cNvSpPr/>
                <p:nvPr/>
              </p:nvSpPr>
              <p:spPr>
                <a:xfrm>
                  <a:off x="887" y="8479"/>
                  <a:ext cx="85" cy="85"/>
                </a:xfrm>
                <a:prstGeom prst="ellipse">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69" name="组合 68"/>
              <p:cNvGrpSpPr/>
              <p:nvPr/>
            </p:nvGrpSpPr>
            <p:grpSpPr>
              <a:xfrm>
                <a:off x="537" y="9460"/>
                <a:ext cx="434" cy="84"/>
                <a:chOff x="537" y="8479"/>
                <a:chExt cx="434" cy="84"/>
              </a:xfrm>
            </p:grpSpPr>
            <p:sp>
              <p:nvSpPr>
                <p:cNvPr id="70" name="椭圆 69"/>
                <p:cNvSpPr/>
                <p:nvPr/>
              </p:nvSpPr>
              <p:spPr>
                <a:xfrm>
                  <a:off x="537" y="8479"/>
                  <a:ext cx="85" cy="85"/>
                </a:xfrm>
                <a:prstGeom prst="ellipse">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1" name="椭圆 70"/>
                <p:cNvSpPr/>
                <p:nvPr/>
              </p:nvSpPr>
              <p:spPr>
                <a:xfrm>
                  <a:off x="705" y="8479"/>
                  <a:ext cx="85" cy="85"/>
                </a:xfrm>
                <a:prstGeom prst="ellipse">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2" name="椭圆 71"/>
                <p:cNvSpPr/>
                <p:nvPr/>
              </p:nvSpPr>
              <p:spPr>
                <a:xfrm>
                  <a:off x="887" y="8479"/>
                  <a:ext cx="85" cy="85"/>
                </a:xfrm>
                <a:prstGeom prst="ellipse">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grpSp>
          <p:nvGrpSpPr>
            <p:cNvPr id="76" name="组合 75"/>
            <p:cNvGrpSpPr/>
            <p:nvPr/>
          </p:nvGrpSpPr>
          <p:grpSpPr>
            <a:xfrm flipH="1" flipV="1">
              <a:off x="-1582" y="-522"/>
              <a:ext cx="3159" cy="4320"/>
              <a:chOff x="16465" y="4210"/>
              <a:chExt cx="5458" cy="7464"/>
            </a:xfrm>
          </p:grpSpPr>
          <p:sp>
            <p:nvSpPr>
              <p:cNvPr id="77" name="任意多边形 76"/>
              <p:cNvSpPr/>
              <p:nvPr/>
            </p:nvSpPr>
            <p:spPr>
              <a:xfrm rot="2700000">
                <a:off x="16627" y="9964"/>
                <a:ext cx="1711" cy="1711"/>
              </a:xfrm>
              <a:custGeom>
                <a:avLst/>
                <a:gdLst>
                  <a:gd name="adj" fmla="val 16667"/>
                  <a:gd name="a" fmla="pin 0 adj 50000"/>
                  <a:gd name="x1" fmla="*/ ss a 100000"/>
                  <a:gd name="x2" fmla="+- r 0 x1"/>
                  <a:gd name="y2" fmla="+- b 0 x1"/>
                  <a:gd name="il" fmla="*/ x1 29289 100000"/>
                  <a:gd name="ir" fmla="+- r 0 il"/>
                  <a:gd name="ib" fmla="+- b 0 il"/>
                </a:gdLst>
                <a:ahLst/>
                <a:cxnLst>
                  <a:cxn ang="3">
                    <a:pos x="hc" y="t"/>
                  </a:cxn>
                  <a:cxn ang="cd2">
                    <a:pos x="l" y="vc"/>
                  </a:cxn>
                  <a:cxn ang="cd4">
                    <a:pos x="hc" y="b"/>
                  </a:cxn>
                  <a:cxn ang="0">
                    <a:pos x="r" y="vc"/>
                  </a:cxn>
                </a:cxnLst>
                <a:rect l="l" t="t" r="r" b="b"/>
                <a:pathLst>
                  <a:path w="1711" h="1711">
                    <a:moveTo>
                      <a:pt x="326" y="0"/>
                    </a:moveTo>
                    <a:lnTo>
                      <a:pt x="1630" y="0"/>
                    </a:lnTo>
                    <a:cubicBezTo>
                      <a:pt x="1655" y="0"/>
                      <a:pt x="1680" y="3"/>
                      <a:pt x="1704" y="8"/>
                    </a:cubicBezTo>
                    <a:lnTo>
                      <a:pt x="1711" y="10"/>
                    </a:lnTo>
                    <a:lnTo>
                      <a:pt x="10" y="1711"/>
                    </a:lnTo>
                    <a:lnTo>
                      <a:pt x="8" y="1704"/>
                    </a:lnTo>
                    <a:cubicBezTo>
                      <a:pt x="3" y="1680"/>
                      <a:pt x="0" y="1655"/>
                      <a:pt x="0" y="1630"/>
                    </a:cubicBezTo>
                    <a:lnTo>
                      <a:pt x="0" y="326"/>
                    </a:lnTo>
                    <a:cubicBezTo>
                      <a:pt x="0" y="146"/>
                      <a:pt x="146" y="0"/>
                      <a:pt x="326" y="0"/>
                    </a:cubicBezTo>
                    <a:close/>
                  </a:path>
                </a:pathLst>
              </a:custGeom>
              <a:solidFill>
                <a:srgbClr val="6D84A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a:p>
            </p:txBody>
          </p:sp>
          <p:sp>
            <p:nvSpPr>
              <p:cNvPr id="78" name="任意多边形 77"/>
              <p:cNvSpPr/>
              <p:nvPr/>
            </p:nvSpPr>
            <p:spPr>
              <a:xfrm rot="18900000">
                <a:off x="16465" y="4210"/>
                <a:ext cx="5459" cy="5459"/>
              </a:xfrm>
              <a:custGeom>
                <a:avLst/>
                <a:gdLst>
                  <a:gd name="adj" fmla="val 16667"/>
                  <a:gd name="a" fmla="pin 0 adj 50000"/>
                  <a:gd name="x1" fmla="*/ ss a 100000"/>
                  <a:gd name="x2" fmla="+- r 0 x1"/>
                  <a:gd name="y2" fmla="+- b 0 x1"/>
                  <a:gd name="il" fmla="*/ x1 29289 100000"/>
                  <a:gd name="ir" fmla="+- r 0 il"/>
                  <a:gd name="ib" fmla="+- b 0 il"/>
                </a:gdLst>
                <a:ahLst/>
                <a:cxnLst>
                  <a:cxn ang="3">
                    <a:pos x="hc" y="t"/>
                  </a:cxn>
                  <a:cxn ang="cd2">
                    <a:pos x="l" y="vc"/>
                  </a:cxn>
                  <a:cxn ang="cd4">
                    <a:pos x="hc" y="b"/>
                  </a:cxn>
                  <a:cxn ang="0">
                    <a:pos x="r" y="vc"/>
                  </a:cxn>
                </a:cxnLst>
                <a:rect l="l" t="t" r="r" b="b"/>
                <a:pathLst>
                  <a:path w="1711" h="1711">
                    <a:moveTo>
                      <a:pt x="326" y="0"/>
                    </a:moveTo>
                    <a:lnTo>
                      <a:pt x="1630" y="0"/>
                    </a:lnTo>
                    <a:cubicBezTo>
                      <a:pt x="1655" y="0"/>
                      <a:pt x="1680" y="3"/>
                      <a:pt x="1704" y="8"/>
                    </a:cubicBezTo>
                    <a:lnTo>
                      <a:pt x="1711" y="10"/>
                    </a:lnTo>
                    <a:lnTo>
                      <a:pt x="10" y="1711"/>
                    </a:lnTo>
                    <a:lnTo>
                      <a:pt x="8" y="1704"/>
                    </a:lnTo>
                    <a:cubicBezTo>
                      <a:pt x="3" y="1680"/>
                      <a:pt x="0" y="1655"/>
                      <a:pt x="0" y="1630"/>
                    </a:cubicBezTo>
                    <a:lnTo>
                      <a:pt x="0" y="326"/>
                    </a:lnTo>
                    <a:cubicBezTo>
                      <a:pt x="0" y="146"/>
                      <a:pt x="146" y="0"/>
                      <a:pt x="326" y="0"/>
                    </a:cubicBezTo>
                    <a:close/>
                  </a:path>
                </a:pathLst>
              </a:custGeom>
              <a:solidFill>
                <a:srgbClr val="1C3867"/>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a:p>
            </p:txBody>
          </p:sp>
        </p:grpSp>
        <p:grpSp>
          <p:nvGrpSpPr>
            <p:cNvPr id="2" name="组合 1"/>
            <p:cNvGrpSpPr/>
            <p:nvPr/>
          </p:nvGrpSpPr>
          <p:grpSpPr>
            <a:xfrm>
              <a:off x="17635" y="6980"/>
              <a:ext cx="3159" cy="4320"/>
              <a:chOff x="16465" y="4210"/>
              <a:chExt cx="5458" cy="7464"/>
            </a:xfrm>
          </p:grpSpPr>
          <p:sp>
            <p:nvSpPr>
              <p:cNvPr id="3" name="任意多边形 2"/>
              <p:cNvSpPr/>
              <p:nvPr/>
            </p:nvSpPr>
            <p:spPr>
              <a:xfrm rot="2700000">
                <a:off x="16627" y="9964"/>
                <a:ext cx="1711" cy="1711"/>
              </a:xfrm>
              <a:custGeom>
                <a:avLst/>
                <a:gdLst>
                  <a:gd name="adj" fmla="val 16667"/>
                  <a:gd name="a" fmla="pin 0 adj 50000"/>
                  <a:gd name="x1" fmla="*/ ss a 100000"/>
                  <a:gd name="x2" fmla="+- r 0 x1"/>
                  <a:gd name="y2" fmla="+- b 0 x1"/>
                  <a:gd name="il" fmla="*/ x1 29289 100000"/>
                  <a:gd name="ir" fmla="+- r 0 il"/>
                  <a:gd name="ib" fmla="+- b 0 il"/>
                </a:gdLst>
                <a:ahLst/>
                <a:cxnLst>
                  <a:cxn ang="3">
                    <a:pos x="hc" y="t"/>
                  </a:cxn>
                  <a:cxn ang="cd2">
                    <a:pos x="l" y="vc"/>
                  </a:cxn>
                  <a:cxn ang="cd4">
                    <a:pos x="hc" y="b"/>
                  </a:cxn>
                  <a:cxn ang="0">
                    <a:pos x="r" y="vc"/>
                  </a:cxn>
                </a:cxnLst>
                <a:rect l="l" t="t" r="r" b="b"/>
                <a:pathLst>
                  <a:path w="1711" h="1711">
                    <a:moveTo>
                      <a:pt x="326" y="0"/>
                    </a:moveTo>
                    <a:lnTo>
                      <a:pt x="1630" y="0"/>
                    </a:lnTo>
                    <a:cubicBezTo>
                      <a:pt x="1655" y="0"/>
                      <a:pt x="1680" y="3"/>
                      <a:pt x="1704" y="8"/>
                    </a:cubicBezTo>
                    <a:lnTo>
                      <a:pt x="1711" y="10"/>
                    </a:lnTo>
                    <a:lnTo>
                      <a:pt x="10" y="1711"/>
                    </a:lnTo>
                    <a:lnTo>
                      <a:pt x="8" y="1704"/>
                    </a:lnTo>
                    <a:cubicBezTo>
                      <a:pt x="3" y="1680"/>
                      <a:pt x="0" y="1655"/>
                      <a:pt x="0" y="1630"/>
                    </a:cubicBezTo>
                    <a:lnTo>
                      <a:pt x="0" y="326"/>
                    </a:lnTo>
                    <a:cubicBezTo>
                      <a:pt x="0" y="146"/>
                      <a:pt x="146" y="0"/>
                      <a:pt x="326" y="0"/>
                    </a:cubicBezTo>
                    <a:close/>
                  </a:path>
                </a:pathLst>
              </a:custGeom>
              <a:solidFill>
                <a:srgbClr val="6D84A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a:p>
            </p:txBody>
          </p:sp>
          <p:sp>
            <p:nvSpPr>
              <p:cNvPr id="4" name="任意多边形 3"/>
              <p:cNvSpPr/>
              <p:nvPr/>
            </p:nvSpPr>
            <p:spPr>
              <a:xfrm rot="18900000">
                <a:off x="16465" y="4210"/>
                <a:ext cx="5459" cy="5459"/>
              </a:xfrm>
              <a:custGeom>
                <a:avLst/>
                <a:gdLst>
                  <a:gd name="adj" fmla="val 16667"/>
                  <a:gd name="a" fmla="pin 0 adj 50000"/>
                  <a:gd name="x1" fmla="*/ ss a 100000"/>
                  <a:gd name="x2" fmla="+- r 0 x1"/>
                  <a:gd name="y2" fmla="+- b 0 x1"/>
                  <a:gd name="il" fmla="*/ x1 29289 100000"/>
                  <a:gd name="ir" fmla="+- r 0 il"/>
                  <a:gd name="ib" fmla="+- b 0 il"/>
                </a:gdLst>
                <a:ahLst/>
                <a:cxnLst>
                  <a:cxn ang="3">
                    <a:pos x="hc" y="t"/>
                  </a:cxn>
                  <a:cxn ang="cd2">
                    <a:pos x="l" y="vc"/>
                  </a:cxn>
                  <a:cxn ang="cd4">
                    <a:pos x="hc" y="b"/>
                  </a:cxn>
                  <a:cxn ang="0">
                    <a:pos x="r" y="vc"/>
                  </a:cxn>
                </a:cxnLst>
                <a:rect l="l" t="t" r="r" b="b"/>
                <a:pathLst>
                  <a:path w="1711" h="1711">
                    <a:moveTo>
                      <a:pt x="326" y="0"/>
                    </a:moveTo>
                    <a:lnTo>
                      <a:pt x="1630" y="0"/>
                    </a:lnTo>
                    <a:cubicBezTo>
                      <a:pt x="1655" y="0"/>
                      <a:pt x="1680" y="3"/>
                      <a:pt x="1704" y="8"/>
                    </a:cubicBezTo>
                    <a:lnTo>
                      <a:pt x="1711" y="10"/>
                    </a:lnTo>
                    <a:lnTo>
                      <a:pt x="10" y="1711"/>
                    </a:lnTo>
                    <a:lnTo>
                      <a:pt x="8" y="1704"/>
                    </a:lnTo>
                    <a:cubicBezTo>
                      <a:pt x="3" y="1680"/>
                      <a:pt x="0" y="1655"/>
                      <a:pt x="0" y="1630"/>
                    </a:cubicBezTo>
                    <a:lnTo>
                      <a:pt x="0" y="326"/>
                    </a:lnTo>
                    <a:cubicBezTo>
                      <a:pt x="0" y="146"/>
                      <a:pt x="146" y="0"/>
                      <a:pt x="326" y="0"/>
                    </a:cubicBezTo>
                    <a:close/>
                  </a:path>
                </a:pathLst>
              </a:custGeom>
              <a:solidFill>
                <a:srgbClr val="1C3867"/>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a:p>
            </p:txBody>
          </p:sp>
        </p:grpSp>
      </p:grpSp>
      <p:graphicFrame>
        <p:nvGraphicFramePr>
          <p:cNvPr id="6" name="表格 5"/>
          <p:cNvGraphicFramePr/>
          <p:nvPr/>
        </p:nvGraphicFramePr>
        <p:xfrm>
          <a:off x="1416685" y="1231900"/>
          <a:ext cx="4679315" cy="2071370"/>
        </p:xfrm>
        <a:graphic>
          <a:graphicData uri="http://schemas.openxmlformats.org/drawingml/2006/table">
            <a:tbl>
              <a:tblPr/>
              <a:tblGrid>
                <a:gridCol w="846455">
                  <a:extLst>
                    <a:ext uri="{9D8B030D-6E8A-4147-A177-3AD203B41FA5}">
                      <a16:colId xmlns:a16="http://schemas.microsoft.com/office/drawing/2014/main" val="20000"/>
                    </a:ext>
                  </a:extLst>
                </a:gridCol>
                <a:gridCol w="845185">
                  <a:extLst>
                    <a:ext uri="{9D8B030D-6E8A-4147-A177-3AD203B41FA5}">
                      <a16:colId xmlns:a16="http://schemas.microsoft.com/office/drawing/2014/main" val="20001"/>
                    </a:ext>
                  </a:extLst>
                </a:gridCol>
                <a:gridCol w="847725">
                  <a:extLst>
                    <a:ext uri="{9D8B030D-6E8A-4147-A177-3AD203B41FA5}">
                      <a16:colId xmlns:a16="http://schemas.microsoft.com/office/drawing/2014/main" val="20002"/>
                    </a:ext>
                  </a:extLst>
                </a:gridCol>
                <a:gridCol w="1069340">
                  <a:extLst>
                    <a:ext uri="{9D8B030D-6E8A-4147-A177-3AD203B41FA5}">
                      <a16:colId xmlns:a16="http://schemas.microsoft.com/office/drawing/2014/main" val="20003"/>
                    </a:ext>
                  </a:extLst>
                </a:gridCol>
                <a:gridCol w="1070610">
                  <a:extLst>
                    <a:ext uri="{9D8B030D-6E8A-4147-A177-3AD203B41FA5}">
                      <a16:colId xmlns:a16="http://schemas.microsoft.com/office/drawing/2014/main" val="20004"/>
                    </a:ext>
                  </a:extLst>
                </a:gridCol>
              </a:tblGrid>
              <a:tr h="438785">
                <a:tc>
                  <a:txBody>
                    <a:bodyPr/>
                    <a:lstStyle/>
                    <a:p>
                      <a:pPr algn="l" fontAlgn="ctr"/>
                      <a:r>
                        <a:rPr lang="en-US" altLang="zh-CN" sz="1400" b="0" i="0">
                          <a:solidFill>
                            <a:srgbClr val="000000"/>
                          </a:solidFill>
                          <a:latin typeface="Times New Roman" panose="02020603050405020304"/>
                          <a:ea typeface="Times New Roman" panose="02020603050405020304"/>
                        </a:rPr>
                        <a:t>Metrics</a:t>
                      </a:r>
                    </a:p>
                  </a:txBody>
                  <a:tcPr marL="6667" marR="6667" marT="6667" marB="0" anchor="ctr">
                    <a:lnL>
                      <a:noFill/>
                    </a:lnL>
                    <a:lnR>
                      <a:noFill/>
                    </a:lnR>
                    <a:lnT>
                      <a:noFill/>
                    </a:lnT>
                    <a:lnB>
                      <a:noFill/>
                    </a:lnB>
                    <a:noFill/>
                  </a:tcPr>
                </a:tc>
                <a:tc>
                  <a:txBody>
                    <a:bodyPr/>
                    <a:lstStyle/>
                    <a:p>
                      <a:pPr algn="ctr" fontAlgn="ctr"/>
                      <a:r>
                        <a:rPr lang="en-US" altLang="zh-CN" sz="1400" b="0" i="0">
                          <a:solidFill>
                            <a:srgbClr val="000000"/>
                          </a:solidFill>
                          <a:latin typeface="Times New Roman" panose="02020603050405020304"/>
                          <a:ea typeface="Times New Roman" panose="02020603050405020304"/>
                        </a:rPr>
                        <a:t>In Sample</a:t>
                      </a:r>
                    </a:p>
                  </a:txBody>
                  <a:tcPr marL="6667" marR="6667" marT="6667" marB="0" anchor="ctr">
                    <a:lnL>
                      <a:noFill/>
                    </a:lnL>
                    <a:lnR>
                      <a:noFill/>
                    </a:lnR>
                    <a:lnT>
                      <a:noFill/>
                    </a:lnT>
                    <a:lnB>
                      <a:noFill/>
                    </a:lnB>
                    <a:noFill/>
                  </a:tcPr>
                </a:tc>
                <a:tc>
                  <a:txBody>
                    <a:bodyPr/>
                    <a:lstStyle/>
                    <a:p>
                      <a:pPr algn="ctr" fontAlgn="ctr"/>
                      <a:r>
                        <a:rPr lang="en-US" altLang="zh-CN" sz="1400" b="0" i="0">
                          <a:solidFill>
                            <a:srgbClr val="000000"/>
                          </a:solidFill>
                          <a:latin typeface="Times New Roman" panose="02020603050405020304"/>
                          <a:ea typeface="Times New Roman" panose="02020603050405020304"/>
                        </a:rPr>
                        <a:t>Out of Sample</a:t>
                      </a:r>
                    </a:p>
                  </a:txBody>
                  <a:tcPr marL="6667" marR="6667" marT="6667" marB="0" anchor="ctr">
                    <a:lnL>
                      <a:noFill/>
                    </a:lnL>
                    <a:lnR>
                      <a:noFill/>
                    </a:lnR>
                    <a:lnT>
                      <a:noFill/>
                    </a:lnT>
                    <a:lnB>
                      <a:noFill/>
                    </a:lnB>
                    <a:noFill/>
                  </a:tcPr>
                </a:tc>
                <a:tc>
                  <a:txBody>
                    <a:bodyPr/>
                    <a:lstStyle/>
                    <a:p>
                      <a:pPr algn="ctr" fontAlgn="ctr"/>
                      <a:r>
                        <a:rPr lang="en-US" altLang="zh-CN" sz="1400" b="0" i="0" dirty="0">
                          <a:solidFill>
                            <a:srgbClr val="000000"/>
                          </a:solidFill>
                          <a:latin typeface="Times New Roman" panose="02020603050405020304"/>
                          <a:ea typeface="Times New Roman" panose="02020603050405020304"/>
                        </a:rPr>
                        <a:t>Cross-validation</a:t>
                      </a:r>
                    </a:p>
                  </a:txBody>
                  <a:tcPr marL="6667" marR="6667" marT="6667" marB="0" anchor="ctr">
                    <a:lnL>
                      <a:noFill/>
                    </a:lnL>
                    <a:lnR>
                      <a:noFill/>
                    </a:lnR>
                    <a:lnT>
                      <a:noFill/>
                    </a:lnT>
                    <a:lnB>
                      <a:noFill/>
                    </a:lnB>
                    <a:noFill/>
                  </a:tcPr>
                </a:tc>
                <a:tc>
                  <a:txBody>
                    <a:bodyPr/>
                    <a:lstStyle/>
                    <a:p>
                      <a:pPr algn="ctr" fontAlgn="ctr"/>
                      <a:r>
                        <a:rPr lang="en-US" altLang="zh-CN" sz="1400" b="0" i="0">
                          <a:solidFill>
                            <a:srgbClr val="000000"/>
                          </a:solidFill>
                          <a:latin typeface="Times New Roman" panose="02020603050405020304"/>
                          <a:ea typeface="Times New Roman" panose="02020603050405020304"/>
                        </a:rPr>
                        <a:t>Kaggle Score</a:t>
                      </a:r>
                    </a:p>
                  </a:txBody>
                  <a:tcPr marL="6667" marR="6667" marT="6667" marB="0" anchor="ctr">
                    <a:lnL>
                      <a:noFill/>
                    </a:lnL>
                    <a:lnR>
                      <a:noFill/>
                    </a:lnR>
                    <a:lnT>
                      <a:noFill/>
                    </a:lnT>
                    <a:lnB>
                      <a:noFill/>
                    </a:lnB>
                    <a:noFill/>
                  </a:tcPr>
                </a:tc>
                <a:extLst>
                  <a:ext uri="{0D108BD9-81ED-4DB2-BD59-A6C34878D82A}">
                    <a16:rowId xmlns:a16="http://schemas.microsoft.com/office/drawing/2014/main" val="10000"/>
                  </a:ext>
                </a:extLst>
              </a:tr>
              <a:tr h="407670">
                <a:tc>
                  <a:txBody>
                    <a:bodyPr/>
                    <a:lstStyle/>
                    <a:p>
                      <a:pPr algn="l" fontAlgn="ctr"/>
                      <a:r>
                        <a:rPr lang="en-US" altLang="zh-CN" sz="1400" b="0" i="0">
                          <a:solidFill>
                            <a:srgbClr val="000000"/>
                          </a:solidFill>
                          <a:latin typeface="Times New Roman" panose="02020603050405020304"/>
                          <a:ea typeface="Times New Roman" panose="02020603050405020304"/>
                        </a:rPr>
                        <a:t>OLS</a:t>
                      </a:r>
                    </a:p>
                  </a:txBody>
                  <a:tcPr marL="6667" marR="6667" marT="6667" marB="0" anchor="ctr">
                    <a:lnL>
                      <a:noFill/>
                    </a:lnL>
                    <a:lnR>
                      <a:noFill/>
                    </a:lnR>
                    <a:lnT>
                      <a:noFill/>
                    </a:lnT>
                    <a:lnB>
                      <a:noFill/>
                    </a:lnB>
                    <a:noFill/>
                  </a:tcPr>
                </a:tc>
                <a:tc>
                  <a:txBody>
                    <a:bodyPr/>
                    <a:lstStyle/>
                    <a:p>
                      <a:pPr algn="ctr" fontAlgn="ctr"/>
                      <a:r>
                        <a:rPr lang="en-US" altLang="zh-CN" sz="1400" b="0" i="0">
                          <a:solidFill>
                            <a:srgbClr val="000000"/>
                          </a:solidFill>
                          <a:latin typeface="Times New Roman" panose="02020603050405020304"/>
                          <a:ea typeface="Times New Roman" panose="02020603050405020304"/>
                        </a:rPr>
                        <a:t>368916.5</a:t>
                      </a:r>
                    </a:p>
                  </a:txBody>
                  <a:tcPr marL="6667" marR="6667" marT="6667" marB="0" anchor="ctr">
                    <a:lnL>
                      <a:noFill/>
                    </a:lnL>
                    <a:lnR>
                      <a:noFill/>
                    </a:lnR>
                    <a:lnT>
                      <a:noFill/>
                    </a:lnT>
                    <a:lnB>
                      <a:noFill/>
                    </a:lnB>
                    <a:noFill/>
                  </a:tcPr>
                </a:tc>
                <a:tc>
                  <a:txBody>
                    <a:bodyPr/>
                    <a:lstStyle/>
                    <a:p>
                      <a:pPr algn="ctr" fontAlgn="ctr"/>
                      <a:r>
                        <a:rPr lang="en-US" altLang="zh-CN" sz="1400" b="0" i="0">
                          <a:solidFill>
                            <a:srgbClr val="000000"/>
                          </a:solidFill>
                          <a:latin typeface="Times New Roman" panose="02020603050405020304"/>
                          <a:ea typeface="Times New Roman" panose="02020603050405020304"/>
                        </a:rPr>
                        <a:t>374564.48</a:t>
                      </a:r>
                    </a:p>
                  </a:txBody>
                  <a:tcPr marL="6667" marR="6667" marT="6667" marB="0" anchor="ctr">
                    <a:lnL>
                      <a:noFill/>
                    </a:lnL>
                    <a:lnR>
                      <a:noFill/>
                    </a:lnR>
                    <a:lnT>
                      <a:noFill/>
                    </a:lnT>
                    <a:lnB>
                      <a:noFill/>
                    </a:lnB>
                    <a:noFill/>
                  </a:tcPr>
                </a:tc>
                <a:tc>
                  <a:txBody>
                    <a:bodyPr/>
                    <a:lstStyle/>
                    <a:p>
                      <a:pPr algn="ctr" fontAlgn="ctr"/>
                      <a:r>
                        <a:rPr lang="en-US" altLang="zh-CN" sz="1400" b="0" i="0" dirty="0">
                          <a:solidFill>
                            <a:srgbClr val="000000"/>
                          </a:solidFill>
                          <a:latin typeface="Times New Roman" panose="02020603050405020304"/>
                          <a:ea typeface="Times New Roman" panose="02020603050405020304"/>
                        </a:rPr>
                        <a:t>370058.95</a:t>
                      </a:r>
                    </a:p>
                  </a:txBody>
                  <a:tcPr marL="6667" marR="6667" marT="6667" marB="0" anchor="ctr">
                    <a:lnL>
                      <a:noFill/>
                    </a:lnL>
                    <a:lnR>
                      <a:noFill/>
                    </a:lnR>
                    <a:lnT>
                      <a:noFill/>
                    </a:lnT>
                    <a:lnB>
                      <a:noFill/>
                    </a:lnB>
                    <a:solidFill>
                      <a:srgbClr val="FFFFFF"/>
                    </a:solidFill>
                  </a:tcPr>
                </a:tc>
                <a:tc>
                  <a:txBody>
                    <a:bodyPr/>
                    <a:lstStyle/>
                    <a:p>
                      <a:pPr algn="ctr" fontAlgn="ctr"/>
                      <a:r>
                        <a:rPr lang="en-US" altLang="zh-CN" sz="1400" b="0" i="0">
                          <a:solidFill>
                            <a:srgbClr val="000000"/>
                          </a:solidFill>
                          <a:latin typeface="Times New Roman" panose="02020603050405020304"/>
                          <a:ea typeface="Times New Roman" panose="02020603050405020304"/>
                        </a:rPr>
                        <a:t>67.78</a:t>
                      </a:r>
                    </a:p>
                  </a:txBody>
                  <a:tcPr marL="6667" marR="6667" marT="6667" marB="0" anchor="ctr">
                    <a:lnL>
                      <a:noFill/>
                    </a:lnL>
                    <a:lnR>
                      <a:noFill/>
                    </a:lnR>
                    <a:lnT>
                      <a:noFill/>
                    </a:lnT>
                    <a:lnB>
                      <a:noFill/>
                    </a:lnB>
                    <a:solidFill>
                      <a:srgbClr val="FFFFFF"/>
                    </a:solidFill>
                  </a:tcPr>
                </a:tc>
                <a:extLst>
                  <a:ext uri="{0D108BD9-81ED-4DB2-BD59-A6C34878D82A}">
                    <a16:rowId xmlns:a16="http://schemas.microsoft.com/office/drawing/2014/main" val="10001"/>
                  </a:ext>
                </a:extLst>
              </a:tr>
              <a:tr h="408305">
                <a:tc>
                  <a:txBody>
                    <a:bodyPr/>
                    <a:lstStyle/>
                    <a:p>
                      <a:pPr algn="l" fontAlgn="ctr"/>
                      <a:r>
                        <a:rPr lang="en-US" altLang="zh-CN" sz="1400" b="0" i="0">
                          <a:solidFill>
                            <a:srgbClr val="000000"/>
                          </a:solidFill>
                          <a:latin typeface="Times New Roman" panose="02020603050405020304"/>
                          <a:ea typeface="Times New Roman" panose="02020603050405020304"/>
                        </a:rPr>
                        <a:t>Lasso</a:t>
                      </a:r>
                    </a:p>
                  </a:txBody>
                  <a:tcPr marL="6667" marR="6667" marT="6667" marB="0" anchor="ctr">
                    <a:lnL>
                      <a:noFill/>
                    </a:lnL>
                    <a:lnR>
                      <a:noFill/>
                    </a:lnR>
                    <a:lnT>
                      <a:noFill/>
                    </a:lnT>
                    <a:lnB>
                      <a:noFill/>
                    </a:lnB>
                    <a:noFill/>
                  </a:tcPr>
                </a:tc>
                <a:tc>
                  <a:txBody>
                    <a:bodyPr/>
                    <a:lstStyle/>
                    <a:p>
                      <a:pPr algn="ctr" fontAlgn="ctr"/>
                      <a:r>
                        <a:rPr lang="en-US" altLang="zh-CN" sz="1400" b="0" i="0">
                          <a:solidFill>
                            <a:srgbClr val="000000"/>
                          </a:solidFill>
                          <a:latin typeface="Times New Roman" panose="02020603050405020304"/>
                          <a:ea typeface="Times New Roman" panose="02020603050405020304"/>
                        </a:rPr>
                        <a:t>381476.18</a:t>
                      </a:r>
                    </a:p>
                  </a:txBody>
                  <a:tcPr marL="6667" marR="6667" marT="6667" marB="0" anchor="ctr">
                    <a:lnL>
                      <a:noFill/>
                    </a:lnL>
                    <a:lnR>
                      <a:noFill/>
                    </a:lnR>
                    <a:lnT>
                      <a:noFill/>
                    </a:lnT>
                    <a:lnB>
                      <a:noFill/>
                    </a:lnB>
                    <a:noFill/>
                  </a:tcPr>
                </a:tc>
                <a:tc>
                  <a:txBody>
                    <a:bodyPr/>
                    <a:lstStyle/>
                    <a:p>
                      <a:pPr algn="ctr" fontAlgn="ctr"/>
                      <a:r>
                        <a:rPr lang="en-US" altLang="zh-CN" sz="1400" b="0" i="0">
                          <a:solidFill>
                            <a:srgbClr val="000000"/>
                          </a:solidFill>
                          <a:latin typeface="Times New Roman" panose="02020603050405020304"/>
                          <a:ea typeface="Times New Roman" panose="02020603050405020304"/>
                        </a:rPr>
                        <a:t>387115.96</a:t>
                      </a:r>
                    </a:p>
                  </a:txBody>
                  <a:tcPr marL="6667" marR="6667" marT="6667" marB="0" anchor="ctr">
                    <a:lnL>
                      <a:noFill/>
                    </a:lnL>
                    <a:lnR>
                      <a:noFill/>
                    </a:lnR>
                    <a:lnT>
                      <a:noFill/>
                    </a:lnT>
                    <a:lnB>
                      <a:noFill/>
                    </a:lnB>
                    <a:noFill/>
                  </a:tcPr>
                </a:tc>
                <a:tc>
                  <a:txBody>
                    <a:bodyPr/>
                    <a:lstStyle/>
                    <a:p>
                      <a:pPr algn="ctr" fontAlgn="ctr"/>
                      <a:r>
                        <a:rPr lang="en-US" altLang="zh-CN" sz="1400" b="0" i="0">
                          <a:solidFill>
                            <a:srgbClr val="000000"/>
                          </a:solidFill>
                          <a:latin typeface="Times New Roman" panose="02020603050405020304"/>
                          <a:ea typeface="Times New Roman" panose="02020603050405020304"/>
                        </a:rPr>
                        <a:t>381442.54</a:t>
                      </a:r>
                    </a:p>
                  </a:txBody>
                  <a:tcPr marL="6667" marR="6667" marT="6667" marB="0" anchor="ctr">
                    <a:lnL>
                      <a:noFill/>
                    </a:lnL>
                    <a:lnR>
                      <a:noFill/>
                    </a:lnR>
                    <a:lnT>
                      <a:noFill/>
                    </a:lnT>
                    <a:lnB>
                      <a:noFill/>
                    </a:lnB>
                    <a:noFill/>
                  </a:tcPr>
                </a:tc>
                <a:tc>
                  <a:txBody>
                    <a:bodyPr/>
                    <a:lstStyle/>
                    <a:p>
                      <a:pPr algn="ctr" fontAlgn="ctr"/>
                      <a:r>
                        <a:rPr lang="en-US" altLang="zh-CN" sz="1400" b="0" i="0">
                          <a:solidFill>
                            <a:srgbClr val="000000"/>
                          </a:solidFill>
                          <a:latin typeface="Times New Roman" panose="02020603050405020304"/>
                          <a:ea typeface="Times New Roman" panose="02020603050405020304"/>
                        </a:rPr>
                        <a:t>66.93</a:t>
                      </a:r>
                    </a:p>
                  </a:txBody>
                  <a:tcPr marL="6667" marR="6667" marT="6667" marB="0" anchor="ctr">
                    <a:lnL>
                      <a:noFill/>
                    </a:lnL>
                    <a:lnR>
                      <a:noFill/>
                    </a:lnR>
                    <a:lnT>
                      <a:noFill/>
                    </a:lnT>
                    <a:lnB>
                      <a:noFill/>
                    </a:lnB>
                    <a:noFill/>
                  </a:tcPr>
                </a:tc>
                <a:extLst>
                  <a:ext uri="{0D108BD9-81ED-4DB2-BD59-A6C34878D82A}">
                    <a16:rowId xmlns:a16="http://schemas.microsoft.com/office/drawing/2014/main" val="10002"/>
                  </a:ext>
                </a:extLst>
              </a:tr>
              <a:tr h="408940">
                <a:tc>
                  <a:txBody>
                    <a:bodyPr/>
                    <a:lstStyle/>
                    <a:p>
                      <a:pPr algn="l" fontAlgn="ctr"/>
                      <a:r>
                        <a:rPr lang="en-US" altLang="zh-CN" sz="1400" b="0" i="0">
                          <a:solidFill>
                            <a:srgbClr val="000000"/>
                          </a:solidFill>
                          <a:latin typeface="Times New Roman" panose="02020603050405020304"/>
                          <a:ea typeface="Times New Roman" panose="02020603050405020304"/>
                        </a:rPr>
                        <a:t>Ridge</a:t>
                      </a:r>
                    </a:p>
                  </a:txBody>
                  <a:tcPr marL="6667" marR="6667" marT="6667" marB="0" anchor="ctr">
                    <a:lnL>
                      <a:noFill/>
                    </a:lnL>
                    <a:lnR>
                      <a:noFill/>
                    </a:lnR>
                    <a:lnT>
                      <a:noFill/>
                    </a:lnT>
                    <a:lnB>
                      <a:noFill/>
                    </a:lnB>
                    <a:noFill/>
                  </a:tcPr>
                </a:tc>
                <a:tc>
                  <a:txBody>
                    <a:bodyPr/>
                    <a:lstStyle/>
                    <a:p>
                      <a:pPr algn="ctr" fontAlgn="ctr"/>
                      <a:r>
                        <a:rPr lang="en-US" altLang="zh-CN" sz="1400" b="0" i="0">
                          <a:solidFill>
                            <a:srgbClr val="000000"/>
                          </a:solidFill>
                          <a:latin typeface="Times New Roman" panose="02020603050405020304"/>
                          <a:ea typeface="Times New Roman" panose="02020603050405020304"/>
                        </a:rPr>
                        <a:t>369204.36</a:t>
                      </a:r>
                    </a:p>
                  </a:txBody>
                  <a:tcPr marL="6667" marR="6667" marT="6667" marB="0" anchor="ctr">
                    <a:lnL>
                      <a:noFill/>
                    </a:lnL>
                    <a:lnR>
                      <a:noFill/>
                    </a:lnR>
                    <a:lnT>
                      <a:noFill/>
                    </a:lnT>
                    <a:lnB>
                      <a:noFill/>
                    </a:lnB>
                    <a:noFill/>
                  </a:tcPr>
                </a:tc>
                <a:tc>
                  <a:txBody>
                    <a:bodyPr/>
                    <a:lstStyle/>
                    <a:p>
                      <a:pPr algn="ctr" fontAlgn="ctr"/>
                      <a:r>
                        <a:rPr lang="en-US" altLang="zh-CN" sz="1400" b="0" i="0">
                          <a:solidFill>
                            <a:srgbClr val="000000"/>
                          </a:solidFill>
                          <a:latin typeface="Times New Roman" panose="02020603050405020304"/>
                          <a:ea typeface="Times New Roman" panose="02020603050405020304"/>
                        </a:rPr>
                        <a:t>374989.79</a:t>
                      </a:r>
                    </a:p>
                  </a:txBody>
                  <a:tcPr marL="6667" marR="6667" marT="6667" marB="0" anchor="ctr">
                    <a:lnL>
                      <a:noFill/>
                    </a:lnL>
                    <a:lnR>
                      <a:noFill/>
                    </a:lnR>
                    <a:lnT>
                      <a:noFill/>
                    </a:lnT>
                    <a:lnB>
                      <a:noFill/>
                    </a:lnB>
                    <a:noFill/>
                  </a:tcPr>
                </a:tc>
                <a:tc>
                  <a:txBody>
                    <a:bodyPr/>
                    <a:lstStyle/>
                    <a:p>
                      <a:pPr algn="ctr" fontAlgn="ctr"/>
                      <a:r>
                        <a:rPr lang="en-US" altLang="zh-CN" sz="1400" b="0" i="0">
                          <a:solidFill>
                            <a:srgbClr val="000000"/>
                          </a:solidFill>
                          <a:latin typeface="Times New Roman" panose="02020603050405020304"/>
                          <a:ea typeface="Times New Roman" panose="02020603050405020304"/>
                        </a:rPr>
                        <a:t>369162.16</a:t>
                      </a:r>
                    </a:p>
                  </a:txBody>
                  <a:tcPr marL="6667" marR="6667" marT="6667" marB="0" anchor="ctr">
                    <a:lnL>
                      <a:noFill/>
                    </a:lnL>
                    <a:lnR>
                      <a:noFill/>
                    </a:lnR>
                    <a:lnT>
                      <a:noFill/>
                    </a:lnT>
                    <a:lnB>
                      <a:noFill/>
                    </a:lnB>
                    <a:noFill/>
                  </a:tcPr>
                </a:tc>
                <a:tc>
                  <a:txBody>
                    <a:bodyPr/>
                    <a:lstStyle/>
                    <a:p>
                      <a:pPr algn="ctr" fontAlgn="ctr"/>
                      <a:r>
                        <a:rPr lang="en-US" altLang="zh-CN" sz="1400" b="0" i="0">
                          <a:solidFill>
                            <a:srgbClr val="000000"/>
                          </a:solidFill>
                          <a:latin typeface="Times New Roman" panose="02020603050405020304"/>
                          <a:ea typeface="Times New Roman" panose="02020603050405020304"/>
                        </a:rPr>
                        <a:t>67.16</a:t>
                      </a:r>
                    </a:p>
                  </a:txBody>
                  <a:tcPr marL="6667" marR="6667" marT="6667" marB="0" anchor="ctr">
                    <a:lnL>
                      <a:noFill/>
                    </a:lnL>
                    <a:lnR>
                      <a:noFill/>
                    </a:lnR>
                    <a:lnT>
                      <a:noFill/>
                    </a:lnT>
                    <a:lnB>
                      <a:noFill/>
                    </a:lnB>
                    <a:noFill/>
                  </a:tcPr>
                </a:tc>
                <a:extLst>
                  <a:ext uri="{0D108BD9-81ED-4DB2-BD59-A6C34878D82A}">
                    <a16:rowId xmlns:a16="http://schemas.microsoft.com/office/drawing/2014/main" val="10003"/>
                  </a:ext>
                </a:extLst>
              </a:tr>
              <a:tr h="407670">
                <a:tc>
                  <a:txBody>
                    <a:bodyPr/>
                    <a:lstStyle/>
                    <a:p>
                      <a:pPr algn="l" fontAlgn="ctr"/>
                      <a:r>
                        <a:rPr lang="en-US" altLang="zh-CN" sz="1400" b="0" i="0">
                          <a:solidFill>
                            <a:srgbClr val="000000"/>
                          </a:solidFill>
                          <a:latin typeface="Times New Roman" panose="02020603050405020304"/>
                          <a:ea typeface="Times New Roman" panose="02020603050405020304"/>
                        </a:rPr>
                        <a:t>ElasticNet</a:t>
                      </a:r>
                    </a:p>
                  </a:txBody>
                  <a:tcPr marL="6667" marR="6667" marT="6667" marB="0" anchor="ctr">
                    <a:lnL>
                      <a:noFill/>
                    </a:lnL>
                    <a:lnR>
                      <a:noFill/>
                    </a:lnR>
                    <a:lnT>
                      <a:noFill/>
                    </a:lnT>
                    <a:lnB>
                      <a:noFill/>
                    </a:lnB>
                    <a:noFill/>
                  </a:tcPr>
                </a:tc>
                <a:tc>
                  <a:txBody>
                    <a:bodyPr/>
                    <a:lstStyle/>
                    <a:p>
                      <a:pPr algn="ctr" fontAlgn="ctr"/>
                      <a:r>
                        <a:rPr lang="en-US" altLang="zh-CN" sz="1400" b="0" i="0">
                          <a:solidFill>
                            <a:srgbClr val="000000"/>
                          </a:solidFill>
                          <a:latin typeface="Times New Roman" panose="02020603050405020304"/>
                          <a:ea typeface="Times New Roman" panose="02020603050405020304"/>
                        </a:rPr>
                        <a:t>369774.26</a:t>
                      </a:r>
                    </a:p>
                  </a:txBody>
                  <a:tcPr marL="6667" marR="6667" marT="6667" marB="0" anchor="ctr">
                    <a:lnL>
                      <a:noFill/>
                    </a:lnL>
                    <a:lnR>
                      <a:noFill/>
                    </a:lnR>
                    <a:lnT>
                      <a:noFill/>
                    </a:lnT>
                    <a:lnB>
                      <a:noFill/>
                    </a:lnB>
                    <a:solidFill>
                      <a:srgbClr val="FFFFFF"/>
                    </a:solidFill>
                  </a:tcPr>
                </a:tc>
                <a:tc>
                  <a:txBody>
                    <a:bodyPr/>
                    <a:lstStyle/>
                    <a:p>
                      <a:pPr algn="ctr" fontAlgn="ctr"/>
                      <a:r>
                        <a:rPr lang="en-US" altLang="zh-CN" sz="1400" b="0" i="0">
                          <a:solidFill>
                            <a:srgbClr val="000000"/>
                          </a:solidFill>
                          <a:latin typeface="Times New Roman" panose="02020603050405020304"/>
                          <a:ea typeface="Times New Roman" panose="02020603050405020304"/>
                        </a:rPr>
                        <a:t>375548.83</a:t>
                      </a:r>
                    </a:p>
                  </a:txBody>
                  <a:tcPr marL="6667" marR="6667" marT="6667" marB="0" anchor="ctr">
                    <a:lnL>
                      <a:noFill/>
                    </a:lnL>
                    <a:lnR>
                      <a:noFill/>
                    </a:lnR>
                    <a:lnT>
                      <a:noFill/>
                    </a:lnT>
                    <a:lnB>
                      <a:noFill/>
                    </a:lnB>
                    <a:noFill/>
                  </a:tcPr>
                </a:tc>
                <a:tc>
                  <a:txBody>
                    <a:bodyPr/>
                    <a:lstStyle/>
                    <a:p>
                      <a:pPr algn="ctr" fontAlgn="ctr"/>
                      <a:r>
                        <a:rPr lang="en-US" altLang="zh-CN" sz="1400" b="0" i="0">
                          <a:solidFill>
                            <a:srgbClr val="000000"/>
                          </a:solidFill>
                          <a:latin typeface="Times New Roman" panose="02020603050405020304"/>
                          <a:ea typeface="Times New Roman" panose="02020603050405020304"/>
                        </a:rPr>
                        <a:t>369135.69</a:t>
                      </a:r>
                    </a:p>
                  </a:txBody>
                  <a:tcPr marL="6667" marR="6667" marT="6667" marB="0" anchor="ctr">
                    <a:lnL>
                      <a:noFill/>
                    </a:lnL>
                    <a:lnR>
                      <a:noFill/>
                    </a:lnR>
                    <a:lnT>
                      <a:noFill/>
                    </a:lnT>
                    <a:lnB>
                      <a:noFill/>
                    </a:lnB>
                    <a:noFill/>
                  </a:tcPr>
                </a:tc>
                <a:tc>
                  <a:txBody>
                    <a:bodyPr/>
                    <a:lstStyle/>
                    <a:p>
                      <a:pPr algn="ctr" fontAlgn="ctr"/>
                      <a:r>
                        <a:rPr lang="en-US" altLang="zh-CN" sz="1400" b="0" i="0" dirty="0">
                          <a:solidFill>
                            <a:srgbClr val="000000"/>
                          </a:solidFill>
                          <a:latin typeface="Times New Roman" panose="02020603050405020304"/>
                          <a:ea typeface="Times New Roman" panose="02020603050405020304"/>
                        </a:rPr>
                        <a:t>68.61</a:t>
                      </a:r>
                    </a:p>
                  </a:txBody>
                  <a:tcPr marL="6667" marR="6667" marT="6667" marB="0" anchor="ctr">
                    <a:lnL>
                      <a:noFill/>
                    </a:lnL>
                    <a:lnR>
                      <a:noFill/>
                    </a:lnR>
                    <a:lnT>
                      <a:noFill/>
                    </a:lnT>
                    <a:lnB>
                      <a:noFill/>
                    </a:lnB>
                    <a:noFill/>
                  </a:tcPr>
                </a:tc>
                <a:extLst>
                  <a:ext uri="{0D108BD9-81ED-4DB2-BD59-A6C34878D82A}">
                    <a16:rowId xmlns:a16="http://schemas.microsoft.com/office/drawing/2014/main" val="10004"/>
                  </a:ext>
                </a:extLst>
              </a:tr>
            </a:tbl>
          </a:graphicData>
        </a:graphic>
      </p:graphicFrame>
      <p:sp>
        <p:nvSpPr>
          <p:cNvPr id="10" name="文本框 9"/>
          <p:cNvSpPr txBox="1"/>
          <p:nvPr/>
        </p:nvSpPr>
        <p:spPr>
          <a:xfrm>
            <a:off x="1416685" y="648335"/>
            <a:ext cx="2447925" cy="460375"/>
          </a:xfrm>
          <a:prstGeom prst="rect">
            <a:avLst/>
          </a:prstGeom>
          <a:noFill/>
        </p:spPr>
        <p:txBody>
          <a:bodyPr wrap="square" rtlCol="0">
            <a:spAutoFit/>
          </a:bodyPr>
          <a:lstStyle/>
          <a:p>
            <a:r>
              <a:rPr lang="en-US" altLang="zh-CN" sz="2400" dirty="0">
                <a:latin typeface="Times New Roman" panose="02020603050405020304" charset="0"/>
                <a:cs typeface="Times New Roman" panose="02020603050405020304" charset="0"/>
              </a:rPr>
              <a:t>Price Model</a:t>
            </a:r>
          </a:p>
        </p:txBody>
      </p:sp>
      <p:graphicFrame>
        <p:nvGraphicFramePr>
          <p:cNvPr id="11" name="表格 10"/>
          <p:cNvGraphicFramePr/>
          <p:nvPr>
            <p:custDataLst>
              <p:tags r:id="rId1"/>
            </p:custDataLst>
          </p:nvPr>
        </p:nvGraphicFramePr>
        <p:xfrm>
          <a:off x="6405245" y="1109345"/>
          <a:ext cx="5117465" cy="2193925"/>
        </p:xfrm>
        <a:graphic>
          <a:graphicData uri="http://schemas.openxmlformats.org/drawingml/2006/table">
            <a:tbl>
              <a:tblPr/>
              <a:tblGrid>
                <a:gridCol w="925195">
                  <a:extLst>
                    <a:ext uri="{9D8B030D-6E8A-4147-A177-3AD203B41FA5}">
                      <a16:colId xmlns:a16="http://schemas.microsoft.com/office/drawing/2014/main" val="20000"/>
                    </a:ext>
                  </a:extLst>
                </a:gridCol>
                <a:gridCol w="925195">
                  <a:extLst>
                    <a:ext uri="{9D8B030D-6E8A-4147-A177-3AD203B41FA5}">
                      <a16:colId xmlns:a16="http://schemas.microsoft.com/office/drawing/2014/main" val="20001"/>
                    </a:ext>
                  </a:extLst>
                </a:gridCol>
                <a:gridCol w="925830">
                  <a:extLst>
                    <a:ext uri="{9D8B030D-6E8A-4147-A177-3AD203B41FA5}">
                      <a16:colId xmlns:a16="http://schemas.microsoft.com/office/drawing/2014/main" val="20002"/>
                    </a:ext>
                  </a:extLst>
                </a:gridCol>
                <a:gridCol w="1171575">
                  <a:extLst>
                    <a:ext uri="{9D8B030D-6E8A-4147-A177-3AD203B41FA5}">
                      <a16:colId xmlns:a16="http://schemas.microsoft.com/office/drawing/2014/main" val="20003"/>
                    </a:ext>
                  </a:extLst>
                </a:gridCol>
                <a:gridCol w="1169670">
                  <a:extLst>
                    <a:ext uri="{9D8B030D-6E8A-4147-A177-3AD203B41FA5}">
                      <a16:colId xmlns:a16="http://schemas.microsoft.com/office/drawing/2014/main" val="20004"/>
                    </a:ext>
                  </a:extLst>
                </a:gridCol>
              </a:tblGrid>
              <a:tr h="705485">
                <a:tc>
                  <a:txBody>
                    <a:bodyPr/>
                    <a:lstStyle/>
                    <a:p>
                      <a:pPr algn="l" fontAlgn="ctr"/>
                      <a:r>
                        <a:rPr lang="en-US" altLang="zh-CN" sz="1400" b="0" i="0">
                          <a:solidFill>
                            <a:srgbClr val="000000"/>
                          </a:solidFill>
                          <a:latin typeface="Times New Roman" panose="02020603050405020304"/>
                          <a:ea typeface="Times New Roman" panose="02020603050405020304"/>
                        </a:rPr>
                        <a:t>Metrics</a:t>
                      </a:r>
                    </a:p>
                  </a:txBody>
                  <a:tcPr marL="6667" marR="6667" marT="6667" marB="0" anchor="ctr">
                    <a:lnL>
                      <a:noFill/>
                    </a:lnL>
                    <a:lnR>
                      <a:noFill/>
                    </a:lnR>
                    <a:lnT>
                      <a:noFill/>
                    </a:lnT>
                    <a:lnB>
                      <a:noFill/>
                    </a:lnB>
                    <a:noFill/>
                  </a:tcPr>
                </a:tc>
                <a:tc>
                  <a:txBody>
                    <a:bodyPr/>
                    <a:lstStyle/>
                    <a:p>
                      <a:pPr algn="ctr" fontAlgn="ctr"/>
                      <a:r>
                        <a:rPr lang="en-US" altLang="zh-CN" sz="1400" b="0" i="0">
                          <a:solidFill>
                            <a:srgbClr val="000000"/>
                          </a:solidFill>
                          <a:latin typeface="Times New Roman" panose="02020603050405020304"/>
                          <a:ea typeface="Times New Roman" panose="02020603050405020304"/>
                        </a:rPr>
                        <a:t>In Sample</a:t>
                      </a:r>
                    </a:p>
                  </a:txBody>
                  <a:tcPr marL="6667" marR="6667" marT="6667" marB="0" anchor="ctr">
                    <a:lnL>
                      <a:noFill/>
                    </a:lnL>
                    <a:lnR>
                      <a:noFill/>
                    </a:lnR>
                    <a:lnT>
                      <a:noFill/>
                    </a:lnT>
                    <a:lnB>
                      <a:noFill/>
                    </a:lnB>
                    <a:noFill/>
                  </a:tcPr>
                </a:tc>
                <a:tc>
                  <a:txBody>
                    <a:bodyPr/>
                    <a:lstStyle/>
                    <a:p>
                      <a:pPr algn="ctr" fontAlgn="ctr"/>
                      <a:r>
                        <a:rPr lang="en-US" altLang="zh-CN" sz="1400" b="0" i="0">
                          <a:solidFill>
                            <a:srgbClr val="000000"/>
                          </a:solidFill>
                          <a:latin typeface="Times New Roman" panose="02020603050405020304"/>
                          <a:ea typeface="Times New Roman" panose="02020603050405020304"/>
                        </a:rPr>
                        <a:t>Out of Sample</a:t>
                      </a:r>
                    </a:p>
                  </a:txBody>
                  <a:tcPr marL="6667" marR="6667" marT="6667" marB="0" anchor="ctr">
                    <a:lnL>
                      <a:noFill/>
                    </a:lnL>
                    <a:lnR>
                      <a:noFill/>
                    </a:lnR>
                    <a:lnT>
                      <a:noFill/>
                    </a:lnT>
                    <a:lnB>
                      <a:noFill/>
                    </a:lnB>
                    <a:noFill/>
                  </a:tcPr>
                </a:tc>
                <a:tc>
                  <a:txBody>
                    <a:bodyPr/>
                    <a:lstStyle/>
                    <a:p>
                      <a:pPr algn="ctr" fontAlgn="ctr"/>
                      <a:r>
                        <a:rPr lang="en-US" altLang="zh-CN" sz="1400" b="0" i="0">
                          <a:solidFill>
                            <a:srgbClr val="000000"/>
                          </a:solidFill>
                          <a:latin typeface="Times New Roman" panose="02020603050405020304"/>
                          <a:ea typeface="Times New Roman" panose="02020603050405020304"/>
                        </a:rPr>
                        <a:t>Cross-validation</a:t>
                      </a:r>
                    </a:p>
                  </a:txBody>
                  <a:tcPr marL="6667" marR="6667" marT="6667" marB="0" anchor="ctr">
                    <a:lnL>
                      <a:noFill/>
                    </a:lnL>
                    <a:lnR>
                      <a:noFill/>
                    </a:lnR>
                    <a:lnT>
                      <a:noFill/>
                    </a:lnT>
                    <a:lnB>
                      <a:noFill/>
                    </a:lnB>
                    <a:noFill/>
                  </a:tcPr>
                </a:tc>
                <a:tc>
                  <a:txBody>
                    <a:bodyPr/>
                    <a:lstStyle/>
                    <a:p>
                      <a:pPr algn="ctr" fontAlgn="ctr"/>
                      <a:r>
                        <a:rPr lang="en-US" altLang="zh-CN" sz="1400" b="0" i="0">
                          <a:solidFill>
                            <a:srgbClr val="000000"/>
                          </a:solidFill>
                          <a:latin typeface="Times New Roman" panose="02020603050405020304"/>
                          <a:ea typeface="Times New Roman" panose="02020603050405020304"/>
                        </a:rPr>
                        <a:t>Kaggle Score</a:t>
                      </a:r>
                    </a:p>
                  </a:txBody>
                  <a:tcPr marL="6667" marR="6667" marT="6667" marB="0" anchor="ctr">
                    <a:lnL>
                      <a:noFill/>
                    </a:lnL>
                    <a:lnR>
                      <a:noFill/>
                    </a:lnR>
                    <a:lnT>
                      <a:noFill/>
                    </a:lnT>
                    <a:lnB>
                      <a:noFill/>
                    </a:lnB>
                    <a:noFill/>
                  </a:tcPr>
                </a:tc>
                <a:extLst>
                  <a:ext uri="{0D108BD9-81ED-4DB2-BD59-A6C34878D82A}">
                    <a16:rowId xmlns:a16="http://schemas.microsoft.com/office/drawing/2014/main" val="10000"/>
                  </a:ext>
                </a:extLst>
              </a:tr>
              <a:tr h="370840">
                <a:tc>
                  <a:txBody>
                    <a:bodyPr/>
                    <a:lstStyle/>
                    <a:p>
                      <a:pPr algn="l" fontAlgn="ctr"/>
                      <a:r>
                        <a:rPr lang="en-US" altLang="zh-CN" sz="1400" b="0" i="0">
                          <a:solidFill>
                            <a:srgbClr val="000000"/>
                          </a:solidFill>
                          <a:latin typeface="Times New Roman" panose="02020603050405020304"/>
                          <a:ea typeface="Times New Roman" panose="02020603050405020304"/>
                        </a:rPr>
                        <a:t>OLS</a:t>
                      </a:r>
                    </a:p>
                  </a:txBody>
                  <a:tcPr marL="6667" marR="6667" marT="6667" marB="0" anchor="ctr">
                    <a:lnL>
                      <a:noFill/>
                    </a:lnL>
                    <a:lnR>
                      <a:noFill/>
                    </a:lnR>
                    <a:lnT>
                      <a:noFill/>
                    </a:lnT>
                    <a:lnB>
                      <a:noFill/>
                    </a:lnB>
                    <a:noFill/>
                  </a:tcPr>
                </a:tc>
                <a:tc>
                  <a:txBody>
                    <a:bodyPr/>
                    <a:lstStyle/>
                    <a:p>
                      <a:pPr algn="ctr" fontAlgn="ctr"/>
                      <a:r>
                        <a:rPr lang="en-US" altLang="zh-CN" sz="1400" b="0" i="0">
                          <a:solidFill>
                            <a:srgbClr val="000000"/>
                          </a:solidFill>
                          <a:latin typeface="Times New Roman" panose="02020603050405020304"/>
                          <a:ea typeface="Times New Roman" panose="02020603050405020304"/>
                        </a:rPr>
                        <a:t>89436.09</a:t>
                      </a:r>
                    </a:p>
                  </a:txBody>
                  <a:tcPr marL="6667" marR="6667" marT="6667" marB="0" anchor="ctr">
                    <a:lnL>
                      <a:noFill/>
                    </a:lnL>
                    <a:lnR>
                      <a:noFill/>
                    </a:lnR>
                    <a:lnT>
                      <a:noFill/>
                    </a:lnT>
                    <a:lnB>
                      <a:noFill/>
                    </a:lnB>
                    <a:noFill/>
                  </a:tcPr>
                </a:tc>
                <a:tc>
                  <a:txBody>
                    <a:bodyPr/>
                    <a:lstStyle/>
                    <a:p>
                      <a:pPr algn="ctr" fontAlgn="ctr"/>
                      <a:r>
                        <a:rPr lang="en-US" altLang="zh-CN" sz="1400" b="0" i="0">
                          <a:solidFill>
                            <a:srgbClr val="000000"/>
                          </a:solidFill>
                          <a:latin typeface="Times New Roman" panose="02020603050405020304"/>
                          <a:ea typeface="Times New Roman" panose="02020603050405020304"/>
                        </a:rPr>
                        <a:t>90939.98</a:t>
                      </a:r>
                    </a:p>
                  </a:txBody>
                  <a:tcPr marL="6667" marR="6667" marT="6667" marB="0" anchor="ctr">
                    <a:lnL>
                      <a:noFill/>
                    </a:lnL>
                    <a:lnR>
                      <a:noFill/>
                    </a:lnR>
                    <a:lnT>
                      <a:noFill/>
                    </a:lnT>
                    <a:lnB>
                      <a:noFill/>
                    </a:lnB>
                    <a:noFill/>
                  </a:tcPr>
                </a:tc>
                <a:tc>
                  <a:txBody>
                    <a:bodyPr/>
                    <a:lstStyle/>
                    <a:p>
                      <a:pPr algn="ctr" fontAlgn="ctr"/>
                      <a:r>
                        <a:rPr lang="en-US" altLang="zh-CN" sz="1400" b="0" i="0">
                          <a:solidFill>
                            <a:srgbClr val="000000"/>
                          </a:solidFill>
                          <a:latin typeface="Times New Roman" panose="02020603050405020304"/>
                          <a:ea typeface="Times New Roman" panose="02020603050405020304"/>
                        </a:rPr>
                        <a:t>89648.54</a:t>
                      </a:r>
                    </a:p>
                  </a:txBody>
                  <a:tcPr marL="6667" marR="6667" marT="6667" marB="0" anchor="ctr">
                    <a:lnL>
                      <a:noFill/>
                    </a:lnL>
                    <a:lnR>
                      <a:noFill/>
                    </a:lnR>
                    <a:lnT>
                      <a:noFill/>
                    </a:lnT>
                    <a:lnB>
                      <a:noFill/>
                    </a:lnB>
                    <a:noFill/>
                  </a:tcPr>
                </a:tc>
                <a:tc>
                  <a:txBody>
                    <a:bodyPr/>
                    <a:lstStyle/>
                    <a:p>
                      <a:pPr algn="ctr" fontAlgn="ctr"/>
                      <a:r>
                        <a:rPr lang="en-US" altLang="zh-CN" sz="1400" b="0" i="0">
                          <a:solidFill>
                            <a:srgbClr val="000000"/>
                          </a:solidFill>
                          <a:latin typeface="Times New Roman" panose="02020603050405020304"/>
                          <a:ea typeface="Times New Roman" panose="02020603050405020304"/>
                        </a:rPr>
                        <a:t>67.78</a:t>
                      </a:r>
                    </a:p>
                  </a:txBody>
                  <a:tcPr marL="6667" marR="6667" marT="6667" marB="0" anchor="ctr">
                    <a:lnL>
                      <a:noFill/>
                    </a:lnL>
                    <a:lnR>
                      <a:noFill/>
                    </a:lnR>
                    <a:lnT>
                      <a:noFill/>
                    </a:lnT>
                    <a:lnB>
                      <a:noFill/>
                    </a:lnB>
                    <a:solidFill>
                      <a:srgbClr val="FFFFFF"/>
                    </a:solidFill>
                  </a:tcPr>
                </a:tc>
                <a:extLst>
                  <a:ext uri="{0D108BD9-81ED-4DB2-BD59-A6C34878D82A}">
                    <a16:rowId xmlns:a16="http://schemas.microsoft.com/office/drawing/2014/main" val="10001"/>
                  </a:ext>
                </a:extLst>
              </a:tr>
              <a:tr h="372745">
                <a:tc>
                  <a:txBody>
                    <a:bodyPr/>
                    <a:lstStyle/>
                    <a:p>
                      <a:pPr algn="l" fontAlgn="ctr"/>
                      <a:r>
                        <a:rPr lang="en-US" altLang="zh-CN" sz="1400" b="0" i="0">
                          <a:solidFill>
                            <a:srgbClr val="000000"/>
                          </a:solidFill>
                          <a:latin typeface="Times New Roman" panose="02020603050405020304"/>
                          <a:ea typeface="Times New Roman" panose="02020603050405020304"/>
                        </a:rPr>
                        <a:t>Lasso</a:t>
                      </a:r>
                    </a:p>
                  </a:txBody>
                  <a:tcPr marL="6667" marR="6667" marT="6667" marB="0" anchor="ctr">
                    <a:lnL>
                      <a:noFill/>
                    </a:lnL>
                    <a:lnR>
                      <a:noFill/>
                    </a:lnR>
                    <a:lnT>
                      <a:noFill/>
                    </a:lnT>
                    <a:lnB>
                      <a:noFill/>
                    </a:lnB>
                    <a:noFill/>
                  </a:tcPr>
                </a:tc>
                <a:tc>
                  <a:txBody>
                    <a:bodyPr/>
                    <a:lstStyle/>
                    <a:p>
                      <a:pPr algn="ctr" fontAlgn="ctr"/>
                      <a:r>
                        <a:rPr lang="en-US" altLang="zh-CN" sz="1400" b="0" i="0">
                          <a:solidFill>
                            <a:srgbClr val="000000"/>
                          </a:solidFill>
                          <a:latin typeface="Times New Roman" panose="02020603050405020304"/>
                          <a:ea typeface="Times New Roman" panose="02020603050405020304"/>
                        </a:rPr>
                        <a:t>91935.42</a:t>
                      </a:r>
                    </a:p>
                  </a:txBody>
                  <a:tcPr marL="6667" marR="6667" marT="6667" marB="0" anchor="ctr">
                    <a:lnL>
                      <a:noFill/>
                    </a:lnL>
                    <a:lnR>
                      <a:noFill/>
                    </a:lnR>
                    <a:lnT>
                      <a:noFill/>
                    </a:lnT>
                    <a:lnB>
                      <a:noFill/>
                    </a:lnB>
                    <a:solidFill>
                      <a:srgbClr val="FFFFFF"/>
                    </a:solidFill>
                  </a:tcPr>
                </a:tc>
                <a:tc>
                  <a:txBody>
                    <a:bodyPr/>
                    <a:lstStyle/>
                    <a:p>
                      <a:pPr algn="ctr" fontAlgn="ctr"/>
                      <a:r>
                        <a:rPr lang="en-US" altLang="zh-CN" sz="1400" b="0" i="0">
                          <a:solidFill>
                            <a:srgbClr val="000000"/>
                          </a:solidFill>
                          <a:latin typeface="Times New Roman" panose="02020603050405020304"/>
                          <a:ea typeface="Times New Roman" panose="02020603050405020304"/>
                        </a:rPr>
                        <a:t>93635.33</a:t>
                      </a:r>
                    </a:p>
                  </a:txBody>
                  <a:tcPr marL="6667" marR="6667" marT="6667" marB="0" anchor="ctr">
                    <a:lnL>
                      <a:noFill/>
                    </a:lnL>
                    <a:lnR>
                      <a:noFill/>
                    </a:lnR>
                    <a:lnT>
                      <a:noFill/>
                    </a:lnT>
                    <a:lnB>
                      <a:noFill/>
                    </a:lnB>
                    <a:noFill/>
                  </a:tcPr>
                </a:tc>
                <a:tc>
                  <a:txBody>
                    <a:bodyPr/>
                    <a:lstStyle/>
                    <a:p>
                      <a:pPr algn="ctr" fontAlgn="ctr"/>
                      <a:r>
                        <a:rPr lang="en-US" altLang="zh-CN" sz="1400" b="0" i="0">
                          <a:solidFill>
                            <a:srgbClr val="000000"/>
                          </a:solidFill>
                          <a:latin typeface="Times New Roman" panose="02020603050405020304"/>
                          <a:ea typeface="Times New Roman" panose="02020603050405020304"/>
                        </a:rPr>
                        <a:t>91935.42</a:t>
                      </a:r>
                    </a:p>
                  </a:txBody>
                  <a:tcPr marL="6667" marR="6667" marT="6667" marB="0" anchor="ctr">
                    <a:lnL>
                      <a:noFill/>
                    </a:lnL>
                    <a:lnR>
                      <a:noFill/>
                    </a:lnR>
                    <a:lnT>
                      <a:noFill/>
                    </a:lnT>
                    <a:lnB>
                      <a:noFill/>
                    </a:lnB>
                    <a:noFill/>
                  </a:tcPr>
                </a:tc>
                <a:tc>
                  <a:txBody>
                    <a:bodyPr/>
                    <a:lstStyle/>
                    <a:p>
                      <a:pPr algn="ctr" fontAlgn="ctr"/>
                      <a:r>
                        <a:rPr lang="en-US" altLang="zh-CN" sz="1400" b="0" i="0">
                          <a:solidFill>
                            <a:srgbClr val="000000"/>
                          </a:solidFill>
                          <a:latin typeface="Times New Roman" panose="02020603050405020304"/>
                          <a:ea typeface="Times New Roman" panose="02020603050405020304"/>
                        </a:rPr>
                        <a:t>66.93</a:t>
                      </a:r>
                    </a:p>
                  </a:txBody>
                  <a:tcPr marL="6667" marR="6667" marT="6667" marB="0" anchor="ctr">
                    <a:lnL>
                      <a:noFill/>
                    </a:lnL>
                    <a:lnR>
                      <a:noFill/>
                    </a:lnR>
                    <a:lnT>
                      <a:noFill/>
                    </a:lnT>
                    <a:lnB>
                      <a:noFill/>
                    </a:lnB>
                    <a:noFill/>
                  </a:tcPr>
                </a:tc>
                <a:extLst>
                  <a:ext uri="{0D108BD9-81ED-4DB2-BD59-A6C34878D82A}">
                    <a16:rowId xmlns:a16="http://schemas.microsoft.com/office/drawing/2014/main" val="10002"/>
                  </a:ext>
                </a:extLst>
              </a:tr>
              <a:tr h="372745">
                <a:tc>
                  <a:txBody>
                    <a:bodyPr/>
                    <a:lstStyle/>
                    <a:p>
                      <a:pPr algn="l" fontAlgn="ctr"/>
                      <a:r>
                        <a:rPr lang="en-US" altLang="zh-CN" sz="1400" b="0" i="0">
                          <a:solidFill>
                            <a:srgbClr val="000000"/>
                          </a:solidFill>
                          <a:latin typeface="Times New Roman" panose="02020603050405020304"/>
                          <a:ea typeface="Times New Roman" panose="02020603050405020304"/>
                        </a:rPr>
                        <a:t>Ridge</a:t>
                      </a:r>
                    </a:p>
                  </a:txBody>
                  <a:tcPr marL="6667" marR="6667" marT="6667" marB="0" anchor="ctr">
                    <a:lnL>
                      <a:noFill/>
                    </a:lnL>
                    <a:lnR>
                      <a:noFill/>
                    </a:lnR>
                    <a:lnT>
                      <a:noFill/>
                    </a:lnT>
                    <a:lnB>
                      <a:noFill/>
                    </a:lnB>
                    <a:noFill/>
                  </a:tcPr>
                </a:tc>
                <a:tc>
                  <a:txBody>
                    <a:bodyPr/>
                    <a:lstStyle/>
                    <a:p>
                      <a:pPr algn="ctr" fontAlgn="ctr"/>
                      <a:r>
                        <a:rPr lang="en-US" altLang="zh-CN" sz="1400" b="0" i="0">
                          <a:solidFill>
                            <a:srgbClr val="000000"/>
                          </a:solidFill>
                          <a:latin typeface="Times New Roman" panose="02020603050405020304"/>
                          <a:ea typeface="Times New Roman" panose="02020603050405020304"/>
                        </a:rPr>
                        <a:t>89440.21</a:t>
                      </a:r>
                    </a:p>
                  </a:txBody>
                  <a:tcPr marL="6667" marR="6667" marT="6667" marB="0" anchor="ctr">
                    <a:lnL>
                      <a:noFill/>
                    </a:lnL>
                    <a:lnR>
                      <a:noFill/>
                    </a:lnR>
                    <a:lnT>
                      <a:noFill/>
                    </a:lnT>
                    <a:lnB>
                      <a:noFill/>
                    </a:lnB>
                    <a:noFill/>
                  </a:tcPr>
                </a:tc>
                <a:tc>
                  <a:txBody>
                    <a:bodyPr/>
                    <a:lstStyle/>
                    <a:p>
                      <a:pPr algn="ctr" fontAlgn="ctr"/>
                      <a:r>
                        <a:rPr lang="en-US" altLang="zh-CN" sz="1400" b="0" i="0">
                          <a:solidFill>
                            <a:srgbClr val="000000"/>
                          </a:solidFill>
                          <a:latin typeface="Times New Roman" panose="02020603050405020304"/>
                          <a:ea typeface="Times New Roman" panose="02020603050405020304"/>
                        </a:rPr>
                        <a:t>90955.11</a:t>
                      </a:r>
                    </a:p>
                  </a:txBody>
                  <a:tcPr marL="6667" marR="6667" marT="6667" marB="0" anchor="ctr">
                    <a:lnL>
                      <a:noFill/>
                    </a:lnL>
                    <a:lnR>
                      <a:noFill/>
                    </a:lnR>
                    <a:lnT>
                      <a:noFill/>
                    </a:lnT>
                    <a:lnB>
                      <a:noFill/>
                    </a:lnB>
                    <a:noFill/>
                  </a:tcPr>
                </a:tc>
                <a:tc>
                  <a:txBody>
                    <a:bodyPr/>
                    <a:lstStyle/>
                    <a:p>
                      <a:pPr algn="ctr" fontAlgn="ctr"/>
                      <a:r>
                        <a:rPr lang="en-US" altLang="zh-CN" sz="1400" b="0" i="0">
                          <a:solidFill>
                            <a:srgbClr val="000000"/>
                          </a:solidFill>
                          <a:latin typeface="Times New Roman" panose="02020603050405020304"/>
                          <a:ea typeface="Times New Roman" panose="02020603050405020304"/>
                        </a:rPr>
                        <a:t>89440.21</a:t>
                      </a:r>
                    </a:p>
                  </a:txBody>
                  <a:tcPr marL="6667" marR="6667" marT="6667" marB="0" anchor="ctr">
                    <a:lnL>
                      <a:noFill/>
                    </a:lnL>
                    <a:lnR>
                      <a:noFill/>
                    </a:lnR>
                    <a:lnT>
                      <a:noFill/>
                    </a:lnT>
                    <a:lnB>
                      <a:noFill/>
                    </a:lnB>
                    <a:noFill/>
                  </a:tcPr>
                </a:tc>
                <a:tc>
                  <a:txBody>
                    <a:bodyPr/>
                    <a:lstStyle/>
                    <a:p>
                      <a:pPr algn="ctr" fontAlgn="ctr"/>
                      <a:r>
                        <a:rPr lang="en-US" altLang="zh-CN" sz="1400" b="0" i="0">
                          <a:solidFill>
                            <a:srgbClr val="000000"/>
                          </a:solidFill>
                          <a:latin typeface="Times New Roman" panose="02020603050405020304"/>
                          <a:ea typeface="Times New Roman" panose="02020603050405020304"/>
                        </a:rPr>
                        <a:t>67.16</a:t>
                      </a:r>
                    </a:p>
                  </a:txBody>
                  <a:tcPr marL="6667" marR="6667" marT="6667" marB="0" anchor="ctr">
                    <a:lnL>
                      <a:noFill/>
                    </a:lnL>
                    <a:lnR>
                      <a:noFill/>
                    </a:lnR>
                    <a:lnT>
                      <a:noFill/>
                    </a:lnT>
                    <a:lnB>
                      <a:noFill/>
                    </a:lnB>
                    <a:noFill/>
                  </a:tcPr>
                </a:tc>
                <a:extLst>
                  <a:ext uri="{0D108BD9-81ED-4DB2-BD59-A6C34878D82A}">
                    <a16:rowId xmlns:a16="http://schemas.microsoft.com/office/drawing/2014/main" val="10003"/>
                  </a:ext>
                </a:extLst>
              </a:tr>
              <a:tr h="372110">
                <a:tc>
                  <a:txBody>
                    <a:bodyPr/>
                    <a:lstStyle/>
                    <a:p>
                      <a:pPr algn="l" fontAlgn="ctr"/>
                      <a:r>
                        <a:rPr lang="en-US" altLang="zh-CN" sz="1400" b="0" i="0">
                          <a:solidFill>
                            <a:srgbClr val="000000"/>
                          </a:solidFill>
                          <a:latin typeface="Times New Roman" panose="02020603050405020304"/>
                          <a:ea typeface="Times New Roman" panose="02020603050405020304"/>
                        </a:rPr>
                        <a:t>ElasticNet</a:t>
                      </a:r>
                    </a:p>
                  </a:txBody>
                  <a:tcPr marL="6667" marR="6667" marT="6667" marB="0" anchor="ctr">
                    <a:lnL>
                      <a:noFill/>
                    </a:lnL>
                    <a:lnR>
                      <a:noFill/>
                    </a:lnR>
                    <a:lnT>
                      <a:noFill/>
                    </a:lnT>
                    <a:lnB>
                      <a:noFill/>
                    </a:lnB>
                    <a:noFill/>
                  </a:tcPr>
                </a:tc>
                <a:tc>
                  <a:txBody>
                    <a:bodyPr/>
                    <a:lstStyle/>
                    <a:p>
                      <a:pPr algn="ctr" fontAlgn="ctr"/>
                      <a:r>
                        <a:rPr lang="en-US" altLang="zh-CN" sz="1400" b="0" i="0">
                          <a:solidFill>
                            <a:srgbClr val="000000"/>
                          </a:solidFill>
                          <a:latin typeface="Times New Roman" panose="02020603050405020304"/>
                          <a:ea typeface="Times New Roman" panose="02020603050405020304"/>
                        </a:rPr>
                        <a:t>89807.83</a:t>
                      </a:r>
                    </a:p>
                  </a:txBody>
                  <a:tcPr marL="6667" marR="6667" marT="6667" marB="0" anchor="ctr">
                    <a:lnL>
                      <a:noFill/>
                    </a:lnL>
                    <a:lnR>
                      <a:noFill/>
                    </a:lnR>
                    <a:lnT>
                      <a:noFill/>
                    </a:lnT>
                    <a:lnB>
                      <a:noFill/>
                    </a:lnB>
                    <a:noFill/>
                  </a:tcPr>
                </a:tc>
                <a:tc>
                  <a:txBody>
                    <a:bodyPr/>
                    <a:lstStyle/>
                    <a:p>
                      <a:pPr algn="ctr" fontAlgn="ctr"/>
                      <a:r>
                        <a:rPr lang="en-US" altLang="zh-CN" sz="1400" b="0" i="0">
                          <a:solidFill>
                            <a:srgbClr val="000000"/>
                          </a:solidFill>
                          <a:latin typeface="Times New Roman" panose="02020603050405020304"/>
                          <a:ea typeface="Times New Roman" panose="02020603050405020304"/>
                        </a:rPr>
                        <a:t>91472.57</a:t>
                      </a:r>
                    </a:p>
                  </a:txBody>
                  <a:tcPr marL="6667" marR="6667" marT="6667" marB="0" anchor="ctr">
                    <a:lnL>
                      <a:noFill/>
                    </a:lnL>
                    <a:lnR>
                      <a:noFill/>
                    </a:lnR>
                    <a:lnT>
                      <a:noFill/>
                    </a:lnT>
                    <a:lnB>
                      <a:noFill/>
                    </a:lnB>
                    <a:noFill/>
                  </a:tcPr>
                </a:tc>
                <a:tc>
                  <a:txBody>
                    <a:bodyPr/>
                    <a:lstStyle/>
                    <a:p>
                      <a:pPr algn="ctr" fontAlgn="ctr"/>
                      <a:r>
                        <a:rPr lang="en-US" altLang="zh-CN" sz="1400" b="0" i="0">
                          <a:solidFill>
                            <a:srgbClr val="000000"/>
                          </a:solidFill>
                          <a:latin typeface="Times New Roman" panose="02020603050405020304"/>
                          <a:ea typeface="Times New Roman" panose="02020603050405020304"/>
                        </a:rPr>
                        <a:t>89807.83</a:t>
                      </a:r>
                    </a:p>
                  </a:txBody>
                  <a:tcPr marL="6667" marR="6667" marT="6667" marB="0" anchor="ctr">
                    <a:lnL>
                      <a:noFill/>
                    </a:lnL>
                    <a:lnR>
                      <a:noFill/>
                    </a:lnR>
                    <a:lnT>
                      <a:noFill/>
                    </a:lnT>
                    <a:lnB>
                      <a:noFill/>
                    </a:lnB>
                    <a:noFill/>
                  </a:tcPr>
                </a:tc>
                <a:tc>
                  <a:txBody>
                    <a:bodyPr/>
                    <a:lstStyle/>
                    <a:p>
                      <a:pPr algn="ctr" fontAlgn="ctr"/>
                      <a:r>
                        <a:rPr lang="en-US" altLang="zh-CN" sz="1400" b="0" i="0">
                          <a:solidFill>
                            <a:srgbClr val="000000"/>
                          </a:solidFill>
                          <a:latin typeface="Times New Roman" panose="02020603050405020304"/>
                          <a:ea typeface="Times New Roman" panose="02020603050405020304"/>
                        </a:rPr>
                        <a:t>68.61</a:t>
                      </a:r>
                    </a:p>
                  </a:txBody>
                  <a:tcPr marL="6667" marR="6667" marT="6667" marB="0" anchor="ctr">
                    <a:lnL>
                      <a:noFill/>
                    </a:lnL>
                    <a:lnR>
                      <a:noFill/>
                    </a:lnR>
                    <a:lnT>
                      <a:noFill/>
                    </a:lnT>
                    <a:lnB>
                      <a:noFill/>
                    </a:lnB>
                    <a:noFill/>
                  </a:tcPr>
                </a:tc>
                <a:extLst>
                  <a:ext uri="{0D108BD9-81ED-4DB2-BD59-A6C34878D82A}">
                    <a16:rowId xmlns:a16="http://schemas.microsoft.com/office/drawing/2014/main" val="10004"/>
                  </a:ext>
                </a:extLst>
              </a:tr>
            </a:tbl>
          </a:graphicData>
        </a:graphic>
      </p:graphicFrame>
      <p:sp>
        <p:nvSpPr>
          <p:cNvPr id="12" name="文本框 11"/>
          <p:cNvSpPr txBox="1"/>
          <p:nvPr/>
        </p:nvSpPr>
        <p:spPr>
          <a:xfrm>
            <a:off x="6417945" y="648335"/>
            <a:ext cx="2171065" cy="460375"/>
          </a:xfrm>
          <a:prstGeom prst="rect">
            <a:avLst/>
          </a:prstGeom>
          <a:noFill/>
        </p:spPr>
        <p:txBody>
          <a:bodyPr wrap="square" rtlCol="0">
            <a:spAutoFit/>
          </a:bodyPr>
          <a:lstStyle/>
          <a:p>
            <a:r>
              <a:rPr lang="en-US" altLang="zh-CN" sz="2400">
                <a:latin typeface="Times New Roman" panose="02020603050405020304" charset="0"/>
                <a:cs typeface="Times New Roman" panose="02020603050405020304" charset="0"/>
              </a:rPr>
              <a:t>Rent Model</a:t>
            </a:r>
          </a:p>
        </p:txBody>
      </p:sp>
      <p:sp>
        <p:nvSpPr>
          <p:cNvPr id="13" name="文本框 12"/>
          <p:cNvSpPr txBox="1"/>
          <p:nvPr/>
        </p:nvSpPr>
        <p:spPr>
          <a:xfrm>
            <a:off x="1386205" y="3343275"/>
            <a:ext cx="2447925" cy="460375"/>
          </a:xfrm>
          <a:prstGeom prst="rect">
            <a:avLst/>
          </a:prstGeom>
          <a:noFill/>
        </p:spPr>
        <p:txBody>
          <a:bodyPr wrap="square" rtlCol="0">
            <a:spAutoFit/>
          </a:bodyPr>
          <a:lstStyle/>
          <a:p>
            <a:r>
              <a:rPr lang="zh-CN" altLang="en-US" sz="2400">
                <a:latin typeface="楷体" panose="02010609060101010101" charset="-122"/>
                <a:ea typeface="楷体" panose="02010609060101010101" charset="-122"/>
                <a:cs typeface="Times New Roman" panose="02020603050405020304" charset="0"/>
              </a:rPr>
              <a:t>关键点</a:t>
            </a:r>
          </a:p>
        </p:txBody>
      </p:sp>
      <p:sp>
        <p:nvSpPr>
          <p:cNvPr id="14" name="文本框 13"/>
          <p:cNvSpPr txBox="1"/>
          <p:nvPr/>
        </p:nvSpPr>
        <p:spPr>
          <a:xfrm>
            <a:off x="1379855" y="3803650"/>
            <a:ext cx="9570085" cy="928370"/>
          </a:xfrm>
          <a:prstGeom prst="rect">
            <a:avLst/>
          </a:prstGeom>
          <a:noFill/>
        </p:spPr>
        <p:txBody>
          <a:bodyPr wrap="square" rtlCol="0">
            <a:noAutofit/>
          </a:bodyPr>
          <a:lstStyle/>
          <a:p>
            <a:r>
              <a:rPr lang="en-US" altLang="zh-CN" sz="1600">
                <a:latin typeface="楷体" panose="02010609060101010101" charset="-122"/>
                <a:ea typeface="楷体" panose="02010609060101010101" charset="-122"/>
                <a:cs typeface="楷体" panose="02010609060101010101" charset="-122"/>
              </a:rPr>
              <a:t>1.</a:t>
            </a:r>
            <a:r>
              <a:rPr lang="zh-CN" altLang="en-US" sz="1600">
                <a:latin typeface="楷体" panose="02010609060101010101" charset="-122"/>
                <a:ea typeface="楷体" panose="02010609060101010101" charset="-122"/>
                <a:cs typeface="楷体" panose="02010609060101010101" charset="-122"/>
              </a:rPr>
              <a:t>抓住主要特征：决定房价</a:t>
            </a:r>
            <a:r>
              <a:rPr lang="en-US" altLang="zh-CN" sz="1600">
                <a:latin typeface="楷体" panose="02010609060101010101" charset="-122"/>
                <a:ea typeface="楷体" panose="02010609060101010101" charset="-122"/>
                <a:cs typeface="楷体" panose="02010609060101010101" charset="-122"/>
              </a:rPr>
              <a:t>/</a:t>
            </a:r>
            <a:r>
              <a:rPr lang="zh-CN" altLang="en-US" sz="1600">
                <a:latin typeface="楷体" panose="02010609060101010101" charset="-122"/>
                <a:ea typeface="楷体" panose="02010609060101010101" charset="-122"/>
                <a:cs typeface="楷体" panose="02010609060101010101" charset="-122"/>
              </a:rPr>
              <a:t>租金的最主要因素是地理位置和面积。城市</a:t>
            </a:r>
            <a:r>
              <a:rPr lang="en-US" altLang="zh-CN" sz="1600">
                <a:latin typeface="楷体" panose="02010609060101010101" charset="-122"/>
                <a:ea typeface="楷体" panose="02010609060101010101" charset="-122"/>
                <a:cs typeface="楷体" panose="02010609060101010101" charset="-122"/>
              </a:rPr>
              <a:t>-</a:t>
            </a:r>
            <a:r>
              <a:rPr lang="zh-CN" altLang="en-US" sz="1600">
                <a:latin typeface="楷体" panose="02010609060101010101" charset="-122"/>
                <a:ea typeface="楷体" panose="02010609060101010101" charset="-122"/>
                <a:cs typeface="楷体" panose="02010609060101010101" charset="-122"/>
              </a:rPr>
              <a:t>区县</a:t>
            </a:r>
            <a:r>
              <a:rPr lang="en-US" altLang="zh-CN" sz="1600">
                <a:latin typeface="楷体" panose="02010609060101010101" charset="-122"/>
                <a:ea typeface="楷体" panose="02010609060101010101" charset="-122"/>
                <a:cs typeface="楷体" panose="02010609060101010101" charset="-122"/>
              </a:rPr>
              <a:t>-</a:t>
            </a:r>
            <a:r>
              <a:rPr lang="zh-CN" altLang="en-US" sz="1600">
                <a:latin typeface="楷体" panose="02010609060101010101" charset="-122"/>
                <a:ea typeface="楷体" panose="02010609060101010101" charset="-122"/>
                <a:cs typeface="楷体" panose="02010609060101010101" charset="-122"/>
              </a:rPr>
              <a:t>板块都重要，都保留。城市</a:t>
            </a:r>
            <a:r>
              <a:rPr lang="en-US" altLang="zh-CN" sz="1600">
                <a:latin typeface="楷体" panose="02010609060101010101" charset="-122"/>
                <a:ea typeface="楷体" panose="02010609060101010101" charset="-122"/>
                <a:cs typeface="楷体" panose="02010609060101010101" charset="-122"/>
              </a:rPr>
              <a:t>/</a:t>
            </a:r>
            <a:r>
              <a:rPr lang="zh-CN" altLang="en-US" sz="1600">
                <a:latin typeface="楷体" panose="02010609060101010101" charset="-122"/>
                <a:ea typeface="楷体" panose="02010609060101010101" charset="-122"/>
                <a:cs typeface="楷体" panose="02010609060101010101" charset="-122"/>
              </a:rPr>
              <a:t>区县独热编码；板块相对编码，计算板块均值与区县均值的差异，捕捉同一区县内不同板块的差异，加入平滑系数处理小样本板块。房价偏度较大通过取对数处理。</a:t>
            </a:r>
          </a:p>
        </p:txBody>
      </p:sp>
      <p:pic>
        <p:nvPicPr>
          <p:cNvPr id="17" name="图片 16"/>
          <p:cNvPicPr>
            <a:picLocks noChangeAspect="1"/>
          </p:cNvPicPr>
          <p:nvPr/>
        </p:nvPicPr>
        <p:blipFill>
          <a:blip r:embed="rId3"/>
          <a:stretch>
            <a:fillRect/>
          </a:stretch>
        </p:blipFill>
        <p:spPr>
          <a:xfrm>
            <a:off x="1477645" y="4660265"/>
            <a:ext cx="5669915" cy="622300"/>
          </a:xfrm>
          <a:prstGeom prst="rect">
            <a:avLst/>
          </a:prstGeom>
        </p:spPr>
      </p:pic>
      <p:sp>
        <p:nvSpPr>
          <p:cNvPr id="24" name="文本框 23"/>
          <p:cNvSpPr txBox="1"/>
          <p:nvPr/>
        </p:nvSpPr>
        <p:spPr>
          <a:xfrm>
            <a:off x="1349375" y="5282565"/>
            <a:ext cx="9570085" cy="1456055"/>
          </a:xfrm>
          <a:prstGeom prst="rect">
            <a:avLst/>
          </a:prstGeom>
          <a:noFill/>
        </p:spPr>
        <p:txBody>
          <a:bodyPr wrap="square" rtlCol="0">
            <a:noAutofit/>
          </a:bodyPr>
          <a:lstStyle/>
          <a:p>
            <a:r>
              <a:rPr lang="en-US" sz="1600">
                <a:latin typeface="楷体" panose="02010609060101010101" charset="-122"/>
                <a:ea typeface="楷体" panose="02010609060101010101" charset="-122"/>
                <a:cs typeface="楷体" panose="02010609060101010101" charset="-122"/>
              </a:rPr>
              <a:t>2.</a:t>
            </a:r>
            <a:r>
              <a:rPr lang="zh-CN" altLang="en-US" sz="1600">
                <a:latin typeface="楷体" panose="02010609060101010101" charset="-122"/>
                <a:ea typeface="楷体" panose="02010609060101010101" charset="-122"/>
                <a:cs typeface="楷体" panose="02010609060101010101" charset="-122"/>
              </a:rPr>
              <a:t>特征选择：通过计算特征变量与目标变量相关性删去低相关性变量，计算特征之间的相关性删去高相关性特征，再通过</a:t>
            </a:r>
            <a:r>
              <a:rPr lang="en-US" altLang="zh-CN" sz="1600">
                <a:latin typeface="楷体" panose="02010609060101010101" charset="-122"/>
                <a:ea typeface="楷体" panose="02010609060101010101" charset="-122"/>
                <a:cs typeface="楷体" panose="02010609060101010101" charset="-122"/>
              </a:rPr>
              <a:t>vif</a:t>
            </a:r>
            <a:r>
              <a:rPr lang="zh-CN" altLang="en-US" sz="1600">
                <a:latin typeface="楷体" panose="02010609060101010101" charset="-122"/>
                <a:ea typeface="楷体" panose="02010609060101010101" charset="-122"/>
                <a:cs typeface="楷体" panose="02010609060101010101" charset="-122"/>
              </a:rPr>
              <a:t>检验进一步删特征。除去冗余变量，且有效避免多重共线性。（</a:t>
            </a:r>
            <a:r>
              <a:rPr lang="en-US" altLang="zh-CN" sz="1600">
                <a:latin typeface="楷体" panose="02010609060101010101" charset="-122"/>
                <a:ea typeface="楷体" panose="02010609060101010101" charset="-122"/>
                <a:cs typeface="楷体" panose="02010609060101010101" charset="-122"/>
              </a:rPr>
              <a:t>ols</a:t>
            </a:r>
            <a:r>
              <a:rPr lang="zh-CN" altLang="en-US" sz="1600">
                <a:latin typeface="楷体" panose="02010609060101010101" charset="-122"/>
                <a:ea typeface="楷体" panose="02010609060101010101" charset="-122"/>
                <a:cs typeface="楷体" panose="02010609060101010101" charset="-122"/>
              </a:rPr>
              <a:t>模型结果较好）</a:t>
            </a:r>
          </a:p>
          <a:p>
            <a:endParaRPr lang="zh-CN" altLang="en-US" sz="1600">
              <a:latin typeface="楷体" panose="02010609060101010101" charset="-122"/>
              <a:ea typeface="楷体" panose="02010609060101010101" charset="-122"/>
              <a:cs typeface="楷体" panose="02010609060101010101" charset="-122"/>
            </a:endParaRPr>
          </a:p>
          <a:p>
            <a:r>
              <a:rPr lang="en-US" altLang="zh-CN" sz="1600">
                <a:latin typeface="楷体" panose="02010609060101010101" charset="-122"/>
                <a:ea typeface="楷体" panose="02010609060101010101" charset="-122"/>
                <a:cs typeface="楷体" panose="02010609060101010101" charset="-122"/>
              </a:rPr>
              <a:t>3.</a:t>
            </a:r>
            <a:r>
              <a:rPr lang="zh-CN" altLang="en-US" sz="1600">
                <a:latin typeface="楷体" panose="02010609060101010101" charset="-122"/>
                <a:ea typeface="楷体" panose="02010609060101010101" charset="-122"/>
                <a:cs typeface="楷体" panose="02010609060101010101" charset="-122"/>
              </a:rPr>
              <a:t>长文本处理：先观察训练集手动提取关键词，再通过豆包生成更多同类型关键词，统计文本中关键词出现的频率进行计分。</a:t>
            </a:r>
          </a:p>
          <a:p>
            <a:endParaRPr lang="zh-CN" altLang="en-US" sz="1600">
              <a:latin typeface="楷体" panose="02010609060101010101" charset="-122"/>
              <a:ea typeface="楷体" panose="02010609060101010101" charset="-122"/>
              <a:cs typeface="楷体" panose="02010609060101010101" charset="-122"/>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组合 4"/>
          <p:cNvGrpSpPr/>
          <p:nvPr/>
        </p:nvGrpSpPr>
        <p:grpSpPr>
          <a:xfrm>
            <a:off x="-1004570" y="-331470"/>
            <a:ext cx="14208125" cy="7506970"/>
            <a:chOff x="-1582" y="-522"/>
            <a:chExt cx="22375" cy="11822"/>
          </a:xfrm>
        </p:grpSpPr>
        <p:grpSp>
          <p:nvGrpSpPr>
            <p:cNvPr id="47" name="组合 46"/>
            <p:cNvGrpSpPr/>
            <p:nvPr/>
          </p:nvGrpSpPr>
          <p:grpSpPr>
            <a:xfrm>
              <a:off x="419" y="9302"/>
              <a:ext cx="434" cy="1065"/>
              <a:chOff x="537" y="8479"/>
              <a:chExt cx="434" cy="1065"/>
            </a:xfrm>
          </p:grpSpPr>
          <p:grpSp>
            <p:nvGrpSpPr>
              <p:cNvPr id="26" name="组合 25"/>
              <p:cNvGrpSpPr/>
              <p:nvPr/>
            </p:nvGrpSpPr>
            <p:grpSpPr>
              <a:xfrm>
                <a:off x="537" y="8479"/>
                <a:ext cx="434" cy="84"/>
                <a:chOff x="537" y="8479"/>
                <a:chExt cx="434" cy="84"/>
              </a:xfrm>
            </p:grpSpPr>
            <p:sp>
              <p:nvSpPr>
                <p:cNvPr id="22" name="椭圆 21"/>
                <p:cNvSpPr/>
                <p:nvPr/>
              </p:nvSpPr>
              <p:spPr>
                <a:xfrm>
                  <a:off x="537" y="8479"/>
                  <a:ext cx="85" cy="85"/>
                </a:xfrm>
                <a:prstGeom prst="ellipse">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3" name="椭圆 22"/>
                <p:cNvSpPr/>
                <p:nvPr/>
              </p:nvSpPr>
              <p:spPr>
                <a:xfrm>
                  <a:off x="705" y="8479"/>
                  <a:ext cx="85" cy="85"/>
                </a:xfrm>
                <a:prstGeom prst="ellipse">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 name="椭圆 24"/>
                <p:cNvSpPr/>
                <p:nvPr/>
              </p:nvSpPr>
              <p:spPr>
                <a:xfrm>
                  <a:off x="887" y="8479"/>
                  <a:ext cx="85" cy="85"/>
                </a:xfrm>
                <a:prstGeom prst="ellipse">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27" name="组合 26"/>
              <p:cNvGrpSpPr/>
              <p:nvPr/>
            </p:nvGrpSpPr>
            <p:grpSpPr>
              <a:xfrm>
                <a:off x="537" y="8672"/>
                <a:ext cx="434" cy="84"/>
                <a:chOff x="537" y="8479"/>
                <a:chExt cx="434" cy="84"/>
              </a:xfrm>
            </p:grpSpPr>
            <p:sp>
              <p:nvSpPr>
                <p:cNvPr id="28" name="椭圆 27"/>
                <p:cNvSpPr/>
                <p:nvPr/>
              </p:nvSpPr>
              <p:spPr>
                <a:xfrm>
                  <a:off x="537" y="8479"/>
                  <a:ext cx="85" cy="85"/>
                </a:xfrm>
                <a:prstGeom prst="ellipse">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9" name="椭圆 28"/>
                <p:cNvSpPr/>
                <p:nvPr/>
              </p:nvSpPr>
              <p:spPr>
                <a:xfrm>
                  <a:off x="705" y="8479"/>
                  <a:ext cx="85" cy="85"/>
                </a:xfrm>
                <a:prstGeom prst="ellipse">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0" name="椭圆 29"/>
                <p:cNvSpPr/>
                <p:nvPr/>
              </p:nvSpPr>
              <p:spPr>
                <a:xfrm>
                  <a:off x="887" y="8479"/>
                  <a:ext cx="85" cy="85"/>
                </a:xfrm>
                <a:prstGeom prst="ellipse">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31" name="组合 30"/>
              <p:cNvGrpSpPr/>
              <p:nvPr/>
            </p:nvGrpSpPr>
            <p:grpSpPr>
              <a:xfrm>
                <a:off x="537" y="8873"/>
                <a:ext cx="434" cy="84"/>
                <a:chOff x="537" y="8479"/>
                <a:chExt cx="434" cy="84"/>
              </a:xfrm>
            </p:grpSpPr>
            <p:sp>
              <p:nvSpPr>
                <p:cNvPr id="32" name="椭圆 31"/>
                <p:cNvSpPr/>
                <p:nvPr/>
              </p:nvSpPr>
              <p:spPr>
                <a:xfrm>
                  <a:off x="537" y="8479"/>
                  <a:ext cx="85" cy="85"/>
                </a:xfrm>
                <a:prstGeom prst="ellipse">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3" name="椭圆 32"/>
                <p:cNvSpPr/>
                <p:nvPr/>
              </p:nvSpPr>
              <p:spPr>
                <a:xfrm>
                  <a:off x="705" y="8479"/>
                  <a:ext cx="85" cy="85"/>
                </a:xfrm>
                <a:prstGeom prst="ellipse">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4" name="椭圆 33"/>
                <p:cNvSpPr/>
                <p:nvPr/>
              </p:nvSpPr>
              <p:spPr>
                <a:xfrm>
                  <a:off x="887" y="8479"/>
                  <a:ext cx="85" cy="85"/>
                </a:xfrm>
                <a:prstGeom prst="ellipse">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35" name="组合 34"/>
              <p:cNvGrpSpPr/>
              <p:nvPr/>
            </p:nvGrpSpPr>
            <p:grpSpPr>
              <a:xfrm>
                <a:off x="537" y="9066"/>
                <a:ext cx="434" cy="84"/>
                <a:chOff x="537" y="8479"/>
                <a:chExt cx="434" cy="84"/>
              </a:xfrm>
            </p:grpSpPr>
            <p:sp>
              <p:nvSpPr>
                <p:cNvPr id="36" name="椭圆 35"/>
                <p:cNvSpPr/>
                <p:nvPr/>
              </p:nvSpPr>
              <p:spPr>
                <a:xfrm>
                  <a:off x="537" y="8479"/>
                  <a:ext cx="85" cy="85"/>
                </a:xfrm>
                <a:prstGeom prst="ellipse">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7" name="椭圆 36"/>
                <p:cNvSpPr/>
                <p:nvPr/>
              </p:nvSpPr>
              <p:spPr>
                <a:xfrm>
                  <a:off x="705" y="8479"/>
                  <a:ext cx="85" cy="85"/>
                </a:xfrm>
                <a:prstGeom prst="ellipse">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8" name="椭圆 37"/>
                <p:cNvSpPr/>
                <p:nvPr/>
              </p:nvSpPr>
              <p:spPr>
                <a:xfrm>
                  <a:off x="887" y="8479"/>
                  <a:ext cx="85" cy="85"/>
                </a:xfrm>
                <a:prstGeom prst="ellipse">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39" name="组合 38"/>
              <p:cNvGrpSpPr/>
              <p:nvPr/>
            </p:nvGrpSpPr>
            <p:grpSpPr>
              <a:xfrm>
                <a:off x="537" y="9267"/>
                <a:ext cx="434" cy="84"/>
                <a:chOff x="537" y="8479"/>
                <a:chExt cx="434" cy="84"/>
              </a:xfrm>
            </p:grpSpPr>
            <p:sp>
              <p:nvSpPr>
                <p:cNvPr id="40" name="椭圆 39"/>
                <p:cNvSpPr/>
                <p:nvPr/>
              </p:nvSpPr>
              <p:spPr>
                <a:xfrm>
                  <a:off x="537" y="8479"/>
                  <a:ext cx="85" cy="85"/>
                </a:xfrm>
                <a:prstGeom prst="ellipse">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1" name="椭圆 40"/>
                <p:cNvSpPr/>
                <p:nvPr/>
              </p:nvSpPr>
              <p:spPr>
                <a:xfrm>
                  <a:off x="705" y="8479"/>
                  <a:ext cx="85" cy="85"/>
                </a:xfrm>
                <a:prstGeom prst="ellipse">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2" name="椭圆 41"/>
                <p:cNvSpPr/>
                <p:nvPr/>
              </p:nvSpPr>
              <p:spPr>
                <a:xfrm>
                  <a:off x="887" y="8479"/>
                  <a:ext cx="85" cy="85"/>
                </a:xfrm>
                <a:prstGeom prst="ellipse">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43" name="组合 42"/>
              <p:cNvGrpSpPr/>
              <p:nvPr/>
            </p:nvGrpSpPr>
            <p:grpSpPr>
              <a:xfrm>
                <a:off x="537" y="9460"/>
                <a:ext cx="434" cy="84"/>
                <a:chOff x="537" y="8479"/>
                <a:chExt cx="434" cy="84"/>
              </a:xfrm>
            </p:grpSpPr>
            <p:sp>
              <p:nvSpPr>
                <p:cNvPr id="44" name="椭圆 43"/>
                <p:cNvSpPr/>
                <p:nvPr/>
              </p:nvSpPr>
              <p:spPr>
                <a:xfrm>
                  <a:off x="537" y="8479"/>
                  <a:ext cx="85" cy="85"/>
                </a:xfrm>
                <a:prstGeom prst="ellipse">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5" name="椭圆 44"/>
                <p:cNvSpPr/>
                <p:nvPr/>
              </p:nvSpPr>
              <p:spPr>
                <a:xfrm>
                  <a:off x="705" y="8479"/>
                  <a:ext cx="85" cy="85"/>
                </a:xfrm>
                <a:prstGeom prst="ellipse">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6" name="椭圆 45"/>
                <p:cNvSpPr/>
                <p:nvPr/>
              </p:nvSpPr>
              <p:spPr>
                <a:xfrm>
                  <a:off x="887" y="8479"/>
                  <a:ext cx="85" cy="85"/>
                </a:xfrm>
                <a:prstGeom prst="ellipse">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grpSp>
          <p:nvGrpSpPr>
            <p:cNvPr id="48" name="组合 47"/>
            <p:cNvGrpSpPr/>
            <p:nvPr/>
          </p:nvGrpSpPr>
          <p:grpSpPr>
            <a:xfrm>
              <a:off x="18348" y="434"/>
              <a:ext cx="434" cy="1065"/>
              <a:chOff x="537" y="8479"/>
              <a:chExt cx="434" cy="1065"/>
            </a:xfrm>
          </p:grpSpPr>
          <p:grpSp>
            <p:nvGrpSpPr>
              <p:cNvPr id="49" name="组合 48"/>
              <p:cNvGrpSpPr/>
              <p:nvPr/>
            </p:nvGrpSpPr>
            <p:grpSpPr>
              <a:xfrm>
                <a:off x="537" y="8479"/>
                <a:ext cx="434" cy="84"/>
                <a:chOff x="537" y="8479"/>
                <a:chExt cx="434" cy="84"/>
              </a:xfrm>
            </p:grpSpPr>
            <p:sp>
              <p:nvSpPr>
                <p:cNvPr id="50" name="椭圆 49"/>
                <p:cNvSpPr/>
                <p:nvPr/>
              </p:nvSpPr>
              <p:spPr>
                <a:xfrm>
                  <a:off x="537" y="8479"/>
                  <a:ext cx="85" cy="85"/>
                </a:xfrm>
                <a:prstGeom prst="ellipse">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1" name="椭圆 50"/>
                <p:cNvSpPr/>
                <p:nvPr/>
              </p:nvSpPr>
              <p:spPr>
                <a:xfrm>
                  <a:off x="705" y="8479"/>
                  <a:ext cx="85" cy="85"/>
                </a:xfrm>
                <a:prstGeom prst="ellipse">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2" name="椭圆 51"/>
                <p:cNvSpPr/>
                <p:nvPr/>
              </p:nvSpPr>
              <p:spPr>
                <a:xfrm>
                  <a:off x="887" y="8479"/>
                  <a:ext cx="85" cy="85"/>
                </a:xfrm>
                <a:prstGeom prst="ellipse">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53" name="组合 52"/>
              <p:cNvGrpSpPr/>
              <p:nvPr/>
            </p:nvGrpSpPr>
            <p:grpSpPr>
              <a:xfrm>
                <a:off x="537" y="8672"/>
                <a:ext cx="434" cy="84"/>
                <a:chOff x="537" y="8479"/>
                <a:chExt cx="434" cy="84"/>
              </a:xfrm>
            </p:grpSpPr>
            <p:sp>
              <p:nvSpPr>
                <p:cNvPr id="54" name="椭圆 53"/>
                <p:cNvSpPr/>
                <p:nvPr/>
              </p:nvSpPr>
              <p:spPr>
                <a:xfrm>
                  <a:off x="537" y="8479"/>
                  <a:ext cx="85" cy="85"/>
                </a:xfrm>
                <a:prstGeom prst="ellipse">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5" name="椭圆 54"/>
                <p:cNvSpPr/>
                <p:nvPr/>
              </p:nvSpPr>
              <p:spPr>
                <a:xfrm>
                  <a:off x="705" y="8479"/>
                  <a:ext cx="85" cy="85"/>
                </a:xfrm>
                <a:prstGeom prst="ellipse">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6" name="椭圆 55"/>
                <p:cNvSpPr/>
                <p:nvPr/>
              </p:nvSpPr>
              <p:spPr>
                <a:xfrm>
                  <a:off x="887" y="8479"/>
                  <a:ext cx="85" cy="85"/>
                </a:xfrm>
                <a:prstGeom prst="ellipse">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57" name="组合 56"/>
              <p:cNvGrpSpPr/>
              <p:nvPr/>
            </p:nvGrpSpPr>
            <p:grpSpPr>
              <a:xfrm>
                <a:off x="537" y="8873"/>
                <a:ext cx="434" cy="84"/>
                <a:chOff x="537" y="8479"/>
                <a:chExt cx="434" cy="84"/>
              </a:xfrm>
            </p:grpSpPr>
            <p:sp>
              <p:nvSpPr>
                <p:cNvPr id="58" name="椭圆 57"/>
                <p:cNvSpPr/>
                <p:nvPr/>
              </p:nvSpPr>
              <p:spPr>
                <a:xfrm>
                  <a:off x="537" y="8479"/>
                  <a:ext cx="85" cy="85"/>
                </a:xfrm>
                <a:prstGeom prst="ellipse">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9" name="椭圆 58"/>
                <p:cNvSpPr/>
                <p:nvPr/>
              </p:nvSpPr>
              <p:spPr>
                <a:xfrm>
                  <a:off x="705" y="8479"/>
                  <a:ext cx="85" cy="85"/>
                </a:xfrm>
                <a:prstGeom prst="ellipse">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0" name="椭圆 59"/>
                <p:cNvSpPr/>
                <p:nvPr/>
              </p:nvSpPr>
              <p:spPr>
                <a:xfrm>
                  <a:off x="887" y="8479"/>
                  <a:ext cx="85" cy="85"/>
                </a:xfrm>
                <a:prstGeom prst="ellipse">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61" name="组合 60"/>
              <p:cNvGrpSpPr/>
              <p:nvPr/>
            </p:nvGrpSpPr>
            <p:grpSpPr>
              <a:xfrm>
                <a:off x="537" y="9066"/>
                <a:ext cx="434" cy="84"/>
                <a:chOff x="537" y="8479"/>
                <a:chExt cx="434" cy="84"/>
              </a:xfrm>
            </p:grpSpPr>
            <p:sp>
              <p:nvSpPr>
                <p:cNvPr id="62" name="椭圆 61"/>
                <p:cNvSpPr/>
                <p:nvPr/>
              </p:nvSpPr>
              <p:spPr>
                <a:xfrm>
                  <a:off x="537" y="8479"/>
                  <a:ext cx="85" cy="85"/>
                </a:xfrm>
                <a:prstGeom prst="ellipse">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3" name="椭圆 62"/>
                <p:cNvSpPr/>
                <p:nvPr/>
              </p:nvSpPr>
              <p:spPr>
                <a:xfrm>
                  <a:off x="705" y="8479"/>
                  <a:ext cx="85" cy="85"/>
                </a:xfrm>
                <a:prstGeom prst="ellipse">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4" name="椭圆 63"/>
                <p:cNvSpPr/>
                <p:nvPr/>
              </p:nvSpPr>
              <p:spPr>
                <a:xfrm>
                  <a:off x="887" y="8479"/>
                  <a:ext cx="85" cy="85"/>
                </a:xfrm>
                <a:prstGeom prst="ellipse">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65" name="组合 64"/>
              <p:cNvGrpSpPr/>
              <p:nvPr/>
            </p:nvGrpSpPr>
            <p:grpSpPr>
              <a:xfrm>
                <a:off x="537" y="9267"/>
                <a:ext cx="434" cy="84"/>
                <a:chOff x="537" y="8479"/>
                <a:chExt cx="434" cy="84"/>
              </a:xfrm>
            </p:grpSpPr>
            <p:sp>
              <p:nvSpPr>
                <p:cNvPr id="66" name="椭圆 65"/>
                <p:cNvSpPr/>
                <p:nvPr/>
              </p:nvSpPr>
              <p:spPr>
                <a:xfrm>
                  <a:off x="537" y="8479"/>
                  <a:ext cx="85" cy="85"/>
                </a:xfrm>
                <a:prstGeom prst="ellipse">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7" name="椭圆 66"/>
                <p:cNvSpPr/>
                <p:nvPr/>
              </p:nvSpPr>
              <p:spPr>
                <a:xfrm>
                  <a:off x="705" y="8479"/>
                  <a:ext cx="85" cy="85"/>
                </a:xfrm>
                <a:prstGeom prst="ellipse">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8" name="椭圆 67"/>
                <p:cNvSpPr/>
                <p:nvPr/>
              </p:nvSpPr>
              <p:spPr>
                <a:xfrm>
                  <a:off x="887" y="8479"/>
                  <a:ext cx="85" cy="85"/>
                </a:xfrm>
                <a:prstGeom prst="ellipse">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69" name="组合 68"/>
              <p:cNvGrpSpPr/>
              <p:nvPr/>
            </p:nvGrpSpPr>
            <p:grpSpPr>
              <a:xfrm>
                <a:off x="537" y="9460"/>
                <a:ext cx="434" cy="84"/>
                <a:chOff x="537" y="8479"/>
                <a:chExt cx="434" cy="84"/>
              </a:xfrm>
            </p:grpSpPr>
            <p:sp>
              <p:nvSpPr>
                <p:cNvPr id="70" name="椭圆 69"/>
                <p:cNvSpPr/>
                <p:nvPr/>
              </p:nvSpPr>
              <p:spPr>
                <a:xfrm>
                  <a:off x="537" y="8479"/>
                  <a:ext cx="85" cy="85"/>
                </a:xfrm>
                <a:prstGeom prst="ellipse">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1" name="椭圆 70"/>
                <p:cNvSpPr/>
                <p:nvPr/>
              </p:nvSpPr>
              <p:spPr>
                <a:xfrm>
                  <a:off x="705" y="8479"/>
                  <a:ext cx="85" cy="85"/>
                </a:xfrm>
                <a:prstGeom prst="ellipse">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2" name="椭圆 71"/>
                <p:cNvSpPr/>
                <p:nvPr/>
              </p:nvSpPr>
              <p:spPr>
                <a:xfrm>
                  <a:off x="887" y="8479"/>
                  <a:ext cx="85" cy="85"/>
                </a:xfrm>
                <a:prstGeom prst="ellipse">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grpSp>
          <p:nvGrpSpPr>
            <p:cNvPr id="76" name="组合 75"/>
            <p:cNvGrpSpPr/>
            <p:nvPr/>
          </p:nvGrpSpPr>
          <p:grpSpPr>
            <a:xfrm flipH="1" flipV="1">
              <a:off x="-1582" y="-522"/>
              <a:ext cx="3159" cy="4320"/>
              <a:chOff x="16465" y="4210"/>
              <a:chExt cx="5458" cy="7464"/>
            </a:xfrm>
          </p:grpSpPr>
          <p:sp>
            <p:nvSpPr>
              <p:cNvPr id="77" name="任意多边形 76"/>
              <p:cNvSpPr/>
              <p:nvPr/>
            </p:nvSpPr>
            <p:spPr>
              <a:xfrm rot="2700000">
                <a:off x="16627" y="9964"/>
                <a:ext cx="1711" cy="1711"/>
              </a:xfrm>
              <a:custGeom>
                <a:avLst/>
                <a:gdLst>
                  <a:gd name="adj" fmla="val 16667"/>
                  <a:gd name="a" fmla="pin 0 adj 50000"/>
                  <a:gd name="x1" fmla="*/ ss a 100000"/>
                  <a:gd name="x2" fmla="+- r 0 x1"/>
                  <a:gd name="y2" fmla="+- b 0 x1"/>
                  <a:gd name="il" fmla="*/ x1 29289 100000"/>
                  <a:gd name="ir" fmla="+- r 0 il"/>
                  <a:gd name="ib" fmla="+- b 0 il"/>
                </a:gdLst>
                <a:ahLst/>
                <a:cxnLst>
                  <a:cxn ang="3">
                    <a:pos x="hc" y="t"/>
                  </a:cxn>
                  <a:cxn ang="cd2">
                    <a:pos x="l" y="vc"/>
                  </a:cxn>
                  <a:cxn ang="cd4">
                    <a:pos x="hc" y="b"/>
                  </a:cxn>
                  <a:cxn ang="0">
                    <a:pos x="r" y="vc"/>
                  </a:cxn>
                </a:cxnLst>
                <a:rect l="l" t="t" r="r" b="b"/>
                <a:pathLst>
                  <a:path w="1711" h="1711">
                    <a:moveTo>
                      <a:pt x="326" y="0"/>
                    </a:moveTo>
                    <a:lnTo>
                      <a:pt x="1630" y="0"/>
                    </a:lnTo>
                    <a:cubicBezTo>
                      <a:pt x="1655" y="0"/>
                      <a:pt x="1680" y="3"/>
                      <a:pt x="1704" y="8"/>
                    </a:cubicBezTo>
                    <a:lnTo>
                      <a:pt x="1711" y="10"/>
                    </a:lnTo>
                    <a:lnTo>
                      <a:pt x="10" y="1711"/>
                    </a:lnTo>
                    <a:lnTo>
                      <a:pt x="8" y="1704"/>
                    </a:lnTo>
                    <a:cubicBezTo>
                      <a:pt x="3" y="1680"/>
                      <a:pt x="0" y="1655"/>
                      <a:pt x="0" y="1630"/>
                    </a:cubicBezTo>
                    <a:lnTo>
                      <a:pt x="0" y="326"/>
                    </a:lnTo>
                    <a:cubicBezTo>
                      <a:pt x="0" y="146"/>
                      <a:pt x="146" y="0"/>
                      <a:pt x="326" y="0"/>
                    </a:cubicBezTo>
                    <a:close/>
                  </a:path>
                </a:pathLst>
              </a:custGeom>
              <a:solidFill>
                <a:srgbClr val="6D84A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a:p>
            </p:txBody>
          </p:sp>
          <p:sp>
            <p:nvSpPr>
              <p:cNvPr id="78" name="任意多边形 77"/>
              <p:cNvSpPr/>
              <p:nvPr/>
            </p:nvSpPr>
            <p:spPr>
              <a:xfrm rot="18900000">
                <a:off x="16465" y="4210"/>
                <a:ext cx="5459" cy="5459"/>
              </a:xfrm>
              <a:custGeom>
                <a:avLst/>
                <a:gdLst>
                  <a:gd name="adj" fmla="val 16667"/>
                  <a:gd name="a" fmla="pin 0 adj 50000"/>
                  <a:gd name="x1" fmla="*/ ss a 100000"/>
                  <a:gd name="x2" fmla="+- r 0 x1"/>
                  <a:gd name="y2" fmla="+- b 0 x1"/>
                  <a:gd name="il" fmla="*/ x1 29289 100000"/>
                  <a:gd name="ir" fmla="+- r 0 il"/>
                  <a:gd name="ib" fmla="+- b 0 il"/>
                </a:gdLst>
                <a:ahLst/>
                <a:cxnLst>
                  <a:cxn ang="3">
                    <a:pos x="hc" y="t"/>
                  </a:cxn>
                  <a:cxn ang="cd2">
                    <a:pos x="l" y="vc"/>
                  </a:cxn>
                  <a:cxn ang="cd4">
                    <a:pos x="hc" y="b"/>
                  </a:cxn>
                  <a:cxn ang="0">
                    <a:pos x="r" y="vc"/>
                  </a:cxn>
                </a:cxnLst>
                <a:rect l="l" t="t" r="r" b="b"/>
                <a:pathLst>
                  <a:path w="1711" h="1711">
                    <a:moveTo>
                      <a:pt x="326" y="0"/>
                    </a:moveTo>
                    <a:lnTo>
                      <a:pt x="1630" y="0"/>
                    </a:lnTo>
                    <a:cubicBezTo>
                      <a:pt x="1655" y="0"/>
                      <a:pt x="1680" y="3"/>
                      <a:pt x="1704" y="8"/>
                    </a:cubicBezTo>
                    <a:lnTo>
                      <a:pt x="1711" y="10"/>
                    </a:lnTo>
                    <a:lnTo>
                      <a:pt x="10" y="1711"/>
                    </a:lnTo>
                    <a:lnTo>
                      <a:pt x="8" y="1704"/>
                    </a:lnTo>
                    <a:cubicBezTo>
                      <a:pt x="3" y="1680"/>
                      <a:pt x="0" y="1655"/>
                      <a:pt x="0" y="1630"/>
                    </a:cubicBezTo>
                    <a:lnTo>
                      <a:pt x="0" y="326"/>
                    </a:lnTo>
                    <a:cubicBezTo>
                      <a:pt x="0" y="146"/>
                      <a:pt x="146" y="0"/>
                      <a:pt x="326" y="0"/>
                    </a:cubicBezTo>
                    <a:close/>
                  </a:path>
                </a:pathLst>
              </a:custGeom>
              <a:solidFill>
                <a:srgbClr val="1C3867"/>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a:p>
            </p:txBody>
          </p:sp>
        </p:grpSp>
        <p:grpSp>
          <p:nvGrpSpPr>
            <p:cNvPr id="2" name="组合 1"/>
            <p:cNvGrpSpPr/>
            <p:nvPr/>
          </p:nvGrpSpPr>
          <p:grpSpPr>
            <a:xfrm>
              <a:off x="17635" y="6980"/>
              <a:ext cx="3159" cy="4320"/>
              <a:chOff x="16465" y="4210"/>
              <a:chExt cx="5458" cy="7464"/>
            </a:xfrm>
          </p:grpSpPr>
          <p:sp>
            <p:nvSpPr>
              <p:cNvPr id="3" name="任意多边形 2"/>
              <p:cNvSpPr/>
              <p:nvPr/>
            </p:nvSpPr>
            <p:spPr>
              <a:xfrm rot="2700000">
                <a:off x="16627" y="9964"/>
                <a:ext cx="1711" cy="1711"/>
              </a:xfrm>
              <a:custGeom>
                <a:avLst/>
                <a:gdLst>
                  <a:gd name="adj" fmla="val 16667"/>
                  <a:gd name="a" fmla="pin 0 adj 50000"/>
                  <a:gd name="x1" fmla="*/ ss a 100000"/>
                  <a:gd name="x2" fmla="+- r 0 x1"/>
                  <a:gd name="y2" fmla="+- b 0 x1"/>
                  <a:gd name="il" fmla="*/ x1 29289 100000"/>
                  <a:gd name="ir" fmla="+- r 0 il"/>
                  <a:gd name="ib" fmla="+- b 0 il"/>
                </a:gdLst>
                <a:ahLst/>
                <a:cxnLst>
                  <a:cxn ang="3">
                    <a:pos x="hc" y="t"/>
                  </a:cxn>
                  <a:cxn ang="cd2">
                    <a:pos x="l" y="vc"/>
                  </a:cxn>
                  <a:cxn ang="cd4">
                    <a:pos x="hc" y="b"/>
                  </a:cxn>
                  <a:cxn ang="0">
                    <a:pos x="r" y="vc"/>
                  </a:cxn>
                </a:cxnLst>
                <a:rect l="l" t="t" r="r" b="b"/>
                <a:pathLst>
                  <a:path w="1711" h="1711">
                    <a:moveTo>
                      <a:pt x="326" y="0"/>
                    </a:moveTo>
                    <a:lnTo>
                      <a:pt x="1630" y="0"/>
                    </a:lnTo>
                    <a:cubicBezTo>
                      <a:pt x="1655" y="0"/>
                      <a:pt x="1680" y="3"/>
                      <a:pt x="1704" y="8"/>
                    </a:cubicBezTo>
                    <a:lnTo>
                      <a:pt x="1711" y="10"/>
                    </a:lnTo>
                    <a:lnTo>
                      <a:pt x="10" y="1711"/>
                    </a:lnTo>
                    <a:lnTo>
                      <a:pt x="8" y="1704"/>
                    </a:lnTo>
                    <a:cubicBezTo>
                      <a:pt x="3" y="1680"/>
                      <a:pt x="0" y="1655"/>
                      <a:pt x="0" y="1630"/>
                    </a:cubicBezTo>
                    <a:lnTo>
                      <a:pt x="0" y="326"/>
                    </a:lnTo>
                    <a:cubicBezTo>
                      <a:pt x="0" y="146"/>
                      <a:pt x="146" y="0"/>
                      <a:pt x="326" y="0"/>
                    </a:cubicBezTo>
                    <a:close/>
                  </a:path>
                </a:pathLst>
              </a:custGeom>
              <a:solidFill>
                <a:srgbClr val="6D84A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a:p>
            </p:txBody>
          </p:sp>
          <p:sp>
            <p:nvSpPr>
              <p:cNvPr id="4" name="任意多边形 3"/>
              <p:cNvSpPr/>
              <p:nvPr/>
            </p:nvSpPr>
            <p:spPr>
              <a:xfrm rot="18900000">
                <a:off x="16465" y="4210"/>
                <a:ext cx="5459" cy="5459"/>
              </a:xfrm>
              <a:custGeom>
                <a:avLst/>
                <a:gdLst>
                  <a:gd name="adj" fmla="val 16667"/>
                  <a:gd name="a" fmla="pin 0 adj 50000"/>
                  <a:gd name="x1" fmla="*/ ss a 100000"/>
                  <a:gd name="x2" fmla="+- r 0 x1"/>
                  <a:gd name="y2" fmla="+- b 0 x1"/>
                  <a:gd name="il" fmla="*/ x1 29289 100000"/>
                  <a:gd name="ir" fmla="+- r 0 il"/>
                  <a:gd name="ib" fmla="+- b 0 il"/>
                </a:gdLst>
                <a:ahLst/>
                <a:cxnLst>
                  <a:cxn ang="3">
                    <a:pos x="hc" y="t"/>
                  </a:cxn>
                  <a:cxn ang="cd2">
                    <a:pos x="l" y="vc"/>
                  </a:cxn>
                  <a:cxn ang="cd4">
                    <a:pos x="hc" y="b"/>
                  </a:cxn>
                  <a:cxn ang="0">
                    <a:pos x="r" y="vc"/>
                  </a:cxn>
                </a:cxnLst>
                <a:rect l="l" t="t" r="r" b="b"/>
                <a:pathLst>
                  <a:path w="1711" h="1711">
                    <a:moveTo>
                      <a:pt x="326" y="0"/>
                    </a:moveTo>
                    <a:lnTo>
                      <a:pt x="1630" y="0"/>
                    </a:lnTo>
                    <a:cubicBezTo>
                      <a:pt x="1655" y="0"/>
                      <a:pt x="1680" y="3"/>
                      <a:pt x="1704" y="8"/>
                    </a:cubicBezTo>
                    <a:lnTo>
                      <a:pt x="1711" y="10"/>
                    </a:lnTo>
                    <a:lnTo>
                      <a:pt x="10" y="1711"/>
                    </a:lnTo>
                    <a:lnTo>
                      <a:pt x="8" y="1704"/>
                    </a:lnTo>
                    <a:cubicBezTo>
                      <a:pt x="3" y="1680"/>
                      <a:pt x="0" y="1655"/>
                      <a:pt x="0" y="1630"/>
                    </a:cubicBezTo>
                    <a:lnTo>
                      <a:pt x="0" y="326"/>
                    </a:lnTo>
                    <a:cubicBezTo>
                      <a:pt x="0" y="146"/>
                      <a:pt x="146" y="0"/>
                      <a:pt x="326" y="0"/>
                    </a:cubicBezTo>
                    <a:close/>
                  </a:path>
                </a:pathLst>
              </a:custGeom>
              <a:solidFill>
                <a:srgbClr val="1C3867"/>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a:p>
            </p:txBody>
          </p:sp>
        </p:grpSp>
      </p:grpSp>
      <p:graphicFrame>
        <p:nvGraphicFramePr>
          <p:cNvPr id="6" name="表格 5"/>
          <p:cNvGraphicFramePr/>
          <p:nvPr/>
        </p:nvGraphicFramePr>
        <p:xfrm>
          <a:off x="1416685" y="1231900"/>
          <a:ext cx="4679315" cy="2071370"/>
        </p:xfrm>
        <a:graphic>
          <a:graphicData uri="http://schemas.openxmlformats.org/drawingml/2006/table">
            <a:tbl>
              <a:tblPr/>
              <a:tblGrid>
                <a:gridCol w="846455">
                  <a:extLst>
                    <a:ext uri="{9D8B030D-6E8A-4147-A177-3AD203B41FA5}">
                      <a16:colId xmlns:a16="http://schemas.microsoft.com/office/drawing/2014/main" val="20000"/>
                    </a:ext>
                  </a:extLst>
                </a:gridCol>
                <a:gridCol w="845185">
                  <a:extLst>
                    <a:ext uri="{9D8B030D-6E8A-4147-A177-3AD203B41FA5}">
                      <a16:colId xmlns:a16="http://schemas.microsoft.com/office/drawing/2014/main" val="20001"/>
                    </a:ext>
                  </a:extLst>
                </a:gridCol>
                <a:gridCol w="847725">
                  <a:extLst>
                    <a:ext uri="{9D8B030D-6E8A-4147-A177-3AD203B41FA5}">
                      <a16:colId xmlns:a16="http://schemas.microsoft.com/office/drawing/2014/main" val="20002"/>
                    </a:ext>
                  </a:extLst>
                </a:gridCol>
                <a:gridCol w="1069340">
                  <a:extLst>
                    <a:ext uri="{9D8B030D-6E8A-4147-A177-3AD203B41FA5}">
                      <a16:colId xmlns:a16="http://schemas.microsoft.com/office/drawing/2014/main" val="20003"/>
                    </a:ext>
                  </a:extLst>
                </a:gridCol>
                <a:gridCol w="1070610">
                  <a:extLst>
                    <a:ext uri="{9D8B030D-6E8A-4147-A177-3AD203B41FA5}">
                      <a16:colId xmlns:a16="http://schemas.microsoft.com/office/drawing/2014/main" val="20004"/>
                    </a:ext>
                  </a:extLst>
                </a:gridCol>
              </a:tblGrid>
              <a:tr h="438785">
                <a:tc>
                  <a:txBody>
                    <a:bodyPr/>
                    <a:lstStyle/>
                    <a:p>
                      <a:pPr algn="l" fontAlgn="ctr"/>
                      <a:r>
                        <a:rPr lang="en-US" altLang="zh-CN" sz="1400" b="0" i="0">
                          <a:solidFill>
                            <a:srgbClr val="000000"/>
                          </a:solidFill>
                          <a:latin typeface="Times New Roman" panose="02020603050405020304"/>
                          <a:ea typeface="Times New Roman" panose="02020603050405020304"/>
                        </a:rPr>
                        <a:t>Metrics</a:t>
                      </a:r>
                    </a:p>
                  </a:txBody>
                  <a:tcPr marL="6667" marR="6667" marT="6667" marB="0" anchor="ctr">
                    <a:lnL>
                      <a:noFill/>
                    </a:lnL>
                    <a:lnR>
                      <a:noFill/>
                    </a:lnR>
                    <a:lnT>
                      <a:noFill/>
                    </a:lnT>
                    <a:lnB>
                      <a:noFill/>
                    </a:lnB>
                    <a:noFill/>
                  </a:tcPr>
                </a:tc>
                <a:tc>
                  <a:txBody>
                    <a:bodyPr/>
                    <a:lstStyle/>
                    <a:p>
                      <a:pPr algn="ctr" fontAlgn="ctr"/>
                      <a:r>
                        <a:rPr lang="en-US" altLang="zh-CN" sz="1400" b="0" i="0">
                          <a:solidFill>
                            <a:srgbClr val="000000"/>
                          </a:solidFill>
                          <a:latin typeface="Times New Roman" panose="02020603050405020304"/>
                          <a:ea typeface="Times New Roman" panose="02020603050405020304"/>
                        </a:rPr>
                        <a:t>In Sample</a:t>
                      </a:r>
                    </a:p>
                  </a:txBody>
                  <a:tcPr marL="6667" marR="6667" marT="6667" marB="0" anchor="ctr">
                    <a:lnL>
                      <a:noFill/>
                    </a:lnL>
                    <a:lnR>
                      <a:noFill/>
                    </a:lnR>
                    <a:lnT>
                      <a:noFill/>
                    </a:lnT>
                    <a:lnB>
                      <a:noFill/>
                    </a:lnB>
                    <a:noFill/>
                  </a:tcPr>
                </a:tc>
                <a:tc>
                  <a:txBody>
                    <a:bodyPr/>
                    <a:lstStyle/>
                    <a:p>
                      <a:pPr algn="ctr" fontAlgn="ctr"/>
                      <a:r>
                        <a:rPr lang="en-US" altLang="zh-CN" sz="1400" b="0" i="0">
                          <a:solidFill>
                            <a:srgbClr val="000000"/>
                          </a:solidFill>
                          <a:latin typeface="Times New Roman" panose="02020603050405020304"/>
                          <a:ea typeface="Times New Roman" panose="02020603050405020304"/>
                        </a:rPr>
                        <a:t>Out of Sample</a:t>
                      </a:r>
                    </a:p>
                  </a:txBody>
                  <a:tcPr marL="6667" marR="6667" marT="6667" marB="0" anchor="ctr">
                    <a:lnL>
                      <a:noFill/>
                    </a:lnL>
                    <a:lnR>
                      <a:noFill/>
                    </a:lnR>
                    <a:lnT>
                      <a:noFill/>
                    </a:lnT>
                    <a:lnB>
                      <a:noFill/>
                    </a:lnB>
                    <a:noFill/>
                  </a:tcPr>
                </a:tc>
                <a:tc>
                  <a:txBody>
                    <a:bodyPr/>
                    <a:lstStyle/>
                    <a:p>
                      <a:pPr algn="ctr" fontAlgn="ctr"/>
                      <a:r>
                        <a:rPr lang="en-US" altLang="zh-CN" sz="1400" b="0" i="0">
                          <a:solidFill>
                            <a:srgbClr val="000000"/>
                          </a:solidFill>
                          <a:latin typeface="Times New Roman" panose="02020603050405020304"/>
                          <a:ea typeface="Times New Roman" panose="02020603050405020304"/>
                        </a:rPr>
                        <a:t>Cross-validation</a:t>
                      </a:r>
                    </a:p>
                  </a:txBody>
                  <a:tcPr marL="6667" marR="6667" marT="6667" marB="0" anchor="ctr">
                    <a:lnL>
                      <a:noFill/>
                    </a:lnL>
                    <a:lnR>
                      <a:noFill/>
                    </a:lnR>
                    <a:lnT>
                      <a:noFill/>
                    </a:lnT>
                    <a:lnB>
                      <a:noFill/>
                    </a:lnB>
                    <a:noFill/>
                  </a:tcPr>
                </a:tc>
                <a:tc>
                  <a:txBody>
                    <a:bodyPr/>
                    <a:lstStyle/>
                    <a:p>
                      <a:pPr algn="ctr" fontAlgn="ctr"/>
                      <a:r>
                        <a:rPr lang="en-US" altLang="zh-CN" sz="1400" b="0" i="0">
                          <a:solidFill>
                            <a:srgbClr val="000000"/>
                          </a:solidFill>
                          <a:latin typeface="Times New Roman" panose="02020603050405020304"/>
                          <a:ea typeface="Times New Roman" panose="02020603050405020304"/>
                        </a:rPr>
                        <a:t>Kaggle Score</a:t>
                      </a:r>
                    </a:p>
                  </a:txBody>
                  <a:tcPr marL="6667" marR="6667" marT="6667" marB="0" anchor="ctr">
                    <a:lnL>
                      <a:noFill/>
                    </a:lnL>
                    <a:lnR>
                      <a:noFill/>
                    </a:lnR>
                    <a:lnT>
                      <a:noFill/>
                    </a:lnT>
                    <a:lnB>
                      <a:noFill/>
                    </a:lnB>
                    <a:noFill/>
                  </a:tcPr>
                </a:tc>
                <a:extLst>
                  <a:ext uri="{0D108BD9-81ED-4DB2-BD59-A6C34878D82A}">
                    <a16:rowId xmlns:a16="http://schemas.microsoft.com/office/drawing/2014/main" val="10000"/>
                  </a:ext>
                </a:extLst>
              </a:tr>
              <a:tr h="407670">
                <a:tc>
                  <a:txBody>
                    <a:bodyPr/>
                    <a:lstStyle/>
                    <a:p>
                      <a:pPr algn="l" fontAlgn="ctr"/>
                      <a:r>
                        <a:rPr lang="en-US" altLang="zh-CN" sz="1400" b="0" i="0">
                          <a:solidFill>
                            <a:srgbClr val="000000"/>
                          </a:solidFill>
                          <a:latin typeface="Times New Roman" panose="02020603050405020304"/>
                          <a:ea typeface="Times New Roman" panose="02020603050405020304"/>
                        </a:rPr>
                        <a:t>OLS</a:t>
                      </a:r>
                    </a:p>
                  </a:txBody>
                  <a:tcPr marL="6667" marR="6667" marT="6667" marB="0" anchor="ctr">
                    <a:lnL>
                      <a:noFill/>
                    </a:lnL>
                    <a:lnR>
                      <a:noFill/>
                    </a:lnR>
                    <a:lnT>
                      <a:noFill/>
                    </a:lnT>
                    <a:lnB>
                      <a:noFill/>
                    </a:lnB>
                    <a:noFill/>
                  </a:tcPr>
                </a:tc>
                <a:tc>
                  <a:txBody>
                    <a:bodyPr/>
                    <a:lstStyle/>
                    <a:p>
                      <a:pPr algn="ctr" fontAlgn="ctr"/>
                      <a:r>
                        <a:rPr lang="en-US" altLang="zh-CN" sz="1400" b="0" i="0">
                          <a:solidFill>
                            <a:srgbClr val="000000"/>
                          </a:solidFill>
                          <a:latin typeface="Times New Roman" panose="02020603050405020304"/>
                          <a:ea typeface="Times New Roman" panose="02020603050405020304"/>
                        </a:rPr>
                        <a:t>320891.05</a:t>
                      </a:r>
                    </a:p>
                  </a:txBody>
                  <a:tcPr marL="6667" marR="6667" marT="6667" marB="0" anchor="ctr">
                    <a:lnL>
                      <a:noFill/>
                    </a:lnL>
                    <a:lnR>
                      <a:noFill/>
                    </a:lnR>
                    <a:lnT>
                      <a:noFill/>
                    </a:lnT>
                    <a:lnB>
                      <a:noFill/>
                    </a:lnB>
                    <a:noFill/>
                  </a:tcPr>
                </a:tc>
                <a:tc>
                  <a:txBody>
                    <a:bodyPr/>
                    <a:lstStyle/>
                    <a:p>
                      <a:pPr algn="ctr" fontAlgn="ctr"/>
                      <a:r>
                        <a:rPr lang="en-US" altLang="zh-CN" sz="1400" b="0" i="0">
                          <a:solidFill>
                            <a:srgbClr val="000000"/>
                          </a:solidFill>
                          <a:latin typeface="Times New Roman" panose="02020603050405020304"/>
                          <a:ea typeface="Times New Roman" panose="02020603050405020304"/>
                        </a:rPr>
                        <a:t>346894.38</a:t>
                      </a:r>
                    </a:p>
                  </a:txBody>
                  <a:tcPr marL="6667" marR="6667" marT="6667" marB="0" anchor="ctr">
                    <a:lnL>
                      <a:noFill/>
                    </a:lnL>
                    <a:lnR>
                      <a:noFill/>
                    </a:lnR>
                    <a:lnT>
                      <a:noFill/>
                    </a:lnT>
                    <a:lnB>
                      <a:noFill/>
                    </a:lnB>
                    <a:noFill/>
                  </a:tcPr>
                </a:tc>
                <a:tc>
                  <a:txBody>
                    <a:bodyPr/>
                    <a:lstStyle/>
                    <a:p>
                      <a:pPr algn="ctr" fontAlgn="ctr"/>
                      <a:r>
                        <a:rPr lang="en-US" altLang="zh-CN" sz="1400" b="0" i="0">
                          <a:solidFill>
                            <a:srgbClr val="000000"/>
                          </a:solidFill>
                          <a:latin typeface="Times New Roman" panose="02020603050405020304"/>
                          <a:ea typeface="Times New Roman" panose="02020603050405020304"/>
                        </a:rPr>
                        <a:t>334636.83</a:t>
                      </a:r>
                    </a:p>
                  </a:txBody>
                  <a:tcPr marL="6667" marR="6667" marT="6667" marB="0" anchor="ctr">
                    <a:lnL>
                      <a:noFill/>
                    </a:lnL>
                    <a:lnR>
                      <a:noFill/>
                    </a:lnR>
                    <a:lnT>
                      <a:noFill/>
                    </a:lnT>
                    <a:lnB>
                      <a:noFill/>
                    </a:lnB>
                    <a:solidFill>
                      <a:srgbClr val="FFFFFF"/>
                    </a:solidFill>
                  </a:tcPr>
                </a:tc>
                <a:tc>
                  <a:txBody>
                    <a:bodyPr/>
                    <a:lstStyle/>
                    <a:p>
                      <a:pPr algn="ctr" fontAlgn="ctr"/>
                      <a:r>
                        <a:rPr lang="en-US" altLang="zh-CN" sz="1400" b="0" i="0">
                          <a:solidFill>
                            <a:srgbClr val="000000"/>
                          </a:solidFill>
                          <a:latin typeface="Times New Roman" panose="02020603050405020304"/>
                          <a:ea typeface="Times New Roman" panose="02020603050405020304"/>
                        </a:rPr>
                        <a:t>65.96</a:t>
                      </a:r>
                    </a:p>
                  </a:txBody>
                  <a:tcPr marL="6667" marR="6667" marT="6667" marB="0" anchor="ctr">
                    <a:lnL>
                      <a:noFill/>
                    </a:lnL>
                    <a:lnR>
                      <a:noFill/>
                    </a:lnR>
                    <a:lnT>
                      <a:noFill/>
                    </a:lnT>
                    <a:lnB>
                      <a:noFill/>
                    </a:lnB>
                    <a:solidFill>
                      <a:srgbClr val="FFFFFF"/>
                    </a:solidFill>
                  </a:tcPr>
                </a:tc>
                <a:extLst>
                  <a:ext uri="{0D108BD9-81ED-4DB2-BD59-A6C34878D82A}">
                    <a16:rowId xmlns:a16="http://schemas.microsoft.com/office/drawing/2014/main" val="10001"/>
                  </a:ext>
                </a:extLst>
              </a:tr>
              <a:tr h="408305">
                <a:tc>
                  <a:txBody>
                    <a:bodyPr/>
                    <a:lstStyle/>
                    <a:p>
                      <a:pPr algn="l" fontAlgn="ctr"/>
                      <a:r>
                        <a:rPr lang="en-US" altLang="zh-CN" sz="1400" b="0" i="0">
                          <a:solidFill>
                            <a:srgbClr val="000000"/>
                          </a:solidFill>
                          <a:latin typeface="Times New Roman" panose="02020603050405020304"/>
                          <a:ea typeface="Times New Roman" panose="02020603050405020304"/>
                        </a:rPr>
                        <a:t>Lasso</a:t>
                      </a:r>
                    </a:p>
                  </a:txBody>
                  <a:tcPr marL="6667" marR="6667" marT="6667" marB="0" anchor="ctr">
                    <a:lnL>
                      <a:noFill/>
                    </a:lnL>
                    <a:lnR>
                      <a:noFill/>
                    </a:lnR>
                    <a:lnT>
                      <a:noFill/>
                    </a:lnT>
                    <a:lnB>
                      <a:noFill/>
                    </a:lnB>
                    <a:noFill/>
                  </a:tcPr>
                </a:tc>
                <a:tc>
                  <a:txBody>
                    <a:bodyPr/>
                    <a:lstStyle/>
                    <a:p>
                      <a:pPr algn="ctr" fontAlgn="ctr"/>
                      <a:r>
                        <a:rPr lang="en-US" altLang="zh-CN" sz="1400" b="0" i="0">
                          <a:solidFill>
                            <a:srgbClr val="000000"/>
                          </a:solidFill>
                          <a:latin typeface="Times New Roman" panose="02020603050405020304"/>
                          <a:ea typeface="Times New Roman" panose="02020603050405020304"/>
                        </a:rPr>
                        <a:t>710060.04</a:t>
                      </a:r>
                    </a:p>
                  </a:txBody>
                  <a:tcPr marL="6667" marR="6667" marT="6667" marB="0" anchor="ctr">
                    <a:lnL>
                      <a:noFill/>
                    </a:lnL>
                    <a:lnR>
                      <a:noFill/>
                    </a:lnR>
                    <a:lnT>
                      <a:noFill/>
                    </a:lnT>
                    <a:lnB>
                      <a:noFill/>
                    </a:lnB>
                    <a:noFill/>
                  </a:tcPr>
                </a:tc>
                <a:tc>
                  <a:txBody>
                    <a:bodyPr/>
                    <a:lstStyle/>
                    <a:p>
                      <a:pPr algn="ctr" fontAlgn="ctr"/>
                      <a:r>
                        <a:rPr lang="en-US" altLang="zh-CN" sz="1400" b="0" i="0">
                          <a:solidFill>
                            <a:srgbClr val="000000"/>
                          </a:solidFill>
                          <a:latin typeface="Times New Roman" panose="02020603050405020304"/>
                          <a:ea typeface="Times New Roman" panose="02020603050405020304"/>
                        </a:rPr>
                        <a:t>784314.35</a:t>
                      </a:r>
                    </a:p>
                  </a:txBody>
                  <a:tcPr marL="6667" marR="6667" marT="6667" marB="0" anchor="ctr">
                    <a:lnL>
                      <a:noFill/>
                    </a:lnL>
                    <a:lnR>
                      <a:noFill/>
                    </a:lnR>
                    <a:lnT>
                      <a:noFill/>
                    </a:lnT>
                    <a:lnB>
                      <a:noFill/>
                    </a:lnB>
                    <a:noFill/>
                  </a:tcPr>
                </a:tc>
                <a:tc>
                  <a:txBody>
                    <a:bodyPr/>
                    <a:lstStyle/>
                    <a:p>
                      <a:pPr algn="ctr" fontAlgn="ctr"/>
                      <a:r>
                        <a:rPr lang="en-US" altLang="zh-CN" sz="1400" b="0" i="0">
                          <a:solidFill>
                            <a:srgbClr val="000000"/>
                          </a:solidFill>
                          <a:latin typeface="Times New Roman" panose="02020603050405020304"/>
                          <a:ea typeface="Times New Roman" panose="02020603050405020304"/>
                        </a:rPr>
                        <a:t>852408.57</a:t>
                      </a:r>
                    </a:p>
                  </a:txBody>
                  <a:tcPr marL="6667" marR="6667" marT="6667" marB="0" anchor="ctr">
                    <a:lnL>
                      <a:noFill/>
                    </a:lnL>
                    <a:lnR>
                      <a:noFill/>
                    </a:lnR>
                    <a:lnT>
                      <a:noFill/>
                    </a:lnT>
                    <a:lnB>
                      <a:noFill/>
                    </a:lnB>
                    <a:noFill/>
                  </a:tcPr>
                </a:tc>
                <a:tc>
                  <a:txBody>
                    <a:bodyPr/>
                    <a:lstStyle/>
                    <a:p>
                      <a:pPr algn="ctr" fontAlgn="ctr"/>
                      <a:r>
                        <a:rPr lang="en-US" altLang="zh-CN" sz="1400" b="0" i="0">
                          <a:solidFill>
                            <a:srgbClr val="000000"/>
                          </a:solidFill>
                          <a:latin typeface="Times New Roman" panose="02020603050405020304"/>
                          <a:ea typeface="Times New Roman" panose="02020603050405020304"/>
                        </a:rPr>
                        <a:t>65.98</a:t>
                      </a:r>
                    </a:p>
                  </a:txBody>
                  <a:tcPr marL="6667" marR="6667" marT="6667" marB="0" anchor="ctr">
                    <a:lnL>
                      <a:noFill/>
                    </a:lnL>
                    <a:lnR>
                      <a:noFill/>
                    </a:lnR>
                    <a:lnT>
                      <a:noFill/>
                    </a:lnT>
                    <a:lnB>
                      <a:noFill/>
                    </a:lnB>
                    <a:noFill/>
                  </a:tcPr>
                </a:tc>
                <a:extLst>
                  <a:ext uri="{0D108BD9-81ED-4DB2-BD59-A6C34878D82A}">
                    <a16:rowId xmlns:a16="http://schemas.microsoft.com/office/drawing/2014/main" val="10002"/>
                  </a:ext>
                </a:extLst>
              </a:tr>
              <a:tr h="408940">
                <a:tc>
                  <a:txBody>
                    <a:bodyPr/>
                    <a:lstStyle/>
                    <a:p>
                      <a:pPr algn="l" fontAlgn="ctr"/>
                      <a:r>
                        <a:rPr lang="en-US" altLang="zh-CN" sz="1400" b="0" i="0">
                          <a:solidFill>
                            <a:srgbClr val="000000"/>
                          </a:solidFill>
                          <a:latin typeface="Times New Roman" panose="02020603050405020304"/>
                          <a:ea typeface="Times New Roman" panose="02020603050405020304"/>
                        </a:rPr>
                        <a:t>Ridge</a:t>
                      </a:r>
                    </a:p>
                  </a:txBody>
                  <a:tcPr marL="6667" marR="6667" marT="6667" marB="0" anchor="ctr">
                    <a:lnL>
                      <a:noFill/>
                    </a:lnL>
                    <a:lnR>
                      <a:noFill/>
                    </a:lnR>
                    <a:lnT>
                      <a:noFill/>
                    </a:lnT>
                    <a:lnB>
                      <a:noFill/>
                    </a:lnB>
                    <a:noFill/>
                  </a:tcPr>
                </a:tc>
                <a:tc>
                  <a:txBody>
                    <a:bodyPr/>
                    <a:lstStyle/>
                    <a:p>
                      <a:pPr algn="ctr" fontAlgn="ctr"/>
                      <a:r>
                        <a:rPr lang="en-US" altLang="zh-CN" sz="1400" b="0" i="0">
                          <a:solidFill>
                            <a:srgbClr val="000000"/>
                          </a:solidFill>
                          <a:latin typeface="Times New Roman" panose="02020603050405020304"/>
                          <a:ea typeface="Times New Roman" panose="02020603050405020304"/>
                        </a:rPr>
                        <a:t>321564.20</a:t>
                      </a:r>
                    </a:p>
                  </a:txBody>
                  <a:tcPr marL="6667" marR="6667" marT="6667" marB="0" anchor="ctr">
                    <a:lnL>
                      <a:noFill/>
                    </a:lnL>
                    <a:lnR>
                      <a:noFill/>
                    </a:lnR>
                    <a:lnT>
                      <a:noFill/>
                    </a:lnT>
                    <a:lnB>
                      <a:noFill/>
                    </a:lnB>
                    <a:noFill/>
                  </a:tcPr>
                </a:tc>
                <a:tc>
                  <a:txBody>
                    <a:bodyPr/>
                    <a:lstStyle/>
                    <a:p>
                      <a:pPr algn="ctr" fontAlgn="ctr"/>
                      <a:r>
                        <a:rPr lang="en-US" altLang="zh-CN" sz="1400" b="0" i="0">
                          <a:solidFill>
                            <a:srgbClr val="000000"/>
                          </a:solidFill>
                          <a:latin typeface="Times New Roman" panose="02020603050405020304"/>
                          <a:ea typeface="Times New Roman" panose="02020603050405020304"/>
                        </a:rPr>
                        <a:t>513767.09</a:t>
                      </a:r>
                    </a:p>
                  </a:txBody>
                  <a:tcPr marL="6667" marR="6667" marT="6667" marB="0" anchor="ctr">
                    <a:lnL>
                      <a:noFill/>
                    </a:lnL>
                    <a:lnR>
                      <a:noFill/>
                    </a:lnR>
                    <a:lnT>
                      <a:noFill/>
                    </a:lnT>
                    <a:lnB>
                      <a:noFill/>
                    </a:lnB>
                    <a:noFill/>
                  </a:tcPr>
                </a:tc>
                <a:tc>
                  <a:txBody>
                    <a:bodyPr/>
                    <a:lstStyle/>
                    <a:p>
                      <a:pPr algn="ctr" fontAlgn="ctr"/>
                      <a:r>
                        <a:rPr lang="en-US" altLang="zh-CN" sz="1400" b="0" i="0">
                          <a:solidFill>
                            <a:srgbClr val="000000"/>
                          </a:solidFill>
                          <a:latin typeface="Times New Roman" panose="02020603050405020304"/>
                          <a:ea typeface="Times New Roman" panose="02020603050405020304"/>
                        </a:rPr>
                        <a:t>1313767.06</a:t>
                      </a:r>
                    </a:p>
                  </a:txBody>
                  <a:tcPr marL="6667" marR="6667" marT="6667" marB="0" anchor="ctr">
                    <a:lnL>
                      <a:noFill/>
                    </a:lnL>
                    <a:lnR>
                      <a:noFill/>
                    </a:lnR>
                    <a:lnT>
                      <a:noFill/>
                    </a:lnT>
                    <a:lnB>
                      <a:noFill/>
                    </a:lnB>
                    <a:noFill/>
                  </a:tcPr>
                </a:tc>
                <a:tc>
                  <a:txBody>
                    <a:bodyPr/>
                    <a:lstStyle/>
                    <a:p>
                      <a:pPr algn="ctr" fontAlgn="ctr"/>
                      <a:r>
                        <a:rPr lang="en-US" altLang="zh-CN" sz="1400" b="0" i="0">
                          <a:solidFill>
                            <a:srgbClr val="000000"/>
                          </a:solidFill>
                          <a:latin typeface="Times New Roman" panose="02020603050405020304"/>
                          <a:ea typeface="Times New Roman" panose="02020603050405020304"/>
                        </a:rPr>
                        <a:t>65.97</a:t>
                      </a:r>
                    </a:p>
                  </a:txBody>
                  <a:tcPr marL="6667" marR="6667" marT="6667" marB="0" anchor="ctr">
                    <a:lnL>
                      <a:noFill/>
                    </a:lnL>
                    <a:lnR>
                      <a:noFill/>
                    </a:lnR>
                    <a:lnT>
                      <a:noFill/>
                    </a:lnT>
                    <a:lnB>
                      <a:noFill/>
                    </a:lnB>
                    <a:noFill/>
                  </a:tcPr>
                </a:tc>
                <a:extLst>
                  <a:ext uri="{0D108BD9-81ED-4DB2-BD59-A6C34878D82A}">
                    <a16:rowId xmlns:a16="http://schemas.microsoft.com/office/drawing/2014/main" val="10003"/>
                  </a:ext>
                </a:extLst>
              </a:tr>
              <a:tr h="407670">
                <a:tc>
                  <a:txBody>
                    <a:bodyPr/>
                    <a:lstStyle/>
                    <a:p>
                      <a:pPr algn="l" fontAlgn="ctr"/>
                      <a:endParaRPr lang="en-US" altLang="zh-CN" sz="1400" b="0" i="0">
                        <a:solidFill>
                          <a:srgbClr val="000000"/>
                        </a:solidFill>
                        <a:latin typeface="Times New Roman" panose="02020603050405020304"/>
                        <a:ea typeface="Times New Roman" panose="02020603050405020304"/>
                      </a:endParaRPr>
                    </a:p>
                  </a:txBody>
                  <a:tcPr marL="6667" marR="6667" marT="6667" marB="0" anchor="ctr">
                    <a:lnL>
                      <a:noFill/>
                    </a:lnL>
                    <a:lnR>
                      <a:noFill/>
                    </a:lnR>
                    <a:lnT>
                      <a:noFill/>
                    </a:lnT>
                    <a:lnB>
                      <a:noFill/>
                    </a:lnB>
                    <a:noFill/>
                  </a:tcPr>
                </a:tc>
                <a:tc>
                  <a:txBody>
                    <a:bodyPr/>
                    <a:lstStyle/>
                    <a:p>
                      <a:pPr algn="ctr" fontAlgn="ctr"/>
                      <a:endParaRPr lang="en-US" altLang="zh-CN" sz="1400" b="0" i="0">
                        <a:solidFill>
                          <a:srgbClr val="000000"/>
                        </a:solidFill>
                        <a:latin typeface="Times New Roman" panose="02020603050405020304"/>
                        <a:ea typeface="Times New Roman" panose="02020603050405020304"/>
                      </a:endParaRPr>
                    </a:p>
                  </a:txBody>
                  <a:tcPr marL="6667" marR="6667" marT="6667" marB="0" anchor="ctr">
                    <a:lnL>
                      <a:noFill/>
                    </a:lnL>
                    <a:lnR>
                      <a:noFill/>
                    </a:lnR>
                    <a:lnT>
                      <a:noFill/>
                    </a:lnT>
                    <a:lnB>
                      <a:noFill/>
                    </a:lnB>
                    <a:solidFill>
                      <a:srgbClr val="FFFFFF"/>
                    </a:solidFill>
                  </a:tcPr>
                </a:tc>
                <a:tc>
                  <a:txBody>
                    <a:bodyPr/>
                    <a:lstStyle/>
                    <a:p>
                      <a:pPr algn="ctr" fontAlgn="ctr"/>
                      <a:endParaRPr lang="en-US" altLang="zh-CN" sz="1400" b="0" i="0">
                        <a:solidFill>
                          <a:srgbClr val="000000"/>
                        </a:solidFill>
                        <a:latin typeface="Times New Roman" panose="02020603050405020304"/>
                        <a:ea typeface="Times New Roman" panose="02020603050405020304"/>
                      </a:endParaRPr>
                    </a:p>
                  </a:txBody>
                  <a:tcPr marL="6667" marR="6667" marT="6667" marB="0" anchor="ctr">
                    <a:lnL>
                      <a:noFill/>
                    </a:lnL>
                    <a:lnR>
                      <a:noFill/>
                    </a:lnR>
                    <a:lnT>
                      <a:noFill/>
                    </a:lnT>
                    <a:lnB>
                      <a:noFill/>
                    </a:lnB>
                    <a:noFill/>
                  </a:tcPr>
                </a:tc>
                <a:tc>
                  <a:txBody>
                    <a:bodyPr/>
                    <a:lstStyle/>
                    <a:p>
                      <a:pPr algn="ctr" fontAlgn="ctr"/>
                      <a:endParaRPr lang="en-US" altLang="zh-CN" sz="1400" b="0" i="0">
                        <a:solidFill>
                          <a:srgbClr val="000000"/>
                        </a:solidFill>
                        <a:latin typeface="Times New Roman" panose="02020603050405020304"/>
                        <a:ea typeface="Times New Roman" panose="02020603050405020304"/>
                      </a:endParaRPr>
                    </a:p>
                  </a:txBody>
                  <a:tcPr marL="6667" marR="6667" marT="6667" marB="0" anchor="ctr">
                    <a:lnL>
                      <a:noFill/>
                    </a:lnL>
                    <a:lnR>
                      <a:noFill/>
                    </a:lnR>
                    <a:lnT>
                      <a:noFill/>
                    </a:lnT>
                    <a:lnB>
                      <a:noFill/>
                    </a:lnB>
                    <a:noFill/>
                  </a:tcPr>
                </a:tc>
                <a:tc>
                  <a:txBody>
                    <a:bodyPr/>
                    <a:lstStyle/>
                    <a:p>
                      <a:pPr algn="ctr" fontAlgn="ctr"/>
                      <a:endParaRPr lang="en-US" altLang="zh-CN" sz="1400" b="0" i="0">
                        <a:solidFill>
                          <a:srgbClr val="000000"/>
                        </a:solidFill>
                        <a:latin typeface="Times New Roman" panose="02020603050405020304"/>
                        <a:ea typeface="Times New Roman" panose="02020603050405020304"/>
                      </a:endParaRPr>
                    </a:p>
                  </a:txBody>
                  <a:tcPr marL="6667" marR="6667" marT="6667" marB="0" anchor="ctr">
                    <a:lnL>
                      <a:noFill/>
                    </a:lnL>
                    <a:lnR>
                      <a:noFill/>
                    </a:lnR>
                    <a:lnT>
                      <a:noFill/>
                    </a:lnT>
                    <a:lnB>
                      <a:noFill/>
                    </a:lnB>
                    <a:noFill/>
                  </a:tcPr>
                </a:tc>
                <a:extLst>
                  <a:ext uri="{0D108BD9-81ED-4DB2-BD59-A6C34878D82A}">
                    <a16:rowId xmlns:a16="http://schemas.microsoft.com/office/drawing/2014/main" val="10004"/>
                  </a:ext>
                </a:extLst>
              </a:tr>
            </a:tbl>
          </a:graphicData>
        </a:graphic>
      </p:graphicFrame>
      <p:sp>
        <p:nvSpPr>
          <p:cNvPr id="10" name="文本框 9"/>
          <p:cNvSpPr txBox="1"/>
          <p:nvPr/>
        </p:nvSpPr>
        <p:spPr>
          <a:xfrm>
            <a:off x="1416685" y="648335"/>
            <a:ext cx="2447925" cy="460375"/>
          </a:xfrm>
          <a:prstGeom prst="rect">
            <a:avLst/>
          </a:prstGeom>
          <a:noFill/>
        </p:spPr>
        <p:txBody>
          <a:bodyPr wrap="square" rtlCol="0">
            <a:spAutoFit/>
          </a:bodyPr>
          <a:lstStyle/>
          <a:p>
            <a:r>
              <a:rPr lang="en-US" altLang="zh-CN" sz="2400">
                <a:latin typeface="Times New Roman" panose="02020603050405020304" charset="0"/>
                <a:cs typeface="Times New Roman" panose="02020603050405020304" charset="0"/>
              </a:rPr>
              <a:t>Price Model</a:t>
            </a:r>
          </a:p>
        </p:txBody>
      </p:sp>
      <p:graphicFrame>
        <p:nvGraphicFramePr>
          <p:cNvPr id="11" name="表格 10"/>
          <p:cNvGraphicFramePr/>
          <p:nvPr>
            <p:custDataLst>
              <p:tags r:id="rId1"/>
            </p:custDataLst>
          </p:nvPr>
        </p:nvGraphicFramePr>
        <p:xfrm>
          <a:off x="6405245" y="1109345"/>
          <a:ext cx="5117465" cy="2193925"/>
        </p:xfrm>
        <a:graphic>
          <a:graphicData uri="http://schemas.openxmlformats.org/drawingml/2006/table">
            <a:tbl>
              <a:tblPr/>
              <a:tblGrid>
                <a:gridCol w="925195">
                  <a:extLst>
                    <a:ext uri="{9D8B030D-6E8A-4147-A177-3AD203B41FA5}">
                      <a16:colId xmlns:a16="http://schemas.microsoft.com/office/drawing/2014/main" val="20000"/>
                    </a:ext>
                  </a:extLst>
                </a:gridCol>
                <a:gridCol w="925195">
                  <a:extLst>
                    <a:ext uri="{9D8B030D-6E8A-4147-A177-3AD203B41FA5}">
                      <a16:colId xmlns:a16="http://schemas.microsoft.com/office/drawing/2014/main" val="20001"/>
                    </a:ext>
                  </a:extLst>
                </a:gridCol>
                <a:gridCol w="925830">
                  <a:extLst>
                    <a:ext uri="{9D8B030D-6E8A-4147-A177-3AD203B41FA5}">
                      <a16:colId xmlns:a16="http://schemas.microsoft.com/office/drawing/2014/main" val="20002"/>
                    </a:ext>
                  </a:extLst>
                </a:gridCol>
                <a:gridCol w="1171575">
                  <a:extLst>
                    <a:ext uri="{9D8B030D-6E8A-4147-A177-3AD203B41FA5}">
                      <a16:colId xmlns:a16="http://schemas.microsoft.com/office/drawing/2014/main" val="20003"/>
                    </a:ext>
                  </a:extLst>
                </a:gridCol>
                <a:gridCol w="1169670">
                  <a:extLst>
                    <a:ext uri="{9D8B030D-6E8A-4147-A177-3AD203B41FA5}">
                      <a16:colId xmlns:a16="http://schemas.microsoft.com/office/drawing/2014/main" val="20004"/>
                    </a:ext>
                  </a:extLst>
                </a:gridCol>
              </a:tblGrid>
              <a:tr h="705485">
                <a:tc>
                  <a:txBody>
                    <a:bodyPr/>
                    <a:lstStyle/>
                    <a:p>
                      <a:pPr algn="l" fontAlgn="ctr"/>
                      <a:r>
                        <a:rPr lang="en-US" altLang="zh-CN" sz="1400" b="0" i="0">
                          <a:solidFill>
                            <a:srgbClr val="000000"/>
                          </a:solidFill>
                          <a:latin typeface="Times New Roman" panose="02020603050405020304"/>
                          <a:ea typeface="Times New Roman" panose="02020603050405020304"/>
                        </a:rPr>
                        <a:t>Metrics</a:t>
                      </a:r>
                    </a:p>
                  </a:txBody>
                  <a:tcPr marL="6667" marR="6667" marT="6667" marB="0" anchor="ctr">
                    <a:lnL>
                      <a:noFill/>
                    </a:lnL>
                    <a:lnR>
                      <a:noFill/>
                    </a:lnR>
                    <a:lnT>
                      <a:noFill/>
                    </a:lnT>
                    <a:lnB>
                      <a:noFill/>
                    </a:lnB>
                    <a:noFill/>
                  </a:tcPr>
                </a:tc>
                <a:tc>
                  <a:txBody>
                    <a:bodyPr/>
                    <a:lstStyle/>
                    <a:p>
                      <a:pPr algn="ctr" fontAlgn="ctr"/>
                      <a:r>
                        <a:rPr lang="en-US" altLang="zh-CN" sz="1400" b="0" i="0">
                          <a:solidFill>
                            <a:srgbClr val="000000"/>
                          </a:solidFill>
                          <a:latin typeface="Times New Roman" panose="02020603050405020304"/>
                          <a:ea typeface="Times New Roman" panose="02020603050405020304"/>
                        </a:rPr>
                        <a:t>In Sample</a:t>
                      </a:r>
                    </a:p>
                  </a:txBody>
                  <a:tcPr marL="6667" marR="6667" marT="6667" marB="0" anchor="ctr">
                    <a:lnL>
                      <a:noFill/>
                    </a:lnL>
                    <a:lnR>
                      <a:noFill/>
                    </a:lnR>
                    <a:lnT>
                      <a:noFill/>
                    </a:lnT>
                    <a:lnB>
                      <a:noFill/>
                    </a:lnB>
                    <a:noFill/>
                  </a:tcPr>
                </a:tc>
                <a:tc>
                  <a:txBody>
                    <a:bodyPr/>
                    <a:lstStyle/>
                    <a:p>
                      <a:pPr algn="ctr" fontAlgn="ctr"/>
                      <a:r>
                        <a:rPr lang="en-US" altLang="zh-CN" sz="1400" b="0" i="0">
                          <a:solidFill>
                            <a:srgbClr val="000000"/>
                          </a:solidFill>
                          <a:latin typeface="Times New Roman" panose="02020603050405020304"/>
                          <a:ea typeface="Times New Roman" panose="02020603050405020304"/>
                        </a:rPr>
                        <a:t>Out of Sample</a:t>
                      </a:r>
                    </a:p>
                  </a:txBody>
                  <a:tcPr marL="6667" marR="6667" marT="6667" marB="0" anchor="ctr">
                    <a:lnL>
                      <a:noFill/>
                    </a:lnL>
                    <a:lnR>
                      <a:noFill/>
                    </a:lnR>
                    <a:lnT>
                      <a:noFill/>
                    </a:lnT>
                    <a:lnB>
                      <a:noFill/>
                    </a:lnB>
                    <a:noFill/>
                  </a:tcPr>
                </a:tc>
                <a:tc>
                  <a:txBody>
                    <a:bodyPr/>
                    <a:lstStyle/>
                    <a:p>
                      <a:pPr algn="ctr" fontAlgn="ctr"/>
                      <a:r>
                        <a:rPr lang="en-US" altLang="zh-CN" sz="1400" b="0" i="0">
                          <a:solidFill>
                            <a:srgbClr val="000000"/>
                          </a:solidFill>
                          <a:latin typeface="Times New Roman" panose="02020603050405020304"/>
                          <a:ea typeface="Times New Roman" panose="02020603050405020304"/>
                        </a:rPr>
                        <a:t>Cross-validation</a:t>
                      </a:r>
                    </a:p>
                  </a:txBody>
                  <a:tcPr marL="6667" marR="6667" marT="6667" marB="0" anchor="ctr">
                    <a:lnL>
                      <a:noFill/>
                    </a:lnL>
                    <a:lnR>
                      <a:noFill/>
                    </a:lnR>
                    <a:lnT>
                      <a:noFill/>
                    </a:lnT>
                    <a:lnB>
                      <a:noFill/>
                    </a:lnB>
                    <a:noFill/>
                  </a:tcPr>
                </a:tc>
                <a:tc>
                  <a:txBody>
                    <a:bodyPr/>
                    <a:lstStyle/>
                    <a:p>
                      <a:pPr algn="ctr" fontAlgn="ctr"/>
                      <a:r>
                        <a:rPr lang="en-US" altLang="zh-CN" sz="1400" b="0" i="0">
                          <a:solidFill>
                            <a:srgbClr val="000000"/>
                          </a:solidFill>
                          <a:latin typeface="Times New Roman" panose="02020603050405020304"/>
                          <a:ea typeface="Times New Roman" panose="02020603050405020304"/>
                        </a:rPr>
                        <a:t>Kaggle Score</a:t>
                      </a:r>
                    </a:p>
                  </a:txBody>
                  <a:tcPr marL="6667" marR="6667" marT="6667" marB="0" anchor="ctr">
                    <a:lnL>
                      <a:noFill/>
                    </a:lnL>
                    <a:lnR>
                      <a:noFill/>
                    </a:lnR>
                    <a:lnT>
                      <a:noFill/>
                    </a:lnT>
                    <a:lnB>
                      <a:noFill/>
                    </a:lnB>
                    <a:noFill/>
                  </a:tcPr>
                </a:tc>
                <a:extLst>
                  <a:ext uri="{0D108BD9-81ED-4DB2-BD59-A6C34878D82A}">
                    <a16:rowId xmlns:a16="http://schemas.microsoft.com/office/drawing/2014/main" val="10000"/>
                  </a:ext>
                </a:extLst>
              </a:tr>
              <a:tr h="370840">
                <a:tc>
                  <a:txBody>
                    <a:bodyPr/>
                    <a:lstStyle/>
                    <a:p>
                      <a:pPr algn="l" fontAlgn="ctr"/>
                      <a:r>
                        <a:rPr lang="en-US" altLang="zh-CN" sz="1400" b="0" i="0">
                          <a:solidFill>
                            <a:srgbClr val="000000"/>
                          </a:solidFill>
                          <a:latin typeface="Times New Roman" panose="02020603050405020304"/>
                          <a:ea typeface="Times New Roman" panose="02020603050405020304"/>
                        </a:rPr>
                        <a:t>OLS</a:t>
                      </a:r>
                    </a:p>
                  </a:txBody>
                  <a:tcPr marL="6667" marR="6667" marT="6667" marB="0" anchor="ctr">
                    <a:lnL>
                      <a:noFill/>
                    </a:lnL>
                    <a:lnR>
                      <a:noFill/>
                    </a:lnR>
                    <a:lnT>
                      <a:noFill/>
                    </a:lnT>
                    <a:lnB>
                      <a:noFill/>
                    </a:lnB>
                    <a:noFill/>
                  </a:tcPr>
                </a:tc>
                <a:tc>
                  <a:txBody>
                    <a:bodyPr/>
                    <a:lstStyle/>
                    <a:p>
                      <a:pPr algn="ctr" fontAlgn="ctr"/>
                      <a:r>
                        <a:rPr lang="en-US" altLang="zh-CN" sz="1400" b="0" i="0">
                          <a:solidFill>
                            <a:srgbClr val="000000"/>
                          </a:solidFill>
                          <a:latin typeface="Times New Roman" panose="02020603050405020304"/>
                          <a:ea typeface="Times New Roman" panose="02020603050405020304"/>
                        </a:rPr>
                        <a:t>112643.27</a:t>
                      </a:r>
                    </a:p>
                  </a:txBody>
                  <a:tcPr marL="6667" marR="6667" marT="6667" marB="0" anchor="ctr">
                    <a:lnL>
                      <a:noFill/>
                    </a:lnL>
                    <a:lnR>
                      <a:noFill/>
                    </a:lnR>
                    <a:lnT>
                      <a:noFill/>
                    </a:lnT>
                    <a:lnB>
                      <a:noFill/>
                    </a:lnB>
                    <a:noFill/>
                  </a:tcPr>
                </a:tc>
                <a:tc>
                  <a:txBody>
                    <a:bodyPr/>
                    <a:lstStyle/>
                    <a:p>
                      <a:pPr algn="ctr" fontAlgn="ctr"/>
                      <a:r>
                        <a:rPr lang="en-US" altLang="zh-CN" sz="1400" b="0" i="0">
                          <a:solidFill>
                            <a:srgbClr val="000000"/>
                          </a:solidFill>
                          <a:latin typeface="Times New Roman" panose="02020603050405020304"/>
                          <a:ea typeface="Times New Roman" panose="02020603050405020304"/>
                        </a:rPr>
                        <a:t>112283.35</a:t>
                      </a:r>
                    </a:p>
                  </a:txBody>
                  <a:tcPr marL="6667" marR="6667" marT="6667" marB="0" anchor="ctr">
                    <a:lnL>
                      <a:noFill/>
                    </a:lnL>
                    <a:lnR>
                      <a:noFill/>
                    </a:lnR>
                    <a:lnT>
                      <a:noFill/>
                    </a:lnT>
                    <a:lnB>
                      <a:noFill/>
                    </a:lnB>
                    <a:noFill/>
                  </a:tcPr>
                </a:tc>
                <a:tc>
                  <a:txBody>
                    <a:bodyPr/>
                    <a:lstStyle/>
                    <a:p>
                      <a:pPr algn="ctr" fontAlgn="ctr"/>
                      <a:r>
                        <a:rPr lang="en-US" altLang="zh-CN" sz="1400" b="0" i="0">
                          <a:solidFill>
                            <a:srgbClr val="000000"/>
                          </a:solidFill>
                          <a:latin typeface="Times New Roman" panose="02020603050405020304"/>
                          <a:ea typeface="Times New Roman" panose="02020603050405020304"/>
                        </a:rPr>
                        <a:t>112811.85</a:t>
                      </a:r>
                    </a:p>
                  </a:txBody>
                  <a:tcPr marL="6667" marR="6667" marT="6667" marB="0" anchor="ctr">
                    <a:lnL>
                      <a:noFill/>
                    </a:lnL>
                    <a:lnR>
                      <a:noFill/>
                    </a:lnR>
                    <a:lnT>
                      <a:noFill/>
                    </a:lnT>
                    <a:lnB>
                      <a:noFill/>
                    </a:lnB>
                    <a:noFill/>
                  </a:tcPr>
                </a:tc>
                <a:tc>
                  <a:txBody>
                    <a:bodyPr/>
                    <a:lstStyle/>
                    <a:p>
                      <a:pPr algn="ctr" fontAlgn="ctr"/>
                      <a:r>
                        <a:rPr lang="en-US" altLang="zh-CN" sz="1400" b="0" i="0">
                          <a:solidFill>
                            <a:srgbClr val="000000"/>
                          </a:solidFill>
                          <a:latin typeface="Times New Roman" panose="02020603050405020304"/>
                          <a:ea typeface="Times New Roman" panose="02020603050405020304"/>
                        </a:rPr>
                        <a:t>65.96</a:t>
                      </a:r>
                    </a:p>
                  </a:txBody>
                  <a:tcPr marL="6667" marR="6667" marT="6667" marB="0" anchor="ctr">
                    <a:lnL>
                      <a:noFill/>
                    </a:lnL>
                    <a:lnR>
                      <a:noFill/>
                    </a:lnR>
                    <a:lnT>
                      <a:noFill/>
                    </a:lnT>
                    <a:lnB>
                      <a:noFill/>
                    </a:lnB>
                    <a:solidFill>
                      <a:srgbClr val="FFFFFF"/>
                    </a:solidFill>
                  </a:tcPr>
                </a:tc>
                <a:extLst>
                  <a:ext uri="{0D108BD9-81ED-4DB2-BD59-A6C34878D82A}">
                    <a16:rowId xmlns:a16="http://schemas.microsoft.com/office/drawing/2014/main" val="10001"/>
                  </a:ext>
                </a:extLst>
              </a:tr>
              <a:tr h="372745">
                <a:tc>
                  <a:txBody>
                    <a:bodyPr/>
                    <a:lstStyle/>
                    <a:p>
                      <a:pPr algn="l" fontAlgn="ctr"/>
                      <a:r>
                        <a:rPr lang="en-US" altLang="zh-CN" sz="1400" b="0" i="0">
                          <a:solidFill>
                            <a:srgbClr val="000000"/>
                          </a:solidFill>
                          <a:latin typeface="Times New Roman" panose="02020603050405020304"/>
                          <a:ea typeface="Times New Roman" panose="02020603050405020304"/>
                        </a:rPr>
                        <a:t>Lasso</a:t>
                      </a:r>
                    </a:p>
                  </a:txBody>
                  <a:tcPr marL="6667" marR="6667" marT="6667" marB="0" anchor="ctr">
                    <a:lnL>
                      <a:noFill/>
                    </a:lnL>
                    <a:lnR>
                      <a:noFill/>
                    </a:lnR>
                    <a:lnT>
                      <a:noFill/>
                    </a:lnT>
                    <a:lnB>
                      <a:noFill/>
                    </a:lnB>
                    <a:noFill/>
                  </a:tcPr>
                </a:tc>
                <a:tc>
                  <a:txBody>
                    <a:bodyPr/>
                    <a:lstStyle/>
                    <a:p>
                      <a:pPr algn="ctr" fontAlgn="ctr"/>
                      <a:r>
                        <a:rPr lang="en-US" altLang="zh-CN" sz="1400" b="0" i="0">
                          <a:solidFill>
                            <a:srgbClr val="000000"/>
                          </a:solidFill>
                          <a:latin typeface="Times New Roman" panose="02020603050405020304"/>
                          <a:ea typeface="Times New Roman" panose="02020603050405020304"/>
                        </a:rPr>
                        <a:t>112789.75</a:t>
                      </a:r>
                    </a:p>
                  </a:txBody>
                  <a:tcPr marL="6667" marR="6667" marT="6667" marB="0" anchor="ctr">
                    <a:lnL>
                      <a:noFill/>
                    </a:lnL>
                    <a:lnR>
                      <a:noFill/>
                    </a:lnR>
                    <a:lnT>
                      <a:noFill/>
                    </a:lnT>
                    <a:lnB>
                      <a:noFill/>
                    </a:lnB>
                    <a:solidFill>
                      <a:srgbClr val="FFFFFF"/>
                    </a:solidFill>
                  </a:tcPr>
                </a:tc>
                <a:tc>
                  <a:txBody>
                    <a:bodyPr/>
                    <a:lstStyle/>
                    <a:p>
                      <a:pPr algn="ctr" fontAlgn="ctr"/>
                      <a:r>
                        <a:rPr lang="en-US" altLang="zh-CN" sz="1400" b="0" i="0">
                          <a:solidFill>
                            <a:srgbClr val="000000"/>
                          </a:solidFill>
                          <a:latin typeface="Times New Roman" panose="02020603050405020304"/>
                          <a:ea typeface="Times New Roman" panose="02020603050405020304"/>
                        </a:rPr>
                        <a:t>112346.83</a:t>
                      </a:r>
                    </a:p>
                  </a:txBody>
                  <a:tcPr marL="6667" marR="6667" marT="6667" marB="0" anchor="ctr">
                    <a:lnL>
                      <a:noFill/>
                    </a:lnL>
                    <a:lnR>
                      <a:noFill/>
                    </a:lnR>
                    <a:lnT>
                      <a:noFill/>
                    </a:lnT>
                    <a:lnB>
                      <a:noFill/>
                    </a:lnB>
                    <a:noFill/>
                  </a:tcPr>
                </a:tc>
                <a:tc>
                  <a:txBody>
                    <a:bodyPr/>
                    <a:lstStyle/>
                    <a:p>
                      <a:pPr algn="ctr" fontAlgn="ctr"/>
                      <a:r>
                        <a:rPr lang="en-US" altLang="zh-CN" sz="1400" b="0" i="0">
                          <a:solidFill>
                            <a:srgbClr val="000000"/>
                          </a:solidFill>
                          <a:latin typeface="Times New Roman" panose="02020603050405020304"/>
                          <a:ea typeface="Times New Roman" panose="02020603050405020304"/>
                        </a:rPr>
                        <a:t>112942.90</a:t>
                      </a:r>
                    </a:p>
                  </a:txBody>
                  <a:tcPr marL="6667" marR="6667" marT="6667" marB="0" anchor="ctr">
                    <a:lnL>
                      <a:noFill/>
                    </a:lnL>
                    <a:lnR>
                      <a:noFill/>
                    </a:lnR>
                    <a:lnT>
                      <a:noFill/>
                    </a:lnT>
                    <a:lnB>
                      <a:noFill/>
                    </a:lnB>
                    <a:noFill/>
                  </a:tcPr>
                </a:tc>
                <a:tc>
                  <a:txBody>
                    <a:bodyPr/>
                    <a:lstStyle/>
                    <a:p>
                      <a:pPr algn="ctr" fontAlgn="ctr"/>
                      <a:r>
                        <a:rPr lang="en-US" altLang="zh-CN" sz="1400" b="0" i="0">
                          <a:solidFill>
                            <a:srgbClr val="000000"/>
                          </a:solidFill>
                          <a:latin typeface="Times New Roman" panose="02020603050405020304"/>
                          <a:ea typeface="Times New Roman" panose="02020603050405020304"/>
                        </a:rPr>
                        <a:t>65.98</a:t>
                      </a:r>
                    </a:p>
                  </a:txBody>
                  <a:tcPr marL="6667" marR="6667" marT="6667" marB="0" anchor="ctr">
                    <a:lnL>
                      <a:noFill/>
                    </a:lnL>
                    <a:lnR>
                      <a:noFill/>
                    </a:lnR>
                    <a:lnT>
                      <a:noFill/>
                    </a:lnT>
                    <a:lnB>
                      <a:noFill/>
                    </a:lnB>
                    <a:noFill/>
                  </a:tcPr>
                </a:tc>
                <a:extLst>
                  <a:ext uri="{0D108BD9-81ED-4DB2-BD59-A6C34878D82A}">
                    <a16:rowId xmlns:a16="http://schemas.microsoft.com/office/drawing/2014/main" val="10002"/>
                  </a:ext>
                </a:extLst>
              </a:tr>
              <a:tr h="372745">
                <a:tc>
                  <a:txBody>
                    <a:bodyPr/>
                    <a:lstStyle/>
                    <a:p>
                      <a:pPr algn="l" fontAlgn="ctr"/>
                      <a:r>
                        <a:rPr lang="en-US" altLang="zh-CN" sz="1400" b="0" i="0">
                          <a:solidFill>
                            <a:srgbClr val="000000"/>
                          </a:solidFill>
                          <a:latin typeface="Times New Roman" panose="02020603050405020304"/>
                          <a:ea typeface="Times New Roman" panose="02020603050405020304"/>
                        </a:rPr>
                        <a:t>Ridge</a:t>
                      </a:r>
                    </a:p>
                  </a:txBody>
                  <a:tcPr marL="6667" marR="6667" marT="6667" marB="0" anchor="ctr">
                    <a:lnL>
                      <a:noFill/>
                    </a:lnL>
                    <a:lnR>
                      <a:noFill/>
                    </a:lnR>
                    <a:lnT>
                      <a:noFill/>
                    </a:lnT>
                    <a:lnB>
                      <a:noFill/>
                    </a:lnB>
                    <a:noFill/>
                  </a:tcPr>
                </a:tc>
                <a:tc>
                  <a:txBody>
                    <a:bodyPr/>
                    <a:lstStyle/>
                    <a:p>
                      <a:pPr algn="ctr" fontAlgn="ctr"/>
                      <a:r>
                        <a:rPr lang="en-US" altLang="zh-CN" sz="1400" b="0" i="0">
                          <a:solidFill>
                            <a:srgbClr val="000000"/>
                          </a:solidFill>
                          <a:latin typeface="Times New Roman" panose="02020603050405020304"/>
                          <a:ea typeface="Times New Roman" panose="02020603050405020304"/>
                        </a:rPr>
                        <a:t>112643.50</a:t>
                      </a:r>
                    </a:p>
                  </a:txBody>
                  <a:tcPr marL="6667" marR="6667" marT="6667" marB="0" anchor="ctr">
                    <a:lnL>
                      <a:noFill/>
                    </a:lnL>
                    <a:lnR>
                      <a:noFill/>
                    </a:lnR>
                    <a:lnT>
                      <a:noFill/>
                    </a:lnT>
                    <a:lnB>
                      <a:noFill/>
                    </a:lnB>
                    <a:noFill/>
                  </a:tcPr>
                </a:tc>
                <a:tc>
                  <a:txBody>
                    <a:bodyPr/>
                    <a:lstStyle/>
                    <a:p>
                      <a:pPr algn="ctr" fontAlgn="ctr"/>
                      <a:r>
                        <a:rPr lang="en-US" altLang="zh-CN" sz="1400" b="0" i="0">
                          <a:solidFill>
                            <a:srgbClr val="000000"/>
                          </a:solidFill>
                          <a:latin typeface="Times New Roman" panose="02020603050405020304"/>
                          <a:ea typeface="Times New Roman" panose="02020603050405020304"/>
                        </a:rPr>
                        <a:t>112283.89</a:t>
                      </a:r>
                    </a:p>
                  </a:txBody>
                  <a:tcPr marL="6667" marR="6667" marT="6667" marB="0" anchor="ctr">
                    <a:lnL>
                      <a:noFill/>
                    </a:lnL>
                    <a:lnR>
                      <a:noFill/>
                    </a:lnR>
                    <a:lnT>
                      <a:noFill/>
                    </a:lnT>
                    <a:lnB>
                      <a:noFill/>
                    </a:lnB>
                    <a:noFill/>
                  </a:tcPr>
                </a:tc>
                <a:tc>
                  <a:txBody>
                    <a:bodyPr/>
                    <a:lstStyle/>
                    <a:p>
                      <a:pPr algn="ctr" fontAlgn="ctr"/>
                      <a:r>
                        <a:rPr lang="en-US" altLang="zh-CN" sz="1400" b="0" i="0">
                          <a:solidFill>
                            <a:srgbClr val="000000"/>
                          </a:solidFill>
                          <a:latin typeface="Times New Roman" panose="02020603050405020304"/>
                          <a:ea typeface="Times New Roman" panose="02020603050405020304"/>
                        </a:rPr>
                        <a:t>112812.16</a:t>
                      </a:r>
                    </a:p>
                  </a:txBody>
                  <a:tcPr marL="6667" marR="6667" marT="6667" marB="0" anchor="ctr">
                    <a:lnL>
                      <a:noFill/>
                    </a:lnL>
                    <a:lnR>
                      <a:noFill/>
                    </a:lnR>
                    <a:lnT>
                      <a:noFill/>
                    </a:lnT>
                    <a:lnB>
                      <a:noFill/>
                    </a:lnB>
                    <a:noFill/>
                  </a:tcPr>
                </a:tc>
                <a:tc>
                  <a:txBody>
                    <a:bodyPr/>
                    <a:lstStyle/>
                    <a:p>
                      <a:pPr algn="ctr" fontAlgn="ctr"/>
                      <a:r>
                        <a:rPr lang="en-US" altLang="zh-CN" sz="1400" b="0" i="0">
                          <a:solidFill>
                            <a:srgbClr val="000000"/>
                          </a:solidFill>
                          <a:latin typeface="Times New Roman" panose="02020603050405020304"/>
                          <a:ea typeface="Times New Roman" panose="02020603050405020304"/>
                        </a:rPr>
                        <a:t>65.97</a:t>
                      </a:r>
                    </a:p>
                  </a:txBody>
                  <a:tcPr marL="6667" marR="6667" marT="6667" marB="0" anchor="ctr">
                    <a:lnL>
                      <a:noFill/>
                    </a:lnL>
                    <a:lnR>
                      <a:noFill/>
                    </a:lnR>
                    <a:lnT>
                      <a:noFill/>
                    </a:lnT>
                    <a:lnB>
                      <a:noFill/>
                    </a:lnB>
                    <a:noFill/>
                  </a:tcPr>
                </a:tc>
                <a:extLst>
                  <a:ext uri="{0D108BD9-81ED-4DB2-BD59-A6C34878D82A}">
                    <a16:rowId xmlns:a16="http://schemas.microsoft.com/office/drawing/2014/main" val="10003"/>
                  </a:ext>
                </a:extLst>
              </a:tr>
              <a:tr h="372110">
                <a:tc>
                  <a:txBody>
                    <a:bodyPr/>
                    <a:lstStyle/>
                    <a:p>
                      <a:pPr algn="l" fontAlgn="ctr"/>
                      <a:endParaRPr lang="zh-CN" altLang="en-US" sz="1400" b="0" i="0">
                        <a:solidFill>
                          <a:srgbClr val="000000"/>
                        </a:solidFill>
                        <a:latin typeface="Times New Roman" panose="02020603050405020304"/>
                        <a:ea typeface="宋体" panose="02010600030101010101" pitchFamily="2" charset="-122"/>
                      </a:endParaRPr>
                    </a:p>
                  </a:txBody>
                  <a:tcPr marL="6667" marR="6667" marT="6667" marB="0" anchor="ctr">
                    <a:lnL>
                      <a:noFill/>
                    </a:lnL>
                    <a:lnR>
                      <a:noFill/>
                    </a:lnR>
                    <a:lnT>
                      <a:noFill/>
                    </a:lnT>
                    <a:lnB>
                      <a:noFill/>
                    </a:lnB>
                    <a:noFill/>
                  </a:tcPr>
                </a:tc>
                <a:tc>
                  <a:txBody>
                    <a:bodyPr/>
                    <a:lstStyle/>
                    <a:p>
                      <a:pPr algn="ctr" fontAlgn="ctr"/>
                      <a:endParaRPr lang="en-US" altLang="zh-CN" sz="1400" b="0" i="0">
                        <a:solidFill>
                          <a:srgbClr val="000000"/>
                        </a:solidFill>
                        <a:latin typeface="Times New Roman" panose="02020603050405020304"/>
                        <a:ea typeface="Times New Roman" panose="02020603050405020304"/>
                      </a:endParaRPr>
                    </a:p>
                  </a:txBody>
                  <a:tcPr marL="6667" marR="6667" marT="6667" marB="0" anchor="ctr">
                    <a:lnL>
                      <a:noFill/>
                    </a:lnL>
                    <a:lnR>
                      <a:noFill/>
                    </a:lnR>
                    <a:lnT>
                      <a:noFill/>
                    </a:lnT>
                    <a:lnB>
                      <a:noFill/>
                    </a:lnB>
                    <a:noFill/>
                  </a:tcPr>
                </a:tc>
                <a:tc>
                  <a:txBody>
                    <a:bodyPr/>
                    <a:lstStyle/>
                    <a:p>
                      <a:pPr algn="ctr" fontAlgn="ctr"/>
                      <a:endParaRPr lang="en-US" altLang="zh-CN" sz="1400" b="0" i="0">
                        <a:solidFill>
                          <a:srgbClr val="000000"/>
                        </a:solidFill>
                        <a:latin typeface="Times New Roman" panose="02020603050405020304"/>
                        <a:ea typeface="Times New Roman" panose="02020603050405020304"/>
                      </a:endParaRPr>
                    </a:p>
                  </a:txBody>
                  <a:tcPr marL="6667" marR="6667" marT="6667" marB="0" anchor="ctr">
                    <a:lnL>
                      <a:noFill/>
                    </a:lnL>
                    <a:lnR>
                      <a:noFill/>
                    </a:lnR>
                    <a:lnT>
                      <a:noFill/>
                    </a:lnT>
                    <a:lnB>
                      <a:noFill/>
                    </a:lnB>
                    <a:noFill/>
                  </a:tcPr>
                </a:tc>
                <a:tc>
                  <a:txBody>
                    <a:bodyPr/>
                    <a:lstStyle/>
                    <a:p>
                      <a:pPr algn="ctr" fontAlgn="ctr"/>
                      <a:endParaRPr lang="en-US" altLang="zh-CN" sz="1400" b="0" i="0">
                        <a:solidFill>
                          <a:srgbClr val="000000"/>
                        </a:solidFill>
                        <a:latin typeface="Times New Roman" panose="02020603050405020304"/>
                        <a:ea typeface="Times New Roman" panose="02020603050405020304"/>
                      </a:endParaRPr>
                    </a:p>
                  </a:txBody>
                  <a:tcPr marL="6667" marR="6667" marT="6667" marB="0" anchor="ctr">
                    <a:lnL>
                      <a:noFill/>
                    </a:lnL>
                    <a:lnR>
                      <a:noFill/>
                    </a:lnR>
                    <a:lnT>
                      <a:noFill/>
                    </a:lnT>
                    <a:lnB>
                      <a:noFill/>
                    </a:lnB>
                    <a:noFill/>
                  </a:tcPr>
                </a:tc>
                <a:tc>
                  <a:txBody>
                    <a:bodyPr/>
                    <a:lstStyle/>
                    <a:p>
                      <a:pPr algn="ctr" fontAlgn="ctr"/>
                      <a:endParaRPr lang="en-US" altLang="zh-CN" sz="1400" b="0" i="0">
                        <a:solidFill>
                          <a:srgbClr val="000000"/>
                        </a:solidFill>
                        <a:latin typeface="Times New Roman" panose="02020603050405020304"/>
                        <a:ea typeface="Times New Roman" panose="02020603050405020304"/>
                      </a:endParaRPr>
                    </a:p>
                  </a:txBody>
                  <a:tcPr marL="6667" marR="6667" marT="6667" marB="0" anchor="ctr">
                    <a:lnL>
                      <a:noFill/>
                    </a:lnL>
                    <a:lnR>
                      <a:noFill/>
                    </a:lnR>
                    <a:lnT>
                      <a:noFill/>
                    </a:lnT>
                    <a:lnB>
                      <a:noFill/>
                    </a:lnB>
                    <a:noFill/>
                  </a:tcPr>
                </a:tc>
                <a:extLst>
                  <a:ext uri="{0D108BD9-81ED-4DB2-BD59-A6C34878D82A}">
                    <a16:rowId xmlns:a16="http://schemas.microsoft.com/office/drawing/2014/main" val="10004"/>
                  </a:ext>
                </a:extLst>
              </a:tr>
            </a:tbl>
          </a:graphicData>
        </a:graphic>
      </p:graphicFrame>
      <p:sp>
        <p:nvSpPr>
          <p:cNvPr id="12" name="文本框 11"/>
          <p:cNvSpPr txBox="1"/>
          <p:nvPr/>
        </p:nvSpPr>
        <p:spPr>
          <a:xfrm>
            <a:off x="6417945" y="648335"/>
            <a:ext cx="2171065" cy="460375"/>
          </a:xfrm>
          <a:prstGeom prst="rect">
            <a:avLst/>
          </a:prstGeom>
          <a:noFill/>
        </p:spPr>
        <p:txBody>
          <a:bodyPr wrap="square" rtlCol="0">
            <a:spAutoFit/>
          </a:bodyPr>
          <a:lstStyle/>
          <a:p>
            <a:r>
              <a:rPr lang="en-US" altLang="zh-CN" sz="2400">
                <a:latin typeface="Times New Roman" panose="02020603050405020304" charset="0"/>
                <a:cs typeface="Times New Roman" panose="02020603050405020304" charset="0"/>
              </a:rPr>
              <a:t>Rent Model</a:t>
            </a:r>
          </a:p>
        </p:txBody>
      </p:sp>
      <p:sp>
        <p:nvSpPr>
          <p:cNvPr id="13" name="文本框 12"/>
          <p:cNvSpPr txBox="1"/>
          <p:nvPr/>
        </p:nvSpPr>
        <p:spPr>
          <a:xfrm>
            <a:off x="1386205" y="3343275"/>
            <a:ext cx="2447925" cy="460375"/>
          </a:xfrm>
          <a:prstGeom prst="rect">
            <a:avLst/>
          </a:prstGeom>
          <a:noFill/>
        </p:spPr>
        <p:txBody>
          <a:bodyPr wrap="square" rtlCol="0">
            <a:spAutoFit/>
          </a:bodyPr>
          <a:lstStyle/>
          <a:p>
            <a:r>
              <a:rPr lang="zh-CN" altLang="en-US" sz="2400">
                <a:latin typeface="楷体" panose="02010609060101010101" charset="-122"/>
                <a:ea typeface="楷体" panose="02010609060101010101" charset="-122"/>
                <a:cs typeface="Times New Roman" panose="02020603050405020304" charset="0"/>
              </a:rPr>
              <a:t>创新点</a:t>
            </a:r>
          </a:p>
        </p:txBody>
      </p:sp>
      <p:sp>
        <p:nvSpPr>
          <p:cNvPr id="14" name="文本框 13"/>
          <p:cNvSpPr txBox="1"/>
          <p:nvPr/>
        </p:nvSpPr>
        <p:spPr>
          <a:xfrm>
            <a:off x="1379855" y="3803650"/>
            <a:ext cx="9570085" cy="928370"/>
          </a:xfrm>
          <a:prstGeom prst="rect">
            <a:avLst/>
          </a:prstGeom>
          <a:noFill/>
        </p:spPr>
        <p:txBody>
          <a:bodyPr wrap="square" rtlCol="0">
            <a:noAutofit/>
          </a:bodyPr>
          <a:lstStyle/>
          <a:p>
            <a:r>
              <a:rPr lang="en-US" altLang="zh-CN" sz="1600">
                <a:latin typeface="楷体" panose="02010609060101010101" charset="-122"/>
                <a:ea typeface="楷体" panose="02010609060101010101" charset="-122"/>
                <a:cs typeface="楷体" panose="02010609060101010101" charset="-122"/>
              </a:rPr>
              <a:t>1.</a:t>
            </a:r>
            <a:r>
              <a:rPr lang="zh-CN" altLang="en-US" sz="1600">
                <a:latin typeface="楷体" panose="02010609060101010101" charset="-122"/>
                <a:ea typeface="楷体" panose="02010609060101010101" charset="-122"/>
                <a:cs typeface="楷体" panose="02010609060101010101" charset="-122"/>
              </a:rPr>
              <a:t>对于</a:t>
            </a:r>
            <a:r>
              <a:rPr lang="en-US" altLang="zh-CN" sz="1600">
                <a:latin typeface="楷体" panose="02010609060101010101" charset="-122"/>
                <a:ea typeface="楷体" panose="02010609060101010101" charset="-122"/>
                <a:cs typeface="楷体" panose="02010609060101010101" charset="-122"/>
              </a:rPr>
              <a:t>Price</a:t>
            </a:r>
            <a:r>
              <a:rPr lang="zh-CN" altLang="en-US" sz="1600">
                <a:latin typeface="楷体" panose="02010609060101010101" charset="-122"/>
                <a:ea typeface="楷体" panose="02010609060101010101" charset="-122"/>
                <a:cs typeface="楷体" panose="02010609060101010101" charset="-122"/>
              </a:rPr>
              <a:t>和</a:t>
            </a:r>
            <a:r>
              <a:rPr lang="en-US" altLang="zh-CN" sz="1600">
                <a:latin typeface="楷体" panose="02010609060101010101" charset="-122"/>
                <a:ea typeface="楷体" panose="02010609060101010101" charset="-122"/>
                <a:cs typeface="楷体" panose="02010609060101010101" charset="-122"/>
              </a:rPr>
              <a:t>Rent</a:t>
            </a:r>
            <a:r>
              <a:rPr lang="zh-CN" altLang="en-US" sz="1600">
                <a:latin typeface="楷体" panose="02010609060101010101" charset="-122"/>
                <a:ea typeface="楷体" panose="02010609060101010101" charset="-122"/>
                <a:cs typeface="楷体" panose="02010609060101010101" charset="-122"/>
              </a:rPr>
              <a:t>使用两种处理方法：一种是保留所有因变量进行回归，对于租金模型只抓取关键变量例如区域、面积等进行回归。</a:t>
            </a:r>
          </a:p>
        </p:txBody>
      </p:sp>
      <p:sp>
        <p:nvSpPr>
          <p:cNvPr id="24" name="文本框 23"/>
          <p:cNvSpPr txBox="1"/>
          <p:nvPr/>
        </p:nvSpPr>
        <p:spPr>
          <a:xfrm>
            <a:off x="1386205" y="4450715"/>
            <a:ext cx="9570085" cy="1456055"/>
          </a:xfrm>
          <a:prstGeom prst="rect">
            <a:avLst/>
          </a:prstGeom>
          <a:noFill/>
        </p:spPr>
        <p:txBody>
          <a:bodyPr wrap="square" rtlCol="0">
            <a:noAutofit/>
          </a:bodyPr>
          <a:lstStyle/>
          <a:p>
            <a:r>
              <a:rPr lang="en-US" sz="1600">
                <a:latin typeface="楷体" panose="02010609060101010101" charset="-122"/>
                <a:ea typeface="楷体" panose="02010609060101010101" charset="-122"/>
                <a:cs typeface="楷体" panose="02010609060101010101" charset="-122"/>
              </a:rPr>
              <a:t>2.</a:t>
            </a:r>
            <a:r>
              <a:rPr lang="zh-CN" altLang="en-US" sz="1600">
                <a:latin typeface="楷体" panose="02010609060101010101" charset="-122"/>
                <a:ea typeface="楷体" panose="02010609060101010101" charset="-122"/>
                <a:cs typeface="楷体" panose="02010609060101010101" charset="-122"/>
              </a:rPr>
              <a:t>对于</a:t>
            </a:r>
            <a:r>
              <a:rPr lang="en-US" altLang="zh-CN" sz="1600">
                <a:latin typeface="楷体" panose="02010609060101010101" charset="-122"/>
                <a:ea typeface="楷体" panose="02010609060101010101" charset="-122"/>
                <a:cs typeface="楷体" panose="02010609060101010101" charset="-122"/>
              </a:rPr>
              <a:t>Rent</a:t>
            </a:r>
            <a:r>
              <a:rPr lang="zh-CN" altLang="en-US" sz="1600">
                <a:latin typeface="楷体" panose="02010609060101010101" charset="-122"/>
                <a:ea typeface="楷体" panose="02010609060101010101" charset="-122"/>
                <a:cs typeface="楷体" panose="02010609060101010101" charset="-122"/>
              </a:rPr>
              <a:t>模型的特征选择：通过计算特征变量与目标变量相关性删去低相关性变量，计算特征之间的相关性删去高相关性特征，再通过</a:t>
            </a:r>
            <a:r>
              <a:rPr lang="en-US" altLang="zh-CN" sz="1600">
                <a:latin typeface="楷体" panose="02010609060101010101" charset="-122"/>
                <a:ea typeface="楷体" panose="02010609060101010101" charset="-122"/>
                <a:cs typeface="楷体" panose="02010609060101010101" charset="-122"/>
              </a:rPr>
              <a:t>vif</a:t>
            </a:r>
            <a:r>
              <a:rPr lang="zh-CN" altLang="en-US" sz="1600">
                <a:latin typeface="楷体" panose="02010609060101010101" charset="-122"/>
                <a:ea typeface="楷体" panose="02010609060101010101" charset="-122"/>
                <a:cs typeface="楷体" panose="02010609060101010101" charset="-122"/>
              </a:rPr>
              <a:t>检验进一步删特征（虽然代码里我把</a:t>
            </a:r>
            <a:r>
              <a:rPr lang="en-US" altLang="zh-CN" sz="1600">
                <a:latin typeface="楷体" panose="02010609060101010101" charset="-122"/>
                <a:ea typeface="楷体" panose="02010609060101010101" charset="-122"/>
                <a:cs typeface="楷体" panose="02010609060101010101" charset="-122"/>
              </a:rPr>
              <a:t>VIF</a:t>
            </a:r>
            <a:r>
              <a:rPr lang="zh-CN" altLang="en-US" sz="1600">
                <a:latin typeface="楷体" panose="02010609060101010101" charset="-122"/>
                <a:ea typeface="楷体" panose="02010609060101010101" charset="-122"/>
                <a:cs typeface="楷体" panose="02010609060101010101" charset="-122"/>
              </a:rPr>
              <a:t>部分又删除了）。除去冗余变量，且有效避免多重共线性。对于</a:t>
            </a:r>
            <a:r>
              <a:rPr lang="en-US" altLang="zh-CN" sz="1600">
                <a:latin typeface="楷体" panose="02010609060101010101" charset="-122"/>
                <a:ea typeface="楷体" panose="02010609060101010101" charset="-122"/>
                <a:cs typeface="楷体" panose="02010609060101010101" charset="-122"/>
              </a:rPr>
              <a:t>Price</a:t>
            </a:r>
            <a:r>
              <a:rPr lang="zh-CN" altLang="en-US" sz="1600">
                <a:latin typeface="楷体" panose="02010609060101010101" charset="-122"/>
                <a:ea typeface="楷体" panose="02010609060101010101" charset="-122"/>
                <a:cs typeface="楷体" panose="02010609060101010101" charset="-122"/>
              </a:rPr>
              <a:t>模型的特征引入面积的平方、房龄等直观感受较重要的变量并做平方项和交叉项</a:t>
            </a:r>
          </a:p>
          <a:p>
            <a:endParaRPr lang="zh-CN" altLang="en-US" sz="1600">
              <a:latin typeface="楷体" panose="02010609060101010101" charset="-122"/>
              <a:ea typeface="楷体" panose="02010609060101010101" charset="-122"/>
              <a:cs typeface="楷体" panose="02010609060101010101" charset="-122"/>
            </a:endParaRPr>
          </a:p>
          <a:p>
            <a:r>
              <a:rPr lang="en-US" altLang="zh-CN" sz="1600">
                <a:latin typeface="楷体" panose="02010609060101010101" charset="-122"/>
                <a:ea typeface="楷体" panose="02010609060101010101" charset="-122"/>
                <a:cs typeface="楷体" panose="02010609060101010101" charset="-122"/>
              </a:rPr>
              <a:t>3.</a:t>
            </a:r>
            <a:r>
              <a:rPr lang="zh-CN" altLang="en-US" sz="1600">
                <a:latin typeface="楷体" panose="02010609060101010101" charset="-122"/>
                <a:ea typeface="楷体" panose="02010609060101010101" charset="-122"/>
                <a:cs typeface="楷体" panose="02010609060101010101" charset="-122"/>
              </a:rPr>
              <a:t>文本处理：先观察训练集手动提取关键词，对于</a:t>
            </a:r>
            <a:r>
              <a:rPr lang="en-US" altLang="zh-CN" sz="1600">
                <a:latin typeface="楷体" panose="02010609060101010101" charset="-122"/>
                <a:ea typeface="楷体" panose="02010609060101010101" charset="-122"/>
                <a:cs typeface="楷体" panose="02010609060101010101" charset="-122"/>
              </a:rPr>
              <a:t>Price</a:t>
            </a:r>
            <a:r>
              <a:rPr lang="zh-CN" altLang="en-US" sz="1600">
                <a:latin typeface="楷体" panose="02010609060101010101" charset="-122"/>
                <a:ea typeface="楷体" panose="02010609060101010101" charset="-122"/>
                <a:cs typeface="楷体" panose="02010609060101010101" charset="-122"/>
              </a:rPr>
              <a:t>模型中文字文本进行积极消极处理并简略计算得分作为综合反馈变量进行回归</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组合 4"/>
          <p:cNvGrpSpPr/>
          <p:nvPr/>
        </p:nvGrpSpPr>
        <p:grpSpPr>
          <a:xfrm>
            <a:off x="-1004570" y="-331470"/>
            <a:ext cx="14208125" cy="7506970"/>
            <a:chOff x="-1582" y="-522"/>
            <a:chExt cx="22375" cy="11822"/>
          </a:xfrm>
        </p:grpSpPr>
        <p:grpSp>
          <p:nvGrpSpPr>
            <p:cNvPr id="47" name="组合 46"/>
            <p:cNvGrpSpPr/>
            <p:nvPr/>
          </p:nvGrpSpPr>
          <p:grpSpPr>
            <a:xfrm>
              <a:off x="419" y="9302"/>
              <a:ext cx="434" cy="1065"/>
              <a:chOff x="537" y="8479"/>
              <a:chExt cx="434" cy="1065"/>
            </a:xfrm>
          </p:grpSpPr>
          <p:grpSp>
            <p:nvGrpSpPr>
              <p:cNvPr id="26" name="组合 25"/>
              <p:cNvGrpSpPr/>
              <p:nvPr/>
            </p:nvGrpSpPr>
            <p:grpSpPr>
              <a:xfrm>
                <a:off x="537" y="8479"/>
                <a:ext cx="434" cy="84"/>
                <a:chOff x="537" y="8479"/>
                <a:chExt cx="434" cy="84"/>
              </a:xfrm>
            </p:grpSpPr>
            <p:sp>
              <p:nvSpPr>
                <p:cNvPr id="22" name="椭圆 21"/>
                <p:cNvSpPr/>
                <p:nvPr/>
              </p:nvSpPr>
              <p:spPr>
                <a:xfrm>
                  <a:off x="537" y="8479"/>
                  <a:ext cx="85" cy="85"/>
                </a:xfrm>
                <a:prstGeom prst="ellipse">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3" name="椭圆 22"/>
                <p:cNvSpPr/>
                <p:nvPr/>
              </p:nvSpPr>
              <p:spPr>
                <a:xfrm>
                  <a:off x="705" y="8479"/>
                  <a:ext cx="85" cy="85"/>
                </a:xfrm>
                <a:prstGeom prst="ellipse">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 name="椭圆 24"/>
                <p:cNvSpPr/>
                <p:nvPr/>
              </p:nvSpPr>
              <p:spPr>
                <a:xfrm>
                  <a:off x="887" y="8479"/>
                  <a:ext cx="85" cy="85"/>
                </a:xfrm>
                <a:prstGeom prst="ellipse">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27" name="组合 26"/>
              <p:cNvGrpSpPr/>
              <p:nvPr/>
            </p:nvGrpSpPr>
            <p:grpSpPr>
              <a:xfrm>
                <a:off x="537" y="8672"/>
                <a:ext cx="434" cy="84"/>
                <a:chOff x="537" y="8479"/>
                <a:chExt cx="434" cy="84"/>
              </a:xfrm>
            </p:grpSpPr>
            <p:sp>
              <p:nvSpPr>
                <p:cNvPr id="28" name="椭圆 27"/>
                <p:cNvSpPr/>
                <p:nvPr/>
              </p:nvSpPr>
              <p:spPr>
                <a:xfrm>
                  <a:off x="537" y="8479"/>
                  <a:ext cx="85" cy="85"/>
                </a:xfrm>
                <a:prstGeom prst="ellipse">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9" name="椭圆 28"/>
                <p:cNvSpPr/>
                <p:nvPr/>
              </p:nvSpPr>
              <p:spPr>
                <a:xfrm>
                  <a:off x="705" y="8479"/>
                  <a:ext cx="85" cy="85"/>
                </a:xfrm>
                <a:prstGeom prst="ellipse">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0" name="椭圆 29"/>
                <p:cNvSpPr/>
                <p:nvPr/>
              </p:nvSpPr>
              <p:spPr>
                <a:xfrm>
                  <a:off x="887" y="8479"/>
                  <a:ext cx="85" cy="85"/>
                </a:xfrm>
                <a:prstGeom prst="ellipse">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31" name="组合 30"/>
              <p:cNvGrpSpPr/>
              <p:nvPr/>
            </p:nvGrpSpPr>
            <p:grpSpPr>
              <a:xfrm>
                <a:off x="537" y="8873"/>
                <a:ext cx="434" cy="84"/>
                <a:chOff x="537" y="8479"/>
                <a:chExt cx="434" cy="84"/>
              </a:xfrm>
            </p:grpSpPr>
            <p:sp>
              <p:nvSpPr>
                <p:cNvPr id="32" name="椭圆 31"/>
                <p:cNvSpPr/>
                <p:nvPr/>
              </p:nvSpPr>
              <p:spPr>
                <a:xfrm>
                  <a:off x="537" y="8479"/>
                  <a:ext cx="85" cy="85"/>
                </a:xfrm>
                <a:prstGeom prst="ellipse">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3" name="椭圆 32"/>
                <p:cNvSpPr/>
                <p:nvPr/>
              </p:nvSpPr>
              <p:spPr>
                <a:xfrm>
                  <a:off x="705" y="8479"/>
                  <a:ext cx="85" cy="85"/>
                </a:xfrm>
                <a:prstGeom prst="ellipse">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4" name="椭圆 33"/>
                <p:cNvSpPr/>
                <p:nvPr/>
              </p:nvSpPr>
              <p:spPr>
                <a:xfrm>
                  <a:off x="887" y="8479"/>
                  <a:ext cx="85" cy="85"/>
                </a:xfrm>
                <a:prstGeom prst="ellipse">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35" name="组合 34"/>
              <p:cNvGrpSpPr/>
              <p:nvPr/>
            </p:nvGrpSpPr>
            <p:grpSpPr>
              <a:xfrm>
                <a:off x="537" y="9066"/>
                <a:ext cx="434" cy="84"/>
                <a:chOff x="537" y="8479"/>
                <a:chExt cx="434" cy="84"/>
              </a:xfrm>
            </p:grpSpPr>
            <p:sp>
              <p:nvSpPr>
                <p:cNvPr id="36" name="椭圆 35"/>
                <p:cNvSpPr/>
                <p:nvPr/>
              </p:nvSpPr>
              <p:spPr>
                <a:xfrm>
                  <a:off x="537" y="8479"/>
                  <a:ext cx="85" cy="85"/>
                </a:xfrm>
                <a:prstGeom prst="ellipse">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7" name="椭圆 36"/>
                <p:cNvSpPr/>
                <p:nvPr/>
              </p:nvSpPr>
              <p:spPr>
                <a:xfrm>
                  <a:off x="705" y="8479"/>
                  <a:ext cx="85" cy="85"/>
                </a:xfrm>
                <a:prstGeom prst="ellipse">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8" name="椭圆 37"/>
                <p:cNvSpPr/>
                <p:nvPr/>
              </p:nvSpPr>
              <p:spPr>
                <a:xfrm>
                  <a:off x="887" y="8479"/>
                  <a:ext cx="85" cy="85"/>
                </a:xfrm>
                <a:prstGeom prst="ellipse">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39" name="组合 38"/>
              <p:cNvGrpSpPr/>
              <p:nvPr/>
            </p:nvGrpSpPr>
            <p:grpSpPr>
              <a:xfrm>
                <a:off x="537" y="9267"/>
                <a:ext cx="434" cy="84"/>
                <a:chOff x="537" y="8479"/>
                <a:chExt cx="434" cy="84"/>
              </a:xfrm>
            </p:grpSpPr>
            <p:sp>
              <p:nvSpPr>
                <p:cNvPr id="40" name="椭圆 39"/>
                <p:cNvSpPr/>
                <p:nvPr/>
              </p:nvSpPr>
              <p:spPr>
                <a:xfrm>
                  <a:off x="537" y="8479"/>
                  <a:ext cx="85" cy="85"/>
                </a:xfrm>
                <a:prstGeom prst="ellipse">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1" name="椭圆 40"/>
                <p:cNvSpPr/>
                <p:nvPr/>
              </p:nvSpPr>
              <p:spPr>
                <a:xfrm>
                  <a:off x="705" y="8479"/>
                  <a:ext cx="85" cy="85"/>
                </a:xfrm>
                <a:prstGeom prst="ellipse">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2" name="椭圆 41"/>
                <p:cNvSpPr/>
                <p:nvPr/>
              </p:nvSpPr>
              <p:spPr>
                <a:xfrm>
                  <a:off x="887" y="8479"/>
                  <a:ext cx="85" cy="85"/>
                </a:xfrm>
                <a:prstGeom prst="ellipse">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43" name="组合 42"/>
              <p:cNvGrpSpPr/>
              <p:nvPr/>
            </p:nvGrpSpPr>
            <p:grpSpPr>
              <a:xfrm>
                <a:off x="537" y="9460"/>
                <a:ext cx="434" cy="84"/>
                <a:chOff x="537" y="8479"/>
                <a:chExt cx="434" cy="84"/>
              </a:xfrm>
            </p:grpSpPr>
            <p:sp>
              <p:nvSpPr>
                <p:cNvPr id="44" name="椭圆 43"/>
                <p:cNvSpPr/>
                <p:nvPr/>
              </p:nvSpPr>
              <p:spPr>
                <a:xfrm>
                  <a:off x="537" y="8479"/>
                  <a:ext cx="85" cy="85"/>
                </a:xfrm>
                <a:prstGeom prst="ellipse">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5" name="椭圆 44"/>
                <p:cNvSpPr/>
                <p:nvPr/>
              </p:nvSpPr>
              <p:spPr>
                <a:xfrm>
                  <a:off x="705" y="8479"/>
                  <a:ext cx="85" cy="85"/>
                </a:xfrm>
                <a:prstGeom prst="ellipse">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6" name="椭圆 45"/>
                <p:cNvSpPr/>
                <p:nvPr/>
              </p:nvSpPr>
              <p:spPr>
                <a:xfrm>
                  <a:off x="887" y="8479"/>
                  <a:ext cx="85" cy="85"/>
                </a:xfrm>
                <a:prstGeom prst="ellipse">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grpSp>
          <p:nvGrpSpPr>
            <p:cNvPr id="48" name="组合 47"/>
            <p:cNvGrpSpPr/>
            <p:nvPr/>
          </p:nvGrpSpPr>
          <p:grpSpPr>
            <a:xfrm>
              <a:off x="18348" y="434"/>
              <a:ext cx="434" cy="1065"/>
              <a:chOff x="537" y="8479"/>
              <a:chExt cx="434" cy="1065"/>
            </a:xfrm>
          </p:grpSpPr>
          <p:grpSp>
            <p:nvGrpSpPr>
              <p:cNvPr id="49" name="组合 48"/>
              <p:cNvGrpSpPr/>
              <p:nvPr/>
            </p:nvGrpSpPr>
            <p:grpSpPr>
              <a:xfrm>
                <a:off x="537" y="8479"/>
                <a:ext cx="434" cy="84"/>
                <a:chOff x="537" y="8479"/>
                <a:chExt cx="434" cy="84"/>
              </a:xfrm>
            </p:grpSpPr>
            <p:sp>
              <p:nvSpPr>
                <p:cNvPr id="50" name="椭圆 49"/>
                <p:cNvSpPr/>
                <p:nvPr/>
              </p:nvSpPr>
              <p:spPr>
                <a:xfrm>
                  <a:off x="537" y="8479"/>
                  <a:ext cx="85" cy="85"/>
                </a:xfrm>
                <a:prstGeom prst="ellipse">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1" name="椭圆 50"/>
                <p:cNvSpPr/>
                <p:nvPr/>
              </p:nvSpPr>
              <p:spPr>
                <a:xfrm>
                  <a:off x="705" y="8479"/>
                  <a:ext cx="85" cy="85"/>
                </a:xfrm>
                <a:prstGeom prst="ellipse">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2" name="椭圆 51"/>
                <p:cNvSpPr/>
                <p:nvPr/>
              </p:nvSpPr>
              <p:spPr>
                <a:xfrm>
                  <a:off x="887" y="8479"/>
                  <a:ext cx="85" cy="85"/>
                </a:xfrm>
                <a:prstGeom prst="ellipse">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53" name="组合 52"/>
              <p:cNvGrpSpPr/>
              <p:nvPr/>
            </p:nvGrpSpPr>
            <p:grpSpPr>
              <a:xfrm>
                <a:off x="537" y="8672"/>
                <a:ext cx="434" cy="84"/>
                <a:chOff x="537" y="8479"/>
                <a:chExt cx="434" cy="84"/>
              </a:xfrm>
            </p:grpSpPr>
            <p:sp>
              <p:nvSpPr>
                <p:cNvPr id="54" name="椭圆 53"/>
                <p:cNvSpPr/>
                <p:nvPr/>
              </p:nvSpPr>
              <p:spPr>
                <a:xfrm>
                  <a:off x="537" y="8479"/>
                  <a:ext cx="85" cy="85"/>
                </a:xfrm>
                <a:prstGeom prst="ellipse">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5" name="椭圆 54"/>
                <p:cNvSpPr/>
                <p:nvPr/>
              </p:nvSpPr>
              <p:spPr>
                <a:xfrm>
                  <a:off x="705" y="8479"/>
                  <a:ext cx="85" cy="85"/>
                </a:xfrm>
                <a:prstGeom prst="ellipse">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6" name="椭圆 55"/>
                <p:cNvSpPr/>
                <p:nvPr/>
              </p:nvSpPr>
              <p:spPr>
                <a:xfrm>
                  <a:off x="887" y="8479"/>
                  <a:ext cx="85" cy="85"/>
                </a:xfrm>
                <a:prstGeom prst="ellipse">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57" name="组合 56"/>
              <p:cNvGrpSpPr/>
              <p:nvPr/>
            </p:nvGrpSpPr>
            <p:grpSpPr>
              <a:xfrm>
                <a:off x="537" y="8873"/>
                <a:ext cx="434" cy="84"/>
                <a:chOff x="537" y="8479"/>
                <a:chExt cx="434" cy="84"/>
              </a:xfrm>
            </p:grpSpPr>
            <p:sp>
              <p:nvSpPr>
                <p:cNvPr id="58" name="椭圆 57"/>
                <p:cNvSpPr/>
                <p:nvPr/>
              </p:nvSpPr>
              <p:spPr>
                <a:xfrm>
                  <a:off x="537" y="8479"/>
                  <a:ext cx="85" cy="85"/>
                </a:xfrm>
                <a:prstGeom prst="ellipse">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9" name="椭圆 58"/>
                <p:cNvSpPr/>
                <p:nvPr/>
              </p:nvSpPr>
              <p:spPr>
                <a:xfrm>
                  <a:off x="705" y="8479"/>
                  <a:ext cx="85" cy="85"/>
                </a:xfrm>
                <a:prstGeom prst="ellipse">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0" name="椭圆 59"/>
                <p:cNvSpPr/>
                <p:nvPr/>
              </p:nvSpPr>
              <p:spPr>
                <a:xfrm>
                  <a:off x="887" y="8479"/>
                  <a:ext cx="85" cy="85"/>
                </a:xfrm>
                <a:prstGeom prst="ellipse">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61" name="组合 60"/>
              <p:cNvGrpSpPr/>
              <p:nvPr/>
            </p:nvGrpSpPr>
            <p:grpSpPr>
              <a:xfrm>
                <a:off x="537" y="9066"/>
                <a:ext cx="434" cy="84"/>
                <a:chOff x="537" y="8479"/>
                <a:chExt cx="434" cy="84"/>
              </a:xfrm>
            </p:grpSpPr>
            <p:sp>
              <p:nvSpPr>
                <p:cNvPr id="62" name="椭圆 61"/>
                <p:cNvSpPr/>
                <p:nvPr/>
              </p:nvSpPr>
              <p:spPr>
                <a:xfrm>
                  <a:off x="537" y="8479"/>
                  <a:ext cx="85" cy="85"/>
                </a:xfrm>
                <a:prstGeom prst="ellipse">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3" name="椭圆 62"/>
                <p:cNvSpPr/>
                <p:nvPr/>
              </p:nvSpPr>
              <p:spPr>
                <a:xfrm>
                  <a:off x="705" y="8479"/>
                  <a:ext cx="85" cy="85"/>
                </a:xfrm>
                <a:prstGeom prst="ellipse">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4" name="椭圆 63"/>
                <p:cNvSpPr/>
                <p:nvPr/>
              </p:nvSpPr>
              <p:spPr>
                <a:xfrm>
                  <a:off x="887" y="8479"/>
                  <a:ext cx="85" cy="85"/>
                </a:xfrm>
                <a:prstGeom prst="ellipse">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65" name="组合 64"/>
              <p:cNvGrpSpPr/>
              <p:nvPr/>
            </p:nvGrpSpPr>
            <p:grpSpPr>
              <a:xfrm>
                <a:off x="537" y="9267"/>
                <a:ext cx="434" cy="84"/>
                <a:chOff x="537" y="8479"/>
                <a:chExt cx="434" cy="84"/>
              </a:xfrm>
            </p:grpSpPr>
            <p:sp>
              <p:nvSpPr>
                <p:cNvPr id="66" name="椭圆 65"/>
                <p:cNvSpPr/>
                <p:nvPr/>
              </p:nvSpPr>
              <p:spPr>
                <a:xfrm>
                  <a:off x="537" y="8479"/>
                  <a:ext cx="85" cy="85"/>
                </a:xfrm>
                <a:prstGeom prst="ellipse">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7" name="椭圆 66"/>
                <p:cNvSpPr/>
                <p:nvPr/>
              </p:nvSpPr>
              <p:spPr>
                <a:xfrm>
                  <a:off x="705" y="8479"/>
                  <a:ext cx="85" cy="85"/>
                </a:xfrm>
                <a:prstGeom prst="ellipse">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8" name="椭圆 67"/>
                <p:cNvSpPr/>
                <p:nvPr/>
              </p:nvSpPr>
              <p:spPr>
                <a:xfrm>
                  <a:off x="887" y="8479"/>
                  <a:ext cx="85" cy="85"/>
                </a:xfrm>
                <a:prstGeom prst="ellipse">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69" name="组合 68"/>
              <p:cNvGrpSpPr/>
              <p:nvPr/>
            </p:nvGrpSpPr>
            <p:grpSpPr>
              <a:xfrm>
                <a:off x="537" y="9460"/>
                <a:ext cx="434" cy="84"/>
                <a:chOff x="537" y="8479"/>
                <a:chExt cx="434" cy="84"/>
              </a:xfrm>
            </p:grpSpPr>
            <p:sp>
              <p:nvSpPr>
                <p:cNvPr id="70" name="椭圆 69"/>
                <p:cNvSpPr/>
                <p:nvPr/>
              </p:nvSpPr>
              <p:spPr>
                <a:xfrm>
                  <a:off x="537" y="8479"/>
                  <a:ext cx="85" cy="85"/>
                </a:xfrm>
                <a:prstGeom prst="ellipse">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1" name="椭圆 70"/>
                <p:cNvSpPr/>
                <p:nvPr/>
              </p:nvSpPr>
              <p:spPr>
                <a:xfrm>
                  <a:off x="705" y="8479"/>
                  <a:ext cx="85" cy="85"/>
                </a:xfrm>
                <a:prstGeom prst="ellipse">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2" name="椭圆 71"/>
                <p:cNvSpPr/>
                <p:nvPr/>
              </p:nvSpPr>
              <p:spPr>
                <a:xfrm>
                  <a:off x="887" y="8479"/>
                  <a:ext cx="85" cy="85"/>
                </a:xfrm>
                <a:prstGeom prst="ellipse">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grpSp>
          <p:nvGrpSpPr>
            <p:cNvPr id="76" name="组合 75"/>
            <p:cNvGrpSpPr/>
            <p:nvPr/>
          </p:nvGrpSpPr>
          <p:grpSpPr>
            <a:xfrm flipH="1" flipV="1">
              <a:off x="-1582" y="-522"/>
              <a:ext cx="3159" cy="4320"/>
              <a:chOff x="16465" y="4210"/>
              <a:chExt cx="5458" cy="7464"/>
            </a:xfrm>
          </p:grpSpPr>
          <p:sp>
            <p:nvSpPr>
              <p:cNvPr id="77" name="任意多边形 76"/>
              <p:cNvSpPr/>
              <p:nvPr/>
            </p:nvSpPr>
            <p:spPr>
              <a:xfrm rot="2700000">
                <a:off x="16627" y="9964"/>
                <a:ext cx="1711" cy="1711"/>
              </a:xfrm>
              <a:custGeom>
                <a:avLst/>
                <a:gdLst>
                  <a:gd name="adj" fmla="val 16667"/>
                  <a:gd name="a" fmla="pin 0 adj 50000"/>
                  <a:gd name="x1" fmla="*/ ss a 100000"/>
                  <a:gd name="x2" fmla="+- r 0 x1"/>
                  <a:gd name="y2" fmla="+- b 0 x1"/>
                  <a:gd name="il" fmla="*/ x1 29289 100000"/>
                  <a:gd name="ir" fmla="+- r 0 il"/>
                  <a:gd name="ib" fmla="+- b 0 il"/>
                </a:gdLst>
                <a:ahLst/>
                <a:cxnLst>
                  <a:cxn ang="3">
                    <a:pos x="hc" y="t"/>
                  </a:cxn>
                  <a:cxn ang="cd2">
                    <a:pos x="l" y="vc"/>
                  </a:cxn>
                  <a:cxn ang="cd4">
                    <a:pos x="hc" y="b"/>
                  </a:cxn>
                  <a:cxn ang="0">
                    <a:pos x="r" y="vc"/>
                  </a:cxn>
                </a:cxnLst>
                <a:rect l="l" t="t" r="r" b="b"/>
                <a:pathLst>
                  <a:path w="1711" h="1711">
                    <a:moveTo>
                      <a:pt x="326" y="0"/>
                    </a:moveTo>
                    <a:lnTo>
                      <a:pt x="1630" y="0"/>
                    </a:lnTo>
                    <a:cubicBezTo>
                      <a:pt x="1655" y="0"/>
                      <a:pt x="1680" y="3"/>
                      <a:pt x="1704" y="8"/>
                    </a:cubicBezTo>
                    <a:lnTo>
                      <a:pt x="1711" y="10"/>
                    </a:lnTo>
                    <a:lnTo>
                      <a:pt x="10" y="1711"/>
                    </a:lnTo>
                    <a:lnTo>
                      <a:pt x="8" y="1704"/>
                    </a:lnTo>
                    <a:cubicBezTo>
                      <a:pt x="3" y="1680"/>
                      <a:pt x="0" y="1655"/>
                      <a:pt x="0" y="1630"/>
                    </a:cubicBezTo>
                    <a:lnTo>
                      <a:pt x="0" y="326"/>
                    </a:lnTo>
                    <a:cubicBezTo>
                      <a:pt x="0" y="146"/>
                      <a:pt x="146" y="0"/>
                      <a:pt x="326" y="0"/>
                    </a:cubicBezTo>
                    <a:close/>
                  </a:path>
                </a:pathLst>
              </a:custGeom>
              <a:solidFill>
                <a:srgbClr val="6D84A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a:p>
            </p:txBody>
          </p:sp>
          <p:sp>
            <p:nvSpPr>
              <p:cNvPr id="78" name="任意多边形 77"/>
              <p:cNvSpPr/>
              <p:nvPr/>
            </p:nvSpPr>
            <p:spPr>
              <a:xfrm rot="18900000">
                <a:off x="16465" y="4210"/>
                <a:ext cx="5459" cy="5459"/>
              </a:xfrm>
              <a:custGeom>
                <a:avLst/>
                <a:gdLst>
                  <a:gd name="adj" fmla="val 16667"/>
                  <a:gd name="a" fmla="pin 0 adj 50000"/>
                  <a:gd name="x1" fmla="*/ ss a 100000"/>
                  <a:gd name="x2" fmla="+- r 0 x1"/>
                  <a:gd name="y2" fmla="+- b 0 x1"/>
                  <a:gd name="il" fmla="*/ x1 29289 100000"/>
                  <a:gd name="ir" fmla="+- r 0 il"/>
                  <a:gd name="ib" fmla="+- b 0 il"/>
                </a:gdLst>
                <a:ahLst/>
                <a:cxnLst>
                  <a:cxn ang="3">
                    <a:pos x="hc" y="t"/>
                  </a:cxn>
                  <a:cxn ang="cd2">
                    <a:pos x="l" y="vc"/>
                  </a:cxn>
                  <a:cxn ang="cd4">
                    <a:pos x="hc" y="b"/>
                  </a:cxn>
                  <a:cxn ang="0">
                    <a:pos x="r" y="vc"/>
                  </a:cxn>
                </a:cxnLst>
                <a:rect l="l" t="t" r="r" b="b"/>
                <a:pathLst>
                  <a:path w="1711" h="1711">
                    <a:moveTo>
                      <a:pt x="326" y="0"/>
                    </a:moveTo>
                    <a:lnTo>
                      <a:pt x="1630" y="0"/>
                    </a:lnTo>
                    <a:cubicBezTo>
                      <a:pt x="1655" y="0"/>
                      <a:pt x="1680" y="3"/>
                      <a:pt x="1704" y="8"/>
                    </a:cubicBezTo>
                    <a:lnTo>
                      <a:pt x="1711" y="10"/>
                    </a:lnTo>
                    <a:lnTo>
                      <a:pt x="10" y="1711"/>
                    </a:lnTo>
                    <a:lnTo>
                      <a:pt x="8" y="1704"/>
                    </a:lnTo>
                    <a:cubicBezTo>
                      <a:pt x="3" y="1680"/>
                      <a:pt x="0" y="1655"/>
                      <a:pt x="0" y="1630"/>
                    </a:cubicBezTo>
                    <a:lnTo>
                      <a:pt x="0" y="326"/>
                    </a:lnTo>
                    <a:cubicBezTo>
                      <a:pt x="0" y="146"/>
                      <a:pt x="146" y="0"/>
                      <a:pt x="326" y="0"/>
                    </a:cubicBezTo>
                    <a:close/>
                  </a:path>
                </a:pathLst>
              </a:custGeom>
              <a:solidFill>
                <a:srgbClr val="1C3867"/>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a:p>
            </p:txBody>
          </p:sp>
        </p:grpSp>
        <p:grpSp>
          <p:nvGrpSpPr>
            <p:cNvPr id="2" name="组合 1"/>
            <p:cNvGrpSpPr/>
            <p:nvPr/>
          </p:nvGrpSpPr>
          <p:grpSpPr>
            <a:xfrm>
              <a:off x="17635" y="6980"/>
              <a:ext cx="3159" cy="4320"/>
              <a:chOff x="16465" y="4210"/>
              <a:chExt cx="5458" cy="7464"/>
            </a:xfrm>
          </p:grpSpPr>
          <p:sp>
            <p:nvSpPr>
              <p:cNvPr id="3" name="任意多边形 2"/>
              <p:cNvSpPr/>
              <p:nvPr/>
            </p:nvSpPr>
            <p:spPr>
              <a:xfrm rot="2700000">
                <a:off x="16627" y="9964"/>
                <a:ext cx="1711" cy="1711"/>
              </a:xfrm>
              <a:custGeom>
                <a:avLst/>
                <a:gdLst>
                  <a:gd name="adj" fmla="val 16667"/>
                  <a:gd name="a" fmla="pin 0 adj 50000"/>
                  <a:gd name="x1" fmla="*/ ss a 100000"/>
                  <a:gd name="x2" fmla="+- r 0 x1"/>
                  <a:gd name="y2" fmla="+- b 0 x1"/>
                  <a:gd name="il" fmla="*/ x1 29289 100000"/>
                  <a:gd name="ir" fmla="+- r 0 il"/>
                  <a:gd name="ib" fmla="+- b 0 il"/>
                </a:gdLst>
                <a:ahLst/>
                <a:cxnLst>
                  <a:cxn ang="3">
                    <a:pos x="hc" y="t"/>
                  </a:cxn>
                  <a:cxn ang="cd2">
                    <a:pos x="l" y="vc"/>
                  </a:cxn>
                  <a:cxn ang="cd4">
                    <a:pos x="hc" y="b"/>
                  </a:cxn>
                  <a:cxn ang="0">
                    <a:pos x="r" y="vc"/>
                  </a:cxn>
                </a:cxnLst>
                <a:rect l="l" t="t" r="r" b="b"/>
                <a:pathLst>
                  <a:path w="1711" h="1711">
                    <a:moveTo>
                      <a:pt x="326" y="0"/>
                    </a:moveTo>
                    <a:lnTo>
                      <a:pt x="1630" y="0"/>
                    </a:lnTo>
                    <a:cubicBezTo>
                      <a:pt x="1655" y="0"/>
                      <a:pt x="1680" y="3"/>
                      <a:pt x="1704" y="8"/>
                    </a:cubicBezTo>
                    <a:lnTo>
                      <a:pt x="1711" y="10"/>
                    </a:lnTo>
                    <a:lnTo>
                      <a:pt x="10" y="1711"/>
                    </a:lnTo>
                    <a:lnTo>
                      <a:pt x="8" y="1704"/>
                    </a:lnTo>
                    <a:cubicBezTo>
                      <a:pt x="3" y="1680"/>
                      <a:pt x="0" y="1655"/>
                      <a:pt x="0" y="1630"/>
                    </a:cubicBezTo>
                    <a:lnTo>
                      <a:pt x="0" y="326"/>
                    </a:lnTo>
                    <a:cubicBezTo>
                      <a:pt x="0" y="146"/>
                      <a:pt x="146" y="0"/>
                      <a:pt x="326" y="0"/>
                    </a:cubicBezTo>
                    <a:close/>
                  </a:path>
                </a:pathLst>
              </a:custGeom>
              <a:solidFill>
                <a:srgbClr val="6D84A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a:p>
            </p:txBody>
          </p:sp>
          <p:sp>
            <p:nvSpPr>
              <p:cNvPr id="4" name="任意多边形 3"/>
              <p:cNvSpPr/>
              <p:nvPr/>
            </p:nvSpPr>
            <p:spPr>
              <a:xfrm rot="18900000">
                <a:off x="16465" y="4210"/>
                <a:ext cx="5459" cy="5459"/>
              </a:xfrm>
              <a:custGeom>
                <a:avLst/>
                <a:gdLst>
                  <a:gd name="adj" fmla="val 16667"/>
                  <a:gd name="a" fmla="pin 0 adj 50000"/>
                  <a:gd name="x1" fmla="*/ ss a 100000"/>
                  <a:gd name="x2" fmla="+- r 0 x1"/>
                  <a:gd name="y2" fmla="+- b 0 x1"/>
                  <a:gd name="il" fmla="*/ x1 29289 100000"/>
                  <a:gd name="ir" fmla="+- r 0 il"/>
                  <a:gd name="ib" fmla="+- b 0 il"/>
                </a:gdLst>
                <a:ahLst/>
                <a:cxnLst>
                  <a:cxn ang="3">
                    <a:pos x="hc" y="t"/>
                  </a:cxn>
                  <a:cxn ang="cd2">
                    <a:pos x="l" y="vc"/>
                  </a:cxn>
                  <a:cxn ang="cd4">
                    <a:pos x="hc" y="b"/>
                  </a:cxn>
                  <a:cxn ang="0">
                    <a:pos x="r" y="vc"/>
                  </a:cxn>
                </a:cxnLst>
                <a:rect l="l" t="t" r="r" b="b"/>
                <a:pathLst>
                  <a:path w="1711" h="1711">
                    <a:moveTo>
                      <a:pt x="326" y="0"/>
                    </a:moveTo>
                    <a:lnTo>
                      <a:pt x="1630" y="0"/>
                    </a:lnTo>
                    <a:cubicBezTo>
                      <a:pt x="1655" y="0"/>
                      <a:pt x="1680" y="3"/>
                      <a:pt x="1704" y="8"/>
                    </a:cubicBezTo>
                    <a:lnTo>
                      <a:pt x="1711" y="10"/>
                    </a:lnTo>
                    <a:lnTo>
                      <a:pt x="10" y="1711"/>
                    </a:lnTo>
                    <a:lnTo>
                      <a:pt x="8" y="1704"/>
                    </a:lnTo>
                    <a:cubicBezTo>
                      <a:pt x="3" y="1680"/>
                      <a:pt x="0" y="1655"/>
                      <a:pt x="0" y="1630"/>
                    </a:cubicBezTo>
                    <a:lnTo>
                      <a:pt x="0" y="326"/>
                    </a:lnTo>
                    <a:cubicBezTo>
                      <a:pt x="0" y="146"/>
                      <a:pt x="146" y="0"/>
                      <a:pt x="326" y="0"/>
                    </a:cubicBezTo>
                    <a:close/>
                  </a:path>
                </a:pathLst>
              </a:custGeom>
              <a:solidFill>
                <a:srgbClr val="1C3867"/>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a:p>
            </p:txBody>
          </p:sp>
        </p:grpSp>
      </p:grpSp>
      <p:graphicFrame>
        <p:nvGraphicFramePr>
          <p:cNvPr id="6" name="表格 5"/>
          <p:cNvGraphicFramePr/>
          <p:nvPr/>
        </p:nvGraphicFramePr>
        <p:xfrm>
          <a:off x="1071880" y="246380"/>
          <a:ext cx="7198995" cy="2113280"/>
        </p:xfrm>
        <a:graphic>
          <a:graphicData uri="http://schemas.openxmlformats.org/drawingml/2006/table">
            <a:tbl>
              <a:tblPr firstRow="1" bandRow="1">
                <a:tableStyleId>{5C22544A-7EE6-4342-B048-85BDC9FD1C3A}</a:tableStyleId>
              </a:tblPr>
              <a:tblGrid>
                <a:gridCol w="1539240">
                  <a:extLst>
                    <a:ext uri="{9D8B030D-6E8A-4147-A177-3AD203B41FA5}">
                      <a16:colId xmlns:a16="http://schemas.microsoft.com/office/drawing/2014/main" val="20000"/>
                    </a:ext>
                  </a:extLst>
                </a:gridCol>
                <a:gridCol w="1436370">
                  <a:extLst>
                    <a:ext uri="{9D8B030D-6E8A-4147-A177-3AD203B41FA5}">
                      <a16:colId xmlns:a16="http://schemas.microsoft.com/office/drawing/2014/main" val="20001"/>
                    </a:ext>
                  </a:extLst>
                </a:gridCol>
                <a:gridCol w="1428750">
                  <a:extLst>
                    <a:ext uri="{9D8B030D-6E8A-4147-A177-3AD203B41FA5}">
                      <a16:colId xmlns:a16="http://schemas.microsoft.com/office/drawing/2014/main" val="20002"/>
                    </a:ext>
                  </a:extLst>
                </a:gridCol>
                <a:gridCol w="1733550">
                  <a:extLst>
                    <a:ext uri="{9D8B030D-6E8A-4147-A177-3AD203B41FA5}">
                      <a16:colId xmlns:a16="http://schemas.microsoft.com/office/drawing/2014/main" val="20003"/>
                    </a:ext>
                  </a:extLst>
                </a:gridCol>
                <a:gridCol w="1061085">
                  <a:extLst>
                    <a:ext uri="{9D8B030D-6E8A-4147-A177-3AD203B41FA5}">
                      <a16:colId xmlns:a16="http://schemas.microsoft.com/office/drawing/2014/main" val="20004"/>
                    </a:ext>
                  </a:extLst>
                </a:gridCol>
              </a:tblGrid>
              <a:tr h="267970">
                <a:tc>
                  <a:txBody>
                    <a:bodyPr/>
                    <a:lstStyle/>
                    <a:p>
                      <a:pPr>
                        <a:buNone/>
                      </a:pPr>
                      <a:r>
                        <a:rPr lang="en-US" altLang="zh-CN"/>
                        <a:t>Model</a:t>
                      </a:r>
                    </a:p>
                  </a:txBody>
                  <a:tcPr/>
                </a:tc>
                <a:tc>
                  <a:txBody>
                    <a:bodyPr/>
                    <a:lstStyle/>
                    <a:p>
                      <a:pPr>
                        <a:buNone/>
                      </a:pPr>
                      <a:r>
                        <a:rPr lang="zh-CN" altLang="en-US"/>
                        <a:t>训练集</a:t>
                      </a:r>
                      <a:r>
                        <a:rPr lang="en-US" altLang="zh-CN"/>
                        <a:t>MAE</a:t>
                      </a:r>
                    </a:p>
                  </a:txBody>
                  <a:tcPr/>
                </a:tc>
                <a:tc>
                  <a:txBody>
                    <a:bodyPr/>
                    <a:lstStyle/>
                    <a:p>
                      <a:pPr>
                        <a:buNone/>
                      </a:pPr>
                      <a:r>
                        <a:rPr lang="zh-CN" altLang="en-US"/>
                        <a:t>测试集</a:t>
                      </a:r>
                      <a:r>
                        <a:rPr lang="en-US" altLang="zh-CN"/>
                        <a:t>MAE </a:t>
                      </a:r>
                    </a:p>
                  </a:txBody>
                  <a:tcPr/>
                </a:tc>
                <a:tc>
                  <a:txBody>
                    <a:bodyPr/>
                    <a:lstStyle/>
                    <a:p>
                      <a:pPr>
                        <a:buNone/>
                      </a:pPr>
                      <a:r>
                        <a:rPr lang="zh-CN" altLang="en-US"/>
                        <a:t>交叉验证</a:t>
                      </a:r>
                      <a:r>
                        <a:rPr lang="en-US" altLang="zh-CN"/>
                        <a:t>MAE</a:t>
                      </a:r>
                    </a:p>
                  </a:txBody>
                  <a:tcPr/>
                </a:tc>
                <a:tc>
                  <a:txBody>
                    <a:bodyPr/>
                    <a:lstStyle/>
                    <a:p>
                      <a:pPr>
                        <a:buNone/>
                      </a:pPr>
                      <a:r>
                        <a:rPr lang="en-US" altLang="zh-CN"/>
                        <a:t>KAGGLE</a:t>
                      </a:r>
                    </a:p>
                  </a:txBody>
                  <a:tcPr/>
                </a:tc>
                <a:extLst>
                  <a:ext uri="{0D108BD9-81ED-4DB2-BD59-A6C34878D82A}">
                    <a16:rowId xmlns:a16="http://schemas.microsoft.com/office/drawing/2014/main" val="10000"/>
                  </a:ext>
                </a:extLst>
              </a:tr>
              <a:tr h="407670">
                <a:tc>
                  <a:txBody>
                    <a:bodyPr/>
                    <a:lstStyle/>
                    <a:p>
                      <a:pPr>
                        <a:buNone/>
                      </a:pPr>
                      <a:r>
                        <a:rPr lang="en-US" altLang="zh-CN"/>
                        <a:t>OLS</a:t>
                      </a:r>
                    </a:p>
                  </a:txBody>
                  <a:tcPr/>
                </a:tc>
                <a:tc>
                  <a:txBody>
                    <a:bodyPr/>
                    <a:lstStyle/>
                    <a:p>
                      <a:pPr>
                        <a:buNone/>
                      </a:pPr>
                      <a:r>
                        <a:rPr lang="en-US" altLang="zh-CN"/>
                        <a:t>159119.51       </a:t>
                      </a:r>
                    </a:p>
                  </a:txBody>
                  <a:tcPr/>
                </a:tc>
                <a:tc>
                  <a:txBody>
                    <a:bodyPr/>
                    <a:lstStyle/>
                    <a:p>
                      <a:pPr>
                        <a:buNone/>
                      </a:pPr>
                      <a:r>
                        <a:rPr lang="en-US" altLang="zh-CN" sz="1800">
                          <a:sym typeface="+mn-ea"/>
                        </a:rPr>
                        <a:t>244671.97 </a:t>
                      </a:r>
                      <a:endParaRPr lang="zh-CN" altLang="en-US"/>
                    </a:p>
                  </a:txBody>
                  <a:tcPr/>
                </a:tc>
                <a:tc>
                  <a:txBody>
                    <a:bodyPr/>
                    <a:lstStyle/>
                    <a:p>
                      <a:pPr>
                        <a:buNone/>
                      </a:pPr>
                      <a:r>
                        <a:rPr lang="en-US" altLang="zh-CN" sz="1800">
                          <a:sym typeface="+mn-ea"/>
                        </a:rPr>
                        <a:t>159213.50</a:t>
                      </a:r>
                      <a:endParaRPr lang="en-US" altLang="zh-CN" sz="1800"/>
                    </a:p>
                    <a:p>
                      <a:pPr>
                        <a:buNone/>
                      </a:pPr>
                      <a:endParaRPr lang="zh-CN" altLang="en-US"/>
                    </a:p>
                  </a:txBody>
                  <a:tcPr/>
                </a:tc>
                <a:tc>
                  <a:txBody>
                    <a:bodyPr/>
                    <a:lstStyle/>
                    <a:p>
                      <a:pPr>
                        <a:buNone/>
                      </a:pPr>
                      <a:r>
                        <a:rPr lang="en-US" altLang="zh-CN"/>
                        <a:t>4.06</a:t>
                      </a:r>
                    </a:p>
                  </a:txBody>
                  <a:tcPr/>
                </a:tc>
                <a:extLst>
                  <a:ext uri="{0D108BD9-81ED-4DB2-BD59-A6C34878D82A}">
                    <a16:rowId xmlns:a16="http://schemas.microsoft.com/office/drawing/2014/main" val="10001"/>
                  </a:ext>
                </a:extLst>
              </a:tr>
              <a:tr h="368935">
                <a:tc>
                  <a:txBody>
                    <a:bodyPr/>
                    <a:lstStyle/>
                    <a:p>
                      <a:pPr>
                        <a:buNone/>
                      </a:pPr>
                      <a:r>
                        <a:rPr lang="en-US" altLang="zh-CN"/>
                        <a:t>Ridge</a:t>
                      </a:r>
                    </a:p>
                  </a:txBody>
                  <a:tcPr/>
                </a:tc>
                <a:tc>
                  <a:txBody>
                    <a:bodyPr/>
                    <a:lstStyle/>
                    <a:p>
                      <a:pPr>
                        <a:buNone/>
                      </a:pPr>
                      <a:r>
                        <a:rPr lang="en-US" altLang="zh-CN"/>
                        <a:t>159119.21</a:t>
                      </a:r>
                    </a:p>
                  </a:txBody>
                  <a:tcPr/>
                </a:tc>
                <a:tc>
                  <a:txBody>
                    <a:bodyPr/>
                    <a:lstStyle/>
                    <a:p>
                      <a:pPr>
                        <a:buNone/>
                      </a:pPr>
                      <a:r>
                        <a:rPr lang="en-US" altLang="zh-CN"/>
                        <a:t>244672.28   </a:t>
                      </a:r>
                    </a:p>
                  </a:txBody>
                  <a:tcPr/>
                </a:tc>
                <a:tc>
                  <a:txBody>
                    <a:bodyPr/>
                    <a:lstStyle/>
                    <a:p>
                      <a:pPr>
                        <a:buNone/>
                      </a:pPr>
                      <a:r>
                        <a:rPr lang="en-US" altLang="zh-CN"/>
                        <a:t>159224.72</a:t>
                      </a:r>
                    </a:p>
                  </a:txBody>
                  <a:tcPr/>
                </a:tc>
                <a:tc>
                  <a:txBody>
                    <a:bodyPr/>
                    <a:lstStyle/>
                    <a:p>
                      <a:pPr>
                        <a:buNone/>
                      </a:pPr>
                      <a:r>
                        <a:rPr lang="en-US" altLang="zh-CN"/>
                        <a:t>4.06</a:t>
                      </a:r>
                    </a:p>
                  </a:txBody>
                  <a:tcPr/>
                </a:tc>
                <a:extLst>
                  <a:ext uri="{0D108BD9-81ED-4DB2-BD59-A6C34878D82A}">
                    <a16:rowId xmlns:a16="http://schemas.microsoft.com/office/drawing/2014/main" val="10002"/>
                  </a:ext>
                </a:extLst>
              </a:tr>
              <a:tr h="369570">
                <a:tc>
                  <a:txBody>
                    <a:bodyPr/>
                    <a:lstStyle/>
                    <a:p>
                      <a:pPr>
                        <a:buNone/>
                      </a:pPr>
                      <a:r>
                        <a:rPr lang="en-US" altLang="zh-CN"/>
                        <a:t>Lasso</a:t>
                      </a:r>
                    </a:p>
                  </a:txBody>
                  <a:tcPr/>
                </a:tc>
                <a:tc>
                  <a:txBody>
                    <a:bodyPr/>
                    <a:lstStyle/>
                    <a:p>
                      <a:pPr>
                        <a:buNone/>
                      </a:pPr>
                      <a:r>
                        <a:rPr lang="en-US" altLang="zh-CN"/>
                        <a:t>159119.12 </a:t>
                      </a:r>
                    </a:p>
                  </a:txBody>
                  <a:tcPr/>
                </a:tc>
                <a:tc>
                  <a:txBody>
                    <a:bodyPr/>
                    <a:lstStyle/>
                    <a:p>
                      <a:pPr>
                        <a:buNone/>
                      </a:pPr>
                      <a:r>
                        <a:rPr lang="en-US" altLang="zh-CN"/>
                        <a:t>244671.83</a:t>
                      </a:r>
                    </a:p>
                  </a:txBody>
                  <a:tcPr/>
                </a:tc>
                <a:tc>
                  <a:txBody>
                    <a:bodyPr/>
                    <a:lstStyle/>
                    <a:p>
                      <a:pPr>
                        <a:buNone/>
                      </a:pPr>
                      <a:r>
                        <a:rPr lang="en-US" altLang="zh-CN"/>
                        <a:t>159224.71</a:t>
                      </a:r>
                    </a:p>
                  </a:txBody>
                  <a:tcPr/>
                </a:tc>
                <a:tc>
                  <a:txBody>
                    <a:bodyPr/>
                    <a:lstStyle/>
                    <a:p>
                      <a:pPr>
                        <a:buNone/>
                      </a:pPr>
                      <a:r>
                        <a:rPr lang="en-US" altLang="zh-CN"/>
                        <a:t>4.06</a:t>
                      </a:r>
                    </a:p>
                  </a:txBody>
                  <a:tcPr/>
                </a:tc>
                <a:extLst>
                  <a:ext uri="{0D108BD9-81ED-4DB2-BD59-A6C34878D82A}">
                    <a16:rowId xmlns:a16="http://schemas.microsoft.com/office/drawing/2014/main" val="10003"/>
                  </a:ext>
                </a:extLst>
              </a:tr>
              <a:tr h="368935">
                <a:tc>
                  <a:txBody>
                    <a:bodyPr/>
                    <a:lstStyle/>
                    <a:p>
                      <a:pPr>
                        <a:buNone/>
                      </a:pPr>
                      <a:r>
                        <a:rPr lang="en-US" altLang="zh-CN"/>
                        <a:t>ElasticNet</a:t>
                      </a:r>
                    </a:p>
                  </a:txBody>
                  <a:tcPr/>
                </a:tc>
                <a:tc>
                  <a:txBody>
                    <a:bodyPr/>
                    <a:lstStyle/>
                    <a:p>
                      <a:pPr>
                        <a:buNone/>
                      </a:pPr>
                      <a:r>
                        <a:rPr lang="en-US" altLang="zh-CN"/>
                        <a:t>169565.78</a:t>
                      </a:r>
                    </a:p>
                  </a:txBody>
                  <a:tcPr/>
                </a:tc>
                <a:tc>
                  <a:txBody>
                    <a:bodyPr/>
                    <a:lstStyle/>
                    <a:p>
                      <a:pPr>
                        <a:buNone/>
                      </a:pPr>
                      <a:r>
                        <a:rPr lang="en-US" altLang="zh-CN"/>
                        <a:t>257518.99  </a:t>
                      </a:r>
                    </a:p>
                  </a:txBody>
                  <a:tcPr/>
                </a:tc>
                <a:tc>
                  <a:txBody>
                    <a:bodyPr/>
                    <a:lstStyle/>
                    <a:p>
                      <a:pPr>
                        <a:buNone/>
                      </a:pPr>
                      <a:r>
                        <a:rPr lang="en-US" altLang="zh-CN"/>
                        <a:t>169618.04</a:t>
                      </a:r>
                    </a:p>
                  </a:txBody>
                  <a:tcPr/>
                </a:tc>
                <a:tc>
                  <a:txBody>
                    <a:bodyPr/>
                    <a:lstStyle/>
                    <a:p>
                      <a:pPr>
                        <a:buNone/>
                      </a:pPr>
                      <a:r>
                        <a:rPr lang="en-US" altLang="zh-CN"/>
                        <a:t>4.33</a:t>
                      </a:r>
                    </a:p>
                  </a:txBody>
                  <a:tcPr/>
                </a:tc>
                <a:extLst>
                  <a:ext uri="{0D108BD9-81ED-4DB2-BD59-A6C34878D82A}">
                    <a16:rowId xmlns:a16="http://schemas.microsoft.com/office/drawing/2014/main" val="10004"/>
                  </a:ext>
                </a:extLst>
              </a:tr>
            </a:tbl>
          </a:graphicData>
        </a:graphic>
      </p:graphicFrame>
      <p:sp>
        <p:nvSpPr>
          <p:cNvPr id="7" name="文本框 6"/>
          <p:cNvSpPr txBox="1"/>
          <p:nvPr/>
        </p:nvSpPr>
        <p:spPr>
          <a:xfrm>
            <a:off x="6232525" y="2827020"/>
            <a:ext cx="5694680" cy="2693035"/>
          </a:xfrm>
          <a:prstGeom prst="rect">
            <a:avLst/>
          </a:prstGeom>
          <a:noFill/>
        </p:spPr>
        <p:txBody>
          <a:bodyPr wrap="square" rtlCol="0">
            <a:noAutofit/>
          </a:bodyPr>
          <a:lstStyle/>
          <a:p>
            <a:pPr marL="285750" indent="-285750">
              <a:buFont typeface="Arial" panose="020B0604020202020204" pitchFamily="34" charset="0"/>
              <a:buChar char="•"/>
            </a:pPr>
            <a:r>
              <a:rPr lang="zh-CN" altLang="en-US" sz="2000"/>
              <a:t>采用</a:t>
            </a:r>
            <a:r>
              <a:rPr lang="en-US" altLang="zh-CN" sz="2000"/>
              <a:t>One-hot</a:t>
            </a:r>
            <a:r>
              <a:rPr lang="zh-CN" altLang="en-US" sz="2000"/>
              <a:t>编码方式和频率编码方式分别处理存在不同类别基数的类别特征</a:t>
            </a:r>
          </a:p>
          <a:p>
            <a:pPr marL="285750" indent="-285750">
              <a:buFont typeface="Arial" panose="020B0604020202020204" pitchFamily="34" charset="0"/>
              <a:buChar char="•"/>
            </a:pPr>
            <a:endParaRPr lang="zh-CN" altLang="en-US" sz="2000"/>
          </a:p>
          <a:p>
            <a:pPr marL="285750" indent="-285750">
              <a:buFont typeface="Arial" panose="020B0604020202020204" pitchFamily="34" charset="0"/>
              <a:buChar char="•"/>
            </a:pPr>
            <a:r>
              <a:rPr lang="zh-CN" altLang="en-US" sz="2000"/>
              <a:t>通过提取字符串内数据尽量保留有效特征</a:t>
            </a:r>
          </a:p>
          <a:p>
            <a:pPr marL="285750" indent="-285750">
              <a:buFont typeface="Arial" panose="020B0604020202020204" pitchFamily="34" charset="0"/>
              <a:buChar char="•"/>
            </a:pPr>
            <a:endParaRPr lang="zh-CN" altLang="en-US" sz="2000"/>
          </a:p>
          <a:p>
            <a:pPr marL="285750" indent="-285750">
              <a:buFont typeface="Arial" panose="020B0604020202020204" pitchFamily="34" charset="0"/>
              <a:buChar char="•"/>
            </a:pPr>
            <a:r>
              <a:rPr lang="zh-CN" altLang="en-US" sz="2000"/>
              <a:t>尝试通过布尔掩码达到有效筛除异常数据的目的</a:t>
            </a:r>
          </a:p>
          <a:p>
            <a:pPr marL="285750" indent="-285750">
              <a:buFont typeface="Arial" panose="020B0604020202020204" pitchFamily="34" charset="0"/>
              <a:buChar char="•"/>
            </a:pPr>
            <a:endParaRPr lang="zh-CN" altLang="en-US" sz="2000"/>
          </a:p>
          <a:p>
            <a:pPr marL="285750" indent="-285750">
              <a:buFont typeface="Arial" panose="020B0604020202020204" pitchFamily="34" charset="0"/>
              <a:buChar char="•"/>
            </a:pPr>
            <a:endParaRPr lang="zh-CN" altLang="en-US" sz="2800"/>
          </a:p>
          <a:p>
            <a:pPr marL="285750" indent="-285750">
              <a:buFont typeface="Arial" panose="020B0604020202020204" pitchFamily="34" charset="0"/>
              <a:buChar char="•"/>
            </a:pPr>
            <a:endParaRPr lang="zh-CN" altLang="en-US" sz="2800"/>
          </a:p>
        </p:txBody>
      </p:sp>
      <p:pic>
        <p:nvPicPr>
          <p:cNvPr id="8" name="图片 7"/>
          <p:cNvPicPr>
            <a:picLocks noChangeAspect="1"/>
          </p:cNvPicPr>
          <p:nvPr/>
        </p:nvPicPr>
        <p:blipFill>
          <a:blip r:embed="rId2"/>
          <a:stretch>
            <a:fillRect/>
          </a:stretch>
        </p:blipFill>
        <p:spPr>
          <a:xfrm>
            <a:off x="542290" y="2802890"/>
            <a:ext cx="5367020" cy="35306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FE7910-4E58-EA72-9C07-F2BA71E1EEF6}"/>
            </a:ext>
          </a:extLst>
        </p:cNvPr>
        <p:cNvGrpSpPr/>
        <p:nvPr/>
      </p:nvGrpSpPr>
      <p:grpSpPr>
        <a:xfrm>
          <a:off x="0" y="0"/>
          <a:ext cx="0" cy="0"/>
          <a:chOff x="0" y="0"/>
          <a:chExt cx="0" cy="0"/>
        </a:xfrm>
      </p:grpSpPr>
      <p:grpSp>
        <p:nvGrpSpPr>
          <p:cNvPr id="5" name="组合 4">
            <a:extLst>
              <a:ext uri="{FF2B5EF4-FFF2-40B4-BE49-F238E27FC236}">
                <a16:creationId xmlns:a16="http://schemas.microsoft.com/office/drawing/2014/main" id="{14F0C03B-6649-8633-24D6-C61D50F0696F}"/>
              </a:ext>
            </a:extLst>
          </p:cNvPr>
          <p:cNvGrpSpPr/>
          <p:nvPr/>
        </p:nvGrpSpPr>
        <p:grpSpPr>
          <a:xfrm>
            <a:off x="-1004570" y="-331470"/>
            <a:ext cx="14208125" cy="7506970"/>
            <a:chOff x="-1582" y="-522"/>
            <a:chExt cx="22375" cy="11822"/>
          </a:xfrm>
        </p:grpSpPr>
        <p:grpSp>
          <p:nvGrpSpPr>
            <p:cNvPr id="47" name="组合 46">
              <a:extLst>
                <a:ext uri="{FF2B5EF4-FFF2-40B4-BE49-F238E27FC236}">
                  <a16:creationId xmlns:a16="http://schemas.microsoft.com/office/drawing/2014/main" id="{A815F6F8-0C7F-4514-2C08-E46BBCAF5067}"/>
                </a:ext>
              </a:extLst>
            </p:cNvPr>
            <p:cNvGrpSpPr/>
            <p:nvPr/>
          </p:nvGrpSpPr>
          <p:grpSpPr>
            <a:xfrm>
              <a:off x="419" y="9302"/>
              <a:ext cx="434" cy="1065"/>
              <a:chOff x="537" y="8479"/>
              <a:chExt cx="434" cy="1065"/>
            </a:xfrm>
          </p:grpSpPr>
          <p:grpSp>
            <p:nvGrpSpPr>
              <p:cNvPr id="26" name="组合 25">
                <a:extLst>
                  <a:ext uri="{FF2B5EF4-FFF2-40B4-BE49-F238E27FC236}">
                    <a16:creationId xmlns:a16="http://schemas.microsoft.com/office/drawing/2014/main" id="{7F2AD6E3-977B-DCFA-8359-2E8080E81170}"/>
                  </a:ext>
                </a:extLst>
              </p:cNvPr>
              <p:cNvGrpSpPr/>
              <p:nvPr/>
            </p:nvGrpSpPr>
            <p:grpSpPr>
              <a:xfrm>
                <a:off x="537" y="8479"/>
                <a:ext cx="434" cy="84"/>
                <a:chOff x="537" y="8479"/>
                <a:chExt cx="434" cy="84"/>
              </a:xfrm>
            </p:grpSpPr>
            <p:sp>
              <p:nvSpPr>
                <p:cNvPr id="22" name="椭圆 21">
                  <a:extLst>
                    <a:ext uri="{FF2B5EF4-FFF2-40B4-BE49-F238E27FC236}">
                      <a16:creationId xmlns:a16="http://schemas.microsoft.com/office/drawing/2014/main" id="{A6698154-A43E-93F4-6CE8-0189FC017513}"/>
                    </a:ext>
                  </a:extLst>
                </p:cNvPr>
                <p:cNvSpPr/>
                <p:nvPr/>
              </p:nvSpPr>
              <p:spPr>
                <a:xfrm>
                  <a:off x="537" y="8479"/>
                  <a:ext cx="85" cy="85"/>
                </a:xfrm>
                <a:prstGeom prst="ellipse">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3" name="椭圆 22">
                  <a:extLst>
                    <a:ext uri="{FF2B5EF4-FFF2-40B4-BE49-F238E27FC236}">
                      <a16:creationId xmlns:a16="http://schemas.microsoft.com/office/drawing/2014/main" id="{1E26C62C-5062-3D1C-F452-48925A737DFE}"/>
                    </a:ext>
                  </a:extLst>
                </p:cNvPr>
                <p:cNvSpPr/>
                <p:nvPr/>
              </p:nvSpPr>
              <p:spPr>
                <a:xfrm>
                  <a:off x="705" y="8479"/>
                  <a:ext cx="85" cy="85"/>
                </a:xfrm>
                <a:prstGeom prst="ellipse">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 name="椭圆 24">
                  <a:extLst>
                    <a:ext uri="{FF2B5EF4-FFF2-40B4-BE49-F238E27FC236}">
                      <a16:creationId xmlns:a16="http://schemas.microsoft.com/office/drawing/2014/main" id="{21665DD0-1FDC-8FE2-B075-5905D184E321}"/>
                    </a:ext>
                  </a:extLst>
                </p:cNvPr>
                <p:cNvSpPr/>
                <p:nvPr/>
              </p:nvSpPr>
              <p:spPr>
                <a:xfrm>
                  <a:off x="887" y="8479"/>
                  <a:ext cx="85" cy="85"/>
                </a:xfrm>
                <a:prstGeom prst="ellipse">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27" name="组合 26">
                <a:extLst>
                  <a:ext uri="{FF2B5EF4-FFF2-40B4-BE49-F238E27FC236}">
                    <a16:creationId xmlns:a16="http://schemas.microsoft.com/office/drawing/2014/main" id="{4ADFCBE8-0401-469D-E857-60AB3965C29E}"/>
                  </a:ext>
                </a:extLst>
              </p:cNvPr>
              <p:cNvGrpSpPr/>
              <p:nvPr/>
            </p:nvGrpSpPr>
            <p:grpSpPr>
              <a:xfrm>
                <a:off x="537" y="8672"/>
                <a:ext cx="434" cy="84"/>
                <a:chOff x="537" y="8479"/>
                <a:chExt cx="434" cy="84"/>
              </a:xfrm>
            </p:grpSpPr>
            <p:sp>
              <p:nvSpPr>
                <p:cNvPr id="28" name="椭圆 27">
                  <a:extLst>
                    <a:ext uri="{FF2B5EF4-FFF2-40B4-BE49-F238E27FC236}">
                      <a16:creationId xmlns:a16="http://schemas.microsoft.com/office/drawing/2014/main" id="{ECB49391-43C9-66B7-8781-D9DA6EE0D1B9}"/>
                    </a:ext>
                  </a:extLst>
                </p:cNvPr>
                <p:cNvSpPr/>
                <p:nvPr/>
              </p:nvSpPr>
              <p:spPr>
                <a:xfrm>
                  <a:off x="537" y="8479"/>
                  <a:ext cx="85" cy="85"/>
                </a:xfrm>
                <a:prstGeom prst="ellipse">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9" name="椭圆 28">
                  <a:extLst>
                    <a:ext uri="{FF2B5EF4-FFF2-40B4-BE49-F238E27FC236}">
                      <a16:creationId xmlns:a16="http://schemas.microsoft.com/office/drawing/2014/main" id="{EDE622CC-4036-A345-923C-020274EE99F3}"/>
                    </a:ext>
                  </a:extLst>
                </p:cNvPr>
                <p:cNvSpPr/>
                <p:nvPr/>
              </p:nvSpPr>
              <p:spPr>
                <a:xfrm>
                  <a:off x="705" y="8479"/>
                  <a:ext cx="85" cy="85"/>
                </a:xfrm>
                <a:prstGeom prst="ellipse">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0" name="椭圆 29">
                  <a:extLst>
                    <a:ext uri="{FF2B5EF4-FFF2-40B4-BE49-F238E27FC236}">
                      <a16:creationId xmlns:a16="http://schemas.microsoft.com/office/drawing/2014/main" id="{BEA8A3EA-2DC7-A48D-EB1A-499EB4E4D4B7}"/>
                    </a:ext>
                  </a:extLst>
                </p:cNvPr>
                <p:cNvSpPr/>
                <p:nvPr/>
              </p:nvSpPr>
              <p:spPr>
                <a:xfrm>
                  <a:off x="887" y="8479"/>
                  <a:ext cx="85" cy="85"/>
                </a:xfrm>
                <a:prstGeom prst="ellipse">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31" name="组合 30">
                <a:extLst>
                  <a:ext uri="{FF2B5EF4-FFF2-40B4-BE49-F238E27FC236}">
                    <a16:creationId xmlns:a16="http://schemas.microsoft.com/office/drawing/2014/main" id="{7B1C54E6-4E21-0F5F-AF6A-8F9DF700EF97}"/>
                  </a:ext>
                </a:extLst>
              </p:cNvPr>
              <p:cNvGrpSpPr/>
              <p:nvPr/>
            </p:nvGrpSpPr>
            <p:grpSpPr>
              <a:xfrm>
                <a:off x="537" y="8873"/>
                <a:ext cx="434" cy="84"/>
                <a:chOff x="537" y="8479"/>
                <a:chExt cx="434" cy="84"/>
              </a:xfrm>
            </p:grpSpPr>
            <p:sp>
              <p:nvSpPr>
                <p:cNvPr id="32" name="椭圆 31">
                  <a:extLst>
                    <a:ext uri="{FF2B5EF4-FFF2-40B4-BE49-F238E27FC236}">
                      <a16:creationId xmlns:a16="http://schemas.microsoft.com/office/drawing/2014/main" id="{ABD87463-98CE-83E0-01D6-66F09BA14EFA}"/>
                    </a:ext>
                  </a:extLst>
                </p:cNvPr>
                <p:cNvSpPr/>
                <p:nvPr/>
              </p:nvSpPr>
              <p:spPr>
                <a:xfrm>
                  <a:off x="537" y="8479"/>
                  <a:ext cx="85" cy="85"/>
                </a:xfrm>
                <a:prstGeom prst="ellipse">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3" name="椭圆 32">
                  <a:extLst>
                    <a:ext uri="{FF2B5EF4-FFF2-40B4-BE49-F238E27FC236}">
                      <a16:creationId xmlns:a16="http://schemas.microsoft.com/office/drawing/2014/main" id="{55E339D8-894B-F628-EA0E-FA55F3152B9A}"/>
                    </a:ext>
                  </a:extLst>
                </p:cNvPr>
                <p:cNvSpPr/>
                <p:nvPr/>
              </p:nvSpPr>
              <p:spPr>
                <a:xfrm>
                  <a:off x="705" y="8479"/>
                  <a:ext cx="85" cy="85"/>
                </a:xfrm>
                <a:prstGeom prst="ellipse">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4" name="椭圆 33">
                  <a:extLst>
                    <a:ext uri="{FF2B5EF4-FFF2-40B4-BE49-F238E27FC236}">
                      <a16:creationId xmlns:a16="http://schemas.microsoft.com/office/drawing/2014/main" id="{37ED1251-ADA1-543C-D45C-025C9799A7DE}"/>
                    </a:ext>
                  </a:extLst>
                </p:cNvPr>
                <p:cNvSpPr/>
                <p:nvPr/>
              </p:nvSpPr>
              <p:spPr>
                <a:xfrm>
                  <a:off x="887" y="8479"/>
                  <a:ext cx="85" cy="85"/>
                </a:xfrm>
                <a:prstGeom prst="ellipse">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35" name="组合 34">
                <a:extLst>
                  <a:ext uri="{FF2B5EF4-FFF2-40B4-BE49-F238E27FC236}">
                    <a16:creationId xmlns:a16="http://schemas.microsoft.com/office/drawing/2014/main" id="{EB925B0B-CEC1-8DA9-A169-FA4EB0DBFF0C}"/>
                  </a:ext>
                </a:extLst>
              </p:cNvPr>
              <p:cNvGrpSpPr/>
              <p:nvPr/>
            </p:nvGrpSpPr>
            <p:grpSpPr>
              <a:xfrm>
                <a:off x="537" y="9066"/>
                <a:ext cx="434" cy="84"/>
                <a:chOff x="537" y="8479"/>
                <a:chExt cx="434" cy="84"/>
              </a:xfrm>
            </p:grpSpPr>
            <p:sp>
              <p:nvSpPr>
                <p:cNvPr id="36" name="椭圆 35">
                  <a:extLst>
                    <a:ext uri="{FF2B5EF4-FFF2-40B4-BE49-F238E27FC236}">
                      <a16:creationId xmlns:a16="http://schemas.microsoft.com/office/drawing/2014/main" id="{C64DEC84-62A1-5A38-2516-95BE4E18F668}"/>
                    </a:ext>
                  </a:extLst>
                </p:cNvPr>
                <p:cNvSpPr/>
                <p:nvPr/>
              </p:nvSpPr>
              <p:spPr>
                <a:xfrm>
                  <a:off x="537" y="8479"/>
                  <a:ext cx="85" cy="85"/>
                </a:xfrm>
                <a:prstGeom prst="ellipse">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7" name="椭圆 36">
                  <a:extLst>
                    <a:ext uri="{FF2B5EF4-FFF2-40B4-BE49-F238E27FC236}">
                      <a16:creationId xmlns:a16="http://schemas.microsoft.com/office/drawing/2014/main" id="{14E44221-7B2B-2234-9481-66A99676F4C5}"/>
                    </a:ext>
                  </a:extLst>
                </p:cNvPr>
                <p:cNvSpPr/>
                <p:nvPr/>
              </p:nvSpPr>
              <p:spPr>
                <a:xfrm>
                  <a:off x="705" y="8479"/>
                  <a:ext cx="85" cy="85"/>
                </a:xfrm>
                <a:prstGeom prst="ellipse">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8" name="椭圆 37">
                  <a:extLst>
                    <a:ext uri="{FF2B5EF4-FFF2-40B4-BE49-F238E27FC236}">
                      <a16:creationId xmlns:a16="http://schemas.microsoft.com/office/drawing/2014/main" id="{5AA21542-BA6A-62DD-79C2-77C9D05F19C3}"/>
                    </a:ext>
                  </a:extLst>
                </p:cNvPr>
                <p:cNvSpPr/>
                <p:nvPr/>
              </p:nvSpPr>
              <p:spPr>
                <a:xfrm>
                  <a:off x="887" y="8479"/>
                  <a:ext cx="85" cy="85"/>
                </a:xfrm>
                <a:prstGeom prst="ellipse">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39" name="组合 38">
                <a:extLst>
                  <a:ext uri="{FF2B5EF4-FFF2-40B4-BE49-F238E27FC236}">
                    <a16:creationId xmlns:a16="http://schemas.microsoft.com/office/drawing/2014/main" id="{EAD88EE9-3878-8FE5-67EC-5CAB2AD04098}"/>
                  </a:ext>
                </a:extLst>
              </p:cNvPr>
              <p:cNvGrpSpPr/>
              <p:nvPr/>
            </p:nvGrpSpPr>
            <p:grpSpPr>
              <a:xfrm>
                <a:off x="537" y="9267"/>
                <a:ext cx="434" cy="84"/>
                <a:chOff x="537" y="8479"/>
                <a:chExt cx="434" cy="84"/>
              </a:xfrm>
            </p:grpSpPr>
            <p:sp>
              <p:nvSpPr>
                <p:cNvPr id="40" name="椭圆 39">
                  <a:extLst>
                    <a:ext uri="{FF2B5EF4-FFF2-40B4-BE49-F238E27FC236}">
                      <a16:creationId xmlns:a16="http://schemas.microsoft.com/office/drawing/2014/main" id="{5D2B8865-9423-FE3D-C4E7-346969141D35}"/>
                    </a:ext>
                  </a:extLst>
                </p:cNvPr>
                <p:cNvSpPr/>
                <p:nvPr/>
              </p:nvSpPr>
              <p:spPr>
                <a:xfrm>
                  <a:off x="537" y="8479"/>
                  <a:ext cx="85" cy="85"/>
                </a:xfrm>
                <a:prstGeom prst="ellipse">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1" name="椭圆 40">
                  <a:extLst>
                    <a:ext uri="{FF2B5EF4-FFF2-40B4-BE49-F238E27FC236}">
                      <a16:creationId xmlns:a16="http://schemas.microsoft.com/office/drawing/2014/main" id="{D27C0C22-71E7-135E-801A-51369DDCE922}"/>
                    </a:ext>
                  </a:extLst>
                </p:cNvPr>
                <p:cNvSpPr/>
                <p:nvPr/>
              </p:nvSpPr>
              <p:spPr>
                <a:xfrm>
                  <a:off x="705" y="8479"/>
                  <a:ext cx="85" cy="85"/>
                </a:xfrm>
                <a:prstGeom prst="ellipse">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2" name="椭圆 41">
                  <a:extLst>
                    <a:ext uri="{FF2B5EF4-FFF2-40B4-BE49-F238E27FC236}">
                      <a16:creationId xmlns:a16="http://schemas.microsoft.com/office/drawing/2014/main" id="{8BB2ACA7-E4E5-C26C-A973-653D933F56A8}"/>
                    </a:ext>
                  </a:extLst>
                </p:cNvPr>
                <p:cNvSpPr/>
                <p:nvPr/>
              </p:nvSpPr>
              <p:spPr>
                <a:xfrm>
                  <a:off x="887" y="8479"/>
                  <a:ext cx="85" cy="85"/>
                </a:xfrm>
                <a:prstGeom prst="ellipse">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43" name="组合 42">
                <a:extLst>
                  <a:ext uri="{FF2B5EF4-FFF2-40B4-BE49-F238E27FC236}">
                    <a16:creationId xmlns:a16="http://schemas.microsoft.com/office/drawing/2014/main" id="{84AF9EFA-4705-6A90-D7B0-CBE2BDE0AB3F}"/>
                  </a:ext>
                </a:extLst>
              </p:cNvPr>
              <p:cNvGrpSpPr/>
              <p:nvPr/>
            </p:nvGrpSpPr>
            <p:grpSpPr>
              <a:xfrm>
                <a:off x="537" y="9460"/>
                <a:ext cx="434" cy="84"/>
                <a:chOff x="537" y="8479"/>
                <a:chExt cx="434" cy="84"/>
              </a:xfrm>
            </p:grpSpPr>
            <p:sp>
              <p:nvSpPr>
                <p:cNvPr id="44" name="椭圆 43">
                  <a:extLst>
                    <a:ext uri="{FF2B5EF4-FFF2-40B4-BE49-F238E27FC236}">
                      <a16:creationId xmlns:a16="http://schemas.microsoft.com/office/drawing/2014/main" id="{AAE8A0D0-16F4-79B8-0A3E-DD3548BD5514}"/>
                    </a:ext>
                  </a:extLst>
                </p:cNvPr>
                <p:cNvSpPr/>
                <p:nvPr/>
              </p:nvSpPr>
              <p:spPr>
                <a:xfrm>
                  <a:off x="537" y="8479"/>
                  <a:ext cx="85" cy="85"/>
                </a:xfrm>
                <a:prstGeom prst="ellipse">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5" name="椭圆 44">
                  <a:extLst>
                    <a:ext uri="{FF2B5EF4-FFF2-40B4-BE49-F238E27FC236}">
                      <a16:creationId xmlns:a16="http://schemas.microsoft.com/office/drawing/2014/main" id="{DF80E33B-A99E-E26B-608D-86DDB08FBAB8}"/>
                    </a:ext>
                  </a:extLst>
                </p:cNvPr>
                <p:cNvSpPr/>
                <p:nvPr/>
              </p:nvSpPr>
              <p:spPr>
                <a:xfrm>
                  <a:off x="705" y="8479"/>
                  <a:ext cx="85" cy="85"/>
                </a:xfrm>
                <a:prstGeom prst="ellipse">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6" name="椭圆 45">
                  <a:extLst>
                    <a:ext uri="{FF2B5EF4-FFF2-40B4-BE49-F238E27FC236}">
                      <a16:creationId xmlns:a16="http://schemas.microsoft.com/office/drawing/2014/main" id="{4229C48C-42B1-A0F1-5C64-D93D6299CA7A}"/>
                    </a:ext>
                  </a:extLst>
                </p:cNvPr>
                <p:cNvSpPr/>
                <p:nvPr/>
              </p:nvSpPr>
              <p:spPr>
                <a:xfrm>
                  <a:off x="887" y="8479"/>
                  <a:ext cx="85" cy="85"/>
                </a:xfrm>
                <a:prstGeom prst="ellipse">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grpSp>
          <p:nvGrpSpPr>
            <p:cNvPr id="48" name="组合 47">
              <a:extLst>
                <a:ext uri="{FF2B5EF4-FFF2-40B4-BE49-F238E27FC236}">
                  <a16:creationId xmlns:a16="http://schemas.microsoft.com/office/drawing/2014/main" id="{D5ABE6EE-1C8A-4CD7-6488-AB8C3E1F1D94}"/>
                </a:ext>
              </a:extLst>
            </p:cNvPr>
            <p:cNvGrpSpPr/>
            <p:nvPr/>
          </p:nvGrpSpPr>
          <p:grpSpPr>
            <a:xfrm>
              <a:off x="18348" y="434"/>
              <a:ext cx="434" cy="1065"/>
              <a:chOff x="537" y="8479"/>
              <a:chExt cx="434" cy="1065"/>
            </a:xfrm>
          </p:grpSpPr>
          <p:grpSp>
            <p:nvGrpSpPr>
              <p:cNvPr id="49" name="组合 48">
                <a:extLst>
                  <a:ext uri="{FF2B5EF4-FFF2-40B4-BE49-F238E27FC236}">
                    <a16:creationId xmlns:a16="http://schemas.microsoft.com/office/drawing/2014/main" id="{DBD0BF62-160C-E698-EC94-8324437A1617}"/>
                  </a:ext>
                </a:extLst>
              </p:cNvPr>
              <p:cNvGrpSpPr/>
              <p:nvPr/>
            </p:nvGrpSpPr>
            <p:grpSpPr>
              <a:xfrm>
                <a:off x="537" y="8479"/>
                <a:ext cx="434" cy="84"/>
                <a:chOff x="537" y="8479"/>
                <a:chExt cx="434" cy="84"/>
              </a:xfrm>
            </p:grpSpPr>
            <p:sp>
              <p:nvSpPr>
                <p:cNvPr id="50" name="椭圆 49">
                  <a:extLst>
                    <a:ext uri="{FF2B5EF4-FFF2-40B4-BE49-F238E27FC236}">
                      <a16:creationId xmlns:a16="http://schemas.microsoft.com/office/drawing/2014/main" id="{EAE3DF22-6CD3-75C4-B2C9-97AECB8B7B35}"/>
                    </a:ext>
                  </a:extLst>
                </p:cNvPr>
                <p:cNvSpPr/>
                <p:nvPr/>
              </p:nvSpPr>
              <p:spPr>
                <a:xfrm>
                  <a:off x="537" y="8479"/>
                  <a:ext cx="85" cy="85"/>
                </a:xfrm>
                <a:prstGeom prst="ellipse">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1" name="椭圆 50">
                  <a:extLst>
                    <a:ext uri="{FF2B5EF4-FFF2-40B4-BE49-F238E27FC236}">
                      <a16:creationId xmlns:a16="http://schemas.microsoft.com/office/drawing/2014/main" id="{4FA693CC-26D4-A1F0-475C-96D278BCB757}"/>
                    </a:ext>
                  </a:extLst>
                </p:cNvPr>
                <p:cNvSpPr/>
                <p:nvPr/>
              </p:nvSpPr>
              <p:spPr>
                <a:xfrm>
                  <a:off x="705" y="8479"/>
                  <a:ext cx="85" cy="85"/>
                </a:xfrm>
                <a:prstGeom prst="ellipse">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2" name="椭圆 51">
                  <a:extLst>
                    <a:ext uri="{FF2B5EF4-FFF2-40B4-BE49-F238E27FC236}">
                      <a16:creationId xmlns:a16="http://schemas.microsoft.com/office/drawing/2014/main" id="{BC6F4DAB-72B6-CAFF-D547-777F12CA5D58}"/>
                    </a:ext>
                  </a:extLst>
                </p:cNvPr>
                <p:cNvSpPr/>
                <p:nvPr/>
              </p:nvSpPr>
              <p:spPr>
                <a:xfrm>
                  <a:off x="887" y="8479"/>
                  <a:ext cx="85" cy="85"/>
                </a:xfrm>
                <a:prstGeom prst="ellipse">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53" name="组合 52">
                <a:extLst>
                  <a:ext uri="{FF2B5EF4-FFF2-40B4-BE49-F238E27FC236}">
                    <a16:creationId xmlns:a16="http://schemas.microsoft.com/office/drawing/2014/main" id="{D2B06824-1F26-2108-B22C-D7574F83FC6B}"/>
                  </a:ext>
                </a:extLst>
              </p:cNvPr>
              <p:cNvGrpSpPr/>
              <p:nvPr/>
            </p:nvGrpSpPr>
            <p:grpSpPr>
              <a:xfrm>
                <a:off x="537" y="8672"/>
                <a:ext cx="434" cy="84"/>
                <a:chOff x="537" y="8479"/>
                <a:chExt cx="434" cy="84"/>
              </a:xfrm>
            </p:grpSpPr>
            <p:sp>
              <p:nvSpPr>
                <p:cNvPr id="54" name="椭圆 53">
                  <a:extLst>
                    <a:ext uri="{FF2B5EF4-FFF2-40B4-BE49-F238E27FC236}">
                      <a16:creationId xmlns:a16="http://schemas.microsoft.com/office/drawing/2014/main" id="{E2842BE2-7385-5001-E739-A046420A6D35}"/>
                    </a:ext>
                  </a:extLst>
                </p:cNvPr>
                <p:cNvSpPr/>
                <p:nvPr/>
              </p:nvSpPr>
              <p:spPr>
                <a:xfrm>
                  <a:off x="537" y="8479"/>
                  <a:ext cx="85" cy="85"/>
                </a:xfrm>
                <a:prstGeom prst="ellipse">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5" name="椭圆 54">
                  <a:extLst>
                    <a:ext uri="{FF2B5EF4-FFF2-40B4-BE49-F238E27FC236}">
                      <a16:creationId xmlns:a16="http://schemas.microsoft.com/office/drawing/2014/main" id="{BC622646-5152-3768-CCF7-B4205A940E32}"/>
                    </a:ext>
                  </a:extLst>
                </p:cNvPr>
                <p:cNvSpPr/>
                <p:nvPr/>
              </p:nvSpPr>
              <p:spPr>
                <a:xfrm>
                  <a:off x="705" y="8479"/>
                  <a:ext cx="85" cy="85"/>
                </a:xfrm>
                <a:prstGeom prst="ellipse">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6" name="椭圆 55">
                  <a:extLst>
                    <a:ext uri="{FF2B5EF4-FFF2-40B4-BE49-F238E27FC236}">
                      <a16:creationId xmlns:a16="http://schemas.microsoft.com/office/drawing/2014/main" id="{C30CF67E-BD21-3334-6E03-B0CB64F02E4A}"/>
                    </a:ext>
                  </a:extLst>
                </p:cNvPr>
                <p:cNvSpPr/>
                <p:nvPr/>
              </p:nvSpPr>
              <p:spPr>
                <a:xfrm>
                  <a:off x="887" y="8479"/>
                  <a:ext cx="85" cy="85"/>
                </a:xfrm>
                <a:prstGeom prst="ellipse">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57" name="组合 56">
                <a:extLst>
                  <a:ext uri="{FF2B5EF4-FFF2-40B4-BE49-F238E27FC236}">
                    <a16:creationId xmlns:a16="http://schemas.microsoft.com/office/drawing/2014/main" id="{A3C470D9-B170-7929-AEC8-604B98DEB94B}"/>
                  </a:ext>
                </a:extLst>
              </p:cNvPr>
              <p:cNvGrpSpPr/>
              <p:nvPr/>
            </p:nvGrpSpPr>
            <p:grpSpPr>
              <a:xfrm>
                <a:off x="537" y="8873"/>
                <a:ext cx="434" cy="84"/>
                <a:chOff x="537" y="8479"/>
                <a:chExt cx="434" cy="84"/>
              </a:xfrm>
            </p:grpSpPr>
            <p:sp>
              <p:nvSpPr>
                <p:cNvPr id="58" name="椭圆 57">
                  <a:extLst>
                    <a:ext uri="{FF2B5EF4-FFF2-40B4-BE49-F238E27FC236}">
                      <a16:creationId xmlns:a16="http://schemas.microsoft.com/office/drawing/2014/main" id="{F2D0B345-1182-A63D-2D45-928018597779}"/>
                    </a:ext>
                  </a:extLst>
                </p:cNvPr>
                <p:cNvSpPr/>
                <p:nvPr/>
              </p:nvSpPr>
              <p:spPr>
                <a:xfrm>
                  <a:off x="537" y="8479"/>
                  <a:ext cx="85" cy="85"/>
                </a:xfrm>
                <a:prstGeom prst="ellipse">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9" name="椭圆 58">
                  <a:extLst>
                    <a:ext uri="{FF2B5EF4-FFF2-40B4-BE49-F238E27FC236}">
                      <a16:creationId xmlns:a16="http://schemas.microsoft.com/office/drawing/2014/main" id="{77F743A3-564A-6C52-4AC9-D2FA91C3D8C3}"/>
                    </a:ext>
                  </a:extLst>
                </p:cNvPr>
                <p:cNvSpPr/>
                <p:nvPr/>
              </p:nvSpPr>
              <p:spPr>
                <a:xfrm>
                  <a:off x="705" y="8479"/>
                  <a:ext cx="85" cy="85"/>
                </a:xfrm>
                <a:prstGeom prst="ellipse">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0" name="椭圆 59">
                  <a:extLst>
                    <a:ext uri="{FF2B5EF4-FFF2-40B4-BE49-F238E27FC236}">
                      <a16:creationId xmlns:a16="http://schemas.microsoft.com/office/drawing/2014/main" id="{5B3F005D-3D18-8576-38E9-EBB0536CC7A7}"/>
                    </a:ext>
                  </a:extLst>
                </p:cNvPr>
                <p:cNvSpPr/>
                <p:nvPr/>
              </p:nvSpPr>
              <p:spPr>
                <a:xfrm>
                  <a:off x="887" y="8479"/>
                  <a:ext cx="85" cy="85"/>
                </a:xfrm>
                <a:prstGeom prst="ellipse">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61" name="组合 60">
                <a:extLst>
                  <a:ext uri="{FF2B5EF4-FFF2-40B4-BE49-F238E27FC236}">
                    <a16:creationId xmlns:a16="http://schemas.microsoft.com/office/drawing/2014/main" id="{D2592378-A85F-0A69-070C-1F7C71C93EE7}"/>
                  </a:ext>
                </a:extLst>
              </p:cNvPr>
              <p:cNvGrpSpPr/>
              <p:nvPr/>
            </p:nvGrpSpPr>
            <p:grpSpPr>
              <a:xfrm>
                <a:off x="537" y="9066"/>
                <a:ext cx="434" cy="84"/>
                <a:chOff x="537" y="8479"/>
                <a:chExt cx="434" cy="84"/>
              </a:xfrm>
            </p:grpSpPr>
            <p:sp>
              <p:nvSpPr>
                <p:cNvPr id="62" name="椭圆 61">
                  <a:extLst>
                    <a:ext uri="{FF2B5EF4-FFF2-40B4-BE49-F238E27FC236}">
                      <a16:creationId xmlns:a16="http://schemas.microsoft.com/office/drawing/2014/main" id="{13911150-A81C-B7F8-B465-9F01F8471D8C}"/>
                    </a:ext>
                  </a:extLst>
                </p:cNvPr>
                <p:cNvSpPr/>
                <p:nvPr/>
              </p:nvSpPr>
              <p:spPr>
                <a:xfrm>
                  <a:off x="537" y="8479"/>
                  <a:ext cx="85" cy="85"/>
                </a:xfrm>
                <a:prstGeom prst="ellipse">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3" name="椭圆 62">
                  <a:extLst>
                    <a:ext uri="{FF2B5EF4-FFF2-40B4-BE49-F238E27FC236}">
                      <a16:creationId xmlns:a16="http://schemas.microsoft.com/office/drawing/2014/main" id="{C1A5066A-10CF-F588-778B-49BE1090B3CF}"/>
                    </a:ext>
                  </a:extLst>
                </p:cNvPr>
                <p:cNvSpPr/>
                <p:nvPr/>
              </p:nvSpPr>
              <p:spPr>
                <a:xfrm>
                  <a:off x="705" y="8479"/>
                  <a:ext cx="85" cy="85"/>
                </a:xfrm>
                <a:prstGeom prst="ellipse">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4" name="椭圆 63">
                  <a:extLst>
                    <a:ext uri="{FF2B5EF4-FFF2-40B4-BE49-F238E27FC236}">
                      <a16:creationId xmlns:a16="http://schemas.microsoft.com/office/drawing/2014/main" id="{1D72E782-B220-0347-B06A-160C1AEB06A5}"/>
                    </a:ext>
                  </a:extLst>
                </p:cNvPr>
                <p:cNvSpPr/>
                <p:nvPr/>
              </p:nvSpPr>
              <p:spPr>
                <a:xfrm>
                  <a:off x="887" y="8479"/>
                  <a:ext cx="85" cy="85"/>
                </a:xfrm>
                <a:prstGeom prst="ellipse">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65" name="组合 64">
                <a:extLst>
                  <a:ext uri="{FF2B5EF4-FFF2-40B4-BE49-F238E27FC236}">
                    <a16:creationId xmlns:a16="http://schemas.microsoft.com/office/drawing/2014/main" id="{F1351998-E590-3D3A-C983-4934D46BDD36}"/>
                  </a:ext>
                </a:extLst>
              </p:cNvPr>
              <p:cNvGrpSpPr/>
              <p:nvPr/>
            </p:nvGrpSpPr>
            <p:grpSpPr>
              <a:xfrm>
                <a:off x="537" y="9267"/>
                <a:ext cx="434" cy="84"/>
                <a:chOff x="537" y="8479"/>
                <a:chExt cx="434" cy="84"/>
              </a:xfrm>
            </p:grpSpPr>
            <p:sp>
              <p:nvSpPr>
                <p:cNvPr id="66" name="椭圆 65">
                  <a:extLst>
                    <a:ext uri="{FF2B5EF4-FFF2-40B4-BE49-F238E27FC236}">
                      <a16:creationId xmlns:a16="http://schemas.microsoft.com/office/drawing/2014/main" id="{0466641F-626F-5AB5-B690-FFDD94665BDA}"/>
                    </a:ext>
                  </a:extLst>
                </p:cNvPr>
                <p:cNvSpPr/>
                <p:nvPr/>
              </p:nvSpPr>
              <p:spPr>
                <a:xfrm>
                  <a:off x="537" y="8479"/>
                  <a:ext cx="85" cy="85"/>
                </a:xfrm>
                <a:prstGeom prst="ellipse">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7" name="椭圆 66">
                  <a:extLst>
                    <a:ext uri="{FF2B5EF4-FFF2-40B4-BE49-F238E27FC236}">
                      <a16:creationId xmlns:a16="http://schemas.microsoft.com/office/drawing/2014/main" id="{D3161CD1-D2B2-4E51-9802-3C92F63F648C}"/>
                    </a:ext>
                  </a:extLst>
                </p:cNvPr>
                <p:cNvSpPr/>
                <p:nvPr/>
              </p:nvSpPr>
              <p:spPr>
                <a:xfrm>
                  <a:off x="705" y="8479"/>
                  <a:ext cx="85" cy="85"/>
                </a:xfrm>
                <a:prstGeom prst="ellipse">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8" name="椭圆 67">
                  <a:extLst>
                    <a:ext uri="{FF2B5EF4-FFF2-40B4-BE49-F238E27FC236}">
                      <a16:creationId xmlns:a16="http://schemas.microsoft.com/office/drawing/2014/main" id="{0177BB38-09B0-D33C-8CE0-6AD6EDEED1B8}"/>
                    </a:ext>
                  </a:extLst>
                </p:cNvPr>
                <p:cNvSpPr/>
                <p:nvPr/>
              </p:nvSpPr>
              <p:spPr>
                <a:xfrm>
                  <a:off x="887" y="8479"/>
                  <a:ext cx="85" cy="85"/>
                </a:xfrm>
                <a:prstGeom prst="ellipse">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69" name="组合 68">
                <a:extLst>
                  <a:ext uri="{FF2B5EF4-FFF2-40B4-BE49-F238E27FC236}">
                    <a16:creationId xmlns:a16="http://schemas.microsoft.com/office/drawing/2014/main" id="{41643EFB-2535-702B-4982-D99A90CA1389}"/>
                  </a:ext>
                </a:extLst>
              </p:cNvPr>
              <p:cNvGrpSpPr/>
              <p:nvPr/>
            </p:nvGrpSpPr>
            <p:grpSpPr>
              <a:xfrm>
                <a:off x="537" y="9460"/>
                <a:ext cx="434" cy="84"/>
                <a:chOff x="537" y="8479"/>
                <a:chExt cx="434" cy="84"/>
              </a:xfrm>
            </p:grpSpPr>
            <p:sp>
              <p:nvSpPr>
                <p:cNvPr id="70" name="椭圆 69">
                  <a:extLst>
                    <a:ext uri="{FF2B5EF4-FFF2-40B4-BE49-F238E27FC236}">
                      <a16:creationId xmlns:a16="http://schemas.microsoft.com/office/drawing/2014/main" id="{8EE6EB3C-2269-2C73-B678-46C6C6F1235C}"/>
                    </a:ext>
                  </a:extLst>
                </p:cNvPr>
                <p:cNvSpPr/>
                <p:nvPr/>
              </p:nvSpPr>
              <p:spPr>
                <a:xfrm>
                  <a:off x="537" y="8479"/>
                  <a:ext cx="85" cy="85"/>
                </a:xfrm>
                <a:prstGeom prst="ellipse">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1" name="椭圆 70">
                  <a:extLst>
                    <a:ext uri="{FF2B5EF4-FFF2-40B4-BE49-F238E27FC236}">
                      <a16:creationId xmlns:a16="http://schemas.microsoft.com/office/drawing/2014/main" id="{82CCE793-193E-D8EB-7F35-2F92A7E472D8}"/>
                    </a:ext>
                  </a:extLst>
                </p:cNvPr>
                <p:cNvSpPr/>
                <p:nvPr/>
              </p:nvSpPr>
              <p:spPr>
                <a:xfrm>
                  <a:off x="705" y="8479"/>
                  <a:ext cx="85" cy="85"/>
                </a:xfrm>
                <a:prstGeom prst="ellipse">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2" name="椭圆 71">
                  <a:extLst>
                    <a:ext uri="{FF2B5EF4-FFF2-40B4-BE49-F238E27FC236}">
                      <a16:creationId xmlns:a16="http://schemas.microsoft.com/office/drawing/2014/main" id="{D62FA64C-2FC1-E3E0-B2F7-B72C59E4619C}"/>
                    </a:ext>
                  </a:extLst>
                </p:cNvPr>
                <p:cNvSpPr/>
                <p:nvPr/>
              </p:nvSpPr>
              <p:spPr>
                <a:xfrm>
                  <a:off x="887" y="8479"/>
                  <a:ext cx="85" cy="85"/>
                </a:xfrm>
                <a:prstGeom prst="ellipse">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grpSp>
          <p:nvGrpSpPr>
            <p:cNvPr id="76" name="组合 75">
              <a:extLst>
                <a:ext uri="{FF2B5EF4-FFF2-40B4-BE49-F238E27FC236}">
                  <a16:creationId xmlns:a16="http://schemas.microsoft.com/office/drawing/2014/main" id="{0043A543-8BB0-53DB-C258-5DC1658EBDD5}"/>
                </a:ext>
              </a:extLst>
            </p:cNvPr>
            <p:cNvGrpSpPr/>
            <p:nvPr/>
          </p:nvGrpSpPr>
          <p:grpSpPr>
            <a:xfrm flipH="1" flipV="1">
              <a:off x="-1582" y="-522"/>
              <a:ext cx="3159" cy="4320"/>
              <a:chOff x="16465" y="4210"/>
              <a:chExt cx="5458" cy="7464"/>
            </a:xfrm>
          </p:grpSpPr>
          <p:sp>
            <p:nvSpPr>
              <p:cNvPr id="77" name="任意多边形 76">
                <a:extLst>
                  <a:ext uri="{FF2B5EF4-FFF2-40B4-BE49-F238E27FC236}">
                    <a16:creationId xmlns:a16="http://schemas.microsoft.com/office/drawing/2014/main" id="{DD4DF7F7-FDB9-40D4-A047-F192153CAA18}"/>
                  </a:ext>
                </a:extLst>
              </p:cNvPr>
              <p:cNvSpPr/>
              <p:nvPr/>
            </p:nvSpPr>
            <p:spPr>
              <a:xfrm rot="2700000">
                <a:off x="16627" y="9964"/>
                <a:ext cx="1711" cy="1711"/>
              </a:xfrm>
              <a:custGeom>
                <a:avLst/>
                <a:gdLst>
                  <a:gd name="adj" fmla="val 16667"/>
                  <a:gd name="a" fmla="pin 0 adj 50000"/>
                  <a:gd name="x1" fmla="*/ ss a 100000"/>
                  <a:gd name="x2" fmla="+- r 0 x1"/>
                  <a:gd name="y2" fmla="+- b 0 x1"/>
                  <a:gd name="il" fmla="*/ x1 29289 100000"/>
                  <a:gd name="ir" fmla="+- r 0 il"/>
                  <a:gd name="ib" fmla="+- b 0 il"/>
                </a:gdLst>
                <a:ahLst/>
                <a:cxnLst>
                  <a:cxn ang="3">
                    <a:pos x="hc" y="t"/>
                  </a:cxn>
                  <a:cxn ang="cd2">
                    <a:pos x="l" y="vc"/>
                  </a:cxn>
                  <a:cxn ang="cd4">
                    <a:pos x="hc" y="b"/>
                  </a:cxn>
                  <a:cxn ang="0">
                    <a:pos x="r" y="vc"/>
                  </a:cxn>
                </a:cxnLst>
                <a:rect l="l" t="t" r="r" b="b"/>
                <a:pathLst>
                  <a:path w="1711" h="1711">
                    <a:moveTo>
                      <a:pt x="326" y="0"/>
                    </a:moveTo>
                    <a:lnTo>
                      <a:pt x="1630" y="0"/>
                    </a:lnTo>
                    <a:cubicBezTo>
                      <a:pt x="1655" y="0"/>
                      <a:pt x="1680" y="3"/>
                      <a:pt x="1704" y="8"/>
                    </a:cubicBezTo>
                    <a:lnTo>
                      <a:pt x="1711" y="10"/>
                    </a:lnTo>
                    <a:lnTo>
                      <a:pt x="10" y="1711"/>
                    </a:lnTo>
                    <a:lnTo>
                      <a:pt x="8" y="1704"/>
                    </a:lnTo>
                    <a:cubicBezTo>
                      <a:pt x="3" y="1680"/>
                      <a:pt x="0" y="1655"/>
                      <a:pt x="0" y="1630"/>
                    </a:cubicBezTo>
                    <a:lnTo>
                      <a:pt x="0" y="326"/>
                    </a:lnTo>
                    <a:cubicBezTo>
                      <a:pt x="0" y="146"/>
                      <a:pt x="146" y="0"/>
                      <a:pt x="326" y="0"/>
                    </a:cubicBezTo>
                    <a:close/>
                  </a:path>
                </a:pathLst>
              </a:custGeom>
              <a:solidFill>
                <a:srgbClr val="6D84A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a:p>
            </p:txBody>
          </p:sp>
          <p:sp>
            <p:nvSpPr>
              <p:cNvPr id="78" name="任意多边形 77">
                <a:extLst>
                  <a:ext uri="{FF2B5EF4-FFF2-40B4-BE49-F238E27FC236}">
                    <a16:creationId xmlns:a16="http://schemas.microsoft.com/office/drawing/2014/main" id="{C021A409-4ADE-BAB4-58B6-6FE8B710F91F}"/>
                  </a:ext>
                </a:extLst>
              </p:cNvPr>
              <p:cNvSpPr/>
              <p:nvPr/>
            </p:nvSpPr>
            <p:spPr>
              <a:xfrm rot="18900000">
                <a:off x="16465" y="4210"/>
                <a:ext cx="5459" cy="5459"/>
              </a:xfrm>
              <a:custGeom>
                <a:avLst/>
                <a:gdLst>
                  <a:gd name="adj" fmla="val 16667"/>
                  <a:gd name="a" fmla="pin 0 adj 50000"/>
                  <a:gd name="x1" fmla="*/ ss a 100000"/>
                  <a:gd name="x2" fmla="+- r 0 x1"/>
                  <a:gd name="y2" fmla="+- b 0 x1"/>
                  <a:gd name="il" fmla="*/ x1 29289 100000"/>
                  <a:gd name="ir" fmla="+- r 0 il"/>
                  <a:gd name="ib" fmla="+- b 0 il"/>
                </a:gdLst>
                <a:ahLst/>
                <a:cxnLst>
                  <a:cxn ang="3">
                    <a:pos x="hc" y="t"/>
                  </a:cxn>
                  <a:cxn ang="cd2">
                    <a:pos x="l" y="vc"/>
                  </a:cxn>
                  <a:cxn ang="cd4">
                    <a:pos x="hc" y="b"/>
                  </a:cxn>
                  <a:cxn ang="0">
                    <a:pos x="r" y="vc"/>
                  </a:cxn>
                </a:cxnLst>
                <a:rect l="l" t="t" r="r" b="b"/>
                <a:pathLst>
                  <a:path w="1711" h="1711">
                    <a:moveTo>
                      <a:pt x="326" y="0"/>
                    </a:moveTo>
                    <a:lnTo>
                      <a:pt x="1630" y="0"/>
                    </a:lnTo>
                    <a:cubicBezTo>
                      <a:pt x="1655" y="0"/>
                      <a:pt x="1680" y="3"/>
                      <a:pt x="1704" y="8"/>
                    </a:cubicBezTo>
                    <a:lnTo>
                      <a:pt x="1711" y="10"/>
                    </a:lnTo>
                    <a:lnTo>
                      <a:pt x="10" y="1711"/>
                    </a:lnTo>
                    <a:lnTo>
                      <a:pt x="8" y="1704"/>
                    </a:lnTo>
                    <a:cubicBezTo>
                      <a:pt x="3" y="1680"/>
                      <a:pt x="0" y="1655"/>
                      <a:pt x="0" y="1630"/>
                    </a:cubicBezTo>
                    <a:lnTo>
                      <a:pt x="0" y="326"/>
                    </a:lnTo>
                    <a:cubicBezTo>
                      <a:pt x="0" y="146"/>
                      <a:pt x="146" y="0"/>
                      <a:pt x="326" y="0"/>
                    </a:cubicBezTo>
                    <a:close/>
                  </a:path>
                </a:pathLst>
              </a:custGeom>
              <a:solidFill>
                <a:srgbClr val="1C3867"/>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a:p>
            </p:txBody>
          </p:sp>
        </p:grpSp>
        <p:grpSp>
          <p:nvGrpSpPr>
            <p:cNvPr id="2" name="组合 1">
              <a:extLst>
                <a:ext uri="{FF2B5EF4-FFF2-40B4-BE49-F238E27FC236}">
                  <a16:creationId xmlns:a16="http://schemas.microsoft.com/office/drawing/2014/main" id="{83018D86-6B72-AF35-F1C2-306C15C5D3CA}"/>
                </a:ext>
              </a:extLst>
            </p:cNvPr>
            <p:cNvGrpSpPr/>
            <p:nvPr/>
          </p:nvGrpSpPr>
          <p:grpSpPr>
            <a:xfrm>
              <a:off x="17635" y="6980"/>
              <a:ext cx="3159" cy="4320"/>
              <a:chOff x="16465" y="4210"/>
              <a:chExt cx="5458" cy="7464"/>
            </a:xfrm>
          </p:grpSpPr>
          <p:sp>
            <p:nvSpPr>
              <p:cNvPr id="3" name="任意多边形 2">
                <a:extLst>
                  <a:ext uri="{FF2B5EF4-FFF2-40B4-BE49-F238E27FC236}">
                    <a16:creationId xmlns:a16="http://schemas.microsoft.com/office/drawing/2014/main" id="{8CC5686D-C5B2-E905-EDA1-46CADB7B61AC}"/>
                  </a:ext>
                </a:extLst>
              </p:cNvPr>
              <p:cNvSpPr/>
              <p:nvPr/>
            </p:nvSpPr>
            <p:spPr>
              <a:xfrm rot="2700000">
                <a:off x="16627" y="9964"/>
                <a:ext cx="1711" cy="1711"/>
              </a:xfrm>
              <a:custGeom>
                <a:avLst/>
                <a:gdLst>
                  <a:gd name="adj" fmla="val 16667"/>
                  <a:gd name="a" fmla="pin 0 adj 50000"/>
                  <a:gd name="x1" fmla="*/ ss a 100000"/>
                  <a:gd name="x2" fmla="+- r 0 x1"/>
                  <a:gd name="y2" fmla="+- b 0 x1"/>
                  <a:gd name="il" fmla="*/ x1 29289 100000"/>
                  <a:gd name="ir" fmla="+- r 0 il"/>
                  <a:gd name="ib" fmla="+- b 0 il"/>
                </a:gdLst>
                <a:ahLst/>
                <a:cxnLst>
                  <a:cxn ang="3">
                    <a:pos x="hc" y="t"/>
                  </a:cxn>
                  <a:cxn ang="cd2">
                    <a:pos x="l" y="vc"/>
                  </a:cxn>
                  <a:cxn ang="cd4">
                    <a:pos x="hc" y="b"/>
                  </a:cxn>
                  <a:cxn ang="0">
                    <a:pos x="r" y="vc"/>
                  </a:cxn>
                </a:cxnLst>
                <a:rect l="l" t="t" r="r" b="b"/>
                <a:pathLst>
                  <a:path w="1711" h="1711">
                    <a:moveTo>
                      <a:pt x="326" y="0"/>
                    </a:moveTo>
                    <a:lnTo>
                      <a:pt x="1630" y="0"/>
                    </a:lnTo>
                    <a:cubicBezTo>
                      <a:pt x="1655" y="0"/>
                      <a:pt x="1680" y="3"/>
                      <a:pt x="1704" y="8"/>
                    </a:cubicBezTo>
                    <a:lnTo>
                      <a:pt x="1711" y="10"/>
                    </a:lnTo>
                    <a:lnTo>
                      <a:pt x="10" y="1711"/>
                    </a:lnTo>
                    <a:lnTo>
                      <a:pt x="8" y="1704"/>
                    </a:lnTo>
                    <a:cubicBezTo>
                      <a:pt x="3" y="1680"/>
                      <a:pt x="0" y="1655"/>
                      <a:pt x="0" y="1630"/>
                    </a:cubicBezTo>
                    <a:lnTo>
                      <a:pt x="0" y="326"/>
                    </a:lnTo>
                    <a:cubicBezTo>
                      <a:pt x="0" y="146"/>
                      <a:pt x="146" y="0"/>
                      <a:pt x="326" y="0"/>
                    </a:cubicBezTo>
                    <a:close/>
                  </a:path>
                </a:pathLst>
              </a:custGeom>
              <a:solidFill>
                <a:srgbClr val="6D84A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a:p>
            </p:txBody>
          </p:sp>
          <p:sp>
            <p:nvSpPr>
              <p:cNvPr id="4" name="任意多边形 3">
                <a:extLst>
                  <a:ext uri="{FF2B5EF4-FFF2-40B4-BE49-F238E27FC236}">
                    <a16:creationId xmlns:a16="http://schemas.microsoft.com/office/drawing/2014/main" id="{09A59D58-8891-D1ED-3D95-2FD02B64206C}"/>
                  </a:ext>
                </a:extLst>
              </p:cNvPr>
              <p:cNvSpPr/>
              <p:nvPr/>
            </p:nvSpPr>
            <p:spPr>
              <a:xfrm rot="18900000">
                <a:off x="16465" y="4210"/>
                <a:ext cx="5459" cy="5459"/>
              </a:xfrm>
              <a:custGeom>
                <a:avLst/>
                <a:gdLst>
                  <a:gd name="adj" fmla="val 16667"/>
                  <a:gd name="a" fmla="pin 0 adj 50000"/>
                  <a:gd name="x1" fmla="*/ ss a 100000"/>
                  <a:gd name="x2" fmla="+- r 0 x1"/>
                  <a:gd name="y2" fmla="+- b 0 x1"/>
                  <a:gd name="il" fmla="*/ x1 29289 100000"/>
                  <a:gd name="ir" fmla="+- r 0 il"/>
                  <a:gd name="ib" fmla="+- b 0 il"/>
                </a:gdLst>
                <a:ahLst/>
                <a:cxnLst>
                  <a:cxn ang="3">
                    <a:pos x="hc" y="t"/>
                  </a:cxn>
                  <a:cxn ang="cd2">
                    <a:pos x="l" y="vc"/>
                  </a:cxn>
                  <a:cxn ang="cd4">
                    <a:pos x="hc" y="b"/>
                  </a:cxn>
                  <a:cxn ang="0">
                    <a:pos x="r" y="vc"/>
                  </a:cxn>
                </a:cxnLst>
                <a:rect l="l" t="t" r="r" b="b"/>
                <a:pathLst>
                  <a:path w="1711" h="1711">
                    <a:moveTo>
                      <a:pt x="326" y="0"/>
                    </a:moveTo>
                    <a:lnTo>
                      <a:pt x="1630" y="0"/>
                    </a:lnTo>
                    <a:cubicBezTo>
                      <a:pt x="1655" y="0"/>
                      <a:pt x="1680" y="3"/>
                      <a:pt x="1704" y="8"/>
                    </a:cubicBezTo>
                    <a:lnTo>
                      <a:pt x="1711" y="10"/>
                    </a:lnTo>
                    <a:lnTo>
                      <a:pt x="10" y="1711"/>
                    </a:lnTo>
                    <a:lnTo>
                      <a:pt x="8" y="1704"/>
                    </a:lnTo>
                    <a:cubicBezTo>
                      <a:pt x="3" y="1680"/>
                      <a:pt x="0" y="1655"/>
                      <a:pt x="0" y="1630"/>
                    </a:cubicBezTo>
                    <a:lnTo>
                      <a:pt x="0" y="326"/>
                    </a:lnTo>
                    <a:cubicBezTo>
                      <a:pt x="0" y="146"/>
                      <a:pt x="146" y="0"/>
                      <a:pt x="326" y="0"/>
                    </a:cubicBezTo>
                    <a:close/>
                  </a:path>
                </a:pathLst>
              </a:custGeom>
              <a:solidFill>
                <a:srgbClr val="1C3867"/>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a:p>
            </p:txBody>
          </p:sp>
        </p:grpSp>
      </p:grpSp>
      <p:graphicFrame>
        <p:nvGraphicFramePr>
          <p:cNvPr id="6" name="表格 5">
            <a:extLst>
              <a:ext uri="{FF2B5EF4-FFF2-40B4-BE49-F238E27FC236}">
                <a16:creationId xmlns:a16="http://schemas.microsoft.com/office/drawing/2014/main" id="{1D603593-7AFE-C019-5926-D77F374A3F1C}"/>
              </a:ext>
            </a:extLst>
          </p:cNvPr>
          <p:cNvGraphicFramePr/>
          <p:nvPr>
            <p:extLst>
              <p:ext uri="{D42A27DB-BD31-4B8C-83A1-F6EECF244321}">
                <p14:modId xmlns:p14="http://schemas.microsoft.com/office/powerpoint/2010/main" val="2378131736"/>
              </p:ext>
            </p:extLst>
          </p:nvPr>
        </p:nvGraphicFramePr>
        <p:xfrm>
          <a:off x="1416685" y="1231900"/>
          <a:ext cx="4679315" cy="2071370"/>
        </p:xfrm>
        <a:graphic>
          <a:graphicData uri="http://schemas.openxmlformats.org/drawingml/2006/table">
            <a:tbl>
              <a:tblPr/>
              <a:tblGrid>
                <a:gridCol w="846455">
                  <a:extLst>
                    <a:ext uri="{9D8B030D-6E8A-4147-A177-3AD203B41FA5}">
                      <a16:colId xmlns:a16="http://schemas.microsoft.com/office/drawing/2014/main" val="20000"/>
                    </a:ext>
                  </a:extLst>
                </a:gridCol>
                <a:gridCol w="845185">
                  <a:extLst>
                    <a:ext uri="{9D8B030D-6E8A-4147-A177-3AD203B41FA5}">
                      <a16:colId xmlns:a16="http://schemas.microsoft.com/office/drawing/2014/main" val="20001"/>
                    </a:ext>
                  </a:extLst>
                </a:gridCol>
                <a:gridCol w="847725">
                  <a:extLst>
                    <a:ext uri="{9D8B030D-6E8A-4147-A177-3AD203B41FA5}">
                      <a16:colId xmlns:a16="http://schemas.microsoft.com/office/drawing/2014/main" val="20002"/>
                    </a:ext>
                  </a:extLst>
                </a:gridCol>
                <a:gridCol w="1069340">
                  <a:extLst>
                    <a:ext uri="{9D8B030D-6E8A-4147-A177-3AD203B41FA5}">
                      <a16:colId xmlns:a16="http://schemas.microsoft.com/office/drawing/2014/main" val="20003"/>
                    </a:ext>
                  </a:extLst>
                </a:gridCol>
                <a:gridCol w="1070610">
                  <a:extLst>
                    <a:ext uri="{9D8B030D-6E8A-4147-A177-3AD203B41FA5}">
                      <a16:colId xmlns:a16="http://schemas.microsoft.com/office/drawing/2014/main" val="20004"/>
                    </a:ext>
                  </a:extLst>
                </a:gridCol>
              </a:tblGrid>
              <a:tr h="438785">
                <a:tc>
                  <a:txBody>
                    <a:bodyPr/>
                    <a:lstStyle/>
                    <a:p>
                      <a:pPr algn="l" fontAlgn="ctr"/>
                      <a:r>
                        <a:rPr lang="en-US" altLang="zh-CN" sz="1400" b="0" i="0">
                          <a:solidFill>
                            <a:srgbClr val="000000"/>
                          </a:solidFill>
                          <a:latin typeface="Times New Roman" panose="02020603050405020304"/>
                          <a:ea typeface="Times New Roman" panose="02020603050405020304"/>
                        </a:rPr>
                        <a:t>Metrics</a:t>
                      </a:r>
                    </a:p>
                  </a:txBody>
                  <a:tcPr marL="6667" marR="6667" marT="6667"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pPr algn="ctr" fontAlgn="ctr"/>
                      <a:r>
                        <a:rPr lang="en-US" altLang="zh-CN" sz="1400" b="0" i="0">
                          <a:solidFill>
                            <a:srgbClr val="000000"/>
                          </a:solidFill>
                          <a:latin typeface="Times New Roman" panose="02020603050405020304"/>
                          <a:ea typeface="Times New Roman" panose="02020603050405020304"/>
                        </a:rPr>
                        <a:t>In Sample</a:t>
                      </a:r>
                    </a:p>
                  </a:txBody>
                  <a:tcPr marL="6667" marR="6667" marT="6667"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pPr algn="ctr" fontAlgn="ctr"/>
                      <a:r>
                        <a:rPr lang="en-US" altLang="zh-CN" sz="1400" b="0" i="0">
                          <a:solidFill>
                            <a:srgbClr val="000000"/>
                          </a:solidFill>
                          <a:latin typeface="Times New Roman" panose="02020603050405020304"/>
                          <a:ea typeface="Times New Roman" panose="02020603050405020304"/>
                        </a:rPr>
                        <a:t>Out of Sample</a:t>
                      </a:r>
                    </a:p>
                  </a:txBody>
                  <a:tcPr marL="6667" marR="6667" marT="6667"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pPr algn="ctr" fontAlgn="ctr"/>
                      <a:r>
                        <a:rPr lang="en-US" altLang="zh-CN" sz="1400" b="0" i="0" dirty="0">
                          <a:solidFill>
                            <a:srgbClr val="000000"/>
                          </a:solidFill>
                          <a:latin typeface="Times New Roman" panose="02020603050405020304"/>
                          <a:ea typeface="Times New Roman" panose="02020603050405020304"/>
                        </a:rPr>
                        <a:t>Cross-validation</a:t>
                      </a:r>
                    </a:p>
                  </a:txBody>
                  <a:tcPr marL="6667" marR="6667" marT="6667"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pPr algn="ctr" fontAlgn="ctr"/>
                      <a:r>
                        <a:rPr lang="en-US" altLang="zh-CN" sz="1400" b="0" i="0">
                          <a:solidFill>
                            <a:srgbClr val="000000"/>
                          </a:solidFill>
                          <a:latin typeface="Times New Roman" panose="02020603050405020304"/>
                          <a:ea typeface="Times New Roman" panose="02020603050405020304"/>
                        </a:rPr>
                        <a:t>Kaggle Score</a:t>
                      </a:r>
                    </a:p>
                  </a:txBody>
                  <a:tcPr marL="6667" marR="6667" marT="6667"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noFill/>
                  </a:tcPr>
                </a:tc>
                <a:extLst>
                  <a:ext uri="{0D108BD9-81ED-4DB2-BD59-A6C34878D82A}">
                    <a16:rowId xmlns:a16="http://schemas.microsoft.com/office/drawing/2014/main" val="10000"/>
                  </a:ext>
                </a:extLst>
              </a:tr>
              <a:tr h="407670">
                <a:tc>
                  <a:txBody>
                    <a:bodyPr/>
                    <a:lstStyle/>
                    <a:p>
                      <a:pPr algn="l" fontAlgn="ctr"/>
                      <a:r>
                        <a:rPr lang="en-US" altLang="zh-CN" sz="1400" b="0" i="0" dirty="0">
                          <a:solidFill>
                            <a:srgbClr val="000000"/>
                          </a:solidFill>
                          <a:latin typeface="Times New Roman" panose="02020603050405020304"/>
                          <a:ea typeface="Times New Roman" panose="02020603050405020304"/>
                        </a:rPr>
                        <a:t>OLS</a:t>
                      </a:r>
                    </a:p>
                  </a:txBody>
                  <a:tcPr marL="6667" marR="6667" marT="6667"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solidFill>
                      <a:srgbClr val="B9CCEC"/>
                    </a:solidFill>
                  </a:tcPr>
                </a:tc>
                <a:tc>
                  <a:txBody>
                    <a:bodyPr/>
                    <a:lstStyle/>
                    <a:p>
                      <a:pPr algn="ctr" fontAlgn="ctr"/>
                      <a:r>
                        <a:rPr lang="en-US" altLang="zh-CN" sz="1400" b="0" i="0" dirty="0">
                          <a:solidFill>
                            <a:srgbClr val="000000"/>
                          </a:solidFill>
                          <a:latin typeface="Times New Roman" panose="02020603050405020304"/>
                          <a:ea typeface="Times New Roman" panose="02020603050405020304"/>
                        </a:rPr>
                        <a:t>587067.37</a:t>
                      </a:r>
                    </a:p>
                  </a:txBody>
                  <a:tcPr marL="6667" marR="6667" marT="6667"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solidFill>
                      <a:srgbClr val="B9CCEC"/>
                    </a:solidFill>
                  </a:tcPr>
                </a:tc>
                <a:tc>
                  <a:txBody>
                    <a:bodyPr/>
                    <a:lstStyle/>
                    <a:p>
                      <a:pPr algn="ctr" fontAlgn="ctr"/>
                      <a:r>
                        <a:rPr lang="en-US" altLang="zh-CN" sz="1400" b="0" i="0" dirty="0">
                          <a:solidFill>
                            <a:srgbClr val="000000"/>
                          </a:solidFill>
                          <a:latin typeface="Times New Roman" panose="02020603050405020304"/>
                          <a:ea typeface="Times New Roman" panose="02020603050405020304"/>
                        </a:rPr>
                        <a:t>585869.04</a:t>
                      </a:r>
                    </a:p>
                  </a:txBody>
                  <a:tcPr marL="6667" marR="6667" marT="6667"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solidFill>
                      <a:srgbClr val="B9CCEC"/>
                    </a:solidFill>
                  </a:tcPr>
                </a:tc>
                <a:tc>
                  <a:txBody>
                    <a:bodyPr/>
                    <a:lstStyle/>
                    <a:p>
                      <a:pPr algn="ctr" fontAlgn="ctr"/>
                      <a:r>
                        <a:rPr lang="en-US" altLang="zh-CN" sz="1400" b="0" i="0" dirty="0">
                          <a:solidFill>
                            <a:srgbClr val="000000"/>
                          </a:solidFill>
                          <a:latin typeface="Times New Roman" panose="02020603050405020304"/>
                          <a:ea typeface="Times New Roman" panose="02020603050405020304"/>
                        </a:rPr>
                        <a:t>588224.58</a:t>
                      </a:r>
                    </a:p>
                  </a:txBody>
                  <a:tcPr marL="6667" marR="6667" marT="6667"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solidFill>
                      <a:srgbClr val="B9CCEC"/>
                    </a:solidFill>
                  </a:tcPr>
                </a:tc>
                <a:tc>
                  <a:txBody>
                    <a:bodyPr/>
                    <a:lstStyle/>
                    <a:p>
                      <a:pPr marL="0" algn="ctr" defTabSz="914400" rtl="0" eaLnBrk="1" fontAlgn="ctr" latinLnBrk="0" hangingPunct="1"/>
                      <a:r>
                        <a:rPr lang="en-US" altLang="zh-CN" sz="1400" b="0" i="0" kern="1200" dirty="0">
                          <a:solidFill>
                            <a:srgbClr val="000000"/>
                          </a:solidFill>
                          <a:latin typeface="Times New Roman" panose="02020603050405020304"/>
                          <a:cs typeface="+mn-cs"/>
                        </a:rPr>
                        <a:t>60.3</a:t>
                      </a:r>
                      <a:endParaRPr lang="zh-CN" altLang="en-US" sz="1400" b="0" i="0" kern="1200" dirty="0">
                        <a:solidFill>
                          <a:srgbClr val="000000"/>
                        </a:solidFill>
                        <a:latin typeface="Times New Roman" panose="02020603050405020304"/>
                        <a:cs typeface="+mn-cs"/>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solidFill>
                      <a:srgbClr val="B9CCEC"/>
                    </a:solidFill>
                  </a:tcPr>
                </a:tc>
                <a:extLst>
                  <a:ext uri="{0D108BD9-81ED-4DB2-BD59-A6C34878D82A}">
                    <a16:rowId xmlns:a16="http://schemas.microsoft.com/office/drawing/2014/main" val="10001"/>
                  </a:ext>
                </a:extLst>
              </a:tr>
              <a:tr h="408305">
                <a:tc>
                  <a:txBody>
                    <a:bodyPr/>
                    <a:lstStyle/>
                    <a:p>
                      <a:pPr algn="l" fontAlgn="ctr"/>
                      <a:r>
                        <a:rPr lang="en-US" altLang="zh-CN" sz="1400" b="0" i="0">
                          <a:solidFill>
                            <a:srgbClr val="000000"/>
                          </a:solidFill>
                          <a:latin typeface="Times New Roman" panose="02020603050405020304"/>
                          <a:ea typeface="Times New Roman" panose="02020603050405020304"/>
                        </a:rPr>
                        <a:t>Lasso</a:t>
                      </a:r>
                    </a:p>
                  </a:txBody>
                  <a:tcPr marL="6667" marR="6667" marT="6667"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pPr algn="ctr" fontAlgn="ctr"/>
                      <a:r>
                        <a:rPr lang="en-US" altLang="zh-CN" sz="1400" b="0" i="0" dirty="0">
                          <a:solidFill>
                            <a:srgbClr val="000000"/>
                          </a:solidFill>
                          <a:latin typeface="Times New Roman" panose="02020603050405020304"/>
                          <a:ea typeface="Times New Roman" panose="02020603050405020304"/>
                        </a:rPr>
                        <a:t>595117.55</a:t>
                      </a:r>
                    </a:p>
                  </a:txBody>
                  <a:tcPr marL="6667" marR="6667" marT="6667"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en-US" altLang="zh-CN" sz="1400" b="0" i="0" dirty="0">
                          <a:solidFill>
                            <a:srgbClr val="000000"/>
                          </a:solidFill>
                          <a:latin typeface="Times New Roman" panose="02020603050405020304"/>
                          <a:ea typeface="Times New Roman" panose="02020603050405020304"/>
                        </a:rPr>
                        <a:t>592352.24</a:t>
                      </a:r>
                    </a:p>
                  </a:txBody>
                  <a:tcPr marL="6667" marR="6667" marT="6667"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pPr algn="ctr" fontAlgn="ctr"/>
                      <a:r>
                        <a:rPr lang="en-US" altLang="zh-CN" sz="1400" b="0" i="0" dirty="0">
                          <a:solidFill>
                            <a:srgbClr val="000000"/>
                          </a:solidFill>
                          <a:latin typeface="Times New Roman" panose="02020603050405020304"/>
                          <a:ea typeface="Times New Roman" panose="02020603050405020304"/>
                        </a:rPr>
                        <a:t>595976.04</a:t>
                      </a:r>
                    </a:p>
                  </a:txBody>
                  <a:tcPr marL="6667" marR="6667" marT="6667"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pPr marL="0" algn="ctr" defTabSz="914400" rtl="0" eaLnBrk="1" fontAlgn="ctr" latinLnBrk="0" hangingPunct="1"/>
                      <a:r>
                        <a:rPr lang="en-US" altLang="zh-CN" sz="1400" b="0" i="0" kern="1200" dirty="0">
                          <a:solidFill>
                            <a:srgbClr val="000000"/>
                          </a:solidFill>
                          <a:latin typeface="Times New Roman" panose="02020603050405020304"/>
                          <a:cs typeface="+mn-cs"/>
                        </a:rPr>
                        <a:t>59.60</a:t>
                      </a:r>
                      <a:endParaRPr lang="zh-CN" altLang="en-US" sz="1400" b="0" i="0" kern="1200" dirty="0">
                        <a:solidFill>
                          <a:srgbClr val="000000"/>
                        </a:solidFill>
                        <a:latin typeface="Times New Roman" panose="02020603050405020304"/>
                        <a:cs typeface="+mn-cs"/>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noFill/>
                  </a:tcPr>
                </a:tc>
                <a:extLst>
                  <a:ext uri="{0D108BD9-81ED-4DB2-BD59-A6C34878D82A}">
                    <a16:rowId xmlns:a16="http://schemas.microsoft.com/office/drawing/2014/main" val="10002"/>
                  </a:ext>
                </a:extLst>
              </a:tr>
              <a:tr h="408940">
                <a:tc>
                  <a:txBody>
                    <a:bodyPr/>
                    <a:lstStyle/>
                    <a:p>
                      <a:pPr algn="l" fontAlgn="ctr"/>
                      <a:r>
                        <a:rPr lang="en-US" altLang="zh-CN" sz="1400" b="0" i="0">
                          <a:solidFill>
                            <a:srgbClr val="000000"/>
                          </a:solidFill>
                          <a:latin typeface="Times New Roman" panose="02020603050405020304"/>
                          <a:ea typeface="Times New Roman" panose="02020603050405020304"/>
                        </a:rPr>
                        <a:t>Ridge</a:t>
                      </a:r>
                    </a:p>
                  </a:txBody>
                  <a:tcPr marL="6667" marR="6667" marT="6667"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pPr algn="ctr" fontAlgn="ctr"/>
                      <a:r>
                        <a:rPr lang="en-US" altLang="zh-CN" sz="1400" b="0" i="0" dirty="0">
                          <a:solidFill>
                            <a:srgbClr val="000000"/>
                          </a:solidFill>
                          <a:latin typeface="Times New Roman" panose="02020603050405020304"/>
                          <a:ea typeface="Times New Roman" panose="02020603050405020304"/>
                        </a:rPr>
                        <a:t>587437.91</a:t>
                      </a:r>
                    </a:p>
                  </a:txBody>
                  <a:tcPr marL="6667" marR="6667" marT="6667"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en-US" altLang="zh-CN" sz="1400" b="0" i="0" dirty="0">
                          <a:solidFill>
                            <a:srgbClr val="000000"/>
                          </a:solidFill>
                          <a:latin typeface="Times New Roman" panose="02020603050405020304"/>
                          <a:ea typeface="Times New Roman" panose="02020603050405020304"/>
                        </a:rPr>
                        <a:t>586244.63</a:t>
                      </a:r>
                    </a:p>
                  </a:txBody>
                  <a:tcPr marL="6667" marR="6667" marT="6667"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pPr algn="ctr" fontAlgn="ctr"/>
                      <a:r>
                        <a:rPr lang="en-US" altLang="zh-CN" sz="1400" b="0" i="0" dirty="0">
                          <a:solidFill>
                            <a:srgbClr val="000000"/>
                          </a:solidFill>
                          <a:latin typeface="Times New Roman" panose="02020603050405020304"/>
                          <a:ea typeface="Times New Roman" panose="02020603050405020304"/>
                        </a:rPr>
                        <a:t>588602.07</a:t>
                      </a:r>
                    </a:p>
                  </a:txBody>
                  <a:tcPr marL="6667" marR="6667" marT="6667"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pPr marL="0" algn="ctr" defTabSz="914400" rtl="0" eaLnBrk="1" fontAlgn="ctr" latinLnBrk="0" hangingPunct="1"/>
                      <a:r>
                        <a:rPr lang="en-US" altLang="zh-CN" sz="1400" b="0" i="0" kern="1200" dirty="0">
                          <a:solidFill>
                            <a:srgbClr val="000000"/>
                          </a:solidFill>
                          <a:latin typeface="Times New Roman" panose="02020603050405020304"/>
                          <a:cs typeface="+mn-cs"/>
                        </a:rPr>
                        <a:t>60.25</a:t>
                      </a:r>
                      <a:endParaRPr lang="zh-CN" altLang="en-US" sz="1400" b="0" i="0" kern="1200" dirty="0">
                        <a:solidFill>
                          <a:srgbClr val="000000"/>
                        </a:solidFill>
                        <a:latin typeface="Times New Roman" panose="02020603050405020304"/>
                        <a:cs typeface="+mn-cs"/>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noFill/>
                  </a:tcPr>
                </a:tc>
                <a:extLst>
                  <a:ext uri="{0D108BD9-81ED-4DB2-BD59-A6C34878D82A}">
                    <a16:rowId xmlns:a16="http://schemas.microsoft.com/office/drawing/2014/main" val="10003"/>
                  </a:ext>
                </a:extLst>
              </a:tr>
              <a:tr h="407670">
                <a:tc>
                  <a:txBody>
                    <a:bodyPr/>
                    <a:lstStyle/>
                    <a:p>
                      <a:pPr algn="l" fontAlgn="ctr"/>
                      <a:r>
                        <a:rPr lang="en-US" altLang="zh-CN" sz="1400" b="0" i="0">
                          <a:solidFill>
                            <a:srgbClr val="000000"/>
                          </a:solidFill>
                          <a:latin typeface="Times New Roman" panose="02020603050405020304"/>
                          <a:ea typeface="Times New Roman" panose="02020603050405020304"/>
                        </a:rPr>
                        <a:t>ElasticNet</a:t>
                      </a:r>
                    </a:p>
                  </a:txBody>
                  <a:tcPr marL="6667" marR="6667" marT="6667"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pPr algn="ctr" fontAlgn="ctr"/>
                      <a:r>
                        <a:rPr lang="en-US" altLang="zh-CN" sz="1400" b="0" i="0" dirty="0">
                          <a:solidFill>
                            <a:srgbClr val="000000"/>
                          </a:solidFill>
                          <a:latin typeface="Times New Roman" panose="02020603050405020304"/>
                          <a:ea typeface="Times New Roman" panose="02020603050405020304"/>
                        </a:rPr>
                        <a:t>591083.74</a:t>
                      </a:r>
                    </a:p>
                  </a:txBody>
                  <a:tcPr marL="6667" marR="6667" marT="6667"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solidFill>
                      <a:srgbClr val="FFFFFF"/>
                    </a:solidFill>
                  </a:tcPr>
                </a:tc>
                <a:tc>
                  <a:txBody>
                    <a:bodyPr/>
                    <a:lstStyle/>
                    <a:p>
                      <a:pPr algn="ctr" fontAlgn="ctr"/>
                      <a:r>
                        <a:rPr lang="en-US" altLang="zh-CN" sz="1400" b="0" i="0" dirty="0">
                          <a:solidFill>
                            <a:srgbClr val="000000"/>
                          </a:solidFill>
                          <a:latin typeface="Times New Roman" panose="02020603050405020304"/>
                          <a:ea typeface="Times New Roman" panose="02020603050405020304"/>
                        </a:rPr>
                        <a:t>589548.83</a:t>
                      </a:r>
                    </a:p>
                  </a:txBody>
                  <a:tcPr marL="6667" marR="6667" marT="6667"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pPr algn="ctr" fontAlgn="ctr"/>
                      <a:r>
                        <a:rPr lang="en-US" altLang="zh-CN" sz="1400" b="0" i="0" dirty="0">
                          <a:solidFill>
                            <a:srgbClr val="000000"/>
                          </a:solidFill>
                          <a:latin typeface="Times New Roman" panose="02020603050405020304"/>
                          <a:ea typeface="Times New Roman" panose="02020603050405020304"/>
                        </a:rPr>
                        <a:t>592227.80</a:t>
                      </a:r>
                    </a:p>
                  </a:txBody>
                  <a:tcPr marL="6667" marR="6667" marT="6667"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pPr algn="ctr" fontAlgn="ctr"/>
                      <a:r>
                        <a:rPr lang="en-US" altLang="zh-CN" sz="1400" b="0" i="0" dirty="0">
                          <a:solidFill>
                            <a:srgbClr val="000000"/>
                          </a:solidFill>
                          <a:latin typeface="Times New Roman" panose="02020603050405020304"/>
                          <a:ea typeface="Times New Roman" panose="02020603050405020304"/>
                        </a:rPr>
                        <a:t>60.3</a:t>
                      </a:r>
                    </a:p>
                  </a:txBody>
                  <a:tcPr marL="6667" marR="6667" marT="6667"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noFill/>
                  </a:tcPr>
                </a:tc>
                <a:extLst>
                  <a:ext uri="{0D108BD9-81ED-4DB2-BD59-A6C34878D82A}">
                    <a16:rowId xmlns:a16="http://schemas.microsoft.com/office/drawing/2014/main" val="10004"/>
                  </a:ext>
                </a:extLst>
              </a:tr>
            </a:tbl>
          </a:graphicData>
        </a:graphic>
      </p:graphicFrame>
      <p:sp>
        <p:nvSpPr>
          <p:cNvPr id="10" name="文本框 9">
            <a:extLst>
              <a:ext uri="{FF2B5EF4-FFF2-40B4-BE49-F238E27FC236}">
                <a16:creationId xmlns:a16="http://schemas.microsoft.com/office/drawing/2014/main" id="{9542ECEE-A1FB-A74E-3706-4ECF4F6FC641}"/>
              </a:ext>
            </a:extLst>
          </p:cNvPr>
          <p:cNvSpPr txBox="1"/>
          <p:nvPr/>
        </p:nvSpPr>
        <p:spPr>
          <a:xfrm>
            <a:off x="4925960" y="107081"/>
            <a:ext cx="3438224" cy="461665"/>
          </a:xfrm>
          <a:prstGeom prst="rect">
            <a:avLst/>
          </a:prstGeom>
          <a:noFill/>
        </p:spPr>
        <p:txBody>
          <a:bodyPr wrap="square" rtlCol="0">
            <a:spAutoFit/>
          </a:bodyPr>
          <a:lstStyle/>
          <a:p>
            <a:r>
              <a:rPr lang="zh-CN" altLang="en-US" sz="2400" dirty="0">
                <a:latin typeface="SimSun" panose="02010600030101010101" pitchFamily="2" charset="-122"/>
                <a:ea typeface="SimSun" panose="02010600030101010101" pitchFamily="2" charset="-122"/>
                <a:cs typeface="Times New Roman" panose="02020603050405020304" charset="0"/>
              </a:rPr>
              <a:t>李怡伽｜</a:t>
            </a:r>
            <a:r>
              <a:rPr lang="en-US" altLang="zh-CN" sz="2400" dirty="0">
                <a:latin typeface="SimSun" panose="02010600030101010101" pitchFamily="2" charset="-122"/>
                <a:ea typeface="SimSun" panose="02010600030101010101" pitchFamily="2" charset="-122"/>
                <a:cs typeface="Times New Roman" panose="02020603050405020304" charset="0"/>
              </a:rPr>
              <a:t>2023201150</a:t>
            </a:r>
          </a:p>
        </p:txBody>
      </p:sp>
      <p:graphicFrame>
        <p:nvGraphicFramePr>
          <p:cNvPr id="11" name="表格 10">
            <a:extLst>
              <a:ext uri="{FF2B5EF4-FFF2-40B4-BE49-F238E27FC236}">
                <a16:creationId xmlns:a16="http://schemas.microsoft.com/office/drawing/2014/main" id="{874CA4C4-1EED-DF4E-699E-F267112052F9}"/>
              </a:ext>
            </a:extLst>
          </p:cNvPr>
          <p:cNvGraphicFramePr/>
          <p:nvPr>
            <p:custDataLst>
              <p:tags r:id="rId1"/>
            </p:custDataLst>
            <p:extLst>
              <p:ext uri="{D42A27DB-BD31-4B8C-83A1-F6EECF244321}">
                <p14:modId xmlns:p14="http://schemas.microsoft.com/office/powerpoint/2010/main" val="2765651154"/>
              </p:ext>
            </p:extLst>
          </p:nvPr>
        </p:nvGraphicFramePr>
        <p:xfrm>
          <a:off x="6374409" y="1076206"/>
          <a:ext cx="5117465" cy="2193925"/>
        </p:xfrm>
        <a:graphic>
          <a:graphicData uri="http://schemas.openxmlformats.org/drawingml/2006/table">
            <a:tbl>
              <a:tblPr/>
              <a:tblGrid>
                <a:gridCol w="925195">
                  <a:extLst>
                    <a:ext uri="{9D8B030D-6E8A-4147-A177-3AD203B41FA5}">
                      <a16:colId xmlns:a16="http://schemas.microsoft.com/office/drawing/2014/main" val="20000"/>
                    </a:ext>
                  </a:extLst>
                </a:gridCol>
                <a:gridCol w="925195">
                  <a:extLst>
                    <a:ext uri="{9D8B030D-6E8A-4147-A177-3AD203B41FA5}">
                      <a16:colId xmlns:a16="http://schemas.microsoft.com/office/drawing/2014/main" val="20001"/>
                    </a:ext>
                  </a:extLst>
                </a:gridCol>
                <a:gridCol w="925830">
                  <a:extLst>
                    <a:ext uri="{9D8B030D-6E8A-4147-A177-3AD203B41FA5}">
                      <a16:colId xmlns:a16="http://schemas.microsoft.com/office/drawing/2014/main" val="20002"/>
                    </a:ext>
                  </a:extLst>
                </a:gridCol>
                <a:gridCol w="1171575">
                  <a:extLst>
                    <a:ext uri="{9D8B030D-6E8A-4147-A177-3AD203B41FA5}">
                      <a16:colId xmlns:a16="http://schemas.microsoft.com/office/drawing/2014/main" val="20003"/>
                    </a:ext>
                  </a:extLst>
                </a:gridCol>
                <a:gridCol w="1169670">
                  <a:extLst>
                    <a:ext uri="{9D8B030D-6E8A-4147-A177-3AD203B41FA5}">
                      <a16:colId xmlns:a16="http://schemas.microsoft.com/office/drawing/2014/main" val="20004"/>
                    </a:ext>
                  </a:extLst>
                </a:gridCol>
              </a:tblGrid>
              <a:tr h="705485">
                <a:tc>
                  <a:txBody>
                    <a:bodyPr/>
                    <a:lstStyle/>
                    <a:p>
                      <a:pPr algn="l" fontAlgn="ctr"/>
                      <a:r>
                        <a:rPr lang="en-US" altLang="zh-CN" sz="1400" b="0" i="0">
                          <a:solidFill>
                            <a:srgbClr val="000000"/>
                          </a:solidFill>
                          <a:latin typeface="Times New Roman" panose="02020603050405020304"/>
                          <a:ea typeface="Times New Roman" panose="02020603050405020304"/>
                        </a:rPr>
                        <a:t>Metrics</a:t>
                      </a:r>
                    </a:p>
                  </a:txBody>
                  <a:tcPr marL="6667" marR="6667" marT="6667" marB="0" anchor="ctr">
                    <a:lnL>
                      <a:noFill/>
                    </a:lnL>
                    <a:lnR>
                      <a:noFill/>
                    </a:lnR>
                    <a:lnT>
                      <a:noFill/>
                    </a:lnT>
                    <a:lnB>
                      <a:noFill/>
                    </a:lnB>
                    <a:noFill/>
                  </a:tcPr>
                </a:tc>
                <a:tc>
                  <a:txBody>
                    <a:bodyPr/>
                    <a:lstStyle/>
                    <a:p>
                      <a:pPr algn="ctr" fontAlgn="ctr"/>
                      <a:r>
                        <a:rPr lang="en-US" altLang="zh-CN" sz="1400" b="0" i="0">
                          <a:solidFill>
                            <a:srgbClr val="000000"/>
                          </a:solidFill>
                          <a:latin typeface="Times New Roman" panose="02020603050405020304"/>
                          <a:ea typeface="Times New Roman" panose="02020603050405020304"/>
                        </a:rPr>
                        <a:t>In Sample</a:t>
                      </a:r>
                    </a:p>
                  </a:txBody>
                  <a:tcPr marL="6667" marR="6667" marT="6667" marB="0" anchor="ctr">
                    <a:lnL>
                      <a:noFill/>
                    </a:lnL>
                    <a:lnR>
                      <a:noFill/>
                    </a:lnR>
                    <a:lnT>
                      <a:noFill/>
                    </a:lnT>
                    <a:lnB>
                      <a:noFill/>
                    </a:lnB>
                    <a:noFill/>
                  </a:tcPr>
                </a:tc>
                <a:tc>
                  <a:txBody>
                    <a:bodyPr/>
                    <a:lstStyle/>
                    <a:p>
                      <a:pPr algn="ctr" fontAlgn="ctr"/>
                      <a:r>
                        <a:rPr lang="en-US" altLang="zh-CN" sz="1400" b="0" i="0">
                          <a:solidFill>
                            <a:srgbClr val="000000"/>
                          </a:solidFill>
                          <a:latin typeface="Times New Roman" panose="02020603050405020304"/>
                          <a:ea typeface="Times New Roman" panose="02020603050405020304"/>
                        </a:rPr>
                        <a:t>Out of Sample</a:t>
                      </a:r>
                    </a:p>
                  </a:txBody>
                  <a:tcPr marL="6667" marR="6667" marT="6667" marB="0" anchor="ctr">
                    <a:lnL>
                      <a:noFill/>
                    </a:lnL>
                    <a:lnR>
                      <a:noFill/>
                    </a:lnR>
                    <a:lnT>
                      <a:noFill/>
                    </a:lnT>
                    <a:lnB>
                      <a:noFill/>
                    </a:lnB>
                    <a:noFill/>
                  </a:tcPr>
                </a:tc>
                <a:tc>
                  <a:txBody>
                    <a:bodyPr/>
                    <a:lstStyle/>
                    <a:p>
                      <a:pPr algn="ctr" fontAlgn="ctr"/>
                      <a:r>
                        <a:rPr lang="en-US" altLang="zh-CN" sz="1400" b="0" i="0">
                          <a:solidFill>
                            <a:srgbClr val="000000"/>
                          </a:solidFill>
                          <a:latin typeface="Times New Roman" panose="02020603050405020304"/>
                          <a:ea typeface="Times New Roman" panose="02020603050405020304"/>
                        </a:rPr>
                        <a:t>Cross-validation</a:t>
                      </a:r>
                    </a:p>
                  </a:txBody>
                  <a:tcPr marL="6667" marR="6667" marT="6667" marB="0" anchor="ctr">
                    <a:lnL>
                      <a:noFill/>
                    </a:lnL>
                    <a:lnR>
                      <a:noFill/>
                    </a:lnR>
                    <a:lnT>
                      <a:noFill/>
                    </a:lnT>
                    <a:lnB>
                      <a:noFill/>
                    </a:lnB>
                    <a:noFill/>
                  </a:tcPr>
                </a:tc>
                <a:tc>
                  <a:txBody>
                    <a:bodyPr/>
                    <a:lstStyle/>
                    <a:p>
                      <a:pPr algn="ctr" fontAlgn="ctr"/>
                      <a:r>
                        <a:rPr lang="en-US" altLang="zh-CN" sz="1400" b="0" i="0">
                          <a:solidFill>
                            <a:srgbClr val="000000"/>
                          </a:solidFill>
                          <a:latin typeface="Times New Roman" panose="02020603050405020304"/>
                          <a:ea typeface="Times New Roman" panose="02020603050405020304"/>
                        </a:rPr>
                        <a:t>Kaggle Score</a:t>
                      </a:r>
                    </a:p>
                  </a:txBody>
                  <a:tcPr marL="6667" marR="6667" marT="6667" marB="0" anchor="ctr">
                    <a:lnL>
                      <a:noFill/>
                    </a:lnL>
                    <a:lnR>
                      <a:noFill/>
                    </a:lnR>
                    <a:lnT>
                      <a:noFill/>
                    </a:lnT>
                    <a:lnB>
                      <a:noFill/>
                    </a:lnB>
                    <a:noFill/>
                  </a:tcPr>
                </a:tc>
                <a:extLst>
                  <a:ext uri="{0D108BD9-81ED-4DB2-BD59-A6C34878D82A}">
                    <a16:rowId xmlns:a16="http://schemas.microsoft.com/office/drawing/2014/main" val="10000"/>
                  </a:ext>
                </a:extLst>
              </a:tr>
              <a:tr h="370840">
                <a:tc>
                  <a:txBody>
                    <a:bodyPr/>
                    <a:lstStyle/>
                    <a:p>
                      <a:pPr algn="l" fontAlgn="ctr"/>
                      <a:r>
                        <a:rPr lang="en-US" altLang="zh-CN" sz="1400" b="0" i="0" dirty="0">
                          <a:solidFill>
                            <a:srgbClr val="000000"/>
                          </a:solidFill>
                          <a:latin typeface="Times New Roman" panose="02020603050405020304"/>
                          <a:ea typeface="Times New Roman" panose="02020603050405020304"/>
                        </a:rPr>
                        <a:t>OLS</a:t>
                      </a:r>
                    </a:p>
                  </a:txBody>
                  <a:tcPr marL="6667" marR="6667" marT="6667" marB="0" anchor="ctr">
                    <a:lnL>
                      <a:noFill/>
                    </a:lnL>
                    <a:lnR>
                      <a:noFill/>
                    </a:lnR>
                    <a:lnT>
                      <a:noFill/>
                    </a:lnT>
                    <a:lnB>
                      <a:noFill/>
                    </a:lnB>
                    <a:solidFill>
                      <a:srgbClr val="B9CCEC"/>
                    </a:solidFill>
                  </a:tcPr>
                </a:tc>
                <a:tc>
                  <a:txBody>
                    <a:bodyPr/>
                    <a:lstStyle/>
                    <a:p>
                      <a:pPr algn="ctr" fontAlgn="ctr"/>
                      <a:r>
                        <a:rPr lang="en-US" altLang="zh-CN" sz="1400" b="0" i="0" dirty="0">
                          <a:solidFill>
                            <a:srgbClr val="000000"/>
                          </a:solidFill>
                          <a:latin typeface="Times New Roman" panose="02020603050405020304"/>
                          <a:ea typeface="Times New Roman" panose="02020603050405020304"/>
                        </a:rPr>
                        <a:t>134455.01</a:t>
                      </a:r>
                    </a:p>
                  </a:txBody>
                  <a:tcPr marL="6667" marR="6667" marT="6667" marB="0" anchor="ctr">
                    <a:lnL>
                      <a:noFill/>
                    </a:lnL>
                    <a:lnR>
                      <a:noFill/>
                    </a:lnR>
                    <a:lnT>
                      <a:noFill/>
                    </a:lnT>
                    <a:lnB>
                      <a:noFill/>
                    </a:lnB>
                    <a:solidFill>
                      <a:srgbClr val="B9CCEC"/>
                    </a:solidFill>
                  </a:tcPr>
                </a:tc>
                <a:tc>
                  <a:txBody>
                    <a:bodyPr/>
                    <a:lstStyle/>
                    <a:p>
                      <a:pPr algn="ctr" fontAlgn="ctr"/>
                      <a:r>
                        <a:rPr lang="en-US" altLang="zh-CN" sz="1400" b="0" i="0" dirty="0">
                          <a:solidFill>
                            <a:srgbClr val="000000"/>
                          </a:solidFill>
                          <a:latin typeface="Times New Roman" panose="02020603050405020304"/>
                          <a:ea typeface="Times New Roman" panose="02020603050405020304"/>
                        </a:rPr>
                        <a:t>135731.87</a:t>
                      </a:r>
                    </a:p>
                  </a:txBody>
                  <a:tcPr marL="6667" marR="6667" marT="6667" marB="0" anchor="ctr">
                    <a:lnL>
                      <a:noFill/>
                    </a:lnL>
                    <a:lnR>
                      <a:noFill/>
                    </a:lnR>
                    <a:lnT>
                      <a:noFill/>
                    </a:lnT>
                    <a:lnB>
                      <a:noFill/>
                    </a:lnB>
                    <a:solidFill>
                      <a:srgbClr val="B9CCEC"/>
                    </a:solidFill>
                  </a:tcPr>
                </a:tc>
                <a:tc>
                  <a:txBody>
                    <a:bodyPr/>
                    <a:lstStyle/>
                    <a:p>
                      <a:pPr algn="ctr" fontAlgn="ctr"/>
                      <a:r>
                        <a:rPr lang="en-US" altLang="zh-CN" sz="1400" b="0" i="0" dirty="0">
                          <a:solidFill>
                            <a:srgbClr val="000000"/>
                          </a:solidFill>
                          <a:latin typeface="Times New Roman" panose="02020603050405020304"/>
                          <a:ea typeface="Times New Roman" panose="02020603050405020304"/>
                        </a:rPr>
                        <a:t>134737.47</a:t>
                      </a:r>
                    </a:p>
                  </a:txBody>
                  <a:tcPr marL="6667" marR="6667" marT="6667" marB="0" anchor="ctr">
                    <a:lnL>
                      <a:noFill/>
                    </a:lnL>
                    <a:lnR>
                      <a:noFill/>
                    </a:lnR>
                    <a:lnT>
                      <a:noFill/>
                    </a:lnT>
                    <a:lnB>
                      <a:noFill/>
                    </a:lnB>
                    <a:solidFill>
                      <a:srgbClr val="B9CCEC"/>
                    </a:solidFill>
                  </a:tcPr>
                </a:tc>
                <a:tc>
                  <a:txBody>
                    <a:bodyPr/>
                    <a:lstStyle/>
                    <a:p>
                      <a:pPr marL="0" algn="ctr" defTabSz="914400" rtl="0" eaLnBrk="1" fontAlgn="ctr" latinLnBrk="0" hangingPunct="1"/>
                      <a:r>
                        <a:rPr lang="en-US" altLang="zh-CN" sz="1400" b="0" i="0" kern="1200" dirty="0">
                          <a:solidFill>
                            <a:srgbClr val="000000"/>
                          </a:solidFill>
                          <a:latin typeface="Times New Roman" panose="02020603050405020304"/>
                          <a:cs typeface="+mn-cs"/>
                        </a:rPr>
                        <a:t>60.3</a:t>
                      </a:r>
                      <a:endParaRPr lang="zh-CN" altLang="en-US" sz="1400" b="0" i="0" kern="1200" dirty="0">
                        <a:solidFill>
                          <a:srgbClr val="000000"/>
                        </a:solidFill>
                        <a:latin typeface="Times New Roman" panose="02020603050405020304"/>
                        <a:cs typeface="+mn-cs"/>
                      </a:endParaRPr>
                    </a:p>
                  </a:txBody>
                  <a:tcPr>
                    <a:lnL>
                      <a:noFill/>
                    </a:lnL>
                    <a:lnR>
                      <a:noFill/>
                    </a:lnR>
                    <a:lnT>
                      <a:noFill/>
                    </a:lnT>
                    <a:lnB>
                      <a:noFill/>
                    </a:lnB>
                    <a:solidFill>
                      <a:srgbClr val="B9CCEC"/>
                    </a:solidFill>
                  </a:tcPr>
                </a:tc>
                <a:extLst>
                  <a:ext uri="{0D108BD9-81ED-4DB2-BD59-A6C34878D82A}">
                    <a16:rowId xmlns:a16="http://schemas.microsoft.com/office/drawing/2014/main" val="10001"/>
                  </a:ext>
                </a:extLst>
              </a:tr>
              <a:tr h="372745">
                <a:tc>
                  <a:txBody>
                    <a:bodyPr/>
                    <a:lstStyle/>
                    <a:p>
                      <a:pPr algn="l" fontAlgn="ctr"/>
                      <a:r>
                        <a:rPr lang="en-US" altLang="zh-CN" sz="1400" b="0" i="0" dirty="0">
                          <a:solidFill>
                            <a:srgbClr val="000000"/>
                          </a:solidFill>
                          <a:latin typeface="Times New Roman" panose="02020603050405020304"/>
                          <a:ea typeface="Times New Roman" panose="02020603050405020304"/>
                        </a:rPr>
                        <a:t>Lasso</a:t>
                      </a:r>
                    </a:p>
                  </a:txBody>
                  <a:tcPr marL="6667" marR="6667" marT="6667" marB="0" anchor="ctr">
                    <a:lnL>
                      <a:noFill/>
                    </a:lnL>
                    <a:lnR>
                      <a:noFill/>
                    </a:lnR>
                    <a:lnT>
                      <a:noFill/>
                    </a:lnT>
                    <a:lnB>
                      <a:noFill/>
                    </a:lnB>
                    <a:noFill/>
                  </a:tcPr>
                </a:tc>
                <a:tc>
                  <a:txBody>
                    <a:bodyPr/>
                    <a:lstStyle/>
                    <a:p>
                      <a:pPr algn="ctr" fontAlgn="ctr"/>
                      <a:r>
                        <a:rPr lang="en-US" altLang="zh-CN" sz="1400" b="0" i="0" dirty="0">
                          <a:solidFill>
                            <a:srgbClr val="000000"/>
                          </a:solidFill>
                          <a:latin typeface="Times New Roman" panose="02020603050405020304"/>
                          <a:ea typeface="Times New Roman" panose="02020603050405020304"/>
                        </a:rPr>
                        <a:t>135042.19</a:t>
                      </a:r>
                    </a:p>
                  </a:txBody>
                  <a:tcPr marL="6667" marR="6667" marT="6667" marB="0" anchor="ctr">
                    <a:lnL>
                      <a:noFill/>
                    </a:lnL>
                    <a:lnR>
                      <a:noFill/>
                    </a:lnR>
                    <a:lnT>
                      <a:noFill/>
                    </a:lnT>
                    <a:lnB>
                      <a:noFill/>
                    </a:lnB>
                    <a:solidFill>
                      <a:srgbClr val="FFFFFF"/>
                    </a:solidFill>
                  </a:tcPr>
                </a:tc>
                <a:tc>
                  <a:txBody>
                    <a:bodyPr/>
                    <a:lstStyle/>
                    <a:p>
                      <a:pPr algn="ctr" fontAlgn="ctr"/>
                      <a:r>
                        <a:rPr lang="en-US" altLang="zh-CN" sz="1400" b="0" i="0" dirty="0">
                          <a:solidFill>
                            <a:srgbClr val="000000"/>
                          </a:solidFill>
                          <a:latin typeface="Times New Roman" panose="02020603050405020304"/>
                          <a:ea typeface="Times New Roman" panose="02020603050405020304"/>
                        </a:rPr>
                        <a:t>136107.21</a:t>
                      </a:r>
                    </a:p>
                  </a:txBody>
                  <a:tcPr marL="6667" marR="6667" marT="6667" marB="0" anchor="ctr">
                    <a:lnL>
                      <a:noFill/>
                    </a:lnL>
                    <a:lnR>
                      <a:noFill/>
                    </a:lnR>
                    <a:lnT>
                      <a:noFill/>
                    </a:lnT>
                    <a:lnB>
                      <a:noFill/>
                    </a:lnB>
                    <a:no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en-US" altLang="zh-CN" sz="1400" b="0" i="0" dirty="0">
                          <a:solidFill>
                            <a:srgbClr val="000000"/>
                          </a:solidFill>
                          <a:latin typeface="Times New Roman" panose="02020603050405020304"/>
                          <a:ea typeface="Times New Roman" panose="02020603050405020304"/>
                        </a:rPr>
                        <a:t>135267.59</a:t>
                      </a:r>
                    </a:p>
                  </a:txBody>
                  <a:tcPr marL="6667" marR="6667" marT="6667" marB="0" anchor="ctr">
                    <a:lnL>
                      <a:noFill/>
                    </a:lnL>
                    <a:lnR>
                      <a:noFill/>
                    </a:lnR>
                    <a:lnT>
                      <a:noFill/>
                    </a:lnT>
                    <a:lnB>
                      <a:noFill/>
                    </a:lnB>
                    <a:noFill/>
                  </a:tcPr>
                </a:tc>
                <a:tc>
                  <a:txBody>
                    <a:bodyPr/>
                    <a:lstStyle/>
                    <a:p>
                      <a:pPr marL="0" algn="ctr" defTabSz="914400" rtl="0" eaLnBrk="1" fontAlgn="ctr" latinLnBrk="0" hangingPunct="1"/>
                      <a:r>
                        <a:rPr lang="en-US" altLang="zh-CN" sz="1400" b="0" i="0" kern="1200" dirty="0">
                          <a:solidFill>
                            <a:srgbClr val="000000"/>
                          </a:solidFill>
                          <a:latin typeface="Times New Roman" panose="02020603050405020304"/>
                          <a:cs typeface="+mn-cs"/>
                        </a:rPr>
                        <a:t>59.60</a:t>
                      </a:r>
                      <a:endParaRPr lang="zh-CN" altLang="en-US" sz="1400" b="0" i="0" kern="1200" dirty="0">
                        <a:solidFill>
                          <a:srgbClr val="000000"/>
                        </a:solidFill>
                        <a:latin typeface="Times New Roman" panose="02020603050405020304"/>
                        <a:cs typeface="+mn-cs"/>
                      </a:endParaRPr>
                    </a:p>
                  </a:txBody>
                  <a:tcPr>
                    <a:lnL>
                      <a:noFill/>
                    </a:lnL>
                    <a:lnR>
                      <a:noFill/>
                    </a:lnR>
                    <a:lnT>
                      <a:noFill/>
                    </a:lnT>
                    <a:lnB>
                      <a:noFill/>
                    </a:lnB>
                    <a:noFill/>
                  </a:tcPr>
                </a:tc>
                <a:extLst>
                  <a:ext uri="{0D108BD9-81ED-4DB2-BD59-A6C34878D82A}">
                    <a16:rowId xmlns:a16="http://schemas.microsoft.com/office/drawing/2014/main" val="10002"/>
                  </a:ext>
                </a:extLst>
              </a:tr>
              <a:tr h="372745">
                <a:tc>
                  <a:txBody>
                    <a:bodyPr/>
                    <a:lstStyle/>
                    <a:p>
                      <a:pPr algn="l" fontAlgn="ctr"/>
                      <a:r>
                        <a:rPr lang="en-US" altLang="zh-CN" sz="1400" b="0" i="0">
                          <a:solidFill>
                            <a:srgbClr val="000000"/>
                          </a:solidFill>
                          <a:latin typeface="Times New Roman" panose="02020603050405020304"/>
                          <a:ea typeface="Times New Roman" panose="02020603050405020304"/>
                        </a:rPr>
                        <a:t>Ridge</a:t>
                      </a:r>
                    </a:p>
                  </a:txBody>
                  <a:tcPr marL="6667" marR="6667" marT="6667" marB="0" anchor="ctr">
                    <a:lnL>
                      <a:noFill/>
                    </a:lnL>
                    <a:lnR>
                      <a:noFill/>
                    </a:lnR>
                    <a:lnT>
                      <a:noFill/>
                    </a:lnT>
                    <a:lnB>
                      <a:noFill/>
                    </a:lnB>
                    <a:noFill/>
                  </a:tcPr>
                </a:tc>
                <a:tc>
                  <a:txBody>
                    <a:bodyPr/>
                    <a:lstStyle/>
                    <a:p>
                      <a:pPr algn="ctr" fontAlgn="ctr"/>
                      <a:r>
                        <a:rPr lang="en-US" altLang="zh-CN" sz="1400" b="0" i="0" dirty="0">
                          <a:solidFill>
                            <a:srgbClr val="000000"/>
                          </a:solidFill>
                          <a:latin typeface="Times New Roman" panose="02020603050405020304"/>
                          <a:ea typeface="Times New Roman" panose="02020603050405020304"/>
                        </a:rPr>
                        <a:t>134485.72</a:t>
                      </a:r>
                    </a:p>
                  </a:txBody>
                  <a:tcPr marL="6667" marR="6667" marT="6667" marB="0" anchor="ctr">
                    <a:lnL>
                      <a:noFill/>
                    </a:lnL>
                    <a:lnR>
                      <a:noFill/>
                    </a:lnR>
                    <a:lnT>
                      <a:noFill/>
                    </a:lnT>
                    <a:lnB>
                      <a:noFill/>
                    </a:lnB>
                    <a:no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en-US" altLang="zh-CN" sz="1400" b="0" i="0" dirty="0">
                          <a:solidFill>
                            <a:srgbClr val="000000"/>
                          </a:solidFill>
                          <a:latin typeface="Times New Roman" panose="02020603050405020304"/>
                          <a:ea typeface="Times New Roman" panose="02020603050405020304"/>
                        </a:rPr>
                        <a:t>135759.36</a:t>
                      </a:r>
                    </a:p>
                  </a:txBody>
                  <a:tcPr marL="6667" marR="6667" marT="6667" marB="0" anchor="ctr">
                    <a:lnL>
                      <a:noFill/>
                    </a:lnL>
                    <a:lnR>
                      <a:noFill/>
                    </a:lnR>
                    <a:lnT>
                      <a:noFill/>
                    </a:lnT>
                    <a:lnB>
                      <a:noFill/>
                    </a:lnB>
                    <a:noFill/>
                  </a:tcPr>
                </a:tc>
                <a:tc>
                  <a:txBody>
                    <a:bodyPr/>
                    <a:lstStyle/>
                    <a:p>
                      <a:pPr algn="ctr" fontAlgn="ctr"/>
                      <a:r>
                        <a:rPr lang="en-US" altLang="zh-CN" sz="1400" b="0" i="0" dirty="0">
                          <a:solidFill>
                            <a:srgbClr val="000000"/>
                          </a:solidFill>
                          <a:latin typeface="Times New Roman" panose="02020603050405020304"/>
                          <a:ea typeface="Times New Roman" panose="02020603050405020304"/>
                        </a:rPr>
                        <a:t>134773.20</a:t>
                      </a:r>
                    </a:p>
                  </a:txBody>
                  <a:tcPr marL="6667" marR="6667" marT="6667" marB="0" anchor="ctr">
                    <a:lnL>
                      <a:noFill/>
                    </a:lnL>
                    <a:lnR>
                      <a:noFill/>
                    </a:lnR>
                    <a:lnT>
                      <a:noFill/>
                    </a:lnT>
                    <a:lnB>
                      <a:noFill/>
                    </a:lnB>
                    <a:noFill/>
                  </a:tcPr>
                </a:tc>
                <a:tc>
                  <a:txBody>
                    <a:bodyPr/>
                    <a:lstStyle/>
                    <a:p>
                      <a:pPr marL="0" algn="ctr" defTabSz="914400" rtl="0" eaLnBrk="1" fontAlgn="ctr" latinLnBrk="0" hangingPunct="1"/>
                      <a:r>
                        <a:rPr lang="en-US" altLang="zh-CN" sz="1400" b="0" i="0" kern="1200" dirty="0">
                          <a:solidFill>
                            <a:srgbClr val="000000"/>
                          </a:solidFill>
                          <a:latin typeface="Times New Roman" panose="02020603050405020304"/>
                          <a:cs typeface="+mn-cs"/>
                        </a:rPr>
                        <a:t>60.25</a:t>
                      </a:r>
                      <a:endParaRPr lang="zh-CN" altLang="en-US" sz="1400" b="0" i="0" kern="1200" dirty="0">
                        <a:solidFill>
                          <a:srgbClr val="000000"/>
                        </a:solidFill>
                        <a:latin typeface="Times New Roman" panose="02020603050405020304"/>
                        <a:cs typeface="+mn-cs"/>
                      </a:endParaRPr>
                    </a:p>
                  </a:txBody>
                  <a:tcPr>
                    <a:lnL>
                      <a:noFill/>
                    </a:lnL>
                    <a:lnR>
                      <a:noFill/>
                    </a:lnR>
                    <a:lnT>
                      <a:noFill/>
                    </a:lnT>
                    <a:lnB>
                      <a:noFill/>
                    </a:lnB>
                    <a:noFill/>
                  </a:tcPr>
                </a:tc>
                <a:extLst>
                  <a:ext uri="{0D108BD9-81ED-4DB2-BD59-A6C34878D82A}">
                    <a16:rowId xmlns:a16="http://schemas.microsoft.com/office/drawing/2014/main" val="10003"/>
                  </a:ext>
                </a:extLst>
              </a:tr>
              <a:tr h="372110">
                <a:tc>
                  <a:txBody>
                    <a:bodyPr/>
                    <a:lstStyle/>
                    <a:p>
                      <a:pPr algn="l" fontAlgn="ctr"/>
                      <a:r>
                        <a:rPr lang="en-US" altLang="zh-CN" sz="1400" b="0" i="0">
                          <a:solidFill>
                            <a:srgbClr val="000000"/>
                          </a:solidFill>
                          <a:latin typeface="Times New Roman" panose="02020603050405020304"/>
                          <a:ea typeface="Times New Roman" panose="02020603050405020304"/>
                        </a:rPr>
                        <a:t>ElasticNet</a:t>
                      </a:r>
                    </a:p>
                  </a:txBody>
                  <a:tcPr marL="6667" marR="6667" marT="6667" marB="0" anchor="ctr">
                    <a:lnL>
                      <a:noFill/>
                    </a:lnL>
                    <a:lnR>
                      <a:noFill/>
                    </a:lnR>
                    <a:lnT>
                      <a:noFill/>
                    </a:lnT>
                    <a:lnB>
                      <a:noFill/>
                    </a:lnB>
                    <a:noFill/>
                  </a:tcPr>
                </a:tc>
                <a:tc>
                  <a:txBody>
                    <a:bodyPr/>
                    <a:lstStyle/>
                    <a:p>
                      <a:pPr algn="ctr" fontAlgn="ctr"/>
                      <a:r>
                        <a:rPr lang="en-US" altLang="zh-CN" sz="1400" b="0" i="0" dirty="0">
                          <a:solidFill>
                            <a:srgbClr val="000000"/>
                          </a:solidFill>
                          <a:latin typeface="Times New Roman" panose="02020603050405020304"/>
                          <a:ea typeface="Times New Roman" panose="02020603050405020304"/>
                        </a:rPr>
                        <a:t>134839.49</a:t>
                      </a:r>
                    </a:p>
                  </a:txBody>
                  <a:tcPr marL="6667" marR="6667" marT="6667" marB="0" anchor="ctr">
                    <a:lnL>
                      <a:noFill/>
                    </a:lnL>
                    <a:lnR>
                      <a:noFill/>
                    </a:lnR>
                    <a:lnT>
                      <a:noFill/>
                    </a:lnT>
                    <a:lnB>
                      <a:noFill/>
                    </a:lnB>
                    <a:noFill/>
                  </a:tcPr>
                </a:tc>
                <a:tc>
                  <a:txBody>
                    <a:bodyPr/>
                    <a:lstStyle/>
                    <a:p>
                      <a:pPr algn="ctr" fontAlgn="ctr"/>
                      <a:r>
                        <a:rPr lang="en-US" altLang="zh-CN" sz="1400" b="0" i="0" dirty="0">
                          <a:solidFill>
                            <a:srgbClr val="000000"/>
                          </a:solidFill>
                          <a:latin typeface="Times New Roman" panose="02020603050405020304"/>
                          <a:ea typeface="Times New Roman" panose="02020603050405020304"/>
                        </a:rPr>
                        <a:t>135938.51</a:t>
                      </a:r>
                    </a:p>
                  </a:txBody>
                  <a:tcPr marL="6667" marR="6667" marT="6667" marB="0" anchor="ctr">
                    <a:lnL>
                      <a:noFill/>
                    </a:lnL>
                    <a:lnR>
                      <a:noFill/>
                    </a:lnR>
                    <a:lnT>
                      <a:noFill/>
                    </a:lnT>
                    <a:lnB>
                      <a:noFill/>
                    </a:lnB>
                    <a:noFill/>
                  </a:tcPr>
                </a:tc>
                <a:tc>
                  <a:txBody>
                    <a:bodyPr/>
                    <a:lstStyle/>
                    <a:p>
                      <a:pPr algn="ctr" fontAlgn="ctr"/>
                      <a:r>
                        <a:rPr lang="en-US" altLang="zh-CN" sz="1400" b="0" i="0" dirty="0">
                          <a:solidFill>
                            <a:srgbClr val="000000"/>
                          </a:solidFill>
                          <a:latin typeface="Times New Roman" panose="02020603050405020304"/>
                          <a:ea typeface="Times New Roman" panose="02020603050405020304"/>
                        </a:rPr>
                        <a:t>135111.49</a:t>
                      </a:r>
                    </a:p>
                  </a:txBody>
                  <a:tcPr marL="6667" marR="6667" marT="6667" marB="0" anchor="ctr">
                    <a:lnL>
                      <a:noFill/>
                    </a:lnL>
                    <a:lnR>
                      <a:noFill/>
                    </a:lnR>
                    <a:lnT>
                      <a:noFill/>
                    </a:lnT>
                    <a:lnB>
                      <a:noFill/>
                    </a:lnB>
                    <a:noFill/>
                  </a:tcPr>
                </a:tc>
                <a:tc>
                  <a:txBody>
                    <a:bodyPr/>
                    <a:lstStyle/>
                    <a:p>
                      <a:pPr algn="ctr" fontAlgn="ctr"/>
                      <a:r>
                        <a:rPr lang="en-US" altLang="zh-CN" sz="1400" b="0" i="0" dirty="0">
                          <a:solidFill>
                            <a:srgbClr val="000000"/>
                          </a:solidFill>
                          <a:latin typeface="Times New Roman" panose="02020603050405020304"/>
                          <a:ea typeface="Times New Roman" panose="02020603050405020304"/>
                        </a:rPr>
                        <a:t>60.3</a:t>
                      </a:r>
                    </a:p>
                  </a:txBody>
                  <a:tcPr marL="6667" marR="6667" marT="6667" marB="0" anchor="ctr">
                    <a:lnL>
                      <a:noFill/>
                    </a:lnL>
                    <a:lnR>
                      <a:noFill/>
                    </a:lnR>
                    <a:lnT>
                      <a:noFill/>
                    </a:lnT>
                    <a:lnB>
                      <a:noFill/>
                    </a:lnB>
                    <a:noFill/>
                  </a:tcPr>
                </a:tc>
                <a:extLst>
                  <a:ext uri="{0D108BD9-81ED-4DB2-BD59-A6C34878D82A}">
                    <a16:rowId xmlns:a16="http://schemas.microsoft.com/office/drawing/2014/main" val="10004"/>
                  </a:ext>
                </a:extLst>
              </a:tr>
            </a:tbl>
          </a:graphicData>
        </a:graphic>
      </p:graphicFrame>
      <p:sp>
        <p:nvSpPr>
          <p:cNvPr id="12" name="文本框 11">
            <a:extLst>
              <a:ext uri="{FF2B5EF4-FFF2-40B4-BE49-F238E27FC236}">
                <a16:creationId xmlns:a16="http://schemas.microsoft.com/office/drawing/2014/main" id="{42EDF975-4A21-761F-D708-4B22DFFABFA5}"/>
              </a:ext>
            </a:extLst>
          </p:cNvPr>
          <p:cNvSpPr txBox="1"/>
          <p:nvPr/>
        </p:nvSpPr>
        <p:spPr>
          <a:xfrm>
            <a:off x="8261629" y="757118"/>
            <a:ext cx="2171065" cy="460375"/>
          </a:xfrm>
          <a:prstGeom prst="rect">
            <a:avLst/>
          </a:prstGeom>
          <a:noFill/>
        </p:spPr>
        <p:txBody>
          <a:bodyPr wrap="square" rtlCol="0">
            <a:spAutoFit/>
          </a:bodyPr>
          <a:lstStyle/>
          <a:p>
            <a:r>
              <a:rPr lang="en-US" altLang="zh-CN" sz="2400" dirty="0">
                <a:latin typeface="Times New Roman" panose="02020603050405020304" charset="0"/>
                <a:cs typeface="Times New Roman" panose="02020603050405020304" charset="0"/>
              </a:rPr>
              <a:t>Rent Model</a:t>
            </a:r>
          </a:p>
        </p:txBody>
      </p:sp>
      <p:sp>
        <p:nvSpPr>
          <p:cNvPr id="13" name="文本框 12">
            <a:extLst>
              <a:ext uri="{FF2B5EF4-FFF2-40B4-BE49-F238E27FC236}">
                <a16:creationId xmlns:a16="http://schemas.microsoft.com/office/drawing/2014/main" id="{C654E46D-D42A-B678-C6C8-BF93FA70A6CC}"/>
              </a:ext>
            </a:extLst>
          </p:cNvPr>
          <p:cNvSpPr txBox="1"/>
          <p:nvPr/>
        </p:nvSpPr>
        <p:spPr>
          <a:xfrm>
            <a:off x="1416684" y="3622910"/>
            <a:ext cx="2447925" cy="460375"/>
          </a:xfrm>
          <a:prstGeom prst="rect">
            <a:avLst/>
          </a:prstGeom>
          <a:noFill/>
        </p:spPr>
        <p:txBody>
          <a:bodyPr wrap="square" rtlCol="0">
            <a:spAutoFit/>
          </a:bodyPr>
          <a:lstStyle/>
          <a:p>
            <a:r>
              <a:rPr lang="zh-CN" altLang="en-US" sz="2400" dirty="0">
                <a:latin typeface="楷体" panose="02010609060101010101" charset="-122"/>
                <a:ea typeface="楷体" panose="02010609060101010101" charset="-122"/>
                <a:cs typeface="Times New Roman" panose="02020603050405020304" charset="0"/>
              </a:rPr>
              <a:t>创新点</a:t>
            </a:r>
          </a:p>
        </p:txBody>
      </p:sp>
      <p:sp>
        <p:nvSpPr>
          <p:cNvPr id="14" name="文本框 13">
            <a:extLst>
              <a:ext uri="{FF2B5EF4-FFF2-40B4-BE49-F238E27FC236}">
                <a16:creationId xmlns:a16="http://schemas.microsoft.com/office/drawing/2014/main" id="{2D73D27B-DF55-62DC-719A-E358BF42A891}"/>
              </a:ext>
            </a:extLst>
          </p:cNvPr>
          <p:cNvSpPr txBox="1"/>
          <p:nvPr/>
        </p:nvSpPr>
        <p:spPr>
          <a:xfrm>
            <a:off x="1416685" y="4239256"/>
            <a:ext cx="9570085" cy="1844044"/>
          </a:xfrm>
          <a:prstGeom prst="rect">
            <a:avLst/>
          </a:prstGeom>
          <a:noFill/>
        </p:spPr>
        <p:txBody>
          <a:bodyPr wrap="square" rtlCol="0">
            <a:noAutofit/>
          </a:bodyPr>
          <a:lstStyle/>
          <a:p>
            <a:pPr marL="342900" indent="-342900">
              <a:buAutoNum type="arabicPeriod"/>
            </a:pPr>
            <a:r>
              <a:rPr lang="zh-CN" altLang="en-US" sz="1600" dirty="0">
                <a:latin typeface="Times New Roman" panose="02020603050405020304" pitchFamily="18" charset="0"/>
                <a:ea typeface="KaiTi" panose="02010609060101010101" pitchFamily="49" charset="-122"/>
                <a:cs typeface="Times New Roman" panose="02020603050405020304" pitchFamily="18" charset="0"/>
              </a:rPr>
              <a:t>离群值处理：</a:t>
            </a:r>
            <a:r>
              <a:rPr lang="en-US" altLang="zh-CN" sz="1600" dirty="0">
                <a:latin typeface="Times New Roman" panose="02020603050405020304" pitchFamily="18" charset="0"/>
                <a:ea typeface="KaiTi" panose="02010609060101010101" pitchFamily="49" charset="-122"/>
                <a:cs typeface="Times New Roman" panose="02020603050405020304" pitchFamily="18" charset="0"/>
              </a:rPr>
              <a:t>IQR + log</a:t>
            </a:r>
            <a:r>
              <a:rPr lang="zh-CN" altLang="en-US" sz="1600" dirty="0">
                <a:latin typeface="Times New Roman" panose="02020603050405020304" pitchFamily="18" charset="0"/>
                <a:ea typeface="KaiTi" panose="02010609060101010101" pitchFamily="49" charset="-122"/>
                <a:cs typeface="Times New Roman" panose="02020603050405020304" pitchFamily="18" charset="0"/>
              </a:rPr>
              <a:t>来去掉</a:t>
            </a:r>
            <a:r>
              <a:rPr lang="en-US" altLang="zh-CN" sz="1600" dirty="0">
                <a:latin typeface="Times New Roman" panose="02020603050405020304" pitchFamily="18" charset="0"/>
                <a:ea typeface="KaiTi" panose="02010609060101010101" pitchFamily="49" charset="-122"/>
                <a:cs typeface="Times New Roman" panose="02020603050405020304" pitchFamily="18" charset="0"/>
              </a:rPr>
              <a:t>Price</a:t>
            </a:r>
            <a:r>
              <a:rPr lang="zh-CN" altLang="en-US" sz="1600" dirty="0">
                <a:latin typeface="Times New Roman" panose="02020603050405020304" pitchFamily="18" charset="0"/>
                <a:ea typeface="KaiTi" panose="02010609060101010101" pitchFamily="49" charset="-122"/>
                <a:cs typeface="Times New Roman" panose="02020603050405020304" pitchFamily="18" charset="0"/>
              </a:rPr>
              <a:t>的离群值，减少删除的样本数量</a:t>
            </a:r>
            <a:endParaRPr lang="en-US" altLang="zh-CN" sz="1600" dirty="0">
              <a:latin typeface="Times New Roman" panose="02020603050405020304" pitchFamily="18" charset="0"/>
              <a:ea typeface="KaiTi" panose="02010609060101010101" pitchFamily="49" charset="-122"/>
              <a:cs typeface="Times New Roman" panose="02020603050405020304" pitchFamily="18" charset="0"/>
            </a:endParaRPr>
          </a:p>
          <a:p>
            <a:pPr marL="342900" indent="-342900">
              <a:buAutoNum type="arabicPeriod"/>
            </a:pPr>
            <a:r>
              <a:rPr lang="zh-CN" altLang="en-US" sz="1600" dirty="0">
                <a:latin typeface="Times New Roman" panose="02020603050405020304" pitchFamily="18" charset="0"/>
                <a:ea typeface="KaiTi" panose="02010609060101010101" pitchFamily="49" charset="-122"/>
                <a:cs typeface="Times New Roman" panose="02020603050405020304" pitchFamily="18" charset="0"/>
              </a:rPr>
              <a:t>类别变量处理：对于类别变量，根据其类别多少分别采用</a:t>
            </a:r>
            <a:r>
              <a:rPr lang="en-US" altLang="zh-CN" sz="1600" dirty="0" err="1">
                <a:latin typeface="Times New Roman" panose="02020603050405020304" pitchFamily="18" charset="0"/>
                <a:ea typeface="KaiTi" panose="02010609060101010101" pitchFamily="49" charset="-122"/>
                <a:cs typeface="Times New Roman" panose="02020603050405020304" pitchFamily="18" charset="0"/>
              </a:rPr>
              <a:t>Onehot</a:t>
            </a:r>
            <a:r>
              <a:rPr lang="en-US" altLang="zh-CN" sz="1600" dirty="0">
                <a:latin typeface="Times New Roman" panose="02020603050405020304" pitchFamily="18" charset="0"/>
                <a:ea typeface="KaiTi" panose="02010609060101010101" pitchFamily="49" charset="-122"/>
                <a:cs typeface="Times New Roman" panose="02020603050405020304" pitchFamily="18" charset="0"/>
              </a:rPr>
              <a:t> encoder</a:t>
            </a:r>
            <a:r>
              <a:rPr lang="zh-CN" altLang="en-US" sz="1600" dirty="0">
                <a:latin typeface="Times New Roman" panose="02020603050405020304" pitchFamily="18" charset="0"/>
                <a:ea typeface="KaiTi" panose="02010609060101010101" pitchFamily="49" charset="-122"/>
                <a:cs typeface="Times New Roman" panose="02020603050405020304" pitchFamily="18" charset="0"/>
              </a:rPr>
              <a:t>以及</a:t>
            </a:r>
            <a:r>
              <a:rPr lang="en-US" altLang="zh-CN" sz="1600" dirty="0">
                <a:latin typeface="Times New Roman" panose="02020603050405020304" pitchFamily="18" charset="0"/>
                <a:ea typeface="KaiTi" panose="02010609060101010101" pitchFamily="49" charset="-122"/>
                <a:cs typeface="Times New Roman" panose="02020603050405020304" pitchFamily="18" charset="0"/>
              </a:rPr>
              <a:t>Target encoding</a:t>
            </a:r>
            <a:r>
              <a:rPr lang="zh-CN" altLang="en-US" sz="1600" dirty="0">
                <a:latin typeface="Times New Roman" panose="02020603050405020304" pitchFamily="18" charset="0"/>
                <a:ea typeface="KaiTi" panose="02010609060101010101" pitchFamily="49" charset="-122"/>
                <a:cs typeface="Times New Roman" panose="02020603050405020304" pitchFamily="18" charset="0"/>
              </a:rPr>
              <a:t>进行处理，避免产生大量稀疏矩阵</a:t>
            </a:r>
            <a:endParaRPr lang="en-US" altLang="zh-CN" sz="1600" dirty="0">
              <a:latin typeface="Times New Roman" panose="02020603050405020304" pitchFamily="18" charset="0"/>
              <a:ea typeface="KaiTi" panose="02010609060101010101" pitchFamily="49" charset="-122"/>
              <a:cs typeface="Times New Roman" panose="02020603050405020304" pitchFamily="18" charset="0"/>
            </a:endParaRPr>
          </a:p>
          <a:p>
            <a:pPr marL="342900" indent="-342900">
              <a:buAutoNum type="arabicPeriod"/>
            </a:pPr>
            <a:r>
              <a:rPr lang="zh-CN" altLang="en-US" sz="1600" dirty="0">
                <a:latin typeface="Times New Roman" panose="02020603050405020304" pitchFamily="18" charset="0"/>
                <a:ea typeface="KaiTi" panose="02010609060101010101" pitchFamily="49" charset="-122"/>
                <a:cs typeface="Times New Roman" panose="02020603050405020304" pitchFamily="18" charset="0"/>
              </a:rPr>
              <a:t>特征选择：采用</a:t>
            </a:r>
            <a:r>
              <a:rPr lang="en-US" altLang="zh-CN" sz="1600" dirty="0">
                <a:latin typeface="Times New Roman" panose="02020603050405020304" pitchFamily="18" charset="0"/>
                <a:ea typeface="KaiTi" panose="02010609060101010101" pitchFamily="49" charset="-122"/>
                <a:cs typeface="Times New Roman" panose="02020603050405020304" pitchFamily="18" charset="0"/>
              </a:rPr>
              <a:t>Pearson</a:t>
            </a:r>
            <a:r>
              <a:rPr lang="zh-CN" altLang="en-US" sz="1600" dirty="0">
                <a:latin typeface="Times New Roman" panose="02020603050405020304" pitchFamily="18" charset="0"/>
                <a:ea typeface="KaiTi" panose="02010609060101010101" pitchFamily="49" charset="-122"/>
                <a:cs typeface="Times New Roman" panose="02020603050405020304" pitchFamily="18" charset="0"/>
              </a:rPr>
              <a:t>相关系数，并将筛选位置放在生成二次项和交叉项之后，能够有效地筛选可用变量</a:t>
            </a:r>
            <a:endParaRPr lang="en-US" altLang="zh-CN" sz="1600" dirty="0">
              <a:latin typeface="Times New Roman" panose="02020603050405020304" pitchFamily="18" charset="0"/>
              <a:ea typeface="KaiTi" panose="02010609060101010101" pitchFamily="49" charset="-122"/>
              <a:cs typeface="Times New Roman" panose="02020603050405020304" pitchFamily="18" charset="0"/>
            </a:endParaRPr>
          </a:p>
          <a:p>
            <a:pPr marL="342900" indent="-342900">
              <a:buAutoNum type="arabicPeriod"/>
            </a:pPr>
            <a:r>
              <a:rPr lang="zh-CN" altLang="en-US" sz="1600" dirty="0">
                <a:latin typeface="Times New Roman" panose="02020603050405020304" pitchFamily="18" charset="0"/>
                <a:ea typeface="KaiTi" panose="02010609060101010101" pitchFamily="49" charset="-122"/>
                <a:cs typeface="Times New Roman" panose="02020603050405020304" pitchFamily="18" charset="0"/>
              </a:rPr>
              <a:t>缺失值填补：对不同的缺失比例采取不同的填补策略，均值填补缺失</a:t>
            </a:r>
            <a:r>
              <a:rPr lang="en-US" altLang="zh-CN" sz="1600" dirty="0">
                <a:latin typeface="Times New Roman" panose="02020603050405020304" pitchFamily="18" charset="0"/>
                <a:ea typeface="KaiTi" panose="02010609060101010101" pitchFamily="49" charset="-122"/>
                <a:cs typeface="Times New Roman" panose="02020603050405020304" pitchFamily="18" charset="0"/>
              </a:rPr>
              <a:t>&lt;10%</a:t>
            </a:r>
            <a:r>
              <a:rPr lang="zh-CN" altLang="en-US" sz="1600" dirty="0">
                <a:latin typeface="Times New Roman" panose="02020603050405020304" pitchFamily="18" charset="0"/>
                <a:ea typeface="KaiTi" panose="02010609060101010101" pitchFamily="49" charset="-122"/>
                <a:cs typeface="Times New Roman" panose="02020603050405020304" pitchFamily="18" charset="0"/>
              </a:rPr>
              <a:t>，分层均值填补</a:t>
            </a:r>
            <a:r>
              <a:rPr lang="en-US" altLang="zh-CN" sz="1600" dirty="0">
                <a:latin typeface="Times New Roman" panose="02020603050405020304" pitchFamily="18" charset="0"/>
                <a:ea typeface="KaiTi" panose="02010609060101010101" pitchFamily="49" charset="-122"/>
                <a:cs typeface="Times New Roman" panose="02020603050405020304" pitchFamily="18" charset="0"/>
              </a:rPr>
              <a:t>10%-70%</a:t>
            </a:r>
            <a:r>
              <a:rPr lang="zh-CN" altLang="en-US" sz="1600" dirty="0">
                <a:latin typeface="Times New Roman" panose="02020603050405020304" pitchFamily="18" charset="0"/>
                <a:ea typeface="KaiTi" panose="02010609060101010101" pitchFamily="49" charset="-122"/>
                <a:cs typeface="Times New Roman" panose="02020603050405020304" pitchFamily="18" charset="0"/>
              </a:rPr>
              <a:t>，缺失比例</a:t>
            </a:r>
            <a:r>
              <a:rPr lang="en-US" altLang="zh-CN" sz="1600" dirty="0">
                <a:latin typeface="Times New Roman" panose="02020603050405020304" pitchFamily="18" charset="0"/>
                <a:ea typeface="KaiTi" panose="02010609060101010101" pitchFamily="49" charset="-122"/>
                <a:cs typeface="Times New Roman" panose="02020603050405020304" pitchFamily="18" charset="0"/>
              </a:rPr>
              <a:t>&gt;70%</a:t>
            </a:r>
            <a:r>
              <a:rPr lang="zh-CN" altLang="en-US" sz="1600" dirty="0">
                <a:latin typeface="Times New Roman" panose="02020603050405020304" pitchFamily="18" charset="0"/>
                <a:ea typeface="KaiTi" panose="02010609060101010101" pitchFamily="49" charset="-122"/>
                <a:cs typeface="Times New Roman" panose="02020603050405020304" pitchFamily="18" charset="0"/>
              </a:rPr>
              <a:t>的删除</a:t>
            </a:r>
          </a:p>
        </p:txBody>
      </p:sp>
      <p:sp>
        <p:nvSpPr>
          <p:cNvPr id="7" name="文本框 6">
            <a:extLst>
              <a:ext uri="{FF2B5EF4-FFF2-40B4-BE49-F238E27FC236}">
                <a16:creationId xmlns:a16="http://schemas.microsoft.com/office/drawing/2014/main" id="{34F25792-3D3C-754B-4378-E786FC81426B}"/>
              </a:ext>
            </a:extLst>
          </p:cNvPr>
          <p:cNvSpPr txBox="1"/>
          <p:nvPr/>
        </p:nvSpPr>
        <p:spPr>
          <a:xfrm>
            <a:off x="2915399" y="783573"/>
            <a:ext cx="2447925" cy="460375"/>
          </a:xfrm>
          <a:prstGeom prst="rect">
            <a:avLst/>
          </a:prstGeom>
          <a:noFill/>
        </p:spPr>
        <p:txBody>
          <a:bodyPr wrap="square" rtlCol="0">
            <a:spAutoFit/>
          </a:bodyPr>
          <a:lstStyle/>
          <a:p>
            <a:r>
              <a:rPr lang="en-US" altLang="zh-CN" sz="2400" dirty="0">
                <a:latin typeface="Times New Roman" panose="02020603050405020304" charset="0"/>
                <a:cs typeface="Times New Roman" panose="02020603050405020304" charset="0"/>
              </a:rPr>
              <a:t>Price Model</a:t>
            </a:r>
          </a:p>
        </p:txBody>
      </p:sp>
    </p:spTree>
    <p:extLst>
      <p:ext uri="{BB962C8B-B14F-4D97-AF65-F5344CB8AC3E}">
        <p14:creationId xmlns:p14="http://schemas.microsoft.com/office/powerpoint/2010/main" val="2175215851"/>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ABLE_ENDDRAG_ORIGIN_RECT" val="402*172"/>
  <p:tag name="TABLE_ENDDRAG_RECT" val="504*87*402*172"/>
</p:tagLst>
</file>

<file path=ppt/tags/tag2.xml><?xml version="1.0" encoding="utf-8"?>
<p:tagLst xmlns:a="http://schemas.openxmlformats.org/drawingml/2006/main" xmlns:r="http://schemas.openxmlformats.org/officeDocument/2006/relationships" xmlns:p="http://schemas.openxmlformats.org/presentationml/2006/main">
  <p:tag name="TABLE_ENDDRAG_ORIGIN_RECT" val="402*172"/>
  <p:tag name="TABLE_ENDDRAG_RECT" val="504*87*402*172"/>
</p:tagLst>
</file>

<file path=ppt/tags/tag3.xml><?xml version="1.0" encoding="utf-8"?>
<p:tagLst xmlns:a="http://schemas.openxmlformats.org/drawingml/2006/main" xmlns:r="http://schemas.openxmlformats.org/officeDocument/2006/relationships" xmlns:p="http://schemas.openxmlformats.org/presentationml/2006/main">
  <p:tag name="TABLE_ENDDRAG_ORIGIN_RECT" val="402*172"/>
  <p:tag name="TABLE_ENDDRAG_RECT" val="504*87*402*172"/>
</p:tagLst>
</file>

<file path=ppt/theme/theme1.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a:ea typeface=""/>
        <a:cs typeface=""/>
        <a:font script="Jpan" typeface="ＭＳ Ｐゴシック"/>
        <a:font script="Hang" typeface="맑은 고딕"/>
        <a:font script="Hans" typeface="微软雅黑"/>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微软雅黑"/>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简约风总结汇报述职报告PPT模板" id="{FAA064F2-6362-2E4D-9A34-04735278EA7A}" vid="{A8E34A6E-BF95-144B-9151-9941425D091B}"/>
    </a:ext>
  </a:extLst>
</a:theme>
</file>

<file path=docProps/app.xml><?xml version="1.0" encoding="utf-8"?>
<Properties xmlns="http://schemas.openxmlformats.org/officeDocument/2006/extended-properties" xmlns:vt="http://schemas.openxmlformats.org/officeDocument/2006/docPropsVTypes">
  <Template/>
  <TotalTime>167</TotalTime>
  <Words>721</Words>
  <Application>Microsoft Macintosh PowerPoint</Application>
  <PresentationFormat>宽屏</PresentationFormat>
  <Paragraphs>195</Paragraphs>
  <Slides>5</Slides>
  <Notes>0</Notes>
  <HiddenSlides>0</HiddenSlides>
  <MMClips>0</MMClips>
  <ScaleCrop>false</ScaleCrop>
  <HeadingPairs>
    <vt:vector size="6" baseType="variant">
      <vt:variant>
        <vt:lpstr>已用的字体</vt:lpstr>
      </vt:variant>
      <vt:variant>
        <vt:i4>6</vt:i4>
      </vt:variant>
      <vt:variant>
        <vt:lpstr>主题</vt:lpstr>
      </vt:variant>
      <vt:variant>
        <vt:i4>1</vt:i4>
      </vt:variant>
      <vt:variant>
        <vt:lpstr>幻灯片标题</vt:lpstr>
      </vt:variant>
      <vt:variant>
        <vt:i4>5</vt:i4>
      </vt:variant>
    </vt:vector>
  </HeadingPairs>
  <TitlesOfParts>
    <vt:vector size="12" baseType="lpstr">
      <vt:lpstr>楷体</vt:lpstr>
      <vt:lpstr>Calibri</vt:lpstr>
      <vt:lpstr>Arial</vt:lpstr>
      <vt:lpstr>宋体</vt:lpstr>
      <vt:lpstr>汉仪中黑简</vt:lpstr>
      <vt:lpstr>Times New Roman</vt:lpstr>
      <vt:lpstr>Office 主题</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怡伽 李</cp:lastModifiedBy>
  <cp:revision>65</cp:revision>
  <dcterms:created xsi:type="dcterms:W3CDTF">2022-01-10T08:39:00Z</dcterms:created>
  <dcterms:modified xsi:type="dcterms:W3CDTF">2025-10-29T18:08:46Z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E69C7E26EB4E492D9EE9D63296A1475C</vt:lpwstr>
  </property>
  <property fmtid="{D5CDD505-2E9C-101B-9397-08002B2CF9AE}" pid="3" name="KSOProductBuildVer">
    <vt:lpwstr>2052-11.1.0.11365</vt:lpwstr>
  </property>
  <property fmtid="{D5CDD505-2E9C-101B-9397-08002B2CF9AE}" pid="4" name="KSOTemplateUUID">
    <vt:lpwstr>v1.0_mb_WoKnZcaJtTglmqmAlSPvgQ==</vt:lpwstr>
  </property>
</Properties>
</file>