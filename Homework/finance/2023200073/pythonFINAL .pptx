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305" r:id="rId5"/>
    <p:sldId id="266" r:id="rId6"/>
    <p:sldId id="293" r:id="rId7"/>
    <p:sldId id="287" r:id="rId8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7" userDrawn="1">
          <p15:clr>
            <a:srgbClr val="A4A3A4"/>
          </p15:clr>
        </p15:guide>
        <p15:guide id="2" pos="3839" userDrawn="1">
          <p15:clr>
            <a:srgbClr val="A4A3A4"/>
          </p15:clr>
        </p15:guide>
        <p15:guide id="3" orient="horz" pos="20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8C80"/>
    <a:srgbClr val="55B577"/>
    <a:srgbClr val="FF794D"/>
    <a:srgbClr val="DBE084"/>
    <a:srgbClr val="E9DDB8"/>
    <a:srgbClr val="FFBAA3"/>
    <a:srgbClr val="FF6633"/>
    <a:srgbClr val="B3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49" autoAdjust="0"/>
    <p:restoredTop sz="94660"/>
  </p:normalViewPr>
  <p:slideViewPr>
    <p:cSldViewPr snapToGrid="0" showGuides="1">
      <p:cViewPr varScale="1">
        <p:scale>
          <a:sx n="87" d="100"/>
          <a:sy n="87" d="100"/>
        </p:scale>
        <p:origin x="64" y="132"/>
      </p:cViewPr>
      <p:guideLst>
        <p:guide orient="horz" pos="2217"/>
        <p:guide pos="3839"/>
        <p:guide orient="horz" pos="204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gs" Target="tags/tag9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6E1AD-4874-4B1B-B944-D773386EB5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76" y="-1926"/>
            <a:ext cx="6297714" cy="3489402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94438" y="262"/>
            <a:ext cx="5907536" cy="3487214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95407" y="3442823"/>
            <a:ext cx="5895343" cy="3414056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76" y="3442822"/>
            <a:ext cx="6297714" cy="3414056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257175" y="222250"/>
            <a:ext cx="11677650" cy="641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DB6457-C948-417B-8EE8-ACC088866F13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6F7072-EAC0-4635-9C35-6D2F453D982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迷你简细倩" panose="03000509000000000000" pitchFamily="65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1.png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0" Type="http://schemas.openxmlformats.org/officeDocument/2006/relationships/notesSlide" Target="../notesSlides/notesSlide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6.xml"/><Relationship Id="rId5" Type="http://schemas.openxmlformats.org/officeDocument/2006/relationships/tags" Target="../tags/tag6.xml"/><Relationship Id="rId4" Type="http://schemas.openxmlformats.org/officeDocument/2006/relationships/tags" Target="../tags/tag5.xml"/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6.xml"/><Relationship Id="rId2" Type="http://schemas.openxmlformats.org/officeDocument/2006/relationships/tags" Target="../tags/tag7.xml"/><Relationship Id="rId1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1.png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0" Type="http://schemas.openxmlformats.org/officeDocument/2006/relationships/notesSlide" Target="../notesSlides/notesSlide5.xml"/><Relationship Id="rId1" Type="http://schemas.openxmlformats.org/officeDocument/2006/relationships/tags" Target="../tags/tag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699245" y="2119632"/>
            <a:ext cx="10793511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rgbClr val="55B577"/>
                </a:solidFill>
                <a:latin typeface="微软雅黑" panose="020B0503020204020204" charset="-122"/>
                <a:ea typeface="微软雅黑" panose="020B0503020204020204" charset="-122"/>
              </a:rPr>
              <a:t>人工智能与</a:t>
            </a:r>
            <a:r>
              <a:rPr lang="en-US" altLang="zh-CN" sz="5400" b="1" dirty="0">
                <a:solidFill>
                  <a:srgbClr val="55B577"/>
                </a:solidFill>
                <a:latin typeface="微软雅黑" panose="020B0503020204020204" charset="-122"/>
                <a:ea typeface="微软雅黑" panose="020B0503020204020204" charset="-122"/>
              </a:rPr>
              <a:t>python</a:t>
            </a:r>
            <a:r>
              <a:rPr lang="zh-CN" altLang="en-US" sz="5400" b="1" dirty="0">
                <a:solidFill>
                  <a:srgbClr val="55B577"/>
                </a:solidFill>
                <a:latin typeface="微软雅黑" panose="020B0503020204020204" charset="-122"/>
                <a:ea typeface="微软雅黑" panose="020B0503020204020204" charset="-122"/>
              </a:rPr>
              <a:t>期末汇报</a:t>
            </a:r>
            <a:endParaRPr lang="zh-CN" altLang="en-US" sz="5400" b="1" dirty="0">
              <a:solidFill>
                <a:srgbClr val="55B5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2190751" y="3320533"/>
            <a:ext cx="7810499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郝文馨</a:t>
            </a:r>
            <a:r>
              <a:rPr lang="en-US" altLang="zh-CN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	</a:t>
            </a:r>
            <a:r>
              <a:rPr lang="en-US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2023200073 </a:t>
            </a:r>
            <a:r>
              <a:rPr lang="zh-CN" altLang="en-US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金融科</a:t>
            </a:r>
            <a:r>
              <a:rPr lang="zh-CN" altLang="en-US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技实验班</a:t>
            </a:r>
            <a:endParaRPr lang="zh-CN" altLang="en-US" sz="2000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cxnSp>
        <p:nvCxnSpPr>
          <p:cNvPr id="21" name="PA_直接连接符 20"/>
          <p:cNvCxnSpPr/>
          <p:nvPr>
            <p:custDataLst>
              <p:tags r:id="rId1"/>
            </p:custDataLst>
          </p:nvPr>
        </p:nvCxnSpPr>
        <p:spPr>
          <a:xfrm>
            <a:off x="2009775" y="3303828"/>
            <a:ext cx="8172450" cy="0"/>
          </a:xfrm>
          <a:prstGeom prst="line">
            <a:avLst/>
          </a:prstGeom>
          <a:ln w="12700">
            <a:solidFill>
              <a:srgbClr val="55B5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0009" y="4352955"/>
            <a:ext cx="5797798" cy="2505673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580" y="4065512"/>
            <a:ext cx="6614733" cy="2956816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0945" y="5862431"/>
            <a:ext cx="713294" cy="1639966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9724" y="3948890"/>
            <a:ext cx="1109568" cy="1597290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3029" y="6065161"/>
            <a:ext cx="987638" cy="1914310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9142" y="4300268"/>
            <a:ext cx="993734" cy="1743607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1521" y="178150"/>
            <a:ext cx="1828959" cy="170093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3048000" y="324485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4348680" y="311149"/>
            <a:ext cx="34946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chemeClr val="tx1"/>
                </a:solidFill>
                <a:latin typeface="迷你简细倩" panose="03000509000000000000" pitchFamily="65" charset="-122"/>
                <a:ea typeface="迷你简细倩" panose="03000509000000000000" pitchFamily="65" charset="-122"/>
              </a:rPr>
              <a:t>数据处理</a:t>
            </a:r>
            <a:endParaRPr lang="zh-CN" altLang="en-US" sz="2800" b="1" dirty="0">
              <a:solidFill>
                <a:schemeClr val="tx1"/>
              </a:solidFill>
              <a:latin typeface="迷你简细倩" panose="03000509000000000000" pitchFamily="65" charset="-122"/>
              <a:ea typeface="迷你简细倩" panose="03000509000000000000" pitchFamily="65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41020" y="560705"/>
            <a:ext cx="11177270" cy="521652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lvl="0" indent="457200">
              <a:buFont typeface="Arial" panose="020B0604020202020204" pitchFamily="34" charset="0"/>
              <a:buNone/>
            </a:pP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1.</a:t>
            </a:r>
            <a:r>
              <a:rPr lang="zh-CN" altLang="en-US" b="1" dirty="0">
                <a:solidFill>
                  <a:schemeClr val="tx1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利用地理层级</a:t>
            </a:r>
            <a:r>
              <a:rPr lang="zh-CN" altLang="en-US" dirty="0">
                <a:solidFill>
                  <a:schemeClr val="tx1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补全空值、处理训练集未出现过的新区域、</a:t>
            </a:r>
            <a:r>
              <a:rPr lang="zh-CN" altLang="en-US" dirty="0">
                <a:solidFill>
                  <a:schemeClr val="tx1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板块：</a:t>
            </a: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lvl="0" indent="457200">
              <a:buFont typeface="Arial" panose="020B0604020202020204" pitchFamily="34" charset="0"/>
              <a:buNone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按照范围大小，得到</a:t>
            </a:r>
            <a:r>
              <a:rPr lang="zh-CN" altLang="en-US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城市</a:t>
            </a:r>
            <a:r>
              <a:rPr lang="en-US" altLang="zh-CN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&gt;</a:t>
            </a:r>
            <a:r>
              <a:rPr lang="zh-CN" altLang="en-US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区域</a:t>
            </a:r>
            <a:r>
              <a:rPr lang="en-US" altLang="zh-CN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&gt;</a:t>
            </a:r>
            <a:r>
              <a:rPr lang="zh-CN" altLang="en-US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板块</a:t>
            </a:r>
            <a:r>
              <a:rPr lang="en-US" altLang="zh-CN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&gt;</a:t>
            </a:r>
            <a:r>
              <a:rPr lang="zh-CN" altLang="en-US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板块</a:t>
            </a:r>
            <a:r>
              <a:rPr lang="en-US" altLang="zh-CN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_comm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，是包含关系</a:t>
            </a: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缺失值补全：</a:t>
            </a: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逐层从大到小筛选邻居，例如：某样本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'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环线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'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取值为空，就先去找和该元组四个层级都相同的邻居们，如果找不到则后退寻找城市、区域、板块三列相同的邻居们，以此类推。</a:t>
            </a:r>
            <a:endParaRPr lang="zh-CN" altLang="en-US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先估计某小区的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“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套内面积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/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建筑面积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”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比，再由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“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建筑面积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”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补全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“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套内面积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”</a:t>
            </a: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65" y="2332990"/>
            <a:ext cx="7439025" cy="145732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37515" y="5068570"/>
            <a:ext cx="469011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假设和新元组城市、区域、板块都相同的邻居有</a:t>
            </a:r>
            <a:r>
              <a:rPr lang="en-US" altLang="zh-CN"/>
              <a:t>5</a:t>
            </a:r>
            <a:r>
              <a:rPr lang="zh-CN" altLang="en-US"/>
              <a:t>个，所以每个邻居应该权重</a:t>
            </a:r>
            <a:r>
              <a:rPr lang="en-US" altLang="zh-CN"/>
              <a:t>0.2</a:t>
            </a:r>
            <a:r>
              <a:rPr lang="zh-CN" altLang="en-US"/>
              <a:t>。前四个邻居假设都是小区</a:t>
            </a:r>
            <a:r>
              <a:rPr lang="en-US" altLang="zh-CN"/>
              <a:t>1</a:t>
            </a:r>
            <a:r>
              <a:rPr lang="zh-CN" altLang="en-US"/>
              <a:t>，所以新元组对应小区</a:t>
            </a:r>
            <a:r>
              <a:rPr lang="en-US" altLang="zh-CN"/>
              <a:t>1</a:t>
            </a:r>
            <a:r>
              <a:rPr lang="zh-CN" altLang="en-US"/>
              <a:t>这列的取值就是</a:t>
            </a:r>
            <a:r>
              <a:rPr lang="en-US" altLang="zh-CN"/>
              <a:t>4*0.2</a:t>
            </a:r>
            <a:r>
              <a:rPr lang="zh-CN" altLang="en-US"/>
              <a:t>，小区</a:t>
            </a:r>
            <a:r>
              <a:rPr lang="en-US" altLang="zh-CN"/>
              <a:t>2</a:t>
            </a:r>
            <a:r>
              <a:rPr lang="zh-CN" altLang="en-US"/>
              <a:t>的取值就是</a:t>
            </a:r>
            <a:r>
              <a:rPr lang="en-US" altLang="zh-CN"/>
              <a:t>0.2</a:t>
            </a:r>
            <a:r>
              <a:rPr lang="zh-CN" altLang="en-US"/>
              <a:t>，剩下的小区类的虚拟变量都取</a:t>
            </a:r>
            <a:r>
              <a:rPr lang="en-US" altLang="zh-CN"/>
              <a:t>0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5753100" y="5021580"/>
            <a:ext cx="453771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遇到新小区时，去测试集寻找同一个城市、区域、板块的旧小区。假如新小区</a:t>
            </a:r>
            <a:r>
              <a:rPr lang="en-US" altLang="zh-CN"/>
              <a:t>4</a:t>
            </a:r>
            <a:r>
              <a:rPr lang="zh-CN" altLang="en-US"/>
              <a:t>号，和旧小区</a:t>
            </a:r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en-US" altLang="zh-CN"/>
              <a:t>3</a:t>
            </a:r>
            <a:r>
              <a:rPr lang="zh-CN" altLang="en-US"/>
              <a:t>在同一个板块。那么所有测试集小区是</a:t>
            </a:r>
            <a:r>
              <a:rPr lang="en-US" altLang="zh-CN"/>
              <a:t>4</a:t>
            </a:r>
            <a:r>
              <a:rPr lang="zh-CN" altLang="en-US"/>
              <a:t>号的样本，小区类虚拟变量只有</a:t>
            </a:r>
            <a:r>
              <a:rPr lang="en-US" altLang="zh-CN"/>
              <a:t>1</a:t>
            </a:r>
            <a:r>
              <a:rPr lang="zh-CN" altLang="en-US"/>
              <a:t>、</a:t>
            </a:r>
            <a:r>
              <a:rPr lang="en-US" altLang="zh-CN"/>
              <a:t>2</a:t>
            </a:r>
            <a:r>
              <a:rPr lang="zh-CN" altLang="en-US"/>
              <a:t>、</a:t>
            </a:r>
            <a:r>
              <a:rPr lang="en-US" altLang="zh-CN"/>
              <a:t>3</a:t>
            </a:r>
            <a:r>
              <a:rPr lang="zh-CN" altLang="en-US"/>
              <a:t>列取值三分之一，剩下小区变量都取</a:t>
            </a:r>
            <a:r>
              <a:rPr lang="en-US" altLang="zh-CN"/>
              <a:t>0</a:t>
            </a:r>
            <a:r>
              <a:rPr lang="zh-CN" altLang="en-US"/>
              <a:t>。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35685" y="4653280"/>
            <a:ext cx="33127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indent="0">
              <a:buFont typeface="Arial" panose="020B0604020202020204" pitchFamily="34" charset="0"/>
              <a:buNone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原先是</a:t>
            </a:r>
            <a:r>
              <a:rPr lang="zh-CN" altLang="en-US" b="1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针对测试点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找邻居：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142355" y="4653280"/>
            <a:ext cx="33127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indent="0">
              <a:buFont typeface="Arial" panose="020B0604020202020204" pitchFamily="34" charset="0"/>
              <a:buNone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现在</a:t>
            </a:r>
            <a:r>
              <a:rPr lang="zh-CN" altLang="en-US" b="1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针对小区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找邻居：</a:t>
            </a:r>
            <a:endParaRPr lang="zh-CN" altLang="en-US"/>
          </a:p>
        </p:txBody>
      </p:sp>
      <p:sp>
        <p:nvSpPr>
          <p:cNvPr id="9" name="右箭头 8"/>
          <p:cNvSpPr/>
          <p:nvPr/>
        </p:nvSpPr>
        <p:spPr>
          <a:xfrm>
            <a:off x="5120005" y="5550535"/>
            <a:ext cx="565785" cy="274955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0645775" y="5146040"/>
            <a:ext cx="1661160" cy="10902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不按照出现的旧小区</a:t>
            </a:r>
            <a:r>
              <a:rPr lang="zh-CN" altLang="en-US" b="1"/>
              <a:t>样本数</a:t>
            </a:r>
            <a:r>
              <a:rPr lang="zh-CN" altLang="en-US"/>
              <a:t>来赋权重</a:t>
            </a:r>
            <a:endParaRPr lang="zh-CN" altLang="en-US"/>
          </a:p>
        </p:txBody>
      </p:sp>
      <p:sp>
        <p:nvSpPr>
          <p:cNvPr id="12" name="右箭头 11"/>
          <p:cNvSpPr/>
          <p:nvPr/>
        </p:nvSpPr>
        <p:spPr>
          <a:xfrm>
            <a:off x="10158730" y="5550535"/>
            <a:ext cx="565785" cy="274955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4000">
        <p:random/>
      </p:transition>
    </mc:Choice>
    <mc:Fallback>
      <p:transition spd="slow" advTm="4000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3002915" y="311150"/>
            <a:ext cx="583311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>
                <a:latin typeface="迷你简细倩" panose="03000509000000000000" pitchFamily="65" charset="-122"/>
                <a:ea typeface="迷你简细倩" panose="03000509000000000000" pitchFamily="65" charset="-122"/>
                <a:sym typeface="+mn-ea"/>
              </a:rPr>
              <a:t>两阶段模型</a:t>
            </a:r>
            <a:endParaRPr lang="zh-CN" altLang="en-US" sz="2800" b="1" dirty="0">
              <a:latin typeface="迷你简细倩" panose="03000509000000000000" pitchFamily="65" charset="-122"/>
              <a:ea typeface="迷你简细倩" panose="03000509000000000000" pitchFamily="65" charset="-122"/>
              <a:sym typeface="+mn-ea"/>
            </a:endParaRPr>
          </a:p>
          <a:p>
            <a:pPr algn="ctr"/>
            <a:r>
              <a:rPr lang="zh-CN" altLang="en-US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房价</a:t>
            </a:r>
            <a:r>
              <a:rPr lang="en-US" altLang="zh-CN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 = </a:t>
            </a:r>
            <a:r>
              <a:rPr lang="zh-CN" altLang="en-US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房子本身价值</a:t>
            </a:r>
            <a:r>
              <a:rPr lang="en-US" altLang="zh-CN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 + </a:t>
            </a:r>
            <a:r>
              <a:rPr lang="zh-CN" altLang="en-US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地段价值</a:t>
            </a:r>
            <a:endParaRPr lang="zh-CN" altLang="en-US" sz="2800" dirty="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1" name="文本框 10"/>
          <p:cNvSpPr txBox="1"/>
          <p:nvPr>
            <p:custDataLst>
              <p:tags r:id="rId1"/>
            </p:custDataLst>
          </p:nvPr>
        </p:nvSpPr>
        <p:spPr>
          <a:xfrm>
            <a:off x="711201" y="1327150"/>
            <a:ext cx="744855" cy="1551600"/>
          </a:xfrm>
          <a:prstGeom prst="rect">
            <a:avLst/>
          </a:prstGeom>
          <a:noFill/>
        </p:spPr>
        <p:txBody>
          <a:bodyPr wrap="none" lIns="0" tIns="36195" rIns="0" bIns="0" rtlCol="0" anchor="ctr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Stage 1</a:t>
            </a:r>
            <a:r>
              <a:rPr lang="zh-CN" altLang="en-US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：</a:t>
            </a:r>
            <a:endParaRPr lang="zh-CN" altLang="en-US" sz="2400" b="1" dirty="0">
              <a:solidFill>
                <a:schemeClr val="accent1"/>
              </a:solidFill>
              <a:latin typeface="+mn-ea"/>
              <a:cs typeface="+mn-ea"/>
            </a:endParaRPr>
          </a:p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剥离地段价值</a:t>
            </a:r>
            <a:endParaRPr lang="zh-CN" altLang="en-US" sz="2400" b="1" dirty="0">
              <a:solidFill>
                <a:schemeClr val="accent1"/>
              </a:solidFill>
              <a:latin typeface="+mn-ea"/>
              <a:ea typeface="+mj-lt"/>
              <a:cs typeface="+mn-ea"/>
              <a:sym typeface="+mn-ea"/>
            </a:endParaRPr>
          </a:p>
        </p:txBody>
      </p:sp>
      <p:cxnSp>
        <p:nvCxnSpPr>
          <p:cNvPr id="60" name="直接连接符 59"/>
          <p:cNvCxnSpPr/>
          <p:nvPr>
            <p:custDataLst>
              <p:tags r:id="rId2"/>
            </p:custDataLst>
          </p:nvPr>
        </p:nvCxnSpPr>
        <p:spPr>
          <a:xfrm>
            <a:off x="711201" y="3046730"/>
            <a:ext cx="10800000" cy="0"/>
          </a:xfrm>
          <a:prstGeom prst="line">
            <a:avLst/>
          </a:prstGeom>
          <a:solidFill>
            <a:schemeClr val="lt1">
              <a:lumMod val="100000"/>
              <a:alpha val="0"/>
            </a:schemeClr>
          </a:solidFill>
          <a:ln w="10160">
            <a:solidFill>
              <a:schemeClr val="accent1">
                <a:alpha val="50000"/>
              </a:schemeClr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cxnSp>
      <p:cxnSp>
        <p:nvCxnSpPr>
          <p:cNvPr id="15" name="直接连接符 14"/>
          <p:cNvCxnSpPr/>
          <p:nvPr>
            <p:custDataLst>
              <p:tags r:id="rId3"/>
            </p:custDataLst>
          </p:nvPr>
        </p:nvCxnSpPr>
        <p:spPr>
          <a:xfrm>
            <a:off x="711201" y="4598035"/>
            <a:ext cx="10800000" cy="0"/>
          </a:xfrm>
          <a:prstGeom prst="line">
            <a:avLst/>
          </a:prstGeom>
          <a:solidFill>
            <a:schemeClr val="lt1">
              <a:lumMod val="100000"/>
              <a:alpha val="0"/>
            </a:schemeClr>
          </a:solidFill>
          <a:ln w="10160">
            <a:solidFill>
              <a:schemeClr val="accent1">
                <a:alpha val="50000"/>
              </a:schemeClr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cxnSp>
      <p:sp>
        <p:nvSpPr>
          <p:cNvPr id="17" name="文本框 16"/>
          <p:cNvSpPr txBox="1"/>
          <p:nvPr>
            <p:custDataLst>
              <p:tags r:id="rId4"/>
            </p:custDataLst>
          </p:nvPr>
        </p:nvSpPr>
        <p:spPr>
          <a:xfrm>
            <a:off x="191135" y="3046730"/>
            <a:ext cx="1455420" cy="1551305"/>
          </a:xfrm>
          <a:prstGeom prst="rect">
            <a:avLst/>
          </a:prstGeom>
          <a:noFill/>
        </p:spPr>
        <p:txBody>
          <a:bodyPr wrap="none" lIns="0" tIns="36195" rIns="0" bIns="0" rtlCol="0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Location_Score</a:t>
            </a:r>
            <a:endParaRPr lang="en-US" altLang="zh-CN" sz="2400" b="1" dirty="0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8" name="文本框 17"/>
          <p:cNvSpPr txBox="1"/>
          <p:nvPr>
            <p:custDataLst>
              <p:tags r:id="rId5"/>
            </p:custDataLst>
          </p:nvPr>
        </p:nvSpPr>
        <p:spPr>
          <a:xfrm>
            <a:off x="241300" y="4598035"/>
            <a:ext cx="1860550" cy="1551305"/>
          </a:xfrm>
          <a:prstGeom prst="rect">
            <a:avLst/>
          </a:prstGeom>
          <a:noFill/>
        </p:spPr>
        <p:txBody>
          <a:bodyPr wrap="none" lIns="0" tIns="36195" rIns="0" bIns="0" rtlCol="0" anchor="ctr" anchorCtr="0">
            <a:noAutofit/>
          </a:bodyPr>
          <a:p>
            <a:pPr lvl="0" algn="l">
              <a:buClrTx/>
              <a:buSzTx/>
              <a:buFontTx/>
            </a:pPr>
            <a:r>
              <a:rPr lang="zh-CN" altLang="en-US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全部特征建模</a:t>
            </a:r>
            <a:endParaRPr lang="zh-CN" altLang="en-US" sz="2400" b="1" dirty="0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211705" y="1264285"/>
            <a:ext cx="923417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输入特征：面积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经度</a:t>
            </a:r>
            <a:r>
              <a:rPr lang="en-US" altLang="zh-CN">
                <a:sym typeface="+mn-ea"/>
              </a:rPr>
              <a:t>(lon), </a:t>
            </a:r>
            <a:r>
              <a:rPr lang="zh-CN" altLang="en-US">
                <a:sym typeface="+mn-ea"/>
              </a:rPr>
              <a:t>纬度</a:t>
            </a:r>
            <a:r>
              <a:rPr lang="en-US" altLang="zh-CN">
                <a:sym typeface="+mn-ea"/>
              </a:rPr>
              <a:t>(lat), </a:t>
            </a:r>
            <a:r>
              <a:rPr lang="zh-CN" altLang="en-US">
                <a:sym typeface="+mn-ea"/>
              </a:rPr>
              <a:t>室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厅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卫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电梯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车位</a:t>
            </a:r>
            <a:r>
              <a:rPr lang="en-US" altLang="zh-CN">
                <a:sym typeface="+mn-ea"/>
              </a:rPr>
              <a:t>...</a:t>
            </a:r>
            <a:endParaRPr lang="en-US" altLang="zh-CN"/>
          </a:p>
          <a:p>
            <a:r>
              <a:rPr lang="zh-CN" altLang="en-US">
                <a:sym typeface="+mn-ea"/>
              </a:rPr>
              <a:t>预测目标：</a:t>
            </a:r>
            <a:r>
              <a:rPr lang="en-US" altLang="zh-CN">
                <a:sym typeface="+mn-ea"/>
              </a:rPr>
              <a:t>log(Price)</a:t>
            </a:r>
            <a:endParaRPr lang="en-US" altLang="zh-CN"/>
          </a:p>
          <a:p>
            <a:r>
              <a:rPr lang="zh-CN" altLang="en-US">
                <a:sym typeface="+mn-ea"/>
              </a:rPr>
              <a:t>阶段输出：</a:t>
            </a:r>
            <a:r>
              <a:rPr lang="en-US" altLang="zh-CN">
                <a:sym typeface="+mn-ea"/>
              </a:rPr>
              <a:t>location_residual (</a:t>
            </a:r>
            <a:r>
              <a:rPr lang="zh-CN" altLang="en-US">
                <a:sym typeface="+mn-ea"/>
              </a:rPr>
              <a:t>残差</a:t>
            </a:r>
            <a:r>
              <a:rPr lang="en-US" altLang="zh-CN">
                <a:sym typeface="+mn-ea"/>
              </a:rPr>
              <a:t>)</a:t>
            </a:r>
            <a:endParaRPr lang="zh-CN" altLang="en-US"/>
          </a:p>
          <a:p>
            <a:pPr lvl="1"/>
            <a:r>
              <a:rPr lang="zh-CN" altLang="en-US" b="1">
                <a:sym typeface="+mn-ea"/>
              </a:rPr>
              <a:t>残差</a:t>
            </a:r>
            <a:r>
              <a:rPr lang="en-US" altLang="zh-CN" b="1">
                <a:sym typeface="+mn-ea"/>
              </a:rPr>
              <a:t> = </a:t>
            </a:r>
            <a:r>
              <a:rPr lang="zh-CN" altLang="en-US" b="1">
                <a:sym typeface="+mn-ea"/>
              </a:rPr>
              <a:t>真实房价</a:t>
            </a:r>
            <a:r>
              <a:rPr lang="en-US" altLang="zh-CN" b="1">
                <a:sym typeface="+mn-ea"/>
              </a:rPr>
              <a:t> - Stage1</a:t>
            </a:r>
            <a:r>
              <a:rPr lang="zh-CN" altLang="en-US" b="1">
                <a:sym typeface="+mn-ea"/>
              </a:rPr>
              <a:t>模型预测的房价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如果残差</a:t>
            </a:r>
            <a:r>
              <a:rPr lang="en-US" altLang="zh-CN">
                <a:sym typeface="+mn-ea"/>
              </a:rPr>
              <a:t>&gt;0</a:t>
            </a:r>
            <a:r>
              <a:rPr lang="zh-CN" altLang="en-US">
                <a:sym typeface="+mn-ea"/>
              </a:rPr>
              <a:t>，说明房子比单纯按面积</a:t>
            </a:r>
            <a:r>
              <a:rPr lang="en-US" altLang="zh-CN">
                <a:sym typeface="+mn-ea"/>
              </a:rPr>
              <a:t>/</a:t>
            </a:r>
            <a:r>
              <a:rPr lang="zh-CN" altLang="en-US">
                <a:sym typeface="+mn-ea"/>
              </a:rPr>
              <a:t>户型算出来的价格要贵，地段好；如果</a:t>
            </a:r>
            <a:r>
              <a:rPr lang="en-US" altLang="zh-CN">
                <a:sym typeface="+mn-ea"/>
              </a:rPr>
              <a:t>&lt;0</a:t>
            </a:r>
            <a:r>
              <a:rPr lang="zh-CN" altLang="en-US">
                <a:sym typeface="+mn-ea"/>
              </a:rPr>
              <a:t>，说明地段差</a:t>
            </a:r>
            <a:endParaRPr lang="zh-CN" altLang="en-US"/>
          </a:p>
          <a:p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2387600" y="3294380"/>
            <a:ext cx="888238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依次计算板块、区县、</a:t>
            </a:r>
            <a:r>
              <a:rPr lang="zh-CN" altLang="en-US"/>
              <a:t>城市级别的平均残差</a:t>
            </a:r>
            <a:endParaRPr lang="zh-CN" altLang="en-US"/>
          </a:p>
          <a:p>
            <a:r>
              <a:rPr lang="zh-CN" altLang="en-US"/>
              <a:t>测试集里</a:t>
            </a:r>
            <a:r>
              <a:rPr lang="zh-CN" altLang="en-US"/>
              <a:t>的房子所在</a:t>
            </a:r>
            <a:r>
              <a:rPr lang="en-US" altLang="zh-CN"/>
              <a:t>“</a:t>
            </a:r>
            <a:r>
              <a:rPr lang="zh-CN" altLang="en-US"/>
              <a:t>板块</a:t>
            </a:r>
            <a:r>
              <a:rPr lang="en-US" altLang="zh-CN"/>
              <a:t>”</a:t>
            </a:r>
            <a:r>
              <a:rPr lang="zh-CN" altLang="en-US"/>
              <a:t>在训练集里出现过，就用该板块的平均残差作为得分。</a:t>
            </a:r>
            <a:endParaRPr lang="zh-CN" altLang="en-US"/>
          </a:p>
          <a:p>
            <a:r>
              <a:rPr lang="zh-CN" altLang="en-US"/>
              <a:t>如果是新板块，就退而求其次用</a:t>
            </a:r>
            <a:r>
              <a:rPr lang="en-US" altLang="zh-CN"/>
              <a:t>“</a:t>
            </a:r>
            <a:r>
              <a:rPr lang="zh-CN" altLang="en-US"/>
              <a:t>区县</a:t>
            </a:r>
            <a:r>
              <a:rPr lang="en-US" altLang="zh-CN"/>
              <a:t>”</a:t>
            </a:r>
            <a:r>
              <a:rPr lang="zh-CN" altLang="en-US"/>
              <a:t>的均值，以此类推。</a:t>
            </a:r>
            <a:endParaRPr lang="zh-CN" altLang="en-US"/>
          </a:p>
          <a:p>
            <a:r>
              <a:rPr lang="en-US" altLang="zh-CN"/>
              <a:t>Location_Score</a:t>
            </a:r>
            <a:r>
              <a:rPr lang="zh-CN" altLang="en-US"/>
              <a:t>，代表该地段的平均溢价</a:t>
            </a:r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2211705" y="5158740"/>
            <a:ext cx="963168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输入特征：房子的物理属性（面积、</a:t>
            </a:r>
            <a:r>
              <a:rPr lang="en-US" altLang="zh-CN"/>
              <a:t>lon...</a:t>
            </a:r>
            <a:r>
              <a:rPr lang="zh-CN" altLang="en-US"/>
              <a:t>）</a:t>
            </a:r>
            <a:r>
              <a:rPr lang="en-US" altLang="zh-CN"/>
              <a:t>+ </a:t>
            </a:r>
            <a:r>
              <a:rPr lang="zh-CN" altLang="en-US"/>
              <a:t>城市、区县、板块</a:t>
            </a:r>
            <a:r>
              <a:rPr lang="en-US" altLang="zh-CN"/>
              <a:t> + </a:t>
            </a:r>
            <a:r>
              <a:rPr lang="zh-CN" altLang="en-US"/>
              <a:t>地段溢价</a:t>
            </a:r>
            <a:r>
              <a:rPr lang="en-US" altLang="zh-CN"/>
              <a:t>(Location_Score)</a:t>
            </a:r>
            <a:endParaRPr lang="en-US" altLang="zh-CN"/>
          </a:p>
          <a:p>
            <a:r>
              <a:rPr lang="en-US" altLang="zh-CN"/>
              <a:t> 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文本框 40"/>
          <p:cNvSpPr txBox="1"/>
          <p:nvPr/>
        </p:nvSpPr>
        <p:spPr>
          <a:xfrm>
            <a:off x="4348680" y="311149"/>
            <a:ext cx="34946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2800" dirty="0">
                <a:latin typeface="Times New Roman" panose="02020603050405020304" charset="0"/>
                <a:ea typeface="宋体" panose="02010600030101010101" pitchFamily="2" charset="-122"/>
              </a:rPr>
              <a:t>个人创新点：</a:t>
            </a:r>
            <a:endParaRPr lang="zh-CN" altLang="en-US" sz="2800" dirty="0">
              <a:latin typeface="Times New Roman" panose="02020603050405020304" charset="0"/>
              <a:ea typeface="宋体" panose="0201060003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18465" y="833120"/>
            <a:ext cx="1159446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/>
              <a:t>1</a:t>
            </a:r>
            <a:r>
              <a:rPr lang="zh-CN" altLang="en-US" sz="1600"/>
              <a:t>、利用</a:t>
            </a:r>
            <a:r>
              <a:rPr lang="en-US" altLang="zh-CN" sz="1600" b="1"/>
              <a:t>Kmeans+</a:t>
            </a:r>
            <a:r>
              <a:rPr lang="zh-CN" altLang="en-US" sz="1600" b="1"/>
              <a:t>目标编码</a:t>
            </a:r>
            <a:r>
              <a:rPr lang="zh-CN" altLang="en-US" sz="1600"/>
              <a:t>：</a:t>
            </a:r>
            <a:r>
              <a:rPr lang="en-US" altLang="zh-CN" sz="1600"/>
              <a:t>kaggle76.8</a:t>
            </a:r>
            <a:endParaRPr lang="zh-CN" altLang="en-US" sz="1600"/>
          </a:p>
          <a:p>
            <a:pPr indent="457200"/>
            <a:r>
              <a:rPr lang="zh-CN" altLang="en-US" sz="1600"/>
              <a:t>输入原始地理信息（城市、区域、板块、经纬度），将地理编号转为蕴含价格信息的数值特征。</a:t>
            </a:r>
            <a:endParaRPr lang="zh-CN" altLang="en-US" sz="1600"/>
          </a:p>
          <a:p>
            <a:pPr indent="457200"/>
            <a:r>
              <a:rPr lang="zh-CN" altLang="en-US" sz="1600" b="1"/>
              <a:t>每个城市内部根据</a:t>
            </a:r>
            <a:r>
              <a:rPr lang="en-US" altLang="zh-CN" sz="1600" b="1"/>
              <a:t>lon,lat</a:t>
            </a:r>
            <a:r>
              <a:rPr lang="zh-CN" altLang="en-US" sz="1600" b="1"/>
              <a:t>进行</a:t>
            </a:r>
            <a:r>
              <a:rPr lang="en-US" altLang="zh-CN" sz="1600" b="1"/>
              <a:t>KMeans</a:t>
            </a:r>
            <a:r>
              <a:rPr lang="zh-CN" altLang="en-US" sz="1600" b="1"/>
              <a:t>聚类</a:t>
            </a:r>
            <a:r>
              <a:rPr lang="zh-CN" altLang="en-US" sz="1600"/>
              <a:t>；然后利用训练集的</a:t>
            </a:r>
            <a:r>
              <a:rPr lang="en-US" altLang="zh-CN" sz="1600"/>
              <a:t>log(</a:t>
            </a:r>
            <a:r>
              <a:rPr lang="zh-CN" altLang="en-US" sz="1600"/>
              <a:t>房价</a:t>
            </a:r>
            <a:r>
              <a:rPr lang="en-US" altLang="zh-CN" sz="1600"/>
              <a:t>)</a:t>
            </a:r>
            <a:r>
              <a:rPr lang="zh-CN" altLang="en-US" sz="1600"/>
              <a:t>，</a:t>
            </a:r>
            <a:r>
              <a:rPr lang="en-US" altLang="zh-CN" sz="1600"/>
              <a:t>K-Fold</a:t>
            </a:r>
            <a:r>
              <a:rPr lang="zh-CN" altLang="en-US" sz="1600"/>
              <a:t>交叉验证，从粗到细计算出四个层级的地理区域均价，包括：</a:t>
            </a:r>
            <a:r>
              <a:rPr lang="en-US" altLang="zh-CN" sz="1600"/>
              <a:t>City_TE</a:t>
            </a:r>
            <a:r>
              <a:rPr lang="zh-CN" altLang="en-US" sz="1600"/>
              <a:t>（城市均价）、</a:t>
            </a:r>
            <a:r>
              <a:rPr lang="en-US" altLang="zh-CN" sz="1600"/>
              <a:t>Region_TE</a:t>
            </a:r>
            <a:r>
              <a:rPr lang="zh-CN" altLang="en-US" sz="1600"/>
              <a:t>（区域均价）、</a:t>
            </a:r>
            <a:r>
              <a:rPr lang="en-US" altLang="zh-CN" sz="1600"/>
              <a:t>Block_TE</a:t>
            </a:r>
            <a:r>
              <a:rPr lang="zh-CN" altLang="en-US" sz="1600"/>
              <a:t>（板块均价）以及</a:t>
            </a:r>
            <a:r>
              <a:rPr lang="en-US" altLang="zh-CN" sz="1600"/>
              <a:t>Cluster_TE</a:t>
            </a:r>
            <a:r>
              <a:rPr lang="zh-CN" altLang="en-US" sz="1600"/>
              <a:t>（地理簇均价）</a:t>
            </a:r>
            <a:endParaRPr lang="zh-CN" altLang="en-US" sz="1600"/>
          </a:p>
        </p:txBody>
      </p:sp>
      <p:sp>
        <p:nvSpPr>
          <p:cNvPr id="5" name="文本框 4"/>
          <p:cNvSpPr txBox="1"/>
          <p:nvPr/>
        </p:nvSpPr>
        <p:spPr>
          <a:xfrm>
            <a:off x="387350" y="1817370"/>
            <a:ext cx="1157732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/>
              <a:t>2</a:t>
            </a:r>
            <a:r>
              <a:rPr lang="zh-CN" altLang="en-US" sz="1600"/>
              <a:t>、独热编码：</a:t>
            </a:r>
            <a:endParaRPr lang="zh-CN" altLang="en-US" sz="1600"/>
          </a:p>
          <a:p>
            <a:pPr indent="457200"/>
            <a:r>
              <a:rPr lang="zh-CN" altLang="en-US" sz="1600"/>
              <a:t>反复尝试，首先尝试将地理层次变量</a:t>
            </a:r>
            <a:r>
              <a:rPr lang="en-US" altLang="zh-CN" sz="1600"/>
              <a:t>0/1</a:t>
            </a:r>
            <a:r>
              <a:rPr lang="zh-CN" altLang="en-US" sz="1600"/>
              <a:t>编码，进行预测</a:t>
            </a:r>
            <a:r>
              <a:rPr lang="en-US" altLang="zh-CN" sz="1600"/>
              <a:t>——&gt;</a:t>
            </a:r>
            <a:r>
              <a:rPr lang="zh-CN" altLang="en-US" sz="1600">
                <a:highlight>
                  <a:srgbClr val="FFFF00"/>
                </a:highlight>
              </a:rPr>
              <a:t>添加更多特征</a:t>
            </a:r>
            <a:r>
              <a:rPr lang="en-US" altLang="zh-CN" sz="1600">
                <a:highlight>
                  <a:srgbClr val="FFFF00"/>
                </a:highlight>
              </a:rPr>
              <a:t>“</a:t>
            </a:r>
            <a:r>
              <a:rPr lang="zh-CN" altLang="en-US" sz="1600">
                <a:highlight>
                  <a:srgbClr val="FFFF00"/>
                </a:highlight>
              </a:rPr>
              <a:t>绿化率</a:t>
            </a:r>
            <a:r>
              <a:rPr lang="en-US" altLang="zh-CN" sz="1600">
                <a:highlight>
                  <a:srgbClr val="FFFF00"/>
                </a:highlight>
              </a:rPr>
              <a:t>”</a:t>
            </a:r>
            <a:r>
              <a:rPr lang="zh-CN" altLang="en-US" sz="1600">
                <a:highlight>
                  <a:srgbClr val="FFFF00"/>
                </a:highlight>
              </a:rPr>
              <a:t>、</a:t>
            </a:r>
            <a:r>
              <a:rPr lang="en-US" altLang="zh-CN" sz="1600">
                <a:highlight>
                  <a:srgbClr val="FFFF00"/>
                </a:highlight>
              </a:rPr>
              <a:t>“</a:t>
            </a:r>
            <a:r>
              <a:rPr lang="zh-CN" altLang="en-US" sz="1600">
                <a:highlight>
                  <a:srgbClr val="FFFF00"/>
                </a:highlight>
              </a:rPr>
              <a:t>容积率</a:t>
            </a:r>
            <a:r>
              <a:rPr lang="en-US" altLang="zh-CN" sz="1600">
                <a:highlight>
                  <a:srgbClr val="FFFF00"/>
                </a:highlight>
              </a:rPr>
              <a:t>”</a:t>
            </a:r>
            <a:r>
              <a:rPr lang="zh-CN" altLang="en-US" sz="1600">
                <a:highlight>
                  <a:srgbClr val="FFFF00"/>
                </a:highlight>
              </a:rPr>
              <a:t>，</a:t>
            </a:r>
            <a:r>
              <a:rPr lang="en-US" altLang="zh-CN" sz="1600">
                <a:highlight>
                  <a:srgbClr val="FFFF00"/>
                </a:highlight>
              </a:rPr>
              <a:t>“</a:t>
            </a:r>
            <a:r>
              <a:rPr lang="zh-CN" altLang="en-US" sz="1600">
                <a:highlight>
                  <a:srgbClr val="FFFF00"/>
                </a:highlight>
              </a:rPr>
              <a:t>停车费</a:t>
            </a:r>
            <a:r>
              <a:rPr lang="en-US" altLang="zh-CN" sz="1600">
                <a:highlight>
                  <a:srgbClr val="FFFF00"/>
                </a:highlight>
              </a:rPr>
              <a:t>”...</a:t>
            </a:r>
            <a:r>
              <a:rPr lang="zh-CN" altLang="en-US" sz="1600">
                <a:highlight>
                  <a:srgbClr val="FFFF00"/>
                </a:highlight>
              </a:rPr>
              <a:t>再次预测</a:t>
            </a:r>
            <a:r>
              <a:rPr lang="zh-CN" altLang="en-US" sz="1600"/>
              <a:t>，</a:t>
            </a:r>
            <a:r>
              <a:rPr lang="en-US" altLang="zh-CN" sz="1600"/>
              <a:t>optuna</a:t>
            </a:r>
            <a:r>
              <a:rPr lang="zh-CN" altLang="en-US" sz="1600"/>
              <a:t>调参</a:t>
            </a:r>
            <a:r>
              <a:rPr lang="en-US" altLang="zh-CN" sz="1600"/>
              <a:t>——&gt;</a:t>
            </a:r>
            <a:r>
              <a:rPr lang="zh-CN" altLang="en-US" sz="1600"/>
              <a:t>几乎将所有缺失值在一半以下的特征加入，并取消将区域、板块等编码</a:t>
            </a:r>
            <a:r>
              <a:rPr lang="en-US" altLang="zh-CN" sz="1600"/>
              <a:t>——&gt;</a:t>
            </a:r>
            <a:r>
              <a:rPr lang="zh-CN" altLang="en-US" sz="1600"/>
              <a:t>加入</a:t>
            </a:r>
            <a:r>
              <a:rPr lang="en-US" altLang="zh-CN" sz="1600"/>
              <a:t>Kmeans</a:t>
            </a:r>
            <a:r>
              <a:rPr lang="zh-CN" altLang="en-US" sz="1600"/>
              <a:t>目标编码，同样不对地理特征</a:t>
            </a:r>
            <a:r>
              <a:rPr lang="en-US" altLang="zh-CN" sz="1600"/>
              <a:t>0/1</a:t>
            </a:r>
            <a:r>
              <a:rPr lang="zh-CN" altLang="en-US" sz="1600"/>
              <a:t>编码</a:t>
            </a:r>
            <a:endParaRPr lang="zh-CN" altLang="en-US" sz="1600"/>
          </a:p>
          <a:p>
            <a:pPr indent="457200"/>
            <a:r>
              <a:rPr lang="zh-CN" altLang="en-US" sz="1600"/>
              <a:t>以上每次改变，均尝试</a:t>
            </a:r>
            <a:r>
              <a:rPr lang="en-US" altLang="zh-CN" sz="1600"/>
              <a:t>XGBoost/ANN/CatBoost</a:t>
            </a:r>
            <a:r>
              <a:rPr lang="zh-CN" altLang="en-US" sz="1600"/>
              <a:t>模型，但是效果并不显著。</a:t>
            </a:r>
            <a:r>
              <a:rPr lang="zh-CN" altLang="en-US" sz="1600">
                <a:sym typeface="+mn-ea"/>
              </a:rPr>
              <a:t>如地理区位编码，则利用</a:t>
            </a:r>
            <a:r>
              <a:rPr lang="en-US" altLang="zh-CN" sz="1600">
                <a:sym typeface="+mn-ea"/>
              </a:rPr>
              <a:t>lon,lat</a:t>
            </a:r>
            <a:r>
              <a:rPr lang="zh-CN" altLang="en-US" sz="1600">
                <a:sym typeface="+mn-ea"/>
              </a:rPr>
              <a:t>来</a:t>
            </a:r>
            <a:r>
              <a:rPr lang="en-US" altLang="zh-CN" sz="1600">
                <a:sym typeface="+mn-ea"/>
              </a:rPr>
              <a:t>KNN</a:t>
            </a:r>
            <a:endParaRPr lang="zh-CN" altLang="en-US" sz="1600"/>
          </a:p>
        </p:txBody>
      </p:sp>
      <p:graphicFrame>
        <p:nvGraphicFramePr>
          <p:cNvPr id="6" name="表格 5"/>
          <p:cNvGraphicFramePr/>
          <p:nvPr/>
        </p:nvGraphicFramePr>
        <p:xfrm>
          <a:off x="418465" y="3989070"/>
          <a:ext cx="5988050" cy="2552065"/>
        </p:xfrm>
        <a:graphic>
          <a:graphicData uri="http://schemas.openxmlformats.org/drawingml/2006/table">
            <a:tbl>
              <a:tblPr/>
              <a:tblGrid>
                <a:gridCol w="1048385"/>
                <a:gridCol w="708025"/>
                <a:gridCol w="1043940"/>
                <a:gridCol w="1082040"/>
                <a:gridCol w="1099820"/>
                <a:gridCol w="1005840"/>
              </a:tblGrid>
              <a:tr h="289560"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模型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类型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样本内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样本外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交叉验证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Kaggle </a:t>
                      </a:r>
                      <a:r>
                        <a:rPr lang="zh-CN" altLang="en-US" sz="1100"/>
                        <a:t>得分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RF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Buy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312359.2373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429164.3271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339182.0271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76.9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RF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Rent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431279.4661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527074.8996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433412.5980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76.9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XGBoost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Buy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226921.4221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485628.4642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2337314.4295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76.5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8925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XGBoost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Rent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278915.1220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567291.3142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349872.6571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76.5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CatBoost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Buy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76129.0012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79978.0235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170021.1652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75.4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CatBoost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Rent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88038.6823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168746.7837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109067.7999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75.4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ANN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Buy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683211.4412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709261.2397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1024571.6655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75.0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ANN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Rent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573191.2324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689265.1978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984712.1076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75.0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6560185" y="4511040"/>
            <a:ext cx="545274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CTGAN</a:t>
            </a:r>
            <a:r>
              <a:rPr lang="zh-CN" altLang="en-US" b="1"/>
              <a:t>模型作</a:t>
            </a:r>
            <a:r>
              <a:rPr lang="en-US" altLang="zh-CN" b="1"/>
              <a:t>“</a:t>
            </a:r>
            <a:r>
              <a:rPr lang="zh-CN" altLang="en-US" b="1"/>
              <a:t>生成器</a:t>
            </a:r>
            <a:r>
              <a:rPr lang="en-US" altLang="zh-CN" b="1"/>
              <a:t>”</a:t>
            </a:r>
            <a:r>
              <a:rPr lang="zh-CN" altLang="en-US"/>
              <a:t>，与</a:t>
            </a:r>
            <a:r>
              <a:rPr lang="en-US" altLang="zh-CN"/>
              <a:t>“</a:t>
            </a:r>
            <a:r>
              <a:rPr lang="zh-CN" altLang="en-US" b="1"/>
              <a:t>判别器</a:t>
            </a:r>
            <a:r>
              <a:rPr lang="en-US" altLang="zh-CN" b="1"/>
              <a:t>”</a:t>
            </a:r>
            <a:r>
              <a:rPr lang="zh-CN" altLang="en-US" b="1"/>
              <a:t>对抗性训练</a:t>
            </a:r>
            <a:r>
              <a:rPr lang="zh-CN" altLang="en-US"/>
              <a:t>：生成器试图生成假数据，判别器努力区分真实数据与生成数据。经多轮博弈，生成器逐渐掌握数据的分布和列间关联（</a:t>
            </a:r>
            <a:r>
              <a:rPr lang="en-US" altLang="zh-CN"/>
              <a:t>eg:“</a:t>
            </a:r>
            <a:r>
              <a:rPr lang="zh-CN" altLang="en-US"/>
              <a:t>面积</a:t>
            </a:r>
            <a:r>
              <a:rPr lang="en-US" altLang="zh-CN"/>
              <a:t>”</a:t>
            </a:r>
            <a:r>
              <a:rPr lang="zh-CN" altLang="en-US"/>
              <a:t>与</a:t>
            </a:r>
            <a:r>
              <a:rPr lang="en-US" altLang="zh-CN"/>
              <a:t>“</a:t>
            </a:r>
            <a:r>
              <a:rPr lang="zh-CN" altLang="en-US"/>
              <a:t>物业费</a:t>
            </a:r>
            <a:r>
              <a:rPr lang="en-US" altLang="zh-CN"/>
              <a:t>”</a:t>
            </a:r>
            <a:r>
              <a:rPr lang="zh-CN" altLang="en-US"/>
              <a:t>的正相关性）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训练完成后，模型采样生成数据。数字还原为带单位的字符串，生成不重复的新</a:t>
            </a:r>
            <a:r>
              <a:rPr lang="en-US" altLang="zh-CN"/>
              <a:t>ID</a:t>
            </a:r>
            <a:r>
              <a:rPr lang="zh-CN" altLang="en-US"/>
              <a:t>。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92430" y="3541395"/>
            <a:ext cx="55746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4</a:t>
            </a:r>
            <a:r>
              <a:rPr lang="zh-CN" altLang="en-US" b="1"/>
              <a:t>、探索</a:t>
            </a:r>
            <a:r>
              <a:rPr lang="zh-CN" altLang="en-US"/>
              <a:t>：尝试利用</a:t>
            </a:r>
            <a:r>
              <a:rPr lang="zh-CN" altLang="en-US" b="1"/>
              <a:t>对抗神经网络</a:t>
            </a:r>
            <a:r>
              <a:rPr lang="zh-CN" altLang="en-US"/>
              <a:t>生成</a:t>
            </a:r>
            <a:r>
              <a:rPr lang="zh-CN" altLang="en-US"/>
              <a:t>更多训练数据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392430" y="3124835"/>
            <a:ext cx="60750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/>
              <a:t>3</a:t>
            </a:r>
            <a:r>
              <a:rPr lang="zh-CN" altLang="en-US" sz="1600"/>
              <a:t>、利用树模型，将</a:t>
            </a:r>
            <a:r>
              <a:rPr lang="en-US" altLang="zh-CN" sz="1600"/>
              <a:t>RF</a:t>
            </a:r>
            <a:r>
              <a:rPr lang="zh-CN" altLang="en-US" sz="1600"/>
              <a:t>结果和</a:t>
            </a:r>
            <a:r>
              <a:rPr lang="en-US" altLang="zh-CN" sz="1600"/>
              <a:t>OLS</a:t>
            </a:r>
            <a:r>
              <a:rPr lang="zh-CN" altLang="en-US" sz="1600"/>
              <a:t>叠加，进行预测</a:t>
            </a:r>
            <a:endParaRPr lang="zh-CN" altLang="en-US" sz="1600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2825" y="3142615"/>
            <a:ext cx="2395220" cy="13684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  <p:bldLst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699245" y="2119632"/>
            <a:ext cx="10793511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600" b="1" dirty="0">
                <a:solidFill>
                  <a:srgbClr val="55B577"/>
                </a:solidFill>
                <a:latin typeface="微软雅黑" panose="020B0503020204020204" charset="-122"/>
                <a:ea typeface="微软雅黑" panose="020B0503020204020204" charset="-122"/>
              </a:rPr>
              <a:t>谢谢大家</a:t>
            </a:r>
            <a:endParaRPr lang="zh-CN" altLang="en-US" sz="6600" b="1" dirty="0">
              <a:solidFill>
                <a:srgbClr val="55B5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2190751" y="3320533"/>
            <a:ext cx="7810499" cy="3683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b="1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Thank you for your listening</a:t>
            </a:r>
            <a:endParaRPr lang="en-US" altLang="zh-CN" b="1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PA_直接连接符 20"/>
          <p:cNvCxnSpPr/>
          <p:nvPr>
            <p:custDataLst>
              <p:tags r:id="rId1"/>
            </p:custDataLst>
          </p:nvPr>
        </p:nvCxnSpPr>
        <p:spPr>
          <a:xfrm>
            <a:off x="2009775" y="3303828"/>
            <a:ext cx="8172450" cy="0"/>
          </a:xfrm>
          <a:prstGeom prst="line">
            <a:avLst/>
          </a:prstGeom>
          <a:ln w="12700">
            <a:solidFill>
              <a:srgbClr val="55B5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0009" y="4352955"/>
            <a:ext cx="5797798" cy="2505673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580" y="4065512"/>
            <a:ext cx="6614733" cy="2956816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0945" y="5862431"/>
            <a:ext cx="713294" cy="1639966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9724" y="3948890"/>
            <a:ext cx="1109568" cy="1597290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3029" y="6065161"/>
            <a:ext cx="987638" cy="1914310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9142" y="4300268"/>
            <a:ext cx="993734" cy="1743607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1521" y="178150"/>
            <a:ext cx="1828959" cy="170093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p="http://schemas.openxmlformats.org/presentationml/2006/main">
  <p:tag name="PA" val="v3.2.0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1_1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SUBTYPE" val="d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DIAGRAM_MAX_ITEMCNT" val="12"/>
  <p:tag name="KSO_WM_DIAGRAM_MIN_ITEMCNT" val="2"/>
  <p:tag name="KSO_WM_DIAGRAM_VIRTUALLY_FRAME" val="{&quot;height&quot;:392.6499969482422,&quot;left&quot;:0,&quot;top&quot;:104.5,&quot;width&quot;:906.47499389648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.3000000119209289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5,6,5,6,5,6]}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2_2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TYPE" val="l_h_i"/>
  <p:tag name="KSO_WM_UNIT_INDEX" val="1_2_2"/>
  <p:tag name="KSO_WM_DIAGRAM_VERSION" val="3"/>
  <p:tag name="KSO_WM_DIAGRAM_COLOR_TRICK" val="1"/>
  <p:tag name="KSO_WM_DIAGRAM_COLOR_TEXT_CAN_REMOVE" val="n"/>
  <p:tag name="KSO_WM_UNIT_LINE_FORE_SCHEMECOLOR_INDEX" val="5"/>
  <p:tag name="KSO_WM_DIAGRAM_MAX_ITEMCNT" val="12"/>
  <p:tag name="KSO_WM_DIAGRAM_MIN_ITEMCNT" val="2"/>
  <p:tag name="KSO_WM_DIAGRAM_VIRTUALLY_FRAME" val="{&quot;height&quot;:392.6499969482422,&quot;left&quot;:0,&quot;top&quot;:104.5,&quot;width&quot;:906.4749938964844}"/>
  <p:tag name="KSO_WM_DIAGRAM_COLOR_MATCH_VALUE" val="{&quot;shape&quot;:{&quot;fill&quot;:{&quot;solid&quot;:{&quot;brightness&quot;:0,&quot;colorType&quot;:1,&quot;foreColorIndex&quot;:2,&quot;transparency&quot;:1},&quot;type&quot;:1},&quot;glow&quot;:{&quot;colorType&quot;:0},&quot;line&quot;:{&quot;solidLine&quot;:{&quot;brightness&quot;:0,&quot;colorType&quot;:1,&quot;foreColorIndex&quot;:5,&quot;transparency&quot;:0.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5,6,5,6,5,6]}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3_2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TYPE" val="l_h_i"/>
  <p:tag name="KSO_WM_UNIT_INDEX" val="1_3_2"/>
  <p:tag name="KSO_WM_DIAGRAM_VERSION" val="3"/>
  <p:tag name="KSO_WM_DIAGRAM_COLOR_TRICK" val="1"/>
  <p:tag name="KSO_WM_DIAGRAM_COLOR_TEXT_CAN_REMOVE" val="n"/>
  <p:tag name="KSO_WM_UNIT_LINE_FORE_SCHEMECOLOR_INDEX" val="5"/>
  <p:tag name="KSO_WM_DIAGRAM_MAX_ITEMCNT" val="12"/>
  <p:tag name="KSO_WM_DIAGRAM_MIN_ITEMCNT" val="2"/>
  <p:tag name="KSO_WM_DIAGRAM_VIRTUALLY_FRAME" val="{&quot;height&quot;:392.6499969482422,&quot;left&quot;:0,&quot;top&quot;:104.5,&quot;width&quot;:906.4749938964844}"/>
  <p:tag name="KSO_WM_DIAGRAM_COLOR_MATCH_VALUE" val="{&quot;shape&quot;:{&quot;fill&quot;:{&quot;solid&quot;:{&quot;brightness&quot;:0,&quot;colorType&quot;:1,&quot;foreColorIndex&quot;:2,&quot;transparency&quot;:1},&quot;type&quot;:1},&quot;glow&quot;:{&quot;colorType&quot;:0},&quot;line&quot;:{&quot;solidLine&quot;:{&quot;brightness&quot;:0,&quot;colorType&quot;:1,&quot;foreColorIndex&quot;:5,&quot;transparency&quot;:0.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5,6,5,6,5,6]}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2_1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SUBTYPE" val="d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DIAGRAM_MAX_ITEMCNT" val="12"/>
  <p:tag name="KSO_WM_DIAGRAM_MIN_ITEMCNT" val="2"/>
  <p:tag name="KSO_WM_DIAGRAM_VIRTUALLY_FRAME" val="{&quot;height&quot;:392.6499969482422,&quot;left&quot;:0,&quot;top&quot;:104.5,&quot;width&quot;:906.47499389648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.3000000119209289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5,6,5,6,5,6]}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3_1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SUBTYPE" val="d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DIAGRAM_MAX_ITEMCNT" val="12"/>
  <p:tag name="KSO_WM_DIAGRAM_MIN_ITEMCNT" val="2"/>
  <p:tag name="KSO_WM_DIAGRAM_VIRTUALLY_FRAME" val="{&quot;height&quot;:392.6499969482422,&quot;left&quot;:0,&quot;top&quot;:104.5,&quot;width&quot;:906.47499389648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.3000000119209289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5,6,5,6,5,6]}"/>
</p:tagLst>
</file>

<file path=ppt/tags/tag7.xml><?xml version="1.0" encoding="utf-8"?>
<p:tagLst xmlns:p="http://schemas.openxmlformats.org/presentationml/2006/main">
  <p:tag name="MH_TYPE" val="#NeiR#"/>
  <p:tag name="MH_NUMBER" val="4"/>
  <p:tag name="MH_CATEGORY" val="#ShuJTB#"/>
  <p:tag name="MH_LAYOUT" val="SubTitleTextDesc"/>
  <p:tag name="MH" val="20170612183528"/>
  <p:tag name="MH_LIBRARY" val="GRAPHIC"/>
  <p:tag name="RESOURCE_RECORD_KEY" val="{&quot;70&quot;:[3324636]}"/>
</p:tagLst>
</file>

<file path=ppt/tags/tag8.xml><?xml version="1.0" encoding="utf-8"?>
<p:tagLst xmlns:p="http://schemas.openxmlformats.org/presentationml/2006/main">
  <p:tag name="PA" val="v3.2.0"/>
</p:tagLst>
</file>

<file path=ppt/tags/tag9.xml><?xml version="1.0" encoding="utf-8"?>
<p:tagLst xmlns:p="http://schemas.openxmlformats.org/presentationml/2006/main">
  <p:tag name="ISPRING_PRESENTATION_TITLE" val="彩色叶子手绘小清新ppt"/>
  <p:tag name="RESOURCE_RECORD_KEY" val="{&quot;70&quot;:[3333435,3324636]}"/>
  <p:tag name="resource_record_key" val="{&quot;70&quot;:[3333435,3324636,3333497]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318C80"/>
      </a:accent1>
      <a:accent2>
        <a:srgbClr val="F2CF61"/>
      </a:accent2>
      <a:accent3>
        <a:srgbClr val="A6E582"/>
      </a:accent3>
      <a:accent4>
        <a:srgbClr val="51D9B5"/>
      </a:accent4>
      <a:accent5>
        <a:srgbClr val="D95B5B"/>
      </a:accent5>
      <a:accent6>
        <a:srgbClr val="BFBFBF"/>
      </a:accent6>
      <a:hlink>
        <a:srgbClr val="318C80"/>
      </a:hlink>
      <a:folHlink>
        <a:srgbClr val="BFBFBF"/>
      </a:folHlink>
    </a:clrScheme>
    <a:fontScheme name="自定义 6">
      <a:majorFont>
        <a:latin typeface="Arial"/>
        <a:ea typeface="微软雅黑"/>
        <a:cs typeface=""/>
      </a:majorFont>
      <a:minorFont>
        <a:latin typeface="Arial Unicode MS"/>
        <a:ea typeface="思源宋体 C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1853</Words>
  <Application>WPS 演示</Application>
  <PresentationFormat>宽屏</PresentationFormat>
  <Paragraphs>183</Paragraphs>
  <Slides>5</Slides>
  <Notes>15</Notes>
  <HiddenSlides>0</HiddenSlides>
  <MMClips>1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22" baseType="lpstr">
      <vt:lpstr>Arial</vt:lpstr>
      <vt:lpstr>宋体</vt:lpstr>
      <vt:lpstr>Wingdings</vt:lpstr>
      <vt:lpstr>迷你简细倩</vt:lpstr>
      <vt:lpstr>微软雅黑</vt:lpstr>
      <vt:lpstr>华文中宋</vt:lpstr>
      <vt:lpstr>思源宋体 CN</vt:lpstr>
      <vt:lpstr>Times New Roman</vt:lpstr>
      <vt:lpstr>Arial Unicode MS</vt:lpstr>
      <vt:lpstr>等线</vt:lpstr>
      <vt:lpstr>Calibri</vt:lpstr>
      <vt:lpstr>思源宋体 CN</vt:lpstr>
      <vt:lpstr>迷你简细倩</vt:lpstr>
      <vt:lpstr>迷你小奶狗</vt:lpstr>
      <vt:lpstr>锦绣宋体</vt:lpstr>
      <vt:lpstr>Wonder 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温馨</cp:lastModifiedBy>
  <cp:revision>49</cp:revision>
  <dcterms:created xsi:type="dcterms:W3CDTF">2017-06-12T02:12:00Z</dcterms:created>
  <dcterms:modified xsi:type="dcterms:W3CDTF">2025-12-24T15:16:56Z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DB98277765884898A0092DDDA67FDBE7_13</vt:lpwstr>
  </property>
  <property fmtid="{D5CDD505-2E9C-101B-9397-08002B2CF9AE}" pid="3" name="KSOProductBuildVer">
    <vt:lpwstr>2052-12.1.0.24034</vt:lpwstr>
  </property>
</Properties>
</file>