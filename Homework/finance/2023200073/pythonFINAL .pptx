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307" r:id="rId5"/>
    <p:sldId id="308" r:id="rId6"/>
    <p:sldId id="309" r:id="rId7"/>
    <p:sldId id="287" r:id="rId8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3834" userDrawn="1">
          <p15:clr>
            <a:srgbClr val="A4A3A4"/>
          </p15:clr>
        </p15:guide>
        <p15:guide id="3" orient="horz" pos="20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8C80"/>
    <a:srgbClr val="55B577"/>
    <a:srgbClr val="FF794D"/>
    <a:srgbClr val="DBE084"/>
    <a:srgbClr val="E9DDB8"/>
    <a:srgbClr val="FFBAA3"/>
    <a:srgbClr val="FF6633"/>
    <a:srgbClr val="B3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49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64" y="132"/>
      </p:cViewPr>
      <p:guideLst>
        <p:guide orient="horz" pos="2180"/>
        <p:guide pos="3834"/>
        <p:guide orient="horz" pos="203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66E1AD-4874-4B1B-B944-D773386EB5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040306-04AD-4F7E-A7B0-55444E7BF11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040306-04AD-4F7E-A7B0-55444E7BF1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040306-04AD-4F7E-A7B0-55444E7BF1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E1CC-CD37-41DC-8876-B97219B73E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8FFE-1055-40FE-8FDD-0EF4253403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Tm="5500">
        <p:fade/>
      </p:transition>
    </mc:Choice>
    <mc:Fallback>
      <p:transition spd="med" advTm="55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E1CC-CD37-41DC-8876-B97219B73E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8FFE-1055-40FE-8FDD-0EF4253403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Tm="5500">
        <p:fade/>
      </p:transition>
    </mc:Choice>
    <mc:Fallback>
      <p:transition spd="med" advTm="55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E1CC-CD37-41DC-8876-B97219B73E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8FFE-1055-40FE-8FDD-0EF4253403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Tm="5500">
        <p:fade/>
      </p:transition>
    </mc:Choice>
    <mc:Fallback>
      <p:transition spd="med" advTm="55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E1CC-CD37-41DC-8876-B97219B73E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8FFE-1055-40FE-8FDD-0EF4253403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Tm="5500">
        <p:fade/>
      </p:transition>
    </mc:Choice>
    <mc:Fallback>
      <p:transition spd="med" advTm="55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E1CC-CD37-41DC-8876-B97219B73E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8FFE-1055-40FE-8FDD-0EF4253403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Tm="5500">
        <p:fade/>
      </p:transition>
    </mc:Choice>
    <mc:Fallback>
      <p:transition spd="med" advTm="55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776" y="-1926"/>
            <a:ext cx="6297714" cy="348940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4438" y="262"/>
            <a:ext cx="5907536" cy="348721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95407" y="3442823"/>
            <a:ext cx="5895343" cy="341405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776" y="3442822"/>
            <a:ext cx="6297714" cy="3414056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257175" y="222250"/>
            <a:ext cx="11677650" cy="641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Tm="5500">
        <p:fade/>
      </p:transition>
    </mc:Choice>
    <mc:Fallback>
      <p:transition spd="med" advTm="55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E1CC-CD37-41DC-8876-B97219B73E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8FFE-1055-40FE-8FDD-0EF4253403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Tm="5500">
        <p:fade/>
      </p:transition>
    </mc:Choice>
    <mc:Fallback>
      <p:transition spd="med" advTm="55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E1CC-CD37-41DC-8876-B97219B73E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8FFE-1055-40FE-8FDD-0EF4253403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Tm="5500">
        <p:fade/>
      </p:transition>
    </mc:Choice>
    <mc:Fallback>
      <p:transition spd="med" advTm="55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E1CC-CD37-41DC-8876-B97219B73E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8FFE-1055-40FE-8FDD-0EF4253403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Tm="5500">
        <p:fade/>
      </p:transition>
    </mc:Choice>
    <mc:Fallback>
      <p:transition spd="med" advTm="55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E1CC-CD37-41DC-8876-B97219B73E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8FFE-1055-40FE-8FDD-0EF4253403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Tm="5500">
        <p:fade/>
      </p:transition>
    </mc:Choice>
    <mc:Fallback>
      <p:transition spd="med" advTm="55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E1CC-CD37-41DC-8876-B97219B73E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8FFE-1055-40FE-8FDD-0EF4253403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Tm="5500">
        <p:fade/>
      </p:transition>
    </mc:Choice>
    <mc:Fallback>
      <p:transition spd="med" advTm="55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DB6457-C948-417B-8EE8-ACC088866F13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6F7072-EAC0-4635-9C35-6D2F453D982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Tm="5500">
        <p:fade/>
      </p:transition>
    </mc:Choice>
    <mc:Fallback>
      <p:transition spd="med" advTm="55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DE1CC-CD37-41DC-8876-B97219B73E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F88FFE-1055-40FE-8FDD-0EF4253403D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med" p14:dur="699" advTm="5500">
        <p:fade/>
      </p:transition>
    </mc:Choice>
    <mc:Fallback>
      <p:transition spd="med" advTm="55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迷你简细倩" panose="03000509000000000000" pitchFamily="65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0" Type="http://schemas.openxmlformats.org/officeDocument/2006/relationships/notesSlide" Target="../notesSlides/notesSlide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0" Type="http://schemas.openxmlformats.org/officeDocument/2006/relationships/notesSlide" Target="../notesSlides/notesSlide2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699245" y="2119632"/>
            <a:ext cx="10793511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55B577"/>
                </a:solidFill>
                <a:latin typeface="微软雅黑" panose="020B0503020204020204" charset="-122"/>
                <a:ea typeface="微软雅黑" panose="020B0503020204020204" charset="-122"/>
              </a:rPr>
              <a:t>人工智能与</a:t>
            </a:r>
            <a:r>
              <a:rPr lang="en-US" altLang="zh-CN" sz="5400" b="1" dirty="0">
                <a:solidFill>
                  <a:srgbClr val="55B577"/>
                </a:solidFill>
                <a:latin typeface="微软雅黑" panose="020B0503020204020204" charset="-122"/>
                <a:ea typeface="微软雅黑" panose="020B0503020204020204" charset="-122"/>
              </a:rPr>
              <a:t>python</a:t>
            </a:r>
            <a:r>
              <a:rPr lang="zh-CN" altLang="en-US" sz="5400" b="1" dirty="0">
                <a:solidFill>
                  <a:srgbClr val="55B577"/>
                </a:solidFill>
                <a:latin typeface="微软雅黑" panose="020B0503020204020204" charset="-122"/>
                <a:ea typeface="微软雅黑" panose="020B0503020204020204" charset="-122"/>
              </a:rPr>
              <a:t>期末汇报</a:t>
            </a:r>
            <a:endParaRPr lang="zh-CN" altLang="en-US" sz="5400" b="1" dirty="0">
              <a:solidFill>
                <a:srgbClr val="55B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190751" y="3320533"/>
            <a:ext cx="7810499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000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郝文馨</a:t>
            </a:r>
            <a:r>
              <a:rPr lang="en-US" altLang="zh-CN" sz="2000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</a:t>
            </a:r>
            <a:r>
              <a:rPr lang="en-US" sz="2000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2023200073 </a:t>
            </a:r>
            <a:r>
              <a:rPr lang="zh-CN" altLang="en-US" sz="2000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金融科</a:t>
            </a:r>
            <a:r>
              <a:rPr lang="zh-CN" altLang="en-US" sz="2000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技实验班</a:t>
            </a:r>
            <a:endParaRPr lang="zh-CN" altLang="en-US" sz="2000" dirty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21" name="PA_直接连接符 20"/>
          <p:cNvCxnSpPr/>
          <p:nvPr>
            <p:custDataLst>
              <p:tags r:id="rId1"/>
            </p:custDataLst>
          </p:nvPr>
        </p:nvCxnSpPr>
        <p:spPr>
          <a:xfrm>
            <a:off x="2009775" y="3303828"/>
            <a:ext cx="8172450" cy="0"/>
          </a:xfrm>
          <a:prstGeom prst="line">
            <a:avLst/>
          </a:prstGeom>
          <a:ln w="12700">
            <a:solidFill>
              <a:srgbClr val="55B5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0009" y="4352955"/>
            <a:ext cx="5797798" cy="2505673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580" y="4065512"/>
            <a:ext cx="6614733" cy="2956816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0945" y="5862431"/>
            <a:ext cx="713294" cy="1639966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9724" y="3948890"/>
            <a:ext cx="1109568" cy="159729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3029" y="6065161"/>
            <a:ext cx="987638" cy="191431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9142" y="4300268"/>
            <a:ext cx="993734" cy="1743607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1521" y="178150"/>
            <a:ext cx="1828959" cy="1700931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541020" y="560705"/>
            <a:ext cx="11177270" cy="52165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indent="457200">
              <a:buFont typeface="Arial" panose="020B0604020202020204" pitchFamily="34" charset="0"/>
              <a:buNone/>
            </a:pPr>
            <a:endParaRPr lang="zh-CN" altLang="en-US" dirty="0">
              <a:solidFill>
                <a:schemeClr val="tx1"/>
              </a:solidFill>
              <a:latin typeface="思源宋体 CN" panose="02020400000000000000" pitchFamily="18" charset="-122"/>
              <a:ea typeface="思源宋体 CN" panose="02020400000000000000" pitchFamily="18" charset="-122"/>
            </a:endParaRPr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1.</a:t>
            </a:r>
            <a:r>
              <a:rPr lang="zh-CN" altLang="en-US" b="1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利用地理层级</a:t>
            </a:r>
            <a:r>
              <a:rPr lang="zh-CN" altLang="en-US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补全空值、处理训练集未出现过的新区域、</a:t>
            </a:r>
            <a:r>
              <a:rPr lang="zh-CN" altLang="en-US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板块：</a:t>
            </a:r>
            <a:endParaRPr lang="zh-CN" altLang="en-US" dirty="0">
              <a:solidFill>
                <a:schemeClr val="tx1"/>
              </a:solidFill>
              <a:latin typeface="思源宋体 CN" panose="02020400000000000000" pitchFamily="18" charset="-122"/>
              <a:ea typeface="思源宋体 CN" panose="02020400000000000000" pitchFamily="18" charset="-122"/>
            </a:endParaRPr>
          </a:p>
          <a:p>
            <a:pPr lvl="0" indent="457200">
              <a:buFont typeface="Arial" panose="020B0604020202020204" pitchFamily="34" charset="0"/>
              <a:buNone/>
            </a:pPr>
            <a:r>
              <a:rPr lang="zh-CN" altLang="en-US" dirty="0"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按照范围大小，得到</a:t>
            </a:r>
            <a:r>
              <a:rPr lang="zh-CN" altLang="en-US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城市</a:t>
            </a:r>
            <a:r>
              <a:rPr lang="en-US" altLang="zh-CN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&gt;</a:t>
            </a:r>
            <a:r>
              <a:rPr lang="zh-CN" altLang="en-US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区域</a:t>
            </a:r>
            <a:r>
              <a:rPr lang="en-US" altLang="zh-CN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&gt;</a:t>
            </a:r>
            <a:r>
              <a:rPr lang="zh-CN" altLang="en-US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板块</a:t>
            </a:r>
            <a:r>
              <a:rPr lang="en-US" altLang="zh-CN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&gt;</a:t>
            </a:r>
            <a:r>
              <a:rPr lang="zh-CN" altLang="en-US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板块</a:t>
            </a:r>
            <a:r>
              <a:rPr lang="en-US" altLang="zh-CN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_comm</a:t>
            </a:r>
            <a:r>
              <a:rPr lang="zh-CN" altLang="en-US" dirty="0"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，是包含关系</a:t>
            </a:r>
            <a:endParaRPr lang="zh-CN" altLang="en-US" dirty="0">
              <a:solidFill>
                <a:schemeClr val="tx1"/>
              </a:solidFill>
              <a:latin typeface="思源宋体 CN" panose="02020400000000000000" pitchFamily="18" charset="-122"/>
              <a:ea typeface="思源宋体 CN" panose="02020400000000000000" pitchFamily="18" charset="-12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缺失值补全：</a:t>
            </a:r>
            <a:endParaRPr lang="zh-CN" altLang="en-US" dirty="0">
              <a:solidFill>
                <a:schemeClr val="tx1"/>
              </a:solidFill>
              <a:latin typeface="思源宋体 CN" panose="02020400000000000000" pitchFamily="18" charset="-122"/>
              <a:ea typeface="思源宋体 CN" panose="02020400000000000000" pitchFamily="18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逐层从大到小筛选邻居，例如：某样本</a:t>
            </a:r>
            <a:r>
              <a:rPr lang="en-US" altLang="zh-CN" dirty="0"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'</a:t>
            </a:r>
            <a:r>
              <a:rPr lang="zh-CN" altLang="en-US" dirty="0"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环线</a:t>
            </a:r>
            <a:r>
              <a:rPr lang="en-US" altLang="zh-CN" dirty="0"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'</a:t>
            </a:r>
            <a:r>
              <a:rPr lang="zh-CN" altLang="en-US" dirty="0"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取值为空，就先去找和该元组四个层级都相同的邻居们，如果找不到则后退寻找城市、区域、板块三列相同的邻居们，以此类推。</a:t>
            </a:r>
            <a:endParaRPr lang="zh-CN" altLang="en-US" dirty="0">
              <a:latin typeface="思源宋体 CN" panose="02020400000000000000" pitchFamily="18" charset="-122"/>
              <a:ea typeface="思源宋体 CN" panose="02020400000000000000" pitchFamily="18" charset="-122"/>
              <a:sym typeface="+mn-ea"/>
            </a:endParaRPr>
          </a:p>
          <a:p>
            <a:pPr lvl="1" indent="0">
              <a:buFont typeface="Arial" panose="020B0604020202020204" pitchFamily="34" charset="0"/>
              <a:buNone/>
            </a:pPr>
            <a:endParaRPr lang="en-US" altLang="zh-CN" dirty="0">
              <a:latin typeface="思源宋体 CN" panose="02020400000000000000" pitchFamily="18" charset="-122"/>
              <a:ea typeface="思源宋体 CN" panose="02020400000000000000" pitchFamily="18" charset="-122"/>
              <a:sym typeface="+mn-ea"/>
            </a:endParaRPr>
          </a:p>
          <a:p>
            <a:pPr lvl="1" indent="0">
              <a:buFont typeface="Arial" panose="020B0604020202020204" pitchFamily="34" charset="0"/>
              <a:buNone/>
            </a:pPr>
            <a:endParaRPr lang="en-US" altLang="zh-CN" dirty="0">
              <a:latin typeface="思源宋体 CN" panose="02020400000000000000" pitchFamily="18" charset="-122"/>
              <a:ea typeface="思源宋体 CN" panose="02020400000000000000" pitchFamily="18" charset="-122"/>
              <a:sym typeface="+mn-ea"/>
            </a:endParaRPr>
          </a:p>
          <a:p>
            <a:pPr lvl="1" indent="0">
              <a:buFont typeface="Arial" panose="020B0604020202020204" pitchFamily="34" charset="0"/>
              <a:buNone/>
            </a:pPr>
            <a:endParaRPr lang="en-US" altLang="zh-CN" dirty="0">
              <a:latin typeface="思源宋体 CN" panose="02020400000000000000" pitchFamily="18" charset="-122"/>
              <a:ea typeface="思源宋体 CN" panose="02020400000000000000" pitchFamily="18" charset="-122"/>
              <a:sym typeface="+mn-ea"/>
            </a:endParaRPr>
          </a:p>
          <a:p>
            <a:pPr lvl="1" indent="0">
              <a:buFont typeface="Arial" panose="020B0604020202020204" pitchFamily="34" charset="0"/>
              <a:buNone/>
            </a:pPr>
            <a:endParaRPr lang="en-US" altLang="zh-CN" dirty="0">
              <a:latin typeface="思源宋体 CN" panose="02020400000000000000" pitchFamily="18" charset="-122"/>
              <a:ea typeface="思源宋体 CN" panose="02020400000000000000" pitchFamily="18" charset="-122"/>
              <a:sym typeface="+mn-ea"/>
            </a:endParaRPr>
          </a:p>
          <a:p>
            <a:pPr lvl="1" indent="0">
              <a:buFont typeface="Arial" panose="020B0604020202020204" pitchFamily="34" charset="0"/>
              <a:buNone/>
            </a:pPr>
            <a:endParaRPr lang="en-US" altLang="zh-CN" dirty="0">
              <a:latin typeface="思源宋体 CN" panose="02020400000000000000" pitchFamily="18" charset="-122"/>
              <a:ea typeface="思源宋体 CN" panose="02020400000000000000" pitchFamily="18" charset="-122"/>
              <a:sym typeface="+mn-ea"/>
            </a:endParaRPr>
          </a:p>
          <a:p>
            <a:pPr lvl="1" indent="0">
              <a:buFont typeface="Arial" panose="020B0604020202020204" pitchFamily="34" charset="0"/>
              <a:buNone/>
            </a:pPr>
            <a:endParaRPr lang="en-US" altLang="zh-CN" dirty="0">
              <a:latin typeface="思源宋体 CN" panose="02020400000000000000" pitchFamily="18" charset="-122"/>
              <a:ea typeface="思源宋体 CN" panose="02020400000000000000" pitchFamily="18" charset="-122"/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先估计某小区的</a:t>
            </a:r>
            <a:r>
              <a:rPr lang="en-US" altLang="zh-CN" dirty="0"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“</a:t>
            </a:r>
            <a:r>
              <a:rPr lang="zh-CN" altLang="en-US" dirty="0"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套内面积</a:t>
            </a:r>
            <a:r>
              <a:rPr lang="en-US" altLang="zh-CN" dirty="0"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/</a:t>
            </a:r>
            <a:r>
              <a:rPr lang="zh-CN" altLang="en-US" dirty="0"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建筑面积</a:t>
            </a:r>
            <a:r>
              <a:rPr lang="en-US" altLang="zh-CN" dirty="0"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”</a:t>
            </a:r>
            <a:r>
              <a:rPr lang="zh-CN" altLang="en-US" dirty="0"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比，再由</a:t>
            </a:r>
            <a:r>
              <a:rPr lang="en-US" altLang="zh-CN" dirty="0"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“</a:t>
            </a:r>
            <a:r>
              <a:rPr lang="zh-CN" altLang="en-US" dirty="0"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建筑面积</a:t>
            </a:r>
            <a:r>
              <a:rPr lang="en-US" altLang="zh-CN" dirty="0"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”</a:t>
            </a:r>
            <a:r>
              <a:rPr lang="zh-CN" altLang="en-US" dirty="0"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补全</a:t>
            </a:r>
            <a:r>
              <a:rPr lang="en-US" altLang="zh-CN" dirty="0"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“</a:t>
            </a:r>
            <a:r>
              <a:rPr lang="zh-CN" altLang="en-US" dirty="0"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套内面积</a:t>
            </a:r>
            <a:r>
              <a:rPr lang="en-US" altLang="zh-CN" dirty="0">
                <a:latin typeface="思源宋体 CN" panose="02020400000000000000" pitchFamily="18" charset="-122"/>
                <a:ea typeface="思源宋体 CN" panose="02020400000000000000" pitchFamily="18" charset="-122"/>
                <a:sym typeface="+mn-ea"/>
              </a:rPr>
              <a:t>”</a:t>
            </a:r>
            <a:endParaRPr lang="zh-CN" altLang="en-US" dirty="0">
              <a:solidFill>
                <a:schemeClr val="tx1"/>
              </a:solidFill>
              <a:latin typeface="思源宋体 CN" panose="02020400000000000000" pitchFamily="18" charset="-122"/>
              <a:ea typeface="思源宋体 CN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18765" y="25273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800" b="1" dirty="0">
                <a:latin typeface="迷你简细倩" panose="03000509000000000000" pitchFamily="65" charset="-122"/>
                <a:ea typeface="迷你简细倩" panose="03000509000000000000" pitchFamily="65" charset="-122"/>
                <a:sym typeface="+mn-ea"/>
              </a:rPr>
              <a:t>数据处理</a:t>
            </a:r>
            <a:endParaRPr lang="zh-CN" altLang="en-US" sz="2800" b="1" dirty="0">
              <a:latin typeface="迷你简细倩" panose="03000509000000000000" pitchFamily="65" charset="-122"/>
              <a:ea typeface="迷你简细倩" panose="03000509000000000000" pitchFamily="65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965" y="2332990"/>
            <a:ext cx="7439025" cy="1457325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751205" y="4737100"/>
            <a:ext cx="9853295" cy="2120900"/>
            <a:chOff x="689" y="7328"/>
            <a:chExt cx="15517" cy="3340"/>
          </a:xfrm>
        </p:grpSpPr>
        <p:sp>
          <p:nvSpPr>
            <p:cNvPr id="7" name="文本框 6"/>
            <p:cNvSpPr txBox="1"/>
            <p:nvPr/>
          </p:nvSpPr>
          <p:spPr>
            <a:xfrm>
              <a:off x="689" y="7982"/>
              <a:ext cx="7386" cy="2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假设和新元组城市、区域、板块都相同的邻居有</a:t>
              </a:r>
              <a:r>
                <a:rPr lang="en-US" altLang="zh-CN"/>
                <a:t>5</a:t>
              </a:r>
              <a:r>
                <a:rPr lang="zh-CN" altLang="en-US"/>
                <a:t>个，所以每个邻居应该权重</a:t>
              </a:r>
              <a:r>
                <a:rPr lang="en-US" altLang="zh-CN"/>
                <a:t>0.2</a:t>
              </a:r>
              <a:r>
                <a:rPr lang="zh-CN" altLang="en-US"/>
                <a:t>。前四个邻居假设都是小区</a:t>
              </a:r>
              <a:r>
                <a:rPr lang="en-US" altLang="zh-CN"/>
                <a:t>1</a:t>
              </a:r>
              <a:r>
                <a:rPr lang="zh-CN" altLang="en-US"/>
                <a:t>，所以新元组对应小区</a:t>
              </a:r>
              <a:r>
                <a:rPr lang="en-US" altLang="zh-CN"/>
                <a:t>1</a:t>
              </a:r>
              <a:r>
                <a:rPr lang="zh-CN" altLang="en-US"/>
                <a:t>这列的取值就是</a:t>
              </a:r>
              <a:r>
                <a:rPr lang="en-US" altLang="zh-CN"/>
                <a:t>4*0.2</a:t>
              </a:r>
              <a:r>
                <a:rPr lang="zh-CN" altLang="en-US"/>
                <a:t>，小区</a:t>
              </a:r>
              <a:r>
                <a:rPr lang="en-US" altLang="zh-CN"/>
                <a:t>2</a:t>
              </a:r>
              <a:r>
                <a:rPr lang="zh-CN" altLang="en-US"/>
                <a:t>的取值就是</a:t>
              </a:r>
              <a:r>
                <a:rPr lang="en-US" altLang="zh-CN"/>
                <a:t>0.2</a:t>
              </a:r>
              <a:r>
                <a:rPr lang="zh-CN" altLang="en-US"/>
                <a:t>，剩下的小区类的虚拟变量都取</a:t>
              </a: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9060" y="7908"/>
              <a:ext cx="7146" cy="2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遇到新小区时，去测试集寻找同一个城市、区域、板块的旧小区。假如新小区</a:t>
              </a:r>
              <a:r>
                <a:rPr lang="en-US" altLang="zh-CN"/>
                <a:t>4</a:t>
              </a:r>
              <a:r>
                <a:rPr lang="zh-CN" altLang="en-US"/>
                <a:t>号，和旧小区</a:t>
              </a:r>
              <a:r>
                <a:rPr lang="en-US" altLang="zh-CN"/>
                <a:t>1</a:t>
              </a:r>
              <a:r>
                <a:rPr lang="zh-CN" altLang="en-US"/>
                <a:t>、</a:t>
              </a:r>
              <a:r>
                <a:rPr lang="en-US" altLang="zh-CN"/>
                <a:t>2</a:t>
              </a:r>
              <a:r>
                <a:rPr lang="zh-CN" altLang="en-US"/>
                <a:t>、</a:t>
              </a:r>
              <a:r>
                <a:rPr lang="en-US" altLang="zh-CN"/>
                <a:t>3</a:t>
              </a:r>
              <a:r>
                <a:rPr lang="zh-CN" altLang="en-US"/>
                <a:t>在同一个板块。那么所有测试集小区是</a:t>
              </a:r>
              <a:r>
                <a:rPr lang="en-US" altLang="zh-CN"/>
                <a:t>4</a:t>
              </a:r>
              <a:r>
                <a:rPr lang="zh-CN" altLang="en-US"/>
                <a:t>号的样本，小区类虚拟变量只有</a:t>
              </a:r>
              <a:r>
                <a:rPr lang="en-US" altLang="zh-CN"/>
                <a:t>1</a:t>
              </a:r>
              <a:r>
                <a:rPr lang="zh-CN" altLang="en-US"/>
                <a:t>、</a:t>
              </a:r>
              <a:r>
                <a:rPr lang="en-US" altLang="zh-CN"/>
                <a:t>2</a:t>
              </a:r>
              <a:r>
                <a:rPr lang="zh-CN" altLang="en-US"/>
                <a:t>、</a:t>
              </a:r>
              <a:r>
                <a:rPr lang="en-US" altLang="zh-CN"/>
                <a:t>3</a:t>
              </a:r>
              <a:r>
                <a:rPr lang="zh-CN" altLang="en-US"/>
                <a:t>列取值三分之一，剩下小区变量都取</a:t>
              </a:r>
              <a:r>
                <a:rPr lang="en-US" altLang="zh-CN"/>
                <a:t>0</a:t>
              </a:r>
              <a:r>
                <a:rPr lang="zh-CN" altLang="en-US"/>
                <a:t>。</a:t>
              </a:r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631" y="7328"/>
              <a:ext cx="521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indent="0">
                <a:buFont typeface="Arial" panose="020B0604020202020204" pitchFamily="34" charset="0"/>
                <a:buNone/>
              </a:pPr>
              <a:r>
                <a:rPr lang="zh-CN" altLang="en-US" dirty="0">
                  <a:latin typeface="思源宋体 CN" panose="02020400000000000000" pitchFamily="18" charset="-122"/>
                  <a:ea typeface="思源宋体 CN" panose="02020400000000000000" pitchFamily="18" charset="-122"/>
                  <a:sym typeface="+mn-ea"/>
                </a:rPr>
                <a:t>原先是</a:t>
              </a:r>
              <a:r>
                <a:rPr lang="zh-CN" altLang="en-US" b="1" dirty="0">
                  <a:latin typeface="思源宋体 CN" panose="02020400000000000000" pitchFamily="18" charset="-122"/>
                  <a:ea typeface="思源宋体 CN" panose="02020400000000000000" pitchFamily="18" charset="-122"/>
                  <a:sym typeface="+mn-ea"/>
                </a:rPr>
                <a:t>针对测试点</a:t>
              </a:r>
              <a:r>
                <a:rPr lang="zh-CN" altLang="en-US" dirty="0">
                  <a:latin typeface="思源宋体 CN" panose="02020400000000000000" pitchFamily="18" charset="-122"/>
                  <a:ea typeface="思源宋体 CN" panose="02020400000000000000" pitchFamily="18" charset="-122"/>
                  <a:sym typeface="+mn-ea"/>
                </a:rPr>
                <a:t>找邻居：</a:t>
              </a:r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9673" y="7328"/>
              <a:ext cx="521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indent="0">
                <a:buFont typeface="Arial" panose="020B0604020202020204" pitchFamily="34" charset="0"/>
                <a:buNone/>
              </a:pPr>
              <a:r>
                <a:rPr lang="zh-CN" altLang="en-US" dirty="0">
                  <a:latin typeface="思源宋体 CN" panose="02020400000000000000" pitchFamily="18" charset="-122"/>
                  <a:ea typeface="思源宋体 CN" panose="02020400000000000000" pitchFamily="18" charset="-122"/>
                  <a:sym typeface="+mn-ea"/>
                </a:rPr>
                <a:t>现在</a:t>
              </a:r>
              <a:r>
                <a:rPr lang="zh-CN" altLang="en-US" b="1" dirty="0">
                  <a:latin typeface="思源宋体 CN" panose="02020400000000000000" pitchFamily="18" charset="-122"/>
                  <a:ea typeface="思源宋体 CN" panose="02020400000000000000" pitchFamily="18" charset="-122"/>
                  <a:sym typeface="+mn-ea"/>
                </a:rPr>
                <a:t>针对小区</a:t>
              </a:r>
              <a:r>
                <a:rPr lang="zh-CN" altLang="en-US" dirty="0">
                  <a:latin typeface="思源宋体 CN" panose="02020400000000000000" pitchFamily="18" charset="-122"/>
                  <a:ea typeface="思源宋体 CN" panose="02020400000000000000" pitchFamily="18" charset="-122"/>
                  <a:sym typeface="+mn-ea"/>
                </a:rPr>
                <a:t>找邻居：</a:t>
              </a:r>
              <a:endParaRPr lang="zh-CN" altLang="en-US"/>
            </a:p>
          </p:txBody>
        </p:sp>
        <p:sp>
          <p:nvSpPr>
            <p:cNvPr id="12" name="右箭头 11"/>
            <p:cNvSpPr/>
            <p:nvPr/>
          </p:nvSpPr>
          <p:spPr>
            <a:xfrm>
              <a:off x="8063" y="8741"/>
              <a:ext cx="891" cy="433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3" name="右箭头 12"/>
          <p:cNvSpPr/>
          <p:nvPr/>
        </p:nvSpPr>
        <p:spPr>
          <a:xfrm>
            <a:off x="10441940" y="5634355"/>
            <a:ext cx="527685" cy="274955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893425" y="5105400"/>
            <a:ext cx="144335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ym typeface="+mn-ea"/>
              </a:rPr>
              <a:t>不按照</a:t>
            </a:r>
            <a:endParaRPr lang="zh-CN" altLang="en-US">
              <a:sym typeface="+mn-ea"/>
            </a:endParaRPr>
          </a:p>
          <a:p>
            <a:pPr algn="ctr"/>
            <a:r>
              <a:rPr lang="zh-CN" altLang="en-US">
                <a:sym typeface="+mn-ea"/>
              </a:rPr>
              <a:t>出现的旧小区</a:t>
            </a:r>
            <a:r>
              <a:rPr lang="zh-CN" altLang="en-US" b="1">
                <a:sym typeface="+mn-ea"/>
              </a:rPr>
              <a:t>样本数</a:t>
            </a:r>
            <a:r>
              <a:rPr lang="zh-CN" altLang="en-US">
                <a:sym typeface="+mn-ea"/>
              </a:rPr>
              <a:t>来赋权重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Tm="5500">
        <p:fade/>
      </p:transition>
    </mc:Choice>
    <mc:Fallback>
      <p:transition spd="med" advTm="55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文本框 15"/>
          <p:cNvSpPr txBox="1"/>
          <p:nvPr/>
        </p:nvSpPr>
        <p:spPr>
          <a:xfrm>
            <a:off x="3002915" y="311150"/>
            <a:ext cx="583311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atin typeface="迷你简细倩" panose="03000509000000000000" pitchFamily="65" charset="-122"/>
                <a:ea typeface="迷你简细倩" panose="03000509000000000000" pitchFamily="65" charset="-122"/>
                <a:sym typeface="+mn-ea"/>
              </a:rPr>
              <a:t>两阶段模型</a:t>
            </a:r>
            <a:endParaRPr lang="zh-CN" altLang="en-US" sz="2800" b="1" dirty="0">
              <a:latin typeface="迷你简细倩" panose="03000509000000000000" pitchFamily="65" charset="-122"/>
              <a:ea typeface="迷你简细倩" panose="03000509000000000000" pitchFamily="65" charset="-122"/>
              <a:sym typeface="+mn-ea"/>
            </a:endParaRPr>
          </a:p>
          <a:p>
            <a:pPr algn="ctr"/>
            <a:r>
              <a:rPr lang="zh-CN" altLang="en-US" sz="28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房价</a:t>
            </a:r>
            <a:r>
              <a:rPr lang="en-US" altLang="zh-CN" sz="28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= </a:t>
            </a:r>
            <a:r>
              <a:rPr lang="zh-CN" altLang="en-US" sz="28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房子本身价值</a:t>
            </a:r>
            <a:r>
              <a:rPr lang="en-US" altLang="zh-CN" sz="28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+ </a:t>
            </a:r>
            <a:r>
              <a:rPr lang="zh-CN" altLang="en-US" sz="28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地段价值</a:t>
            </a:r>
            <a:endParaRPr lang="zh-CN" altLang="en-US" sz="2800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711201" y="1327150"/>
            <a:ext cx="744855" cy="1551600"/>
          </a:xfrm>
          <a:prstGeom prst="rect">
            <a:avLst/>
          </a:prstGeom>
          <a:noFill/>
        </p:spPr>
        <p:txBody>
          <a:bodyPr wrap="none" lIns="0" tIns="36195" rIns="0" bIns="0" rtlCol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 sz="2400" b="1" dirty="0">
              <a:solidFill>
                <a:schemeClr val="accent1"/>
              </a:solidFill>
              <a:latin typeface="+mn-ea"/>
              <a:cs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剥离地段价值</a:t>
            </a:r>
            <a:endParaRPr lang="zh-CN" altLang="en-US" sz="2400" b="1" dirty="0">
              <a:solidFill>
                <a:schemeClr val="accent1"/>
              </a:solidFill>
              <a:latin typeface="+mn-ea"/>
              <a:ea typeface="+mj-lt"/>
              <a:cs typeface="+mn-ea"/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241300" y="4598035"/>
            <a:ext cx="1860550" cy="1551305"/>
          </a:xfrm>
          <a:prstGeom prst="rect">
            <a:avLst/>
          </a:prstGeom>
          <a:noFill/>
        </p:spPr>
        <p:txBody>
          <a:bodyPr wrap="none" lIns="0" tIns="36195" rIns="0" bIns="0" rtlCol="0" anchor="ctr" anchorCtr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全部特征建模</a:t>
            </a:r>
            <a:endParaRPr lang="zh-CN" altLang="en-US" sz="24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211705" y="1264285"/>
            <a:ext cx="923417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输入特征：面积</a:t>
            </a:r>
            <a:r>
              <a:rPr lang="en-US" altLang="zh-CN">
                <a:sym typeface="+mn-ea"/>
              </a:rPr>
              <a:t>, </a:t>
            </a:r>
            <a:r>
              <a:rPr lang="zh-CN" altLang="en-US">
                <a:sym typeface="+mn-ea"/>
              </a:rPr>
              <a:t>经度</a:t>
            </a:r>
            <a:r>
              <a:rPr lang="en-US" altLang="zh-CN">
                <a:sym typeface="+mn-ea"/>
              </a:rPr>
              <a:t>(lon), </a:t>
            </a:r>
            <a:r>
              <a:rPr lang="zh-CN" altLang="en-US">
                <a:sym typeface="+mn-ea"/>
              </a:rPr>
              <a:t>纬度</a:t>
            </a:r>
            <a:r>
              <a:rPr lang="en-US" altLang="zh-CN">
                <a:sym typeface="+mn-ea"/>
              </a:rPr>
              <a:t>(lat), </a:t>
            </a:r>
            <a:r>
              <a:rPr lang="zh-CN" altLang="en-US">
                <a:sym typeface="+mn-ea"/>
              </a:rPr>
              <a:t>室</a:t>
            </a:r>
            <a:r>
              <a:rPr lang="en-US" altLang="zh-CN">
                <a:sym typeface="+mn-ea"/>
              </a:rPr>
              <a:t>, </a:t>
            </a:r>
            <a:r>
              <a:rPr lang="zh-CN" altLang="en-US">
                <a:sym typeface="+mn-ea"/>
              </a:rPr>
              <a:t>厅</a:t>
            </a:r>
            <a:r>
              <a:rPr lang="en-US" altLang="zh-CN">
                <a:sym typeface="+mn-ea"/>
              </a:rPr>
              <a:t>, </a:t>
            </a:r>
            <a:r>
              <a:rPr lang="zh-CN" altLang="en-US">
                <a:sym typeface="+mn-ea"/>
              </a:rPr>
              <a:t>卫</a:t>
            </a:r>
            <a:r>
              <a:rPr lang="en-US" altLang="zh-CN">
                <a:sym typeface="+mn-ea"/>
              </a:rPr>
              <a:t>, </a:t>
            </a:r>
            <a:r>
              <a:rPr lang="zh-CN" altLang="en-US">
                <a:sym typeface="+mn-ea"/>
              </a:rPr>
              <a:t>电梯</a:t>
            </a:r>
            <a:r>
              <a:rPr lang="en-US" altLang="zh-CN">
                <a:sym typeface="+mn-ea"/>
              </a:rPr>
              <a:t>, </a:t>
            </a:r>
            <a:r>
              <a:rPr lang="zh-CN" altLang="en-US">
                <a:sym typeface="+mn-ea"/>
              </a:rPr>
              <a:t>车位</a:t>
            </a:r>
            <a:r>
              <a:rPr lang="en-US" altLang="zh-CN">
                <a:sym typeface="+mn-ea"/>
              </a:rPr>
              <a:t>...</a:t>
            </a:r>
            <a:endParaRPr lang="en-US" altLang="zh-CN"/>
          </a:p>
          <a:p>
            <a:r>
              <a:rPr lang="zh-CN" altLang="en-US">
                <a:sym typeface="+mn-ea"/>
              </a:rPr>
              <a:t>预测目标：</a:t>
            </a:r>
            <a:r>
              <a:rPr lang="en-US" altLang="zh-CN">
                <a:sym typeface="+mn-ea"/>
              </a:rPr>
              <a:t>log(Price)</a:t>
            </a:r>
            <a:endParaRPr lang="en-US" altLang="zh-CN"/>
          </a:p>
          <a:p>
            <a:r>
              <a:rPr lang="zh-CN" altLang="en-US">
                <a:sym typeface="+mn-ea"/>
              </a:rPr>
              <a:t>阶段输出：</a:t>
            </a:r>
            <a:r>
              <a:rPr lang="en-US" altLang="zh-CN">
                <a:sym typeface="+mn-ea"/>
              </a:rPr>
              <a:t>location_residual (</a:t>
            </a:r>
            <a:r>
              <a:rPr lang="zh-CN" altLang="en-US">
                <a:sym typeface="+mn-ea"/>
              </a:rPr>
              <a:t>残差</a:t>
            </a:r>
            <a:r>
              <a:rPr lang="en-US" altLang="zh-CN">
                <a:sym typeface="+mn-ea"/>
              </a:rPr>
              <a:t>)</a:t>
            </a:r>
            <a:endParaRPr lang="zh-CN" altLang="en-US"/>
          </a:p>
          <a:p>
            <a:pPr lvl="1"/>
            <a:r>
              <a:rPr lang="zh-CN" altLang="en-US" b="1">
                <a:sym typeface="+mn-ea"/>
              </a:rPr>
              <a:t>残差</a:t>
            </a:r>
            <a:r>
              <a:rPr lang="en-US" altLang="zh-CN" b="1">
                <a:sym typeface="+mn-ea"/>
              </a:rPr>
              <a:t> = </a:t>
            </a:r>
            <a:r>
              <a:rPr lang="zh-CN" altLang="en-US" b="1">
                <a:sym typeface="+mn-ea"/>
              </a:rPr>
              <a:t>真实房价</a:t>
            </a:r>
            <a:r>
              <a:rPr lang="en-US" altLang="zh-CN" b="1">
                <a:sym typeface="+mn-ea"/>
              </a:rPr>
              <a:t> - Stage1</a:t>
            </a:r>
            <a:r>
              <a:rPr lang="zh-CN" altLang="en-US" b="1">
                <a:sym typeface="+mn-ea"/>
              </a:rPr>
              <a:t>模型预测的房价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如果残差</a:t>
            </a:r>
            <a:r>
              <a:rPr lang="en-US" altLang="zh-CN">
                <a:sym typeface="+mn-ea"/>
              </a:rPr>
              <a:t>&gt;0</a:t>
            </a:r>
            <a:r>
              <a:rPr lang="zh-CN" altLang="en-US">
                <a:sym typeface="+mn-ea"/>
              </a:rPr>
              <a:t>，说明房子比单纯按面积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户型算出来的价格要贵，地段好；如果</a:t>
            </a:r>
            <a:r>
              <a:rPr lang="en-US" altLang="zh-CN">
                <a:sym typeface="+mn-ea"/>
              </a:rPr>
              <a:t>&lt;0</a:t>
            </a:r>
            <a:r>
              <a:rPr lang="zh-CN" altLang="en-US">
                <a:sym typeface="+mn-ea"/>
              </a:rPr>
              <a:t>，说明地段差</a:t>
            </a:r>
            <a:endParaRPr lang="zh-CN" altLang="en-US"/>
          </a:p>
          <a:p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2211705" y="5158740"/>
            <a:ext cx="96316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输入特征：房子的物理属性（面积、</a:t>
            </a:r>
            <a:r>
              <a:rPr lang="en-US" altLang="zh-CN"/>
              <a:t>lon...</a:t>
            </a:r>
            <a:r>
              <a:rPr lang="zh-CN" altLang="en-US"/>
              <a:t>）</a:t>
            </a:r>
            <a:r>
              <a:rPr lang="en-US" altLang="zh-CN"/>
              <a:t>+ </a:t>
            </a:r>
            <a:r>
              <a:rPr lang="zh-CN" altLang="en-US"/>
              <a:t>城市、区县、板块</a:t>
            </a:r>
            <a:r>
              <a:rPr lang="en-US" altLang="zh-CN"/>
              <a:t> + </a:t>
            </a:r>
            <a:r>
              <a:rPr lang="zh-CN" altLang="en-US"/>
              <a:t>地段溢价</a:t>
            </a:r>
            <a:r>
              <a:rPr lang="en-US" altLang="zh-CN"/>
              <a:t>(Location_Score)</a:t>
            </a:r>
            <a:endParaRPr lang="en-US" altLang="zh-CN"/>
          </a:p>
          <a:p>
            <a:r>
              <a:rPr lang="en-US" altLang="zh-CN"/>
              <a:t> 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191135" y="3046730"/>
            <a:ext cx="1455420" cy="1551305"/>
          </a:xfrm>
          <a:prstGeom prst="rect">
            <a:avLst/>
          </a:prstGeom>
          <a:noFill/>
        </p:spPr>
        <p:txBody>
          <a:bodyPr wrap="none" lIns="0" tIns="36195" rIns="0" bIns="0" rtlCol="0" anchor="ctr" anchorCtr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24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Location_Score</a:t>
            </a:r>
            <a:endParaRPr lang="en-US" altLang="zh-CN" sz="24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387600" y="3294380"/>
            <a:ext cx="88823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依次计算板块、区县、</a:t>
            </a:r>
            <a:r>
              <a:rPr lang="zh-CN" altLang="en-US"/>
              <a:t>城市级别的平均残差</a:t>
            </a:r>
            <a:endParaRPr lang="zh-CN" altLang="en-US"/>
          </a:p>
          <a:p>
            <a:r>
              <a:rPr lang="zh-CN" altLang="en-US"/>
              <a:t>测试集里</a:t>
            </a:r>
            <a:r>
              <a:rPr lang="zh-CN" altLang="en-US"/>
              <a:t>的房子所在</a:t>
            </a:r>
            <a:r>
              <a:rPr lang="en-US" altLang="zh-CN"/>
              <a:t>“</a:t>
            </a:r>
            <a:r>
              <a:rPr lang="zh-CN" altLang="en-US"/>
              <a:t>板块</a:t>
            </a:r>
            <a:r>
              <a:rPr lang="en-US" altLang="zh-CN"/>
              <a:t>”</a:t>
            </a:r>
            <a:r>
              <a:rPr lang="zh-CN" altLang="en-US"/>
              <a:t>在训练集里出现过，就用该板块的平均残差作为得分。</a:t>
            </a:r>
            <a:endParaRPr lang="zh-CN" altLang="en-US"/>
          </a:p>
          <a:p>
            <a:r>
              <a:rPr lang="zh-CN" altLang="en-US"/>
              <a:t>如果是新板块，就退而求其次用</a:t>
            </a:r>
            <a:r>
              <a:rPr lang="en-US" altLang="zh-CN"/>
              <a:t>“</a:t>
            </a:r>
            <a:r>
              <a:rPr lang="zh-CN" altLang="en-US"/>
              <a:t>区县</a:t>
            </a:r>
            <a:r>
              <a:rPr lang="en-US" altLang="zh-CN"/>
              <a:t>”</a:t>
            </a:r>
            <a:r>
              <a:rPr lang="zh-CN" altLang="en-US"/>
              <a:t>的均值，以此类推。</a:t>
            </a:r>
            <a:endParaRPr lang="zh-CN" altLang="en-US"/>
          </a:p>
          <a:p>
            <a:r>
              <a:rPr lang="en-US" altLang="zh-CN"/>
              <a:t>Location_Score</a:t>
            </a:r>
            <a:r>
              <a:rPr lang="zh-CN" altLang="en-US"/>
              <a:t>，代表该地段的平均溢价</a:t>
            </a:r>
            <a:endParaRPr lang="zh-CN" altLang="en-US"/>
          </a:p>
        </p:txBody>
      </p:sp>
      <p:grpSp>
        <p:nvGrpSpPr>
          <p:cNvPr id="3" name="组合 2"/>
          <p:cNvGrpSpPr/>
          <p:nvPr>
            <p:custDataLst>
              <p:tags r:id="rId4"/>
            </p:custDataLst>
          </p:nvPr>
        </p:nvGrpSpPr>
        <p:grpSpPr>
          <a:xfrm>
            <a:off x="241300" y="311150"/>
            <a:ext cx="11602085" cy="5837555"/>
            <a:chOff x="380" y="490"/>
            <a:chExt cx="18271" cy="9193"/>
          </a:xfrm>
        </p:grpSpPr>
        <p:sp>
          <p:nvSpPr>
            <p:cNvPr id="2" name="文本框 1"/>
            <p:cNvSpPr txBox="1"/>
            <p:nvPr/>
          </p:nvSpPr>
          <p:spPr>
            <a:xfrm>
              <a:off x="4729" y="490"/>
              <a:ext cx="9186" cy="1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latin typeface="迷你简细倩" panose="03000509000000000000" pitchFamily="65" charset="-122"/>
                  <a:ea typeface="迷你简细倩" panose="03000509000000000000" pitchFamily="65" charset="-122"/>
                  <a:sym typeface="+mn-ea"/>
                </a:rPr>
                <a:t>两阶段模型</a:t>
              </a:r>
              <a:endParaRPr lang="zh-CN" altLang="en-US" sz="2800" b="1" dirty="0">
                <a:latin typeface="迷你简细倩" panose="03000509000000000000" pitchFamily="65" charset="-122"/>
                <a:ea typeface="迷你简细倩" panose="03000509000000000000" pitchFamily="65" charset="-122"/>
                <a:sym typeface="+mn-ea"/>
              </a:endParaRPr>
            </a:p>
            <a:p>
              <a:pPr algn="ctr"/>
              <a:r>
                <a:rPr lang="zh-CN" altLang="en-US" sz="28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房价</a:t>
              </a:r>
              <a:r>
                <a:rPr lang="en-US" altLang="zh-CN" sz="28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 = </a:t>
              </a:r>
              <a:r>
                <a:rPr lang="zh-CN" altLang="en-US" sz="28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房子本身价值</a:t>
              </a:r>
              <a:r>
                <a:rPr lang="en-US" altLang="zh-CN" sz="28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 + </a:t>
              </a:r>
              <a:r>
                <a:rPr lang="zh-CN" altLang="en-US" sz="2800" dirty="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地段价值</a:t>
              </a:r>
              <a:endParaRPr lang="zh-CN" altLang="en-US" sz="28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5"/>
              </p:custDataLst>
            </p:nvPr>
          </p:nvSpPr>
          <p:spPr>
            <a:xfrm>
              <a:off x="1120" y="2090"/>
              <a:ext cx="1173" cy="2443"/>
            </a:xfrm>
            <a:prstGeom prst="rect">
              <a:avLst/>
            </a:prstGeom>
            <a:noFill/>
          </p:spPr>
          <p:txBody>
            <a:bodyPr wrap="none" lIns="0" tIns="36195" rIns="0" bIns="0" rtlCol="0" anchor="ctr" anchorCtr="0">
              <a:noAutofit/>
            </a:bodyPr>
            <a:p>
              <a:pPr algn="ctr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 dirty="0">
                <a:solidFill>
                  <a:schemeClr val="accent1"/>
                </a:solidFill>
                <a:latin typeface="+mn-ea"/>
                <a:ea typeface="+mj-lt"/>
                <a:cs typeface="+mn-ea"/>
                <a:sym typeface="+mn-ea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6"/>
              </p:custDataLst>
            </p:nvPr>
          </p:nvSpPr>
          <p:spPr>
            <a:xfrm>
              <a:off x="380" y="7241"/>
              <a:ext cx="2930" cy="2443"/>
            </a:xfrm>
            <a:prstGeom prst="rect">
              <a:avLst/>
            </a:prstGeom>
            <a:noFill/>
          </p:spPr>
          <p:txBody>
            <a:bodyPr wrap="none" lIns="0" tIns="36195" rIns="0" bIns="0" rtlCol="0" anchor="ctr" anchorCtr="0">
              <a:noAutofit/>
            </a:bodyPr>
            <a:p>
              <a:pPr lvl="0" algn="l">
                <a:buClrTx/>
                <a:buSzTx/>
                <a:buFontTx/>
              </a:pPr>
              <a:r>
                <a:rPr lang="zh-CN" altLang="en-US" sz="24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全部特征建模</a:t>
              </a:r>
              <a:endParaRPr lang="zh-CN" altLang="en-US" sz="2400" b="1" dirty="0"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483" y="1991"/>
              <a:ext cx="14542" cy="31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>
                  <a:sym typeface="+mn-ea"/>
                </a:rPr>
                <a:t>输入特征：面积</a:t>
              </a:r>
              <a:r>
                <a:rPr lang="en-US" altLang="zh-CN">
                  <a:sym typeface="+mn-ea"/>
                </a:rPr>
                <a:t>, </a:t>
              </a:r>
              <a:r>
                <a:rPr lang="zh-CN" altLang="en-US">
                  <a:sym typeface="+mn-ea"/>
                </a:rPr>
                <a:t>经度</a:t>
              </a:r>
              <a:r>
                <a:rPr lang="en-US" altLang="zh-CN">
                  <a:sym typeface="+mn-ea"/>
                </a:rPr>
                <a:t>(lon), </a:t>
              </a:r>
              <a:r>
                <a:rPr lang="zh-CN" altLang="en-US">
                  <a:sym typeface="+mn-ea"/>
                </a:rPr>
                <a:t>纬度</a:t>
              </a:r>
              <a:r>
                <a:rPr lang="en-US" altLang="zh-CN">
                  <a:sym typeface="+mn-ea"/>
                </a:rPr>
                <a:t>(lat), </a:t>
              </a:r>
              <a:r>
                <a:rPr lang="zh-CN" altLang="en-US">
                  <a:sym typeface="+mn-ea"/>
                </a:rPr>
                <a:t>室</a:t>
              </a:r>
              <a:r>
                <a:rPr lang="en-US" altLang="zh-CN">
                  <a:sym typeface="+mn-ea"/>
                </a:rPr>
                <a:t>, </a:t>
              </a:r>
              <a:r>
                <a:rPr lang="zh-CN" altLang="en-US">
                  <a:sym typeface="+mn-ea"/>
                </a:rPr>
                <a:t>厅</a:t>
              </a:r>
              <a:r>
                <a:rPr lang="en-US" altLang="zh-CN">
                  <a:sym typeface="+mn-ea"/>
                </a:rPr>
                <a:t>, </a:t>
              </a:r>
              <a:r>
                <a:rPr lang="zh-CN" altLang="en-US">
                  <a:sym typeface="+mn-ea"/>
                </a:rPr>
                <a:t>卫</a:t>
              </a:r>
              <a:r>
                <a:rPr lang="en-US" altLang="zh-CN">
                  <a:sym typeface="+mn-ea"/>
                </a:rPr>
                <a:t>, </a:t>
              </a:r>
              <a:r>
                <a:rPr lang="zh-CN" altLang="en-US">
                  <a:sym typeface="+mn-ea"/>
                </a:rPr>
                <a:t>电梯</a:t>
              </a:r>
              <a:r>
                <a:rPr lang="en-US" altLang="zh-CN">
                  <a:sym typeface="+mn-ea"/>
                </a:rPr>
                <a:t>, </a:t>
              </a:r>
              <a:r>
                <a:rPr lang="zh-CN" altLang="en-US">
                  <a:sym typeface="+mn-ea"/>
                </a:rPr>
                <a:t>车位</a:t>
              </a:r>
              <a:r>
                <a:rPr lang="en-US" altLang="zh-CN">
                  <a:sym typeface="+mn-ea"/>
                </a:rPr>
                <a:t>...</a:t>
              </a:r>
              <a:endParaRPr lang="en-US" altLang="zh-CN"/>
            </a:p>
            <a:p>
              <a:r>
                <a:rPr lang="zh-CN" altLang="en-US">
                  <a:sym typeface="+mn-ea"/>
                </a:rPr>
                <a:t>预测目标：</a:t>
              </a:r>
              <a:r>
                <a:rPr lang="en-US" altLang="zh-CN">
                  <a:sym typeface="+mn-ea"/>
                </a:rPr>
                <a:t>log(Price)</a:t>
              </a:r>
              <a:endParaRPr lang="en-US" altLang="zh-CN"/>
            </a:p>
            <a:p>
              <a:r>
                <a:rPr lang="zh-CN" altLang="en-US">
                  <a:sym typeface="+mn-ea"/>
                </a:rPr>
                <a:t>阶段输出：</a:t>
              </a:r>
              <a:r>
                <a:rPr lang="en-US" altLang="zh-CN">
                  <a:sym typeface="+mn-ea"/>
                </a:rPr>
                <a:t>location_residual (</a:t>
              </a:r>
              <a:r>
                <a:rPr lang="zh-CN" altLang="en-US">
                  <a:sym typeface="+mn-ea"/>
                </a:rPr>
                <a:t>残差</a:t>
              </a:r>
              <a:r>
                <a:rPr lang="en-US" altLang="zh-CN">
                  <a:sym typeface="+mn-ea"/>
                </a:rPr>
                <a:t>)</a:t>
              </a:r>
              <a:endParaRPr lang="zh-CN" altLang="en-US"/>
            </a:p>
            <a:p>
              <a:pPr lvl="1"/>
              <a:r>
                <a:rPr lang="zh-CN" altLang="en-US" b="1">
                  <a:sym typeface="+mn-ea"/>
                </a:rPr>
                <a:t>残差</a:t>
              </a:r>
              <a:r>
                <a:rPr lang="en-US" altLang="zh-CN" b="1">
                  <a:sym typeface="+mn-ea"/>
                </a:rPr>
                <a:t> = </a:t>
              </a:r>
              <a:r>
                <a:rPr lang="zh-CN" altLang="en-US" b="1">
                  <a:sym typeface="+mn-ea"/>
                </a:rPr>
                <a:t>真实房价</a:t>
              </a:r>
              <a:r>
                <a:rPr lang="en-US" altLang="zh-CN" b="1">
                  <a:sym typeface="+mn-ea"/>
                </a:rPr>
                <a:t> - Stage1</a:t>
              </a:r>
              <a:r>
                <a:rPr lang="zh-CN" altLang="en-US" b="1">
                  <a:sym typeface="+mn-ea"/>
                </a:rPr>
                <a:t>模型预测的房价</a:t>
              </a:r>
              <a:endParaRPr lang="zh-CN" altLang="en-US"/>
            </a:p>
            <a:p>
              <a:pPr lvl="1"/>
              <a:r>
                <a:rPr lang="zh-CN" altLang="en-US">
                  <a:sym typeface="+mn-ea"/>
                </a:rPr>
                <a:t>如果残差</a:t>
              </a:r>
              <a:r>
                <a:rPr lang="en-US" altLang="zh-CN">
                  <a:sym typeface="+mn-ea"/>
                </a:rPr>
                <a:t>&gt;0</a:t>
              </a:r>
              <a:r>
                <a:rPr lang="zh-CN" altLang="en-US">
                  <a:sym typeface="+mn-ea"/>
                </a:rPr>
                <a:t>，说明房子比单纯按面积</a:t>
              </a:r>
              <a:r>
                <a:rPr lang="en-US" altLang="zh-CN">
                  <a:sym typeface="+mn-ea"/>
                </a:rPr>
                <a:t>/</a:t>
              </a:r>
              <a:r>
                <a:rPr lang="zh-CN" altLang="en-US">
                  <a:sym typeface="+mn-ea"/>
                </a:rPr>
                <a:t>户型算出来的价格要贵，地段好；如果</a:t>
              </a:r>
              <a:r>
                <a:rPr lang="en-US" altLang="zh-CN">
                  <a:sym typeface="+mn-ea"/>
                </a:rPr>
                <a:t>&lt;0</a:t>
              </a:r>
              <a:r>
                <a:rPr lang="zh-CN" altLang="en-US">
                  <a:sym typeface="+mn-ea"/>
                </a:rPr>
                <a:t>，说明地段差</a:t>
              </a:r>
              <a:endParaRPr lang="zh-CN" altLang="en-US"/>
            </a:p>
            <a:p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483" y="8124"/>
              <a:ext cx="15168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输入特征：房子的物理属性（面积、</a:t>
              </a:r>
              <a:r>
                <a:rPr lang="en-US" altLang="zh-CN"/>
                <a:t>lon...</a:t>
              </a:r>
              <a:r>
                <a:rPr lang="zh-CN" altLang="en-US"/>
                <a:t>）</a:t>
              </a:r>
              <a:r>
                <a:rPr lang="en-US" altLang="zh-CN"/>
                <a:t>+ </a:t>
              </a:r>
              <a:r>
                <a:rPr lang="zh-CN" altLang="en-US"/>
                <a:t>城市、区县、板块</a:t>
              </a:r>
              <a:r>
                <a:rPr lang="en-US" altLang="zh-CN"/>
                <a:t> + </a:t>
              </a:r>
              <a:r>
                <a:rPr lang="zh-CN" altLang="en-US"/>
                <a:t>地段溢价</a:t>
              </a:r>
              <a:r>
                <a:rPr lang="en-US" altLang="zh-CN"/>
                <a:t>(Location_Score)</a:t>
              </a:r>
              <a:endParaRPr lang="en-US" altLang="zh-CN"/>
            </a:p>
            <a:p>
              <a:r>
                <a:rPr lang="en-US" altLang="zh-CN"/>
                <a:t> </a:t>
              </a:r>
              <a:endParaRPr lang="zh-CN" altLang="en-US"/>
            </a:p>
            <a:p>
              <a:endParaRPr lang="zh-CN" altLang="en-US"/>
            </a:p>
          </p:txBody>
        </p:sp>
      </p:grpSp>
      <p:cxnSp>
        <p:nvCxnSpPr>
          <p:cNvPr id="15" name="直接连接符 14"/>
          <p:cNvCxnSpPr/>
          <p:nvPr>
            <p:custDataLst>
              <p:tags r:id="rId7"/>
            </p:custDataLst>
          </p:nvPr>
        </p:nvCxnSpPr>
        <p:spPr>
          <a:xfrm flipV="1">
            <a:off x="711201" y="4578985"/>
            <a:ext cx="10751820" cy="19050"/>
          </a:xfrm>
          <a:prstGeom prst="line">
            <a:avLst/>
          </a:prstGeom>
          <a:solidFill>
            <a:schemeClr val="lt1">
              <a:lumMod val="100000"/>
              <a:alpha val="0"/>
            </a:schemeClr>
          </a:solidFill>
          <a:ln w="10160"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cxnSp>
        <p:nvCxnSpPr>
          <p:cNvPr id="8" name="直接连接符 7"/>
          <p:cNvCxnSpPr/>
          <p:nvPr>
            <p:custDataLst>
              <p:tags r:id="rId8"/>
            </p:custDataLst>
          </p:nvPr>
        </p:nvCxnSpPr>
        <p:spPr>
          <a:xfrm flipV="1">
            <a:off x="838201" y="3062605"/>
            <a:ext cx="10751820" cy="19050"/>
          </a:xfrm>
          <a:prstGeom prst="line">
            <a:avLst/>
          </a:prstGeom>
          <a:solidFill>
            <a:schemeClr val="lt1">
              <a:lumMod val="100000"/>
              <a:alpha val="0"/>
            </a:schemeClr>
          </a:solidFill>
          <a:ln w="10160"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Tm="5500">
        <p:fade/>
      </p:transition>
    </mc:Choice>
    <mc:Fallback>
      <p:transition spd="med" advTm="55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>
            <a:off x="344170" y="55245"/>
            <a:ext cx="11625580" cy="3233420"/>
            <a:chOff x="610" y="490"/>
            <a:chExt cx="18308" cy="5092"/>
          </a:xfrm>
        </p:grpSpPr>
        <p:sp>
          <p:nvSpPr>
            <p:cNvPr id="4" name="文本框 3"/>
            <p:cNvSpPr txBox="1"/>
            <p:nvPr/>
          </p:nvSpPr>
          <p:spPr>
            <a:xfrm>
              <a:off x="659" y="1167"/>
              <a:ext cx="18259" cy="1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1</a:t>
              </a:r>
              <a:r>
                <a:rPr lang="zh-CN" altLang="en-US" sz="1600"/>
                <a:t>、利用</a:t>
              </a:r>
              <a:r>
                <a:rPr lang="en-US" altLang="zh-CN" sz="1600" b="1"/>
                <a:t>Kmeans+</a:t>
              </a:r>
              <a:r>
                <a:rPr lang="zh-CN" altLang="en-US" sz="1600" b="1"/>
                <a:t>目标编码</a:t>
              </a:r>
              <a:r>
                <a:rPr lang="zh-CN" altLang="en-US" sz="1600"/>
                <a:t>：</a:t>
              </a:r>
              <a:r>
                <a:rPr lang="en-US" altLang="zh-CN" sz="1600"/>
                <a:t>kaggle76.8</a:t>
              </a:r>
              <a:endParaRPr lang="zh-CN" altLang="en-US" sz="1600"/>
            </a:p>
            <a:p>
              <a:pPr indent="457200"/>
              <a:r>
                <a:rPr lang="zh-CN" altLang="en-US" sz="1600"/>
                <a:t>输入原始地理信息（城市、区域、板块、经纬度），将地理编号转为蕴含价格信息的数值特征。</a:t>
              </a:r>
              <a:endParaRPr lang="zh-CN" altLang="en-US" sz="1600"/>
            </a:p>
            <a:p>
              <a:pPr indent="457200"/>
              <a:r>
                <a:rPr lang="zh-CN" altLang="en-US" sz="1600" b="1"/>
                <a:t>每个城市内部根据</a:t>
              </a:r>
              <a:r>
                <a:rPr lang="en-US" altLang="zh-CN" sz="1600" b="1"/>
                <a:t>lon,lat</a:t>
              </a:r>
              <a:r>
                <a:rPr lang="zh-CN" altLang="en-US" sz="1600" b="1"/>
                <a:t>进行</a:t>
              </a:r>
              <a:r>
                <a:rPr lang="en-US" altLang="zh-CN" sz="1600" b="1"/>
                <a:t>KMeans</a:t>
              </a:r>
              <a:r>
                <a:rPr lang="zh-CN" altLang="en-US" sz="1600" b="1"/>
                <a:t>聚类</a:t>
              </a:r>
              <a:r>
                <a:rPr lang="zh-CN" altLang="en-US" sz="1600"/>
                <a:t>；然后利用训练集的</a:t>
              </a:r>
              <a:r>
                <a:rPr lang="en-US" altLang="zh-CN" sz="1600"/>
                <a:t>log(</a:t>
              </a:r>
              <a:r>
                <a:rPr lang="zh-CN" altLang="en-US" sz="1600"/>
                <a:t>房价</a:t>
              </a:r>
              <a:r>
                <a:rPr lang="en-US" altLang="zh-CN" sz="1600"/>
                <a:t>)</a:t>
              </a:r>
              <a:r>
                <a:rPr lang="zh-CN" altLang="en-US" sz="1600"/>
                <a:t>，</a:t>
              </a:r>
              <a:r>
                <a:rPr lang="en-US" altLang="zh-CN" sz="1600"/>
                <a:t>K-Fold</a:t>
              </a:r>
              <a:r>
                <a:rPr lang="zh-CN" altLang="en-US" sz="1600"/>
                <a:t>交叉验证，从粗到细计算出四个层级的地理区域均价，包括：</a:t>
              </a:r>
              <a:r>
                <a:rPr lang="en-US" altLang="zh-CN" sz="1600" b="1"/>
                <a:t>City_TE</a:t>
              </a:r>
              <a:r>
                <a:rPr lang="zh-CN" altLang="en-US" sz="1600" b="1"/>
                <a:t>（城市均价）、</a:t>
              </a:r>
              <a:r>
                <a:rPr lang="en-US" altLang="zh-CN" sz="1600" b="1"/>
                <a:t>Region_TE</a:t>
              </a:r>
              <a:r>
                <a:rPr lang="zh-CN" altLang="en-US" sz="1600" b="1"/>
                <a:t>（区域均价）、</a:t>
              </a:r>
              <a:r>
                <a:rPr lang="en-US" altLang="zh-CN" sz="1600" b="1"/>
                <a:t>Block_TE</a:t>
              </a:r>
              <a:r>
                <a:rPr lang="zh-CN" altLang="en-US" sz="1600" b="1"/>
                <a:t>（板块均价）以及</a:t>
              </a:r>
              <a:r>
                <a:rPr lang="en-US" altLang="zh-CN" sz="1600" b="1"/>
                <a:t>Cluster_TE</a:t>
              </a:r>
              <a:r>
                <a:rPr lang="zh-CN" altLang="en-US" sz="1600" b="1"/>
                <a:t>（地理簇均价）</a:t>
              </a:r>
              <a:endParaRPr lang="zh-CN" altLang="en-US" sz="1600" b="1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10" y="2729"/>
              <a:ext cx="18232" cy="2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2</a:t>
              </a:r>
              <a:r>
                <a:rPr lang="zh-CN" altLang="en-US" sz="1600"/>
                <a:t>、独热编码：</a:t>
              </a:r>
              <a:endParaRPr lang="zh-CN" altLang="en-US" sz="1600"/>
            </a:p>
            <a:p>
              <a:pPr indent="457200"/>
              <a:r>
                <a:rPr lang="zh-CN" altLang="en-US" sz="1600"/>
                <a:t>反复尝试，首先尝试</a:t>
              </a:r>
              <a:r>
                <a:rPr lang="zh-CN" altLang="en-US" sz="1600" b="1"/>
                <a:t>将地理层次变量</a:t>
              </a:r>
              <a:r>
                <a:rPr lang="en-US" altLang="zh-CN" sz="1600" b="1"/>
                <a:t>0/1</a:t>
              </a:r>
              <a:r>
                <a:rPr lang="zh-CN" altLang="en-US" sz="1600" b="1"/>
                <a:t>编码</a:t>
              </a:r>
              <a:r>
                <a:rPr lang="zh-CN" altLang="en-US" sz="1600"/>
                <a:t>，进行预测</a:t>
              </a:r>
              <a:r>
                <a:rPr lang="en-US" altLang="zh-CN" sz="1600"/>
                <a:t>——&gt;</a:t>
              </a:r>
              <a:r>
                <a:rPr lang="zh-CN" altLang="en-US" sz="1600" b="1"/>
                <a:t>添加更多特征</a:t>
              </a:r>
              <a:r>
                <a:rPr lang="en-US" altLang="zh-CN" sz="1600"/>
                <a:t>“</a:t>
              </a:r>
              <a:r>
                <a:rPr lang="zh-CN" altLang="en-US" sz="1600"/>
                <a:t>绿化率</a:t>
              </a:r>
              <a:r>
                <a:rPr lang="en-US" altLang="zh-CN" sz="1600"/>
                <a:t>”</a:t>
              </a:r>
              <a:r>
                <a:rPr lang="zh-CN" altLang="en-US" sz="1600"/>
                <a:t>、</a:t>
              </a:r>
              <a:r>
                <a:rPr lang="en-US" altLang="zh-CN" sz="1600"/>
                <a:t>“</a:t>
              </a:r>
              <a:r>
                <a:rPr lang="zh-CN" altLang="en-US" sz="1600"/>
                <a:t>容积率</a:t>
              </a:r>
              <a:r>
                <a:rPr lang="en-US" altLang="zh-CN" sz="1600"/>
                <a:t>”</a:t>
              </a:r>
              <a:r>
                <a:rPr lang="zh-CN" altLang="en-US" sz="1600"/>
                <a:t>，</a:t>
              </a:r>
              <a:r>
                <a:rPr lang="en-US" altLang="zh-CN" sz="1600"/>
                <a:t>“</a:t>
              </a:r>
              <a:r>
                <a:rPr lang="zh-CN" altLang="en-US" sz="1600"/>
                <a:t>停车费</a:t>
              </a:r>
              <a:r>
                <a:rPr lang="en-US" altLang="zh-CN" sz="1600"/>
                <a:t>”...</a:t>
              </a:r>
              <a:r>
                <a:rPr lang="zh-CN" altLang="en-US" sz="1600"/>
                <a:t>再次预测，</a:t>
              </a:r>
              <a:r>
                <a:rPr lang="en-US" altLang="zh-CN" sz="1600"/>
                <a:t>optuna</a:t>
              </a:r>
              <a:r>
                <a:rPr lang="zh-CN" altLang="en-US" sz="1600"/>
                <a:t>调参</a:t>
              </a:r>
              <a:r>
                <a:rPr lang="en-US" altLang="zh-CN" sz="1600"/>
                <a:t>——&gt;</a:t>
              </a:r>
              <a:r>
                <a:rPr lang="zh-CN" altLang="en-US" sz="1600"/>
                <a:t>几乎将所有缺失值在一半以下的特征加入，并取消将区域、板块等编码</a:t>
              </a:r>
              <a:r>
                <a:rPr lang="en-US" altLang="zh-CN" sz="1600"/>
                <a:t>——&gt;</a:t>
              </a:r>
              <a:r>
                <a:rPr lang="zh-CN" altLang="en-US" sz="1600" b="1" u="sng"/>
                <a:t>加入</a:t>
              </a:r>
              <a:r>
                <a:rPr lang="en-US" altLang="zh-CN" sz="1600" b="1" u="sng"/>
                <a:t>Kmeans</a:t>
              </a:r>
              <a:r>
                <a:rPr lang="zh-CN" altLang="en-US" sz="1600" b="1" u="sng"/>
                <a:t>目标编码</a:t>
              </a:r>
              <a:r>
                <a:rPr lang="zh-CN" altLang="en-US" sz="1600"/>
                <a:t>，同样不对地理特征</a:t>
              </a:r>
              <a:r>
                <a:rPr lang="en-US" altLang="zh-CN" sz="1600"/>
                <a:t>0/1</a:t>
              </a:r>
              <a:r>
                <a:rPr lang="zh-CN" altLang="en-US" sz="1600"/>
                <a:t>编码</a:t>
              </a:r>
              <a:endParaRPr lang="zh-CN" altLang="en-US" sz="1600"/>
            </a:p>
            <a:p>
              <a:pPr indent="457200"/>
              <a:r>
                <a:rPr lang="zh-CN" altLang="en-US" sz="1600"/>
                <a:t>以上每次改变，均尝试</a:t>
              </a:r>
              <a:r>
                <a:rPr lang="en-US" altLang="zh-CN" sz="1600"/>
                <a:t>XGBoost/ANN/CatBoost</a:t>
              </a:r>
              <a:r>
                <a:rPr lang="zh-CN" altLang="en-US" sz="1600"/>
                <a:t>模型，但是效果并不显著。</a:t>
              </a:r>
              <a:r>
                <a:rPr lang="zh-CN" altLang="en-US" sz="1600">
                  <a:sym typeface="+mn-ea"/>
                </a:rPr>
                <a:t>地理区位编码，则</a:t>
              </a:r>
              <a:r>
                <a:rPr lang="zh-CN" altLang="en-US" sz="1600" b="1">
                  <a:sym typeface="+mn-ea"/>
                </a:rPr>
                <a:t>利用</a:t>
              </a:r>
              <a:r>
                <a:rPr lang="en-US" altLang="zh-CN" sz="1600" b="1" u="sng">
                  <a:sym typeface="+mn-ea"/>
                </a:rPr>
                <a:t>lon,lat</a:t>
              </a:r>
              <a:r>
                <a:rPr lang="zh-CN" altLang="en-US" sz="1600" b="1" u="sng">
                  <a:sym typeface="+mn-ea"/>
                </a:rPr>
                <a:t>来</a:t>
              </a:r>
              <a:r>
                <a:rPr lang="en-US" altLang="zh-CN" sz="1600" b="1" u="sng">
                  <a:sym typeface="+mn-ea"/>
                </a:rPr>
                <a:t>KNN</a:t>
              </a:r>
              <a:endParaRPr lang="zh-CN" altLang="en-US" sz="1600" b="1" u="sng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10" y="4663"/>
              <a:ext cx="10084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3</a:t>
              </a:r>
              <a:r>
                <a:rPr lang="zh-CN" altLang="en-US" sz="1600"/>
                <a:t>、利用树模型，将</a:t>
              </a:r>
              <a:r>
                <a:rPr lang="en-US" altLang="zh-CN" sz="1600"/>
                <a:t>RF</a:t>
              </a:r>
              <a:r>
                <a:rPr lang="zh-CN" altLang="en-US" sz="1600"/>
                <a:t>结果和</a:t>
              </a:r>
              <a:r>
                <a:rPr lang="en-US" altLang="zh-CN" sz="1600"/>
                <a:t>OLS</a:t>
              </a:r>
              <a:r>
                <a:rPr lang="zh-CN" altLang="en-US" sz="1600"/>
                <a:t>叠加，进行预测</a:t>
              </a:r>
              <a:endParaRPr lang="zh-CN" altLang="en-US" sz="1600"/>
            </a:p>
            <a:p>
              <a:r>
                <a:rPr lang="en-US" altLang="zh-CN" sz="1600"/>
                <a:t>4</a:t>
              </a:r>
              <a:r>
                <a:rPr lang="zh-CN" altLang="en-US" sz="1600"/>
                <a:t>、调用已</a:t>
              </a:r>
              <a:r>
                <a:rPr lang="zh-CN" altLang="en-US" sz="1600">
                  <a:sym typeface="+mn-ea"/>
                </a:rPr>
                <a:t>在大众点评中文评论上微调过的</a:t>
              </a:r>
              <a:r>
                <a:rPr lang="zh-CN" altLang="en-US" sz="1600"/>
                <a:t>的</a:t>
              </a:r>
              <a:r>
                <a:rPr lang="en-US" altLang="zh-CN" sz="1600"/>
                <a:t>BERT</a:t>
              </a:r>
              <a:r>
                <a:rPr lang="zh-CN" altLang="en-US" sz="1600"/>
                <a:t>，处理客户</a:t>
              </a:r>
              <a:r>
                <a:rPr lang="zh-CN" altLang="en-US" sz="1600"/>
                <a:t>反馈</a:t>
              </a:r>
              <a:endParaRPr lang="zh-CN" altLang="en-US" sz="1600"/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6849" y="490"/>
              <a:ext cx="550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zh-CN" altLang="en-US" sz="2800" dirty="0">
                  <a:latin typeface="Times New Roman" panose="02020603050405020304" charset="0"/>
                  <a:ea typeface="宋体" panose="02010600030101010101" pitchFamily="2" charset="-122"/>
                </a:rPr>
                <a:t>个人创新点：</a:t>
              </a:r>
              <a:endParaRPr lang="zh-CN" altLang="en-US" sz="2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44170" y="3288665"/>
            <a:ext cx="11659235" cy="3615055"/>
            <a:chOff x="455" y="5910"/>
            <a:chExt cx="18361" cy="5693"/>
          </a:xfrm>
        </p:grpSpPr>
        <p:sp>
          <p:nvSpPr>
            <p:cNvPr id="19" name="文本框 18"/>
            <p:cNvSpPr txBox="1"/>
            <p:nvPr/>
          </p:nvSpPr>
          <p:spPr>
            <a:xfrm>
              <a:off x="9784" y="9715"/>
              <a:ext cx="9032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b="1"/>
                <a:t>CTGAN</a:t>
              </a:r>
              <a:r>
                <a:rPr lang="zh-CN" altLang="en-US" b="1"/>
                <a:t>模型作</a:t>
              </a:r>
              <a:r>
                <a:rPr lang="en-US" altLang="zh-CN" b="1"/>
                <a:t>“</a:t>
              </a:r>
              <a:r>
                <a:rPr lang="zh-CN" altLang="en-US" b="1"/>
                <a:t>生成器</a:t>
              </a:r>
              <a:r>
                <a:rPr lang="en-US" altLang="zh-CN" b="1"/>
                <a:t>”</a:t>
              </a:r>
              <a:r>
                <a:rPr lang="zh-CN" altLang="en-US"/>
                <a:t>，与</a:t>
              </a:r>
              <a:r>
                <a:rPr lang="en-US" altLang="zh-CN"/>
                <a:t>“</a:t>
              </a:r>
              <a:r>
                <a:rPr lang="zh-CN" altLang="en-US" b="1"/>
                <a:t>判别器</a:t>
              </a:r>
              <a:r>
                <a:rPr lang="en-US" altLang="zh-CN" b="1"/>
                <a:t>”</a:t>
              </a:r>
              <a:r>
                <a:rPr lang="zh-CN" altLang="en-US" b="1"/>
                <a:t>对抗性训练</a:t>
              </a:r>
              <a:r>
                <a:rPr lang="zh-CN" altLang="en-US"/>
                <a:t>：生成器试图生成假数据，判别器努力区分真实数据与生成数据。经多轮博弈，生成器逐渐掌握</a:t>
              </a:r>
              <a:r>
                <a:rPr lang="zh-CN" altLang="en-US" b="1"/>
                <a:t>数据的分布和列间关联</a:t>
              </a:r>
              <a:endParaRPr lang="zh-CN" altLang="en-US" b="1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455" y="5910"/>
              <a:ext cx="877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5</a:t>
              </a:r>
              <a:r>
                <a:rPr lang="zh-CN" altLang="en-US" b="1"/>
                <a:t>、探索</a:t>
              </a:r>
              <a:r>
                <a:rPr lang="zh-CN" altLang="en-US"/>
                <a:t>：尝试利用</a:t>
              </a:r>
              <a:r>
                <a:rPr lang="zh-CN" altLang="en-US" b="1"/>
                <a:t>对抗神经网络</a:t>
              </a:r>
              <a:r>
                <a:rPr lang="zh-CN" altLang="en-US"/>
                <a:t>生成</a:t>
              </a:r>
              <a:r>
                <a:rPr lang="zh-CN" altLang="en-US"/>
                <a:t>更多训练数据</a:t>
              </a:r>
              <a:endParaRPr lang="zh-CN" altLang="en-US"/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3655" y="2705100"/>
            <a:ext cx="2257425" cy="1447800"/>
          </a:xfrm>
          <a:prstGeom prst="rect">
            <a:avLst/>
          </a:prstGeom>
        </p:spPr>
      </p:pic>
      <p:graphicFrame>
        <p:nvGraphicFramePr>
          <p:cNvPr id="23" name="表格 22"/>
          <p:cNvGraphicFramePr/>
          <p:nvPr/>
        </p:nvGraphicFramePr>
        <p:xfrm>
          <a:off x="81915" y="4311650"/>
          <a:ext cx="5988050" cy="2552065"/>
        </p:xfrm>
        <a:graphic>
          <a:graphicData uri="http://schemas.openxmlformats.org/drawingml/2006/table">
            <a:tbl>
              <a:tblPr/>
              <a:tblGrid>
                <a:gridCol w="1048385"/>
                <a:gridCol w="708025"/>
                <a:gridCol w="1043940"/>
                <a:gridCol w="1082040"/>
                <a:gridCol w="1099820"/>
                <a:gridCol w="1005840"/>
              </a:tblGrid>
              <a:tr h="289560">
                <a:tc>
                  <a:txBody>
                    <a:bodyPr/>
                    <a:p>
                      <a:pPr fontAlgn="t"/>
                      <a:r>
                        <a:rPr lang="zh-CN" altLang="en-US" sz="1100"/>
                        <a:t>模型</a:t>
                      </a:r>
                      <a:endParaRPr lang="zh-CN" altLang="en-US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zh-CN" altLang="en-US" sz="1100"/>
                        <a:t>类型</a:t>
                      </a:r>
                      <a:endParaRPr lang="zh-CN" altLang="en-US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zh-CN" altLang="en-US" sz="1100"/>
                        <a:t>样本内</a:t>
                      </a:r>
                      <a:endParaRPr lang="zh-CN" altLang="en-US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zh-CN" altLang="en-US" sz="1100"/>
                        <a:t>样本外</a:t>
                      </a:r>
                      <a:endParaRPr lang="zh-CN" altLang="en-US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zh-CN" altLang="en-US" sz="1100"/>
                        <a:t>交叉验证</a:t>
                      </a:r>
                      <a:endParaRPr lang="zh-CN" altLang="en-US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Kaggle </a:t>
                      </a:r>
                      <a:r>
                        <a:rPr lang="zh-CN" altLang="en-US" sz="1100"/>
                        <a:t>得分</a:t>
                      </a:r>
                      <a:endParaRPr lang="zh-CN" altLang="en-US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4000"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RF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Buy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>
                          <a:sym typeface="+mn-ea"/>
                        </a:rPr>
                        <a:t>312359.2373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>
                          <a:sym typeface="+mn-ea"/>
                        </a:rPr>
                        <a:t>429164.3271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>
                          <a:sym typeface="+mn-ea"/>
                        </a:rPr>
                        <a:t>339182.0271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76.9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54000"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RF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Rent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431279.4661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527074.8996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433412.5980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76.9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54000"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XGBoost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Buy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226921.4221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485628.4642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2337314.4295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76.5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925"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XGBoost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Rent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>
                          <a:sym typeface="+mn-ea"/>
                        </a:rPr>
                        <a:t>278915.1220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567291.3142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349872.6571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76.5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4000"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CatBoost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Buy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>
                          <a:sym typeface="+mn-ea"/>
                        </a:rPr>
                        <a:t>76129.0012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>
                          <a:sym typeface="+mn-ea"/>
                        </a:rPr>
                        <a:t>79978.0235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>
                          <a:sym typeface="+mn-ea"/>
                        </a:rPr>
                        <a:t>170021.1652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75.9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4000"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CatBoost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Rent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88038.6823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168746.7837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109067.7999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75.9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4000"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ANN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Buy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683211.4412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709261.2397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1024571.6655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75.8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4000"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ANN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Rent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>
                          <a:sym typeface="+mn-ea"/>
                        </a:rPr>
                        <a:t>573191.2324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689265.1978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984712.1076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/>
                      <a:r>
                        <a:rPr lang="en-US" altLang="zh-CN" sz="1100"/>
                        <a:t>75.8</a:t>
                      </a:r>
                      <a:endParaRPr lang="en-US" altLang="zh-CN" sz="1100"/>
                    </a:p>
                  </a:txBody>
                  <a:tcPr marL="51117" marR="51117" marT="57467" marB="57467" anchor="t" anchorCtr="0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675" y="4625975"/>
            <a:ext cx="5031740" cy="11633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165" y="4206875"/>
            <a:ext cx="6172835" cy="4191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486140" y="3860800"/>
            <a:ext cx="2325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GAN</a:t>
            </a:r>
            <a:r>
              <a:rPr lang="zh-CN" altLang="en-US"/>
              <a:t>目标函数：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Tm="5500">
        <p:fade/>
      </p:transition>
    </mc:Choice>
    <mc:Fallback>
      <p:transition spd="med" advTm="55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699245" y="2119632"/>
            <a:ext cx="10793511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>
                <a:solidFill>
                  <a:srgbClr val="55B577"/>
                </a:solidFill>
                <a:latin typeface="微软雅黑" panose="020B0503020204020204" charset="-122"/>
                <a:ea typeface="微软雅黑" panose="020B0503020204020204" charset="-122"/>
              </a:rPr>
              <a:t>谢谢大家</a:t>
            </a:r>
            <a:endParaRPr lang="zh-CN" altLang="en-US" sz="6600" b="1" dirty="0">
              <a:solidFill>
                <a:srgbClr val="55B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190751" y="3320533"/>
            <a:ext cx="7810499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Thank you for your listening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1" name="PA_直接连接符 20"/>
          <p:cNvCxnSpPr/>
          <p:nvPr>
            <p:custDataLst>
              <p:tags r:id="rId1"/>
            </p:custDataLst>
          </p:nvPr>
        </p:nvCxnSpPr>
        <p:spPr>
          <a:xfrm>
            <a:off x="2009775" y="3303828"/>
            <a:ext cx="8172450" cy="0"/>
          </a:xfrm>
          <a:prstGeom prst="line">
            <a:avLst/>
          </a:prstGeom>
          <a:ln w="12700">
            <a:solidFill>
              <a:srgbClr val="55B5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0009" y="4352955"/>
            <a:ext cx="5797798" cy="2505673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580" y="4065512"/>
            <a:ext cx="6614733" cy="2956816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0945" y="5862431"/>
            <a:ext cx="713294" cy="1639966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9724" y="3948890"/>
            <a:ext cx="1109568" cy="159729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3029" y="6065161"/>
            <a:ext cx="987638" cy="191431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9142" y="4300268"/>
            <a:ext cx="993734" cy="1743607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1521" y="178150"/>
            <a:ext cx="1828959" cy="17009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PA" val="v3.2.0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3_2*l_h_i*1_1_1"/>
  <p:tag name="KSO_WM_TEMPLATE_CATEGORY" val="diagram"/>
  <p:tag name="KSO_WM_TEMPLATE_INDEX" val="20235153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UNIT_TEXT_FILL_FORE_SCHEMECOLOR_INDEX" val="3"/>
  <p:tag name="KSO_WM_UNIT_TEXT_FILL_TYPE" val="3"/>
  <p:tag name="KSO_WM_DIAGRAM_MAX_ITEMCNT" val="12"/>
  <p:tag name="KSO_WM_DIAGRAM_MIN_ITEMCNT" val="2"/>
  <p:tag name="KSO_WM_DIAGRAM_VIRTUALLY_FRAME" val="{&quot;height&quot;:472.6499969482422,&quot;left&quot;:0,&quot;top&quot;:24.5,&quot;width&quot;:932.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30000001192092896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3_2*l_h_i*1_3_1"/>
  <p:tag name="KSO_WM_TEMPLATE_CATEGORY" val="diagram"/>
  <p:tag name="KSO_WM_TEMPLATE_INDEX" val="20235153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UNIT_TEXT_FILL_FORE_SCHEMECOLOR_INDEX" val="3"/>
  <p:tag name="KSO_WM_UNIT_TEXT_FILL_TYPE" val="3"/>
  <p:tag name="KSO_WM_DIAGRAM_MAX_ITEMCNT" val="12"/>
  <p:tag name="KSO_WM_DIAGRAM_MIN_ITEMCNT" val="2"/>
  <p:tag name="KSO_WM_DIAGRAM_VIRTUALLY_FRAME" val="{&quot;height&quot;:472.6499969482422,&quot;left&quot;:0,&quot;top&quot;:24.5,&quot;width&quot;:932.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30000001192092896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3_2*l_h_i*1_2_1"/>
  <p:tag name="KSO_WM_TEMPLATE_CATEGORY" val="diagram"/>
  <p:tag name="KSO_WM_TEMPLATE_INDEX" val="20235153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UNIT_TEXT_FILL_FORE_SCHEMECOLOR_INDEX" val="3"/>
  <p:tag name="KSO_WM_UNIT_TEXT_FILL_TYPE" val="3"/>
  <p:tag name="KSO_WM_DIAGRAM_MAX_ITEMCNT" val="12"/>
  <p:tag name="KSO_WM_DIAGRAM_MIN_ITEMCNT" val="2"/>
  <p:tag name="KSO_WM_DIAGRAM_VIRTUALLY_FRAME" val="{&quot;height&quot;:472.6499969482422,&quot;left&quot;:0,&quot;top&quot;:24.5,&quot;width&quot;:932.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30000001192092896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5.xml><?xml version="1.0" encoding="utf-8"?>
<p:tagLst xmlns:p="http://schemas.openxmlformats.org/presentationml/2006/main">
  <p:tag name="KSO_WM_DIAGRAM_VIRTUALLY_FRAME" val="{&quot;height&quot;:472.6499969482422,&quot;left&quot;:0,&quot;top&quot;:24.5,&quot;width&quot;:932.55}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3_2*l_h_i*1_1_1"/>
  <p:tag name="KSO_WM_TEMPLATE_CATEGORY" val="diagram"/>
  <p:tag name="KSO_WM_TEMPLATE_INDEX" val="20235153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UNIT_TEXT_FILL_FORE_SCHEMECOLOR_INDEX" val="3"/>
  <p:tag name="KSO_WM_UNIT_TEXT_FILL_TYPE" val="3"/>
  <p:tag name="KSO_WM_DIAGRAM_MAX_ITEMCNT" val="12"/>
  <p:tag name="KSO_WM_DIAGRAM_MIN_ITEMCNT" val="2"/>
  <p:tag name="KSO_WM_DIAGRAM_VIRTUALLY_FRAME" val="{&quot;height&quot;:472.6499969482422,&quot;left&quot;:0,&quot;top&quot;:24.5,&quot;width&quot;:932.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30000001192092896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3_2*l_h_i*1_3_1"/>
  <p:tag name="KSO_WM_TEMPLATE_CATEGORY" val="diagram"/>
  <p:tag name="KSO_WM_TEMPLATE_INDEX" val="20235153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UNIT_TEXT_FILL_FORE_SCHEMECOLOR_INDEX" val="3"/>
  <p:tag name="KSO_WM_UNIT_TEXT_FILL_TYPE" val="3"/>
  <p:tag name="KSO_WM_DIAGRAM_MAX_ITEMCNT" val="12"/>
  <p:tag name="KSO_WM_DIAGRAM_MIN_ITEMCNT" val="2"/>
  <p:tag name="KSO_WM_DIAGRAM_VIRTUALLY_FRAME" val="{&quot;height&quot;:472.6499969482422,&quot;left&quot;:0,&quot;top&quot;:24.5,&quot;width&quot;:932.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30000001192092896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3_2*l_h_i*1_3_2"/>
  <p:tag name="KSO_WM_TEMPLATE_CATEGORY" val="diagram"/>
  <p:tag name="KSO_WM_TEMPLATE_INDEX" val="20235153"/>
  <p:tag name="KSO_WM_UNIT_LAYERLEVEL" val="1_1_1"/>
  <p:tag name="KSO_WM_TAG_VERSION" val="3.0"/>
  <p:tag name="KSO_WM_DIAGRAM_GROUP_CODE" val="l1-1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UNIT_LINE_FORE_SCHEMECOLOR_INDEX" val="5"/>
  <p:tag name="KSO_WM_DIAGRAM_MAX_ITEMCNT" val="12"/>
  <p:tag name="KSO_WM_DIAGRAM_MIN_ITEMCNT" val="2"/>
  <p:tag name="KSO_WM_DIAGRAM_VIRTUALLY_FRAME" val="{&quot;height&quot;:472.6499969482422,&quot;left&quot;:0,&quot;top&quot;:24.5,&quot;width&quot;:932.55}"/>
  <p:tag name="KSO_WM_DIAGRAM_COLOR_MATCH_VALUE" val="{&quot;shape&quot;:{&quot;fill&quot;:{&quot;solid&quot;:{&quot;brightness&quot;:0,&quot;colorType&quot;:1,&quot;foreColorIndex&quot;:2,&quot;transparency&quot;:1},&quot;type&quot;:1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3_2*l_h_i*1_3_2"/>
  <p:tag name="KSO_WM_TEMPLATE_CATEGORY" val="diagram"/>
  <p:tag name="KSO_WM_TEMPLATE_INDEX" val="20235153"/>
  <p:tag name="KSO_WM_UNIT_LAYERLEVEL" val="1_1_1"/>
  <p:tag name="KSO_WM_TAG_VERSION" val="3.0"/>
  <p:tag name="KSO_WM_DIAGRAM_GROUP_CODE" val="l1-1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UNIT_LINE_FORE_SCHEMECOLOR_INDEX" val="5"/>
  <p:tag name="KSO_WM_DIAGRAM_MAX_ITEMCNT" val="12"/>
  <p:tag name="KSO_WM_DIAGRAM_MIN_ITEMCNT" val="2"/>
  <p:tag name="KSO_WM_DIAGRAM_VIRTUALLY_FRAME" val="{&quot;height&quot;:472.6499969482422,&quot;left&quot;:0,&quot;top&quot;:24.5,&quot;width&quot;:932.55}"/>
  <p:tag name="KSO_WM_DIAGRAM_COLOR_MATCH_VALUE" val="{&quot;shape&quot;:{&quot;fill&quot;:{&quot;solid&quot;:{&quot;brightness&quot;:0,&quot;colorType&quot;:1,&quot;foreColorIndex&quot;:2,&quot;transparency&quot;:1},&quot;type&quot;:1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0.xml><?xml version="1.0" encoding="utf-8"?>
<p:tagLst xmlns:p="http://schemas.openxmlformats.org/presentationml/2006/main">
  <p:tag name="PA" val="v3.2.0"/>
</p:tagLst>
</file>

<file path=ppt/tags/tag11.xml><?xml version="1.0" encoding="utf-8"?>
<p:tagLst xmlns:p="http://schemas.openxmlformats.org/presentationml/2006/main">
  <p:tag name="ISPRING_PRESENTATION_TITLE" val="彩色叶子手绘小清新ppt"/>
  <p:tag name="RESOURCE_RECORD_KEY" val="{&quot;70&quot;:[3333435,3324636]}"/>
  <p:tag name="resource_record_key" val="{&quot;70&quot;:[3333435,3324636,3333497]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318C80"/>
      </a:accent1>
      <a:accent2>
        <a:srgbClr val="F2CF61"/>
      </a:accent2>
      <a:accent3>
        <a:srgbClr val="A6E582"/>
      </a:accent3>
      <a:accent4>
        <a:srgbClr val="51D9B5"/>
      </a:accent4>
      <a:accent5>
        <a:srgbClr val="D95B5B"/>
      </a:accent5>
      <a:accent6>
        <a:srgbClr val="BFBFBF"/>
      </a:accent6>
      <a:hlink>
        <a:srgbClr val="318C80"/>
      </a:hlink>
      <a:folHlink>
        <a:srgbClr val="BFBFBF"/>
      </a:folHlink>
    </a:clrScheme>
    <a:fontScheme name="自定义 6">
      <a:majorFont>
        <a:latin typeface="Arial"/>
        <a:ea typeface="微软雅黑"/>
        <a:cs typeface=""/>
      </a:majorFont>
      <a:minorFont>
        <a:latin typeface="Arial Unicode MS"/>
        <a:ea typeface="思源宋体 C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2067</Words>
  <Application>WPS 演示</Application>
  <PresentationFormat>宽屏</PresentationFormat>
  <Paragraphs>201</Paragraphs>
  <Slides>5</Slides>
  <Notes>15</Notes>
  <HiddenSlides>0</HiddenSlides>
  <MMClips>1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宋体</vt:lpstr>
      <vt:lpstr>Wingdings</vt:lpstr>
      <vt:lpstr>迷你简细倩</vt:lpstr>
      <vt:lpstr>微软雅黑</vt:lpstr>
      <vt:lpstr>华文中宋</vt:lpstr>
      <vt:lpstr>思源宋体 CN</vt:lpstr>
      <vt:lpstr>Times New Roman</vt:lpstr>
      <vt:lpstr>Arial Unicode MS</vt:lpstr>
      <vt:lpstr>等线</vt:lpstr>
      <vt:lpstr>思源宋体 CN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温馨</cp:lastModifiedBy>
  <cp:revision>58</cp:revision>
  <dcterms:created xsi:type="dcterms:W3CDTF">2017-06-12T02:12:00Z</dcterms:created>
  <dcterms:modified xsi:type="dcterms:W3CDTF">2025-12-25T10:36:22Z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DB98277765884898A0092DDDA67FDBE7_13</vt:lpwstr>
  </property>
  <property fmtid="{D5CDD505-2E9C-101B-9397-08002B2CF9AE}" pid="3" name="KSOProductBuildVer">
    <vt:lpwstr>2052-12.1.0.24034</vt:lpwstr>
  </property>
</Properties>
</file>