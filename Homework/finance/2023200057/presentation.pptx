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6"/>
  </p:notesMasterIdLst>
  <p:sldIdLst>
    <p:sldId id="365" r:id="rId2"/>
    <p:sldId id="305" r:id="rId3"/>
    <p:sldId id="309" r:id="rId4"/>
    <p:sldId id="333" r:id="rId5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4112" userDrawn="1">
          <p15:clr>
            <a:srgbClr val="A4A3A4"/>
          </p15:clr>
        </p15:guide>
        <p15:guide id="4" pos="415" userDrawn="1">
          <p15:clr>
            <a:srgbClr val="A4A3A4"/>
          </p15:clr>
        </p15:guide>
        <p15:guide id="6" orient="horz" pos="1457" userDrawn="1">
          <p15:clr>
            <a:srgbClr val="A4A3A4"/>
          </p15:clr>
        </p15:guide>
        <p15:guide id="7" pos="72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44C89"/>
    <a:srgbClr val="4E81C0"/>
    <a:srgbClr val="313D51"/>
    <a:srgbClr val="433D3C"/>
    <a:srgbClr val="C00000"/>
    <a:srgbClr val="F0F2F4"/>
    <a:srgbClr val="0B2C4F"/>
    <a:srgbClr val="213555"/>
    <a:srgbClr val="2636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23" autoAdjust="0"/>
    <p:restoredTop sz="96314" autoAdjust="0"/>
  </p:normalViewPr>
  <p:slideViewPr>
    <p:cSldViewPr snapToGrid="0">
      <p:cViewPr varScale="1">
        <p:scale>
          <a:sx n="91" d="100"/>
          <a:sy n="91" d="100"/>
        </p:scale>
        <p:origin x="124" y="64"/>
      </p:cViewPr>
      <p:guideLst>
        <p:guide pos="4112"/>
        <p:guide pos="415"/>
        <p:guide orient="horz" pos="1457"/>
        <p:guide pos="7219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B2E5B-1A0B-4F0A-9547-4FB8D13F2C5F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E3CF89-91F4-45FB-A589-58532703FC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0893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E3CF89-91F4-45FB-A589-58532703FCA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8483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E3CF89-91F4-45FB-A589-58532703FCA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88643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E3CF89-91F4-45FB-A589-58532703FCA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2465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64"/>
            <a:ext cx="12194588" cy="6853636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396169" y="450677"/>
            <a:ext cx="11402250" cy="596101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558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64"/>
            <a:ext cx="12194588" cy="6853636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96169" y="450677"/>
            <a:ext cx="11402250" cy="596101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标题 1"/>
          <p:cNvSpPr>
            <a:spLocks noGrp="1"/>
          </p:cNvSpPr>
          <p:nvPr>
            <p:ph type="title" hasCustomPrompt="1"/>
          </p:nvPr>
        </p:nvSpPr>
        <p:spPr>
          <a:xfrm>
            <a:off x="1482525" y="927031"/>
            <a:ext cx="3629564" cy="45612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solidFill>
                  <a:srgbClr val="244C89"/>
                </a:solidFill>
                <a:ea typeface="思源黑体" panose="020B0500000000000000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9" name="Freeform 5"/>
          <p:cNvSpPr>
            <a:spLocks noEditPoints="1"/>
          </p:cNvSpPr>
          <p:nvPr userDrawn="1"/>
        </p:nvSpPr>
        <p:spPr bwMode="auto">
          <a:xfrm>
            <a:off x="861588" y="857970"/>
            <a:ext cx="441095" cy="525190"/>
          </a:xfrm>
          <a:custGeom>
            <a:avLst/>
            <a:gdLst>
              <a:gd name="T0" fmla="*/ 269 w 537"/>
              <a:gd name="T1" fmla="*/ 0 h 623"/>
              <a:gd name="T2" fmla="*/ 403 w 537"/>
              <a:gd name="T3" fmla="*/ 78 h 623"/>
              <a:gd name="T4" fmla="*/ 537 w 537"/>
              <a:gd name="T5" fmla="*/ 156 h 623"/>
              <a:gd name="T6" fmla="*/ 537 w 537"/>
              <a:gd name="T7" fmla="*/ 311 h 623"/>
              <a:gd name="T8" fmla="*/ 537 w 537"/>
              <a:gd name="T9" fmla="*/ 467 h 623"/>
              <a:gd name="T10" fmla="*/ 403 w 537"/>
              <a:gd name="T11" fmla="*/ 545 h 623"/>
              <a:gd name="T12" fmla="*/ 269 w 537"/>
              <a:gd name="T13" fmla="*/ 623 h 623"/>
              <a:gd name="T14" fmla="*/ 134 w 537"/>
              <a:gd name="T15" fmla="*/ 545 h 623"/>
              <a:gd name="T16" fmla="*/ 0 w 537"/>
              <a:gd name="T17" fmla="*/ 467 h 623"/>
              <a:gd name="T18" fmla="*/ 0 w 537"/>
              <a:gd name="T19" fmla="*/ 311 h 623"/>
              <a:gd name="T20" fmla="*/ 0 w 537"/>
              <a:gd name="T21" fmla="*/ 156 h 623"/>
              <a:gd name="T22" fmla="*/ 134 w 537"/>
              <a:gd name="T23" fmla="*/ 78 h 623"/>
              <a:gd name="T24" fmla="*/ 269 w 537"/>
              <a:gd name="T25" fmla="*/ 0 h 623"/>
              <a:gd name="T26" fmla="*/ 269 w 537"/>
              <a:gd name="T27" fmla="*/ 53 h 623"/>
              <a:gd name="T28" fmla="*/ 380 w 537"/>
              <a:gd name="T29" fmla="*/ 117 h 623"/>
              <a:gd name="T30" fmla="*/ 492 w 537"/>
              <a:gd name="T31" fmla="*/ 182 h 623"/>
              <a:gd name="T32" fmla="*/ 492 w 537"/>
              <a:gd name="T33" fmla="*/ 311 h 623"/>
              <a:gd name="T34" fmla="*/ 492 w 537"/>
              <a:gd name="T35" fmla="*/ 441 h 623"/>
              <a:gd name="T36" fmla="*/ 380 w 537"/>
              <a:gd name="T37" fmla="*/ 505 h 623"/>
              <a:gd name="T38" fmla="*/ 269 w 537"/>
              <a:gd name="T39" fmla="*/ 570 h 623"/>
              <a:gd name="T40" fmla="*/ 157 w 537"/>
              <a:gd name="T41" fmla="*/ 505 h 623"/>
              <a:gd name="T42" fmla="*/ 46 w 537"/>
              <a:gd name="T43" fmla="*/ 441 h 623"/>
              <a:gd name="T44" fmla="*/ 46 w 537"/>
              <a:gd name="T45" fmla="*/ 311 h 623"/>
              <a:gd name="T46" fmla="*/ 46 w 537"/>
              <a:gd name="T47" fmla="*/ 182 h 623"/>
              <a:gd name="T48" fmla="*/ 157 w 537"/>
              <a:gd name="T49" fmla="*/ 117 h 623"/>
              <a:gd name="T50" fmla="*/ 269 w 537"/>
              <a:gd name="T51" fmla="*/ 53 h 623"/>
              <a:gd name="T52" fmla="*/ 215 w 537"/>
              <a:gd name="T53" fmla="*/ 455 h 623"/>
              <a:gd name="T54" fmla="*/ 367 w 537"/>
              <a:gd name="T55" fmla="*/ 455 h 623"/>
              <a:gd name="T56" fmla="*/ 375 w 537"/>
              <a:gd name="T57" fmla="*/ 463 h 623"/>
              <a:gd name="T58" fmla="*/ 367 w 537"/>
              <a:gd name="T59" fmla="*/ 471 h 623"/>
              <a:gd name="T60" fmla="*/ 215 w 537"/>
              <a:gd name="T61" fmla="*/ 471 h 623"/>
              <a:gd name="T62" fmla="*/ 207 w 537"/>
              <a:gd name="T63" fmla="*/ 463 h 623"/>
              <a:gd name="T64" fmla="*/ 215 w 537"/>
              <a:gd name="T65" fmla="*/ 455 h 623"/>
              <a:gd name="T66" fmla="*/ 218 w 537"/>
              <a:gd name="T67" fmla="*/ 380 h 623"/>
              <a:gd name="T68" fmla="*/ 302 w 537"/>
              <a:gd name="T69" fmla="*/ 242 h 623"/>
              <a:gd name="T70" fmla="*/ 331 w 537"/>
              <a:gd name="T71" fmla="*/ 260 h 623"/>
              <a:gd name="T72" fmla="*/ 248 w 537"/>
              <a:gd name="T73" fmla="*/ 398 h 623"/>
              <a:gd name="T74" fmla="*/ 218 w 537"/>
              <a:gd name="T75" fmla="*/ 380 h 623"/>
              <a:gd name="T76" fmla="*/ 159 w 537"/>
              <a:gd name="T77" fmla="*/ 344 h 623"/>
              <a:gd name="T78" fmla="*/ 243 w 537"/>
              <a:gd name="T79" fmla="*/ 207 h 623"/>
              <a:gd name="T80" fmla="*/ 272 w 537"/>
              <a:gd name="T81" fmla="*/ 224 h 623"/>
              <a:gd name="T82" fmla="*/ 189 w 537"/>
              <a:gd name="T83" fmla="*/ 362 h 623"/>
              <a:gd name="T84" fmla="*/ 159 w 537"/>
              <a:gd name="T85" fmla="*/ 344 h 623"/>
              <a:gd name="T86" fmla="*/ 146 w 537"/>
              <a:gd name="T87" fmla="*/ 456 h 623"/>
              <a:gd name="T88" fmla="*/ 154 w 537"/>
              <a:gd name="T89" fmla="*/ 387 h 623"/>
              <a:gd name="T90" fmla="*/ 211 w 537"/>
              <a:gd name="T91" fmla="*/ 422 h 623"/>
              <a:gd name="T92" fmla="*/ 155 w 537"/>
              <a:gd name="T93" fmla="*/ 461 h 623"/>
              <a:gd name="T94" fmla="*/ 146 w 537"/>
              <a:gd name="T95" fmla="*/ 456 h 623"/>
              <a:gd name="T96" fmla="*/ 266 w 537"/>
              <a:gd name="T97" fmla="*/ 168 h 623"/>
              <a:gd name="T98" fmla="*/ 253 w 537"/>
              <a:gd name="T99" fmla="*/ 188 h 623"/>
              <a:gd name="T100" fmla="*/ 342 w 537"/>
              <a:gd name="T101" fmla="*/ 242 h 623"/>
              <a:gd name="T102" fmla="*/ 354 w 537"/>
              <a:gd name="T103" fmla="*/ 222 h 623"/>
              <a:gd name="T104" fmla="*/ 266 w 537"/>
              <a:gd name="T105" fmla="*/ 168 h 623"/>
              <a:gd name="T106" fmla="*/ 285 w 537"/>
              <a:gd name="T107" fmla="*/ 138 h 623"/>
              <a:gd name="T108" fmla="*/ 311 w 537"/>
              <a:gd name="T109" fmla="*/ 131 h 623"/>
              <a:gd name="T110" fmla="*/ 366 w 537"/>
              <a:gd name="T111" fmla="*/ 165 h 623"/>
              <a:gd name="T112" fmla="*/ 373 w 537"/>
              <a:gd name="T113" fmla="*/ 191 h 623"/>
              <a:gd name="T114" fmla="*/ 365 w 537"/>
              <a:gd name="T115" fmla="*/ 204 h 623"/>
              <a:gd name="T116" fmla="*/ 277 w 537"/>
              <a:gd name="T117" fmla="*/ 150 h 623"/>
              <a:gd name="T118" fmla="*/ 285 w 537"/>
              <a:gd name="T119" fmla="*/ 138 h 6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537" h="623">
                <a:moveTo>
                  <a:pt x="269" y="0"/>
                </a:moveTo>
                <a:lnTo>
                  <a:pt x="403" y="78"/>
                </a:lnTo>
                <a:lnTo>
                  <a:pt x="537" y="156"/>
                </a:lnTo>
                <a:lnTo>
                  <a:pt x="537" y="311"/>
                </a:lnTo>
                <a:lnTo>
                  <a:pt x="537" y="467"/>
                </a:lnTo>
                <a:lnTo>
                  <a:pt x="403" y="545"/>
                </a:lnTo>
                <a:lnTo>
                  <a:pt x="269" y="623"/>
                </a:lnTo>
                <a:lnTo>
                  <a:pt x="134" y="545"/>
                </a:lnTo>
                <a:lnTo>
                  <a:pt x="0" y="467"/>
                </a:lnTo>
                <a:lnTo>
                  <a:pt x="0" y="311"/>
                </a:lnTo>
                <a:lnTo>
                  <a:pt x="0" y="156"/>
                </a:lnTo>
                <a:lnTo>
                  <a:pt x="134" y="78"/>
                </a:lnTo>
                <a:lnTo>
                  <a:pt x="269" y="0"/>
                </a:lnTo>
                <a:close/>
                <a:moveTo>
                  <a:pt x="269" y="53"/>
                </a:moveTo>
                <a:lnTo>
                  <a:pt x="380" y="117"/>
                </a:lnTo>
                <a:lnTo>
                  <a:pt x="492" y="182"/>
                </a:lnTo>
                <a:lnTo>
                  <a:pt x="492" y="311"/>
                </a:lnTo>
                <a:lnTo>
                  <a:pt x="492" y="441"/>
                </a:lnTo>
                <a:lnTo>
                  <a:pt x="380" y="505"/>
                </a:lnTo>
                <a:lnTo>
                  <a:pt x="269" y="570"/>
                </a:lnTo>
                <a:lnTo>
                  <a:pt x="157" y="505"/>
                </a:lnTo>
                <a:lnTo>
                  <a:pt x="46" y="441"/>
                </a:lnTo>
                <a:lnTo>
                  <a:pt x="46" y="311"/>
                </a:lnTo>
                <a:lnTo>
                  <a:pt x="46" y="182"/>
                </a:lnTo>
                <a:lnTo>
                  <a:pt x="157" y="117"/>
                </a:lnTo>
                <a:lnTo>
                  <a:pt x="269" y="53"/>
                </a:lnTo>
                <a:close/>
                <a:moveTo>
                  <a:pt x="215" y="455"/>
                </a:moveTo>
                <a:lnTo>
                  <a:pt x="367" y="455"/>
                </a:lnTo>
                <a:cubicBezTo>
                  <a:pt x="371" y="455"/>
                  <a:pt x="375" y="458"/>
                  <a:pt x="375" y="463"/>
                </a:cubicBezTo>
                <a:cubicBezTo>
                  <a:pt x="375" y="467"/>
                  <a:pt x="371" y="471"/>
                  <a:pt x="367" y="471"/>
                </a:cubicBezTo>
                <a:lnTo>
                  <a:pt x="215" y="471"/>
                </a:lnTo>
                <a:cubicBezTo>
                  <a:pt x="211" y="471"/>
                  <a:pt x="207" y="467"/>
                  <a:pt x="207" y="463"/>
                </a:cubicBezTo>
                <a:cubicBezTo>
                  <a:pt x="207" y="458"/>
                  <a:pt x="211" y="455"/>
                  <a:pt x="215" y="455"/>
                </a:cubicBezTo>
                <a:close/>
                <a:moveTo>
                  <a:pt x="218" y="380"/>
                </a:moveTo>
                <a:lnTo>
                  <a:pt x="302" y="242"/>
                </a:lnTo>
                <a:lnTo>
                  <a:pt x="331" y="260"/>
                </a:lnTo>
                <a:lnTo>
                  <a:pt x="248" y="398"/>
                </a:lnTo>
                <a:lnTo>
                  <a:pt x="218" y="380"/>
                </a:lnTo>
                <a:close/>
                <a:moveTo>
                  <a:pt x="159" y="344"/>
                </a:moveTo>
                <a:lnTo>
                  <a:pt x="243" y="207"/>
                </a:lnTo>
                <a:lnTo>
                  <a:pt x="272" y="224"/>
                </a:lnTo>
                <a:lnTo>
                  <a:pt x="189" y="362"/>
                </a:lnTo>
                <a:lnTo>
                  <a:pt x="159" y="344"/>
                </a:lnTo>
                <a:close/>
                <a:moveTo>
                  <a:pt x="146" y="456"/>
                </a:moveTo>
                <a:lnTo>
                  <a:pt x="154" y="387"/>
                </a:lnTo>
                <a:lnTo>
                  <a:pt x="211" y="422"/>
                </a:lnTo>
                <a:lnTo>
                  <a:pt x="155" y="461"/>
                </a:lnTo>
                <a:cubicBezTo>
                  <a:pt x="149" y="465"/>
                  <a:pt x="145" y="463"/>
                  <a:pt x="146" y="456"/>
                </a:cubicBezTo>
                <a:close/>
                <a:moveTo>
                  <a:pt x="266" y="168"/>
                </a:moveTo>
                <a:lnTo>
                  <a:pt x="253" y="188"/>
                </a:lnTo>
                <a:lnTo>
                  <a:pt x="342" y="242"/>
                </a:lnTo>
                <a:lnTo>
                  <a:pt x="354" y="222"/>
                </a:lnTo>
                <a:lnTo>
                  <a:pt x="266" y="168"/>
                </a:lnTo>
                <a:close/>
                <a:moveTo>
                  <a:pt x="285" y="138"/>
                </a:moveTo>
                <a:cubicBezTo>
                  <a:pt x="290" y="129"/>
                  <a:pt x="302" y="126"/>
                  <a:pt x="311" y="131"/>
                </a:cubicBezTo>
                <a:lnTo>
                  <a:pt x="366" y="165"/>
                </a:lnTo>
                <a:cubicBezTo>
                  <a:pt x="375" y="170"/>
                  <a:pt x="378" y="182"/>
                  <a:pt x="373" y="191"/>
                </a:cubicBezTo>
                <a:lnTo>
                  <a:pt x="365" y="204"/>
                </a:lnTo>
                <a:lnTo>
                  <a:pt x="277" y="150"/>
                </a:lnTo>
                <a:lnTo>
                  <a:pt x="285" y="138"/>
                </a:lnTo>
                <a:close/>
              </a:path>
            </a:pathLst>
          </a:custGeom>
          <a:solidFill>
            <a:srgbClr val="244C89"/>
          </a:solidFill>
          <a:ln>
            <a:noFill/>
          </a:ln>
        </p:spPr>
        <p:txBody>
          <a:bodyPr vert="horz" wrap="square" lIns="91392" tIns="45696" rIns="91392" bIns="45696" numCol="1" anchor="t" anchorCtr="0" compatLnSpc="1"/>
          <a:lstStyle/>
          <a:p>
            <a:endParaRPr lang="zh-CN" altLang="en-US" sz="1799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2576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64"/>
            <a:ext cx="12194588" cy="6853636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396169" y="450677"/>
            <a:ext cx="11402250" cy="596101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7968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64"/>
            <a:ext cx="12194588" cy="6853636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396169" y="450677"/>
            <a:ext cx="11402250" cy="596101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4028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6015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19"/>
            <a:ext cx="12192000" cy="6852181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2160496" y="1465866"/>
            <a:ext cx="7871010" cy="3932089"/>
          </a:xfrm>
          <a:prstGeom prst="rect">
            <a:avLst/>
          </a:prstGeom>
          <a:solidFill>
            <a:srgbClr val="244C89"/>
          </a:solidFill>
          <a:ln>
            <a:noFill/>
          </a:ln>
          <a:effectLst>
            <a:outerShdw blurRad="444500" dist="2540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1"/>
          </a:p>
        </p:txBody>
      </p:sp>
      <p:sp>
        <p:nvSpPr>
          <p:cNvPr id="4" name="矩形 3"/>
          <p:cNvSpPr/>
          <p:nvPr/>
        </p:nvSpPr>
        <p:spPr>
          <a:xfrm>
            <a:off x="2429435" y="1711367"/>
            <a:ext cx="7333130" cy="3441085"/>
          </a:xfrm>
          <a:prstGeom prst="rect">
            <a:avLst/>
          </a:prstGeom>
          <a:noFill/>
          <a:ln w="25400">
            <a:solidFill>
              <a:schemeClr val="bg1"/>
            </a:solidFill>
          </a:ln>
          <a:effectLst>
            <a:outerShdw blurRad="444500" dist="2540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1"/>
          </a:p>
        </p:txBody>
      </p:sp>
      <p:sp>
        <p:nvSpPr>
          <p:cNvPr id="5" name="文本框 4"/>
          <p:cNvSpPr txBox="1"/>
          <p:nvPr/>
        </p:nvSpPr>
        <p:spPr>
          <a:xfrm>
            <a:off x="2569441" y="2302293"/>
            <a:ext cx="7053116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defRPr/>
            </a:pPr>
            <a:r>
              <a:rPr lang="en-US" altLang="zh-CN" sz="48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Final Exam Presentation</a:t>
            </a:r>
            <a:endParaRPr lang="zh-CN" altLang="en-US" sz="4800" b="1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17" name="PA_圆角矩形 31"/>
          <p:cNvSpPr/>
          <p:nvPr>
            <p:custDataLst>
              <p:tags r:id="rId1"/>
            </p:custDataLst>
          </p:nvPr>
        </p:nvSpPr>
        <p:spPr>
          <a:xfrm>
            <a:off x="4383261" y="4182817"/>
            <a:ext cx="3425477" cy="42408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223762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朱奕宁    </a:t>
            </a:r>
            <a:r>
              <a:rPr lang="en-US" altLang="zh-CN" dirty="0">
                <a:solidFill>
                  <a:srgbClr val="223762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2023200057</a:t>
            </a:r>
            <a:endParaRPr lang="zh-CN" altLang="en-US" dirty="0">
              <a:solidFill>
                <a:srgbClr val="223762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32399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1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1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  <p:bldP spid="1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1621523" y="2007927"/>
            <a:ext cx="2619669" cy="3846585"/>
            <a:chOff x="1474030" y="1802903"/>
            <a:chExt cx="2935782" cy="4310749"/>
          </a:xfrm>
        </p:grpSpPr>
        <p:sp>
          <p:nvSpPr>
            <p:cNvPr id="31" name="Rectangle 24"/>
            <p:cNvSpPr>
              <a:spLocks noChangeArrowheads="1"/>
            </p:cNvSpPr>
            <p:nvPr/>
          </p:nvSpPr>
          <p:spPr bwMode="auto">
            <a:xfrm>
              <a:off x="1474030" y="1802903"/>
              <a:ext cx="2935782" cy="43107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innerShdw blurRad="76200">
                <a:prstClr val="black"/>
              </a:innerShdw>
            </a:effectLst>
          </p:spPr>
          <p:txBody>
            <a:bodyPr/>
            <a:lstStyle/>
            <a:p>
              <a:pPr>
                <a:lnSpc>
                  <a:spcPct val="120000"/>
                </a:lnSpc>
              </a:pPr>
              <a:endParaRPr lang="zh-CN" altLang="zh-CN" dirty="0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1474030" y="1802903"/>
              <a:ext cx="1139938" cy="1334560"/>
            </a:xfrm>
            <a:custGeom>
              <a:avLst/>
              <a:gdLst>
                <a:gd name="T0" fmla="*/ 64 w 64"/>
                <a:gd name="T1" fmla="*/ 21 h 75"/>
                <a:gd name="T2" fmla="*/ 59 w 64"/>
                <a:gd name="T3" fmla="*/ 0 h 75"/>
                <a:gd name="T4" fmla="*/ 0 w 64"/>
                <a:gd name="T5" fmla="*/ 0 h 75"/>
                <a:gd name="T6" fmla="*/ 0 w 64"/>
                <a:gd name="T7" fmla="*/ 74 h 75"/>
                <a:gd name="T8" fmla="*/ 10 w 64"/>
                <a:gd name="T9" fmla="*/ 75 h 75"/>
                <a:gd name="T10" fmla="*/ 64 w 64"/>
                <a:gd name="T11" fmla="*/ 2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" h="75">
                  <a:moveTo>
                    <a:pt x="64" y="21"/>
                  </a:moveTo>
                  <a:cubicBezTo>
                    <a:pt x="64" y="14"/>
                    <a:pt x="62" y="7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3" y="75"/>
                    <a:pt x="7" y="75"/>
                    <a:pt x="10" y="75"/>
                  </a:cubicBezTo>
                  <a:cubicBezTo>
                    <a:pt x="40" y="75"/>
                    <a:pt x="64" y="51"/>
                    <a:pt x="64" y="21"/>
                  </a:cubicBezTo>
                  <a:close/>
                </a:path>
              </a:pathLst>
            </a:custGeom>
            <a:solidFill>
              <a:srgbClr val="244C89"/>
            </a:solidFill>
            <a:ln>
              <a:noFill/>
            </a:ln>
            <a:effectLst>
              <a:outerShdw blurRad="38100" dist="38100" dir="2700000" algn="tl" rotWithShape="0">
                <a:prstClr val="black">
                  <a:alpha val="43000"/>
                </a:prstClr>
              </a:outerShdw>
            </a:effectLst>
          </p:spPr>
          <p:txBody>
            <a:bodyPr/>
            <a:lstStyle/>
            <a:p>
              <a:pPr fontAlgn="auto">
                <a:lnSpc>
                  <a:spcPct val="120000"/>
                </a:lnSpc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33" name="TextBox 18"/>
            <p:cNvSpPr txBox="1"/>
            <p:nvPr/>
          </p:nvSpPr>
          <p:spPr>
            <a:xfrm>
              <a:off x="1696039" y="2045551"/>
              <a:ext cx="945313" cy="785689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Rockwell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itchFamily="18" charset="0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en-US" altLang="zh-CN" sz="3600" dirty="0">
                  <a:solidFill>
                    <a:schemeClr val="bg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01</a:t>
              </a: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1593371" y="3704851"/>
              <a:ext cx="2668885" cy="22337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Times New Roman" pitchFamily="18" charset="0"/>
                </a:rPr>
                <a:t>对</a:t>
              </a:r>
              <a:r>
                <a:rPr lang="zh-CN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Times New Roman" pitchFamily="18" charset="0"/>
                </a:rPr>
                <a:t>核心卖点</a:t>
              </a: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Times New Roman" pitchFamily="18" charset="0"/>
                </a:rPr>
                <a:t>、</a:t>
              </a:r>
              <a:r>
                <a:rPr lang="zh-CN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Times New Roman" pitchFamily="18" charset="0"/>
                </a:rPr>
                <a:t>户型介绍</a:t>
              </a: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Times New Roman" pitchFamily="18" charset="0"/>
                </a:rPr>
                <a:t>、</a:t>
              </a:r>
              <a:r>
                <a:rPr lang="zh-CN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Times New Roman" pitchFamily="18" charset="0"/>
                </a:rPr>
                <a:t>周边配套</a:t>
              </a: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Times New Roman" pitchFamily="18" charset="0"/>
                </a:rPr>
                <a:t>、</a:t>
              </a:r>
              <a:r>
                <a:rPr lang="zh-CN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Times New Roman" pitchFamily="18" charset="0"/>
                </a:rPr>
                <a:t>交通出行</a:t>
              </a: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Times New Roman" pitchFamily="18" charset="0"/>
                </a:rPr>
                <a:t>这</a:t>
              </a:r>
              <a:r>
                <a:rPr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Times New Roman" pitchFamily="18" charset="0"/>
                </a:rPr>
                <a:t>4</a:t>
              </a: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Times New Roman" pitchFamily="18" charset="0"/>
                </a:rPr>
                <a:t>个文本字段</a:t>
              </a:r>
              <a:endPara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Times New Roman" pitchFamily="18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Times New Roman" pitchFamily="18" charset="0"/>
                </a:rPr>
                <a:t>提取</a:t>
              </a:r>
              <a:r>
                <a:rPr lang="en-US" altLang="zh-CN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Times New Roman" pitchFamily="18" charset="0"/>
                </a:rPr>
                <a:t>3</a:t>
              </a:r>
              <a:r>
                <a:rPr lang="zh-CN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Times New Roman" pitchFamily="18" charset="0"/>
                </a:rPr>
                <a:t>个潜在主题特征</a:t>
              </a:r>
              <a:endPara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Times New Roman" pitchFamily="18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Times New Roman" pitchFamily="18" charset="0"/>
                </a:rPr>
                <a:t>将非结构化文本转化为可量化主题概率特征</a:t>
              </a:r>
              <a:endPara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Times New Roman" pitchFamily="18" charset="0"/>
              </a:endParaRPr>
            </a:p>
          </p:txBody>
        </p:sp>
        <p:grpSp>
          <p:nvGrpSpPr>
            <p:cNvPr id="35" name="组合 216"/>
            <p:cNvGrpSpPr/>
            <p:nvPr/>
          </p:nvGrpSpPr>
          <p:grpSpPr bwMode="auto">
            <a:xfrm>
              <a:off x="3419075" y="2282206"/>
              <a:ext cx="614951" cy="465338"/>
              <a:chOff x="3192968" y="2571029"/>
              <a:chExt cx="1012825" cy="766763"/>
            </a:xfrm>
            <a:solidFill>
              <a:srgbClr val="0B2C4F"/>
            </a:solidFill>
            <a:effectLst>
              <a:outerShdw blurRad="38100" sx="101000" sy="101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36" name="Freeform 74"/>
              <p:cNvSpPr>
                <a:spLocks noEditPoints="1"/>
              </p:cNvSpPr>
              <p:nvPr/>
            </p:nvSpPr>
            <p:spPr bwMode="auto">
              <a:xfrm>
                <a:off x="3484175" y="3081969"/>
                <a:ext cx="649932" cy="240826"/>
              </a:xfrm>
              <a:custGeom>
                <a:avLst/>
                <a:gdLst>
                  <a:gd name="T0" fmla="*/ 0 w 173"/>
                  <a:gd name="T1" fmla="*/ 12 h 64"/>
                  <a:gd name="T2" fmla="*/ 0 w 173"/>
                  <a:gd name="T3" fmla="*/ 52 h 64"/>
                  <a:gd name="T4" fmla="*/ 12 w 173"/>
                  <a:gd name="T5" fmla="*/ 64 h 64"/>
                  <a:gd name="T6" fmla="*/ 173 w 173"/>
                  <a:gd name="T7" fmla="*/ 64 h 64"/>
                  <a:gd name="T8" fmla="*/ 173 w 173"/>
                  <a:gd name="T9" fmla="*/ 54 h 64"/>
                  <a:gd name="T10" fmla="*/ 162 w 173"/>
                  <a:gd name="T11" fmla="*/ 54 h 64"/>
                  <a:gd name="T12" fmla="*/ 159 w 173"/>
                  <a:gd name="T13" fmla="*/ 34 h 64"/>
                  <a:gd name="T14" fmla="*/ 164 w 173"/>
                  <a:gd name="T15" fmla="*/ 10 h 64"/>
                  <a:gd name="T16" fmla="*/ 173 w 173"/>
                  <a:gd name="T17" fmla="*/ 10 h 64"/>
                  <a:gd name="T18" fmla="*/ 173 w 173"/>
                  <a:gd name="T19" fmla="*/ 0 h 64"/>
                  <a:gd name="T20" fmla="*/ 12 w 173"/>
                  <a:gd name="T21" fmla="*/ 0 h 64"/>
                  <a:gd name="T22" fmla="*/ 0 w 173"/>
                  <a:gd name="T23" fmla="*/ 12 h 64"/>
                  <a:gd name="T24" fmla="*/ 150 w 173"/>
                  <a:gd name="T25" fmla="*/ 21 h 64"/>
                  <a:gd name="T26" fmla="*/ 149 w 173"/>
                  <a:gd name="T27" fmla="*/ 30 h 64"/>
                  <a:gd name="T28" fmla="*/ 25 w 173"/>
                  <a:gd name="T29" fmla="*/ 30 h 64"/>
                  <a:gd name="T30" fmla="*/ 25 w 173"/>
                  <a:gd name="T31" fmla="*/ 34 h 64"/>
                  <a:gd name="T32" fmla="*/ 149 w 173"/>
                  <a:gd name="T33" fmla="*/ 34 h 64"/>
                  <a:gd name="T34" fmla="*/ 150 w 173"/>
                  <a:gd name="T35" fmla="*/ 43 h 64"/>
                  <a:gd name="T36" fmla="*/ 26 w 173"/>
                  <a:gd name="T37" fmla="*/ 43 h 64"/>
                  <a:gd name="T38" fmla="*/ 26 w 173"/>
                  <a:gd name="T39" fmla="*/ 47 h 64"/>
                  <a:gd name="T40" fmla="*/ 150 w 173"/>
                  <a:gd name="T41" fmla="*/ 47 h 64"/>
                  <a:gd name="T42" fmla="*/ 152 w 173"/>
                  <a:gd name="T43" fmla="*/ 54 h 64"/>
                  <a:gd name="T44" fmla="*/ 12 w 173"/>
                  <a:gd name="T45" fmla="*/ 54 h 64"/>
                  <a:gd name="T46" fmla="*/ 10 w 173"/>
                  <a:gd name="T47" fmla="*/ 52 h 64"/>
                  <a:gd name="T48" fmla="*/ 10 w 173"/>
                  <a:gd name="T49" fmla="*/ 12 h 64"/>
                  <a:gd name="T50" fmla="*/ 12 w 173"/>
                  <a:gd name="T51" fmla="*/ 10 h 64"/>
                  <a:gd name="T52" fmla="*/ 153 w 173"/>
                  <a:gd name="T53" fmla="*/ 10 h 64"/>
                  <a:gd name="T54" fmla="*/ 151 w 173"/>
                  <a:gd name="T55" fmla="*/ 17 h 64"/>
                  <a:gd name="T56" fmla="*/ 26 w 173"/>
                  <a:gd name="T57" fmla="*/ 17 h 64"/>
                  <a:gd name="T58" fmla="*/ 26 w 173"/>
                  <a:gd name="T59" fmla="*/ 21 h 64"/>
                  <a:gd name="T60" fmla="*/ 150 w 173"/>
                  <a:gd name="T61" fmla="*/ 21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73" h="64">
                    <a:moveTo>
                      <a:pt x="0" y="12"/>
                    </a:moveTo>
                    <a:cubicBezTo>
                      <a:pt x="0" y="52"/>
                      <a:pt x="0" y="52"/>
                      <a:pt x="0" y="52"/>
                    </a:cubicBezTo>
                    <a:cubicBezTo>
                      <a:pt x="0" y="59"/>
                      <a:pt x="6" y="64"/>
                      <a:pt x="12" y="64"/>
                    </a:cubicBezTo>
                    <a:cubicBezTo>
                      <a:pt x="173" y="64"/>
                      <a:pt x="173" y="64"/>
                      <a:pt x="173" y="64"/>
                    </a:cubicBezTo>
                    <a:cubicBezTo>
                      <a:pt x="173" y="54"/>
                      <a:pt x="173" y="54"/>
                      <a:pt x="173" y="54"/>
                    </a:cubicBezTo>
                    <a:cubicBezTo>
                      <a:pt x="162" y="54"/>
                      <a:pt x="162" y="54"/>
                      <a:pt x="162" y="54"/>
                    </a:cubicBezTo>
                    <a:cubicBezTo>
                      <a:pt x="161" y="50"/>
                      <a:pt x="159" y="43"/>
                      <a:pt x="159" y="34"/>
                    </a:cubicBezTo>
                    <a:cubicBezTo>
                      <a:pt x="159" y="23"/>
                      <a:pt x="162" y="15"/>
                      <a:pt x="164" y="10"/>
                    </a:cubicBezTo>
                    <a:cubicBezTo>
                      <a:pt x="173" y="10"/>
                      <a:pt x="173" y="10"/>
                      <a:pt x="173" y="10"/>
                    </a:cubicBezTo>
                    <a:cubicBezTo>
                      <a:pt x="173" y="0"/>
                      <a:pt x="173" y="0"/>
                      <a:pt x="17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6" y="0"/>
                      <a:pt x="0" y="5"/>
                      <a:pt x="0" y="12"/>
                    </a:cubicBezTo>
                    <a:close/>
                    <a:moveTo>
                      <a:pt x="150" y="21"/>
                    </a:moveTo>
                    <a:cubicBezTo>
                      <a:pt x="150" y="24"/>
                      <a:pt x="149" y="27"/>
                      <a:pt x="149" y="30"/>
                    </a:cubicBezTo>
                    <a:cubicBezTo>
                      <a:pt x="25" y="30"/>
                      <a:pt x="25" y="30"/>
                      <a:pt x="25" y="30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149" y="34"/>
                      <a:pt x="149" y="34"/>
                      <a:pt x="149" y="34"/>
                    </a:cubicBezTo>
                    <a:cubicBezTo>
                      <a:pt x="149" y="37"/>
                      <a:pt x="149" y="40"/>
                      <a:pt x="150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6" y="47"/>
                      <a:pt x="26" y="47"/>
                      <a:pt x="26" y="47"/>
                    </a:cubicBezTo>
                    <a:cubicBezTo>
                      <a:pt x="150" y="47"/>
                      <a:pt x="150" y="47"/>
                      <a:pt x="150" y="47"/>
                    </a:cubicBezTo>
                    <a:cubicBezTo>
                      <a:pt x="151" y="50"/>
                      <a:pt x="151" y="52"/>
                      <a:pt x="152" y="54"/>
                    </a:cubicBezTo>
                    <a:cubicBezTo>
                      <a:pt x="12" y="54"/>
                      <a:pt x="12" y="54"/>
                      <a:pt x="12" y="54"/>
                    </a:cubicBezTo>
                    <a:cubicBezTo>
                      <a:pt x="11" y="54"/>
                      <a:pt x="10" y="53"/>
                      <a:pt x="10" y="52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10" y="11"/>
                      <a:pt x="11" y="10"/>
                      <a:pt x="12" y="10"/>
                    </a:cubicBezTo>
                    <a:cubicBezTo>
                      <a:pt x="153" y="10"/>
                      <a:pt x="153" y="10"/>
                      <a:pt x="153" y="10"/>
                    </a:cubicBezTo>
                    <a:cubicBezTo>
                      <a:pt x="152" y="12"/>
                      <a:pt x="152" y="14"/>
                      <a:pt x="151" y="17"/>
                    </a:cubicBezTo>
                    <a:cubicBezTo>
                      <a:pt x="26" y="17"/>
                      <a:pt x="26" y="17"/>
                      <a:pt x="26" y="17"/>
                    </a:cubicBezTo>
                    <a:cubicBezTo>
                      <a:pt x="26" y="21"/>
                      <a:pt x="26" y="21"/>
                      <a:pt x="26" y="21"/>
                    </a:cubicBezTo>
                    <a:lnTo>
                      <a:pt x="150" y="21"/>
                    </a:lnTo>
                    <a:close/>
                  </a:path>
                </a:pathLst>
              </a:custGeom>
              <a:solidFill>
                <a:srgbClr val="244C89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7" name="Freeform 75"/>
              <p:cNvSpPr>
                <a:spLocks noEditPoints="1"/>
              </p:cNvSpPr>
              <p:nvPr/>
            </p:nvSpPr>
            <p:spPr bwMode="auto">
              <a:xfrm>
                <a:off x="3472139" y="2808028"/>
                <a:ext cx="652942" cy="243837"/>
              </a:xfrm>
              <a:custGeom>
                <a:avLst/>
                <a:gdLst>
                  <a:gd name="T0" fmla="*/ 12 w 173"/>
                  <a:gd name="T1" fmla="*/ 65 h 65"/>
                  <a:gd name="T2" fmla="*/ 173 w 173"/>
                  <a:gd name="T3" fmla="*/ 65 h 65"/>
                  <a:gd name="T4" fmla="*/ 173 w 173"/>
                  <a:gd name="T5" fmla="*/ 55 h 65"/>
                  <a:gd name="T6" fmla="*/ 162 w 173"/>
                  <a:gd name="T7" fmla="*/ 55 h 65"/>
                  <a:gd name="T8" fmla="*/ 159 w 173"/>
                  <a:gd name="T9" fmla="*/ 35 h 65"/>
                  <a:gd name="T10" fmla="*/ 164 w 173"/>
                  <a:gd name="T11" fmla="*/ 10 h 65"/>
                  <a:gd name="T12" fmla="*/ 173 w 173"/>
                  <a:gd name="T13" fmla="*/ 10 h 65"/>
                  <a:gd name="T14" fmla="*/ 173 w 173"/>
                  <a:gd name="T15" fmla="*/ 0 h 65"/>
                  <a:gd name="T16" fmla="*/ 12 w 173"/>
                  <a:gd name="T17" fmla="*/ 0 h 65"/>
                  <a:gd name="T18" fmla="*/ 0 w 173"/>
                  <a:gd name="T19" fmla="*/ 12 h 65"/>
                  <a:gd name="T20" fmla="*/ 0 w 173"/>
                  <a:gd name="T21" fmla="*/ 53 h 65"/>
                  <a:gd name="T22" fmla="*/ 12 w 173"/>
                  <a:gd name="T23" fmla="*/ 65 h 65"/>
                  <a:gd name="T24" fmla="*/ 10 w 173"/>
                  <a:gd name="T25" fmla="*/ 12 h 65"/>
                  <a:gd name="T26" fmla="*/ 12 w 173"/>
                  <a:gd name="T27" fmla="*/ 10 h 65"/>
                  <a:gd name="T28" fmla="*/ 153 w 173"/>
                  <a:gd name="T29" fmla="*/ 10 h 65"/>
                  <a:gd name="T30" fmla="*/ 151 w 173"/>
                  <a:gd name="T31" fmla="*/ 17 h 65"/>
                  <a:gd name="T32" fmla="*/ 26 w 173"/>
                  <a:gd name="T33" fmla="*/ 17 h 65"/>
                  <a:gd name="T34" fmla="*/ 26 w 173"/>
                  <a:gd name="T35" fmla="*/ 22 h 65"/>
                  <a:gd name="T36" fmla="*/ 150 w 173"/>
                  <a:gd name="T37" fmla="*/ 22 h 65"/>
                  <a:gd name="T38" fmla="*/ 149 w 173"/>
                  <a:gd name="T39" fmla="*/ 30 h 65"/>
                  <a:gd name="T40" fmla="*/ 25 w 173"/>
                  <a:gd name="T41" fmla="*/ 30 h 65"/>
                  <a:gd name="T42" fmla="*/ 25 w 173"/>
                  <a:gd name="T43" fmla="*/ 35 h 65"/>
                  <a:gd name="T44" fmla="*/ 149 w 173"/>
                  <a:gd name="T45" fmla="*/ 35 h 65"/>
                  <a:gd name="T46" fmla="*/ 150 w 173"/>
                  <a:gd name="T47" fmla="*/ 43 h 65"/>
                  <a:gd name="T48" fmla="*/ 26 w 173"/>
                  <a:gd name="T49" fmla="*/ 43 h 65"/>
                  <a:gd name="T50" fmla="*/ 26 w 173"/>
                  <a:gd name="T51" fmla="*/ 48 h 65"/>
                  <a:gd name="T52" fmla="*/ 150 w 173"/>
                  <a:gd name="T53" fmla="*/ 48 h 65"/>
                  <a:gd name="T54" fmla="*/ 152 w 173"/>
                  <a:gd name="T55" fmla="*/ 55 h 65"/>
                  <a:gd name="T56" fmla="*/ 12 w 173"/>
                  <a:gd name="T57" fmla="*/ 55 h 65"/>
                  <a:gd name="T58" fmla="*/ 10 w 173"/>
                  <a:gd name="T59" fmla="*/ 53 h 65"/>
                  <a:gd name="T60" fmla="*/ 10 w 173"/>
                  <a:gd name="T61" fmla="*/ 12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73" h="65">
                    <a:moveTo>
                      <a:pt x="12" y="65"/>
                    </a:moveTo>
                    <a:cubicBezTo>
                      <a:pt x="173" y="65"/>
                      <a:pt x="173" y="65"/>
                      <a:pt x="173" y="65"/>
                    </a:cubicBezTo>
                    <a:cubicBezTo>
                      <a:pt x="173" y="55"/>
                      <a:pt x="173" y="55"/>
                      <a:pt x="173" y="55"/>
                    </a:cubicBezTo>
                    <a:cubicBezTo>
                      <a:pt x="162" y="55"/>
                      <a:pt x="162" y="55"/>
                      <a:pt x="162" y="55"/>
                    </a:cubicBezTo>
                    <a:cubicBezTo>
                      <a:pt x="161" y="50"/>
                      <a:pt x="159" y="43"/>
                      <a:pt x="159" y="35"/>
                    </a:cubicBezTo>
                    <a:cubicBezTo>
                      <a:pt x="159" y="23"/>
                      <a:pt x="162" y="15"/>
                      <a:pt x="164" y="10"/>
                    </a:cubicBezTo>
                    <a:cubicBezTo>
                      <a:pt x="173" y="10"/>
                      <a:pt x="173" y="10"/>
                      <a:pt x="173" y="10"/>
                    </a:cubicBezTo>
                    <a:cubicBezTo>
                      <a:pt x="173" y="0"/>
                      <a:pt x="173" y="0"/>
                      <a:pt x="17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6" y="0"/>
                      <a:pt x="0" y="6"/>
                      <a:pt x="0" y="12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9"/>
                      <a:pt x="6" y="65"/>
                      <a:pt x="12" y="65"/>
                    </a:cubicBezTo>
                    <a:close/>
                    <a:moveTo>
                      <a:pt x="10" y="12"/>
                    </a:moveTo>
                    <a:cubicBezTo>
                      <a:pt x="10" y="11"/>
                      <a:pt x="11" y="10"/>
                      <a:pt x="12" y="10"/>
                    </a:cubicBezTo>
                    <a:cubicBezTo>
                      <a:pt x="153" y="10"/>
                      <a:pt x="153" y="10"/>
                      <a:pt x="153" y="10"/>
                    </a:cubicBezTo>
                    <a:cubicBezTo>
                      <a:pt x="152" y="13"/>
                      <a:pt x="152" y="15"/>
                      <a:pt x="151" y="17"/>
                    </a:cubicBezTo>
                    <a:cubicBezTo>
                      <a:pt x="26" y="17"/>
                      <a:pt x="26" y="17"/>
                      <a:pt x="26" y="17"/>
                    </a:cubicBezTo>
                    <a:cubicBezTo>
                      <a:pt x="26" y="22"/>
                      <a:pt x="26" y="22"/>
                      <a:pt x="26" y="22"/>
                    </a:cubicBezTo>
                    <a:cubicBezTo>
                      <a:pt x="150" y="22"/>
                      <a:pt x="150" y="22"/>
                      <a:pt x="150" y="22"/>
                    </a:cubicBezTo>
                    <a:cubicBezTo>
                      <a:pt x="150" y="25"/>
                      <a:pt x="149" y="27"/>
                      <a:pt x="149" y="30"/>
                    </a:cubicBezTo>
                    <a:cubicBezTo>
                      <a:pt x="25" y="30"/>
                      <a:pt x="25" y="30"/>
                      <a:pt x="25" y="30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149" y="35"/>
                      <a:pt x="149" y="35"/>
                      <a:pt x="149" y="35"/>
                    </a:cubicBezTo>
                    <a:cubicBezTo>
                      <a:pt x="149" y="38"/>
                      <a:pt x="149" y="41"/>
                      <a:pt x="150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6" y="48"/>
                      <a:pt x="26" y="48"/>
                      <a:pt x="26" y="48"/>
                    </a:cubicBezTo>
                    <a:cubicBezTo>
                      <a:pt x="150" y="48"/>
                      <a:pt x="150" y="48"/>
                      <a:pt x="150" y="48"/>
                    </a:cubicBezTo>
                    <a:cubicBezTo>
                      <a:pt x="151" y="50"/>
                      <a:pt x="151" y="53"/>
                      <a:pt x="152" y="55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1" y="55"/>
                      <a:pt x="10" y="54"/>
                      <a:pt x="10" y="53"/>
                    </a:cubicBezTo>
                    <a:lnTo>
                      <a:pt x="10" y="12"/>
                    </a:lnTo>
                    <a:close/>
                  </a:path>
                </a:pathLst>
              </a:custGeom>
              <a:solidFill>
                <a:srgbClr val="244C89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8" name="Freeform 76"/>
              <p:cNvSpPr>
                <a:spLocks noEditPoints="1"/>
              </p:cNvSpPr>
              <p:nvPr/>
            </p:nvSpPr>
            <p:spPr bwMode="auto">
              <a:xfrm>
                <a:off x="3192308" y="2750833"/>
                <a:ext cx="279831" cy="587012"/>
              </a:xfrm>
              <a:custGeom>
                <a:avLst/>
                <a:gdLst>
                  <a:gd name="T0" fmla="*/ 65 w 75"/>
                  <a:gd name="T1" fmla="*/ 16 h 156"/>
                  <a:gd name="T2" fmla="*/ 48 w 75"/>
                  <a:gd name="T3" fmla="*/ 16 h 156"/>
                  <a:gd name="T4" fmla="*/ 27 w 75"/>
                  <a:gd name="T5" fmla="*/ 9 h 156"/>
                  <a:gd name="T6" fmla="*/ 28 w 75"/>
                  <a:gd name="T7" fmla="*/ 2 h 156"/>
                  <a:gd name="T8" fmla="*/ 19 w 75"/>
                  <a:gd name="T9" fmla="*/ 0 h 156"/>
                  <a:gd name="T10" fmla="*/ 1 w 75"/>
                  <a:gd name="T11" fmla="*/ 139 h 156"/>
                  <a:gd name="T12" fmla="*/ 10 w 75"/>
                  <a:gd name="T13" fmla="*/ 150 h 156"/>
                  <a:gd name="T14" fmla="*/ 45 w 75"/>
                  <a:gd name="T15" fmla="*/ 155 h 156"/>
                  <a:gd name="T16" fmla="*/ 57 w 75"/>
                  <a:gd name="T17" fmla="*/ 146 h 156"/>
                  <a:gd name="T18" fmla="*/ 75 w 75"/>
                  <a:gd name="T19" fmla="*/ 8 h 156"/>
                  <a:gd name="T20" fmla="*/ 67 w 75"/>
                  <a:gd name="T21" fmla="*/ 7 h 156"/>
                  <a:gd name="T22" fmla="*/ 65 w 75"/>
                  <a:gd name="T23" fmla="*/ 16 h 156"/>
                  <a:gd name="T24" fmla="*/ 48 w 75"/>
                  <a:gd name="T25" fmla="*/ 145 h 156"/>
                  <a:gd name="T26" fmla="*/ 46 w 75"/>
                  <a:gd name="T27" fmla="*/ 146 h 156"/>
                  <a:gd name="T28" fmla="*/ 11 w 75"/>
                  <a:gd name="T29" fmla="*/ 142 h 156"/>
                  <a:gd name="T30" fmla="*/ 10 w 75"/>
                  <a:gd name="T31" fmla="*/ 140 h 156"/>
                  <a:gd name="T32" fmla="*/ 26 w 75"/>
                  <a:gd name="T33" fmla="*/ 18 h 156"/>
                  <a:gd name="T34" fmla="*/ 32 w 75"/>
                  <a:gd name="T35" fmla="*/ 21 h 156"/>
                  <a:gd name="T36" fmla="*/ 17 w 75"/>
                  <a:gd name="T37" fmla="*/ 129 h 156"/>
                  <a:gd name="T38" fmla="*/ 21 w 75"/>
                  <a:gd name="T39" fmla="*/ 129 h 156"/>
                  <a:gd name="T40" fmla="*/ 35 w 75"/>
                  <a:gd name="T41" fmla="*/ 22 h 156"/>
                  <a:gd name="T42" fmla="*/ 43 w 75"/>
                  <a:gd name="T43" fmla="*/ 24 h 156"/>
                  <a:gd name="T44" fmla="*/ 28 w 75"/>
                  <a:gd name="T45" fmla="*/ 131 h 156"/>
                  <a:gd name="T46" fmla="*/ 32 w 75"/>
                  <a:gd name="T47" fmla="*/ 131 h 156"/>
                  <a:gd name="T48" fmla="*/ 47 w 75"/>
                  <a:gd name="T49" fmla="*/ 25 h 156"/>
                  <a:gd name="T50" fmla="*/ 54 w 75"/>
                  <a:gd name="T51" fmla="*/ 25 h 156"/>
                  <a:gd name="T52" fmla="*/ 40 w 75"/>
                  <a:gd name="T53" fmla="*/ 132 h 156"/>
                  <a:gd name="T54" fmla="*/ 43 w 75"/>
                  <a:gd name="T55" fmla="*/ 132 h 156"/>
                  <a:gd name="T56" fmla="*/ 58 w 75"/>
                  <a:gd name="T57" fmla="*/ 25 h 156"/>
                  <a:gd name="T58" fmla="*/ 64 w 75"/>
                  <a:gd name="T59" fmla="*/ 25 h 156"/>
                  <a:gd name="T60" fmla="*/ 48 w 75"/>
                  <a:gd name="T61" fmla="*/ 145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5" h="156">
                    <a:moveTo>
                      <a:pt x="65" y="16"/>
                    </a:moveTo>
                    <a:cubicBezTo>
                      <a:pt x="61" y="17"/>
                      <a:pt x="55" y="17"/>
                      <a:pt x="48" y="16"/>
                    </a:cubicBezTo>
                    <a:cubicBezTo>
                      <a:pt x="38" y="15"/>
                      <a:pt x="31" y="11"/>
                      <a:pt x="27" y="9"/>
                    </a:cubicBezTo>
                    <a:cubicBezTo>
                      <a:pt x="28" y="2"/>
                      <a:pt x="28" y="2"/>
                      <a:pt x="28" y="2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" y="139"/>
                      <a:pt x="1" y="139"/>
                      <a:pt x="1" y="139"/>
                    </a:cubicBezTo>
                    <a:cubicBezTo>
                      <a:pt x="0" y="144"/>
                      <a:pt x="4" y="150"/>
                      <a:pt x="10" y="150"/>
                    </a:cubicBezTo>
                    <a:cubicBezTo>
                      <a:pt x="45" y="155"/>
                      <a:pt x="45" y="155"/>
                      <a:pt x="45" y="155"/>
                    </a:cubicBezTo>
                    <a:cubicBezTo>
                      <a:pt x="51" y="156"/>
                      <a:pt x="56" y="152"/>
                      <a:pt x="57" y="146"/>
                    </a:cubicBezTo>
                    <a:cubicBezTo>
                      <a:pt x="75" y="8"/>
                      <a:pt x="75" y="8"/>
                      <a:pt x="75" y="8"/>
                    </a:cubicBezTo>
                    <a:cubicBezTo>
                      <a:pt x="67" y="7"/>
                      <a:pt x="67" y="7"/>
                      <a:pt x="67" y="7"/>
                    </a:cubicBezTo>
                    <a:lnTo>
                      <a:pt x="65" y="16"/>
                    </a:lnTo>
                    <a:close/>
                    <a:moveTo>
                      <a:pt x="48" y="145"/>
                    </a:moveTo>
                    <a:cubicBezTo>
                      <a:pt x="48" y="146"/>
                      <a:pt x="47" y="147"/>
                      <a:pt x="46" y="146"/>
                    </a:cubicBezTo>
                    <a:cubicBezTo>
                      <a:pt x="11" y="142"/>
                      <a:pt x="11" y="142"/>
                      <a:pt x="11" y="142"/>
                    </a:cubicBezTo>
                    <a:cubicBezTo>
                      <a:pt x="10" y="142"/>
                      <a:pt x="10" y="141"/>
                      <a:pt x="10" y="140"/>
                    </a:cubicBezTo>
                    <a:cubicBezTo>
                      <a:pt x="26" y="18"/>
                      <a:pt x="26" y="18"/>
                      <a:pt x="26" y="18"/>
                    </a:cubicBezTo>
                    <a:cubicBezTo>
                      <a:pt x="28" y="19"/>
                      <a:pt x="30" y="20"/>
                      <a:pt x="32" y="21"/>
                    </a:cubicBezTo>
                    <a:cubicBezTo>
                      <a:pt x="17" y="129"/>
                      <a:pt x="17" y="129"/>
                      <a:pt x="17" y="129"/>
                    </a:cubicBezTo>
                    <a:cubicBezTo>
                      <a:pt x="21" y="129"/>
                      <a:pt x="21" y="129"/>
                      <a:pt x="21" y="129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8" y="23"/>
                      <a:pt x="40" y="23"/>
                      <a:pt x="43" y="24"/>
                    </a:cubicBezTo>
                    <a:cubicBezTo>
                      <a:pt x="28" y="131"/>
                      <a:pt x="28" y="131"/>
                      <a:pt x="28" y="131"/>
                    </a:cubicBezTo>
                    <a:cubicBezTo>
                      <a:pt x="32" y="131"/>
                      <a:pt x="32" y="131"/>
                      <a:pt x="32" y="131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9" y="25"/>
                      <a:pt x="51" y="25"/>
                      <a:pt x="54" y="25"/>
                    </a:cubicBezTo>
                    <a:cubicBezTo>
                      <a:pt x="40" y="132"/>
                      <a:pt x="40" y="132"/>
                      <a:pt x="40" y="132"/>
                    </a:cubicBezTo>
                    <a:cubicBezTo>
                      <a:pt x="43" y="132"/>
                      <a:pt x="43" y="132"/>
                      <a:pt x="43" y="132"/>
                    </a:cubicBezTo>
                    <a:cubicBezTo>
                      <a:pt x="58" y="25"/>
                      <a:pt x="58" y="25"/>
                      <a:pt x="58" y="25"/>
                    </a:cubicBezTo>
                    <a:cubicBezTo>
                      <a:pt x="60" y="25"/>
                      <a:pt x="62" y="25"/>
                      <a:pt x="64" y="25"/>
                    </a:cubicBezTo>
                    <a:lnTo>
                      <a:pt x="48" y="145"/>
                    </a:lnTo>
                    <a:close/>
                  </a:path>
                </a:pathLst>
              </a:custGeom>
              <a:solidFill>
                <a:srgbClr val="244C89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9" name="Rectangle 77"/>
              <p:cNvSpPr>
                <a:spLocks noChangeArrowheads="1"/>
              </p:cNvSpPr>
              <p:nvPr/>
            </p:nvSpPr>
            <p:spPr bwMode="auto">
              <a:xfrm>
                <a:off x="3664712" y="2570214"/>
                <a:ext cx="541610" cy="42145"/>
              </a:xfrm>
              <a:prstGeom prst="rect">
                <a:avLst/>
              </a:prstGeom>
              <a:solidFill>
                <a:srgbClr val="244C89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40" name="Freeform 78"/>
              <p:cNvSpPr/>
              <p:nvPr/>
            </p:nvSpPr>
            <p:spPr bwMode="auto">
              <a:xfrm>
                <a:off x="4146143" y="2621388"/>
                <a:ext cx="57171" cy="219755"/>
              </a:xfrm>
              <a:custGeom>
                <a:avLst/>
                <a:gdLst>
                  <a:gd name="T0" fmla="*/ 10 w 15"/>
                  <a:gd name="T1" fmla="*/ 0 h 58"/>
                  <a:gd name="T2" fmla="*/ 5 w 15"/>
                  <a:gd name="T3" fmla="*/ 0 h 58"/>
                  <a:gd name="T4" fmla="*/ 5 w 15"/>
                  <a:gd name="T5" fmla="*/ 38 h 58"/>
                  <a:gd name="T6" fmla="*/ 0 w 15"/>
                  <a:gd name="T7" fmla="*/ 50 h 58"/>
                  <a:gd name="T8" fmla="*/ 7 w 15"/>
                  <a:gd name="T9" fmla="*/ 58 h 58"/>
                  <a:gd name="T10" fmla="*/ 15 w 15"/>
                  <a:gd name="T11" fmla="*/ 50 h 58"/>
                  <a:gd name="T12" fmla="*/ 10 w 15"/>
                  <a:gd name="T13" fmla="*/ 38 h 58"/>
                  <a:gd name="T14" fmla="*/ 10 w 15"/>
                  <a:gd name="T15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" h="58">
                    <a:moveTo>
                      <a:pt x="10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5" y="38"/>
                      <a:pt x="5" y="38"/>
                      <a:pt x="5" y="38"/>
                    </a:cubicBezTo>
                    <a:cubicBezTo>
                      <a:pt x="2" y="41"/>
                      <a:pt x="0" y="47"/>
                      <a:pt x="0" y="50"/>
                    </a:cubicBezTo>
                    <a:cubicBezTo>
                      <a:pt x="0" y="54"/>
                      <a:pt x="3" y="58"/>
                      <a:pt x="7" y="58"/>
                    </a:cubicBezTo>
                    <a:cubicBezTo>
                      <a:pt x="11" y="58"/>
                      <a:pt x="15" y="54"/>
                      <a:pt x="15" y="50"/>
                    </a:cubicBezTo>
                    <a:cubicBezTo>
                      <a:pt x="15" y="47"/>
                      <a:pt x="13" y="41"/>
                      <a:pt x="10" y="38"/>
                    </a:cubicBez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244C89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42" name="Rectangle 79"/>
              <p:cNvSpPr>
                <a:spLocks noChangeArrowheads="1"/>
              </p:cNvSpPr>
              <p:nvPr/>
            </p:nvSpPr>
            <p:spPr bwMode="auto">
              <a:xfrm>
                <a:off x="3721883" y="2630420"/>
                <a:ext cx="418242" cy="159546"/>
              </a:xfrm>
              <a:prstGeom prst="rect">
                <a:avLst/>
              </a:prstGeom>
              <a:solidFill>
                <a:srgbClr val="244C89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</a:endParaRPr>
              </a:p>
            </p:txBody>
          </p:sp>
        </p:grpSp>
        <p:sp>
          <p:nvSpPr>
            <p:cNvPr id="7" name="矩形 6"/>
            <p:cNvSpPr/>
            <p:nvPr/>
          </p:nvSpPr>
          <p:spPr>
            <a:xfrm>
              <a:off x="1950877" y="3181212"/>
              <a:ext cx="1953875" cy="48230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2000" b="1" dirty="0">
                  <a:solidFill>
                    <a:srgbClr val="244C89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LDA</a:t>
              </a:r>
              <a:r>
                <a:rPr lang="zh-CN" altLang="en-US" sz="2000" b="1" dirty="0">
                  <a:solidFill>
                    <a:srgbClr val="244C89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主题分析</a:t>
              </a: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4830573" y="2007927"/>
            <a:ext cx="2619669" cy="3846585"/>
            <a:chOff x="4736414" y="1765832"/>
            <a:chExt cx="2935782" cy="4310749"/>
          </a:xfrm>
        </p:grpSpPr>
        <p:grpSp>
          <p:nvGrpSpPr>
            <p:cNvPr id="13" name="组合 12"/>
            <p:cNvGrpSpPr/>
            <p:nvPr/>
          </p:nvGrpSpPr>
          <p:grpSpPr>
            <a:xfrm>
              <a:off x="4736414" y="1765832"/>
              <a:ext cx="2935782" cy="4310749"/>
              <a:chOff x="4711700" y="1802903"/>
              <a:chExt cx="2935782" cy="4310749"/>
            </a:xfrm>
          </p:grpSpPr>
          <p:sp>
            <p:nvSpPr>
              <p:cNvPr id="45" name="Rectangle 24"/>
              <p:cNvSpPr>
                <a:spLocks noChangeArrowheads="1"/>
              </p:cNvSpPr>
              <p:nvPr/>
            </p:nvSpPr>
            <p:spPr bwMode="auto">
              <a:xfrm>
                <a:off x="4711700" y="1802903"/>
                <a:ext cx="2935782" cy="431074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innerShdw blurRad="76200">
                  <a:prstClr val="black"/>
                </a:innerShdw>
              </a:effectLst>
            </p:spPr>
            <p:txBody>
              <a:bodyPr/>
              <a:lstStyle/>
              <a:p>
                <a:pPr>
                  <a:lnSpc>
                    <a:spcPct val="120000"/>
                  </a:lnSpc>
                </a:pPr>
                <a:endParaRPr lang="zh-CN" altLang="zh-CN"/>
              </a:p>
            </p:txBody>
          </p:sp>
          <p:sp>
            <p:nvSpPr>
              <p:cNvPr id="54" name="Freeform 25"/>
              <p:cNvSpPr/>
              <p:nvPr/>
            </p:nvSpPr>
            <p:spPr bwMode="auto">
              <a:xfrm>
                <a:off x="4711700" y="1802903"/>
                <a:ext cx="1139938" cy="1334560"/>
              </a:xfrm>
              <a:custGeom>
                <a:avLst/>
                <a:gdLst>
                  <a:gd name="T0" fmla="*/ 64 w 64"/>
                  <a:gd name="T1" fmla="*/ 21 h 75"/>
                  <a:gd name="T2" fmla="*/ 59 w 64"/>
                  <a:gd name="T3" fmla="*/ 0 h 75"/>
                  <a:gd name="T4" fmla="*/ 0 w 64"/>
                  <a:gd name="T5" fmla="*/ 0 h 75"/>
                  <a:gd name="T6" fmla="*/ 0 w 64"/>
                  <a:gd name="T7" fmla="*/ 74 h 75"/>
                  <a:gd name="T8" fmla="*/ 10 w 64"/>
                  <a:gd name="T9" fmla="*/ 75 h 75"/>
                  <a:gd name="T10" fmla="*/ 64 w 64"/>
                  <a:gd name="T11" fmla="*/ 21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" h="75">
                    <a:moveTo>
                      <a:pt x="64" y="21"/>
                    </a:moveTo>
                    <a:cubicBezTo>
                      <a:pt x="64" y="14"/>
                      <a:pt x="62" y="7"/>
                      <a:pt x="5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74"/>
                      <a:pt x="0" y="74"/>
                      <a:pt x="0" y="74"/>
                    </a:cubicBezTo>
                    <a:cubicBezTo>
                      <a:pt x="3" y="75"/>
                      <a:pt x="7" y="75"/>
                      <a:pt x="10" y="75"/>
                    </a:cubicBezTo>
                    <a:cubicBezTo>
                      <a:pt x="40" y="75"/>
                      <a:pt x="64" y="51"/>
                      <a:pt x="64" y="21"/>
                    </a:cubicBezTo>
                    <a:close/>
                  </a:path>
                </a:pathLst>
              </a:custGeom>
              <a:solidFill>
                <a:srgbClr val="244C89"/>
              </a:solidFill>
              <a:ln>
                <a:noFill/>
              </a:ln>
              <a:effectLst>
                <a:outerShdw blurRad="38100" dist="38100" dir="2700000" algn="tl" rotWithShape="0">
                  <a:prstClr val="black">
                    <a:alpha val="43000"/>
                  </a:prstClr>
                </a:outerShdw>
              </a:effectLst>
            </p:spPr>
            <p:txBody>
              <a:bodyPr/>
              <a:lstStyle/>
              <a:p>
                <a:pPr fontAlgn="auto">
                  <a:lnSpc>
                    <a:spcPct val="120000"/>
                  </a:lnSpc>
                  <a:defRPr/>
                </a:pPr>
                <a:endParaRPr lang="en-US">
                  <a:latin typeface="+mn-lt"/>
                  <a:cs typeface="+mn-cs"/>
                </a:endParaRPr>
              </a:p>
            </p:txBody>
          </p:sp>
          <p:sp>
            <p:nvSpPr>
              <p:cNvPr id="55" name="TextBox 18"/>
              <p:cNvSpPr txBox="1"/>
              <p:nvPr/>
            </p:nvSpPr>
            <p:spPr>
              <a:xfrm>
                <a:off x="4933709" y="2045551"/>
                <a:ext cx="945313" cy="785689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en-US" altLang="zh-CN" sz="3600" dirty="0">
                    <a:solidFill>
                      <a:schemeClr val="bg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02</a:t>
                </a:r>
              </a:p>
            </p:txBody>
          </p:sp>
        </p:grpSp>
        <p:grpSp>
          <p:nvGrpSpPr>
            <p:cNvPr id="80" name="组合 221"/>
            <p:cNvGrpSpPr/>
            <p:nvPr/>
          </p:nvGrpSpPr>
          <p:grpSpPr bwMode="auto">
            <a:xfrm>
              <a:off x="6629100" y="2256464"/>
              <a:ext cx="640086" cy="420193"/>
              <a:chOff x="165605" y="4160117"/>
              <a:chExt cx="962026" cy="631825"/>
            </a:xfrm>
            <a:solidFill>
              <a:srgbClr val="0B2C4F"/>
            </a:solidFill>
          </p:grpSpPr>
          <p:sp>
            <p:nvSpPr>
              <p:cNvPr id="81" name="Freeform 113"/>
              <p:cNvSpPr/>
              <p:nvPr/>
            </p:nvSpPr>
            <p:spPr bwMode="auto">
              <a:xfrm>
                <a:off x="171329" y="4674430"/>
                <a:ext cx="956844" cy="117404"/>
              </a:xfrm>
              <a:custGeom>
                <a:avLst/>
                <a:gdLst>
                  <a:gd name="T0" fmla="*/ 145 w 255"/>
                  <a:gd name="T1" fmla="*/ 26 h 31"/>
                  <a:gd name="T2" fmla="*/ 145 w 255"/>
                  <a:gd name="T3" fmla="*/ 22 h 31"/>
                  <a:gd name="T4" fmla="*/ 253 w 255"/>
                  <a:gd name="T5" fmla="*/ 22 h 31"/>
                  <a:gd name="T6" fmla="*/ 251 w 255"/>
                  <a:gd name="T7" fmla="*/ 17 h 31"/>
                  <a:gd name="T8" fmla="*/ 157 w 255"/>
                  <a:gd name="T9" fmla="*/ 17 h 31"/>
                  <a:gd name="T10" fmla="*/ 157 w 255"/>
                  <a:gd name="T11" fmla="*/ 12 h 31"/>
                  <a:gd name="T12" fmla="*/ 248 w 255"/>
                  <a:gd name="T13" fmla="*/ 12 h 31"/>
                  <a:gd name="T14" fmla="*/ 193 w 255"/>
                  <a:gd name="T15" fmla="*/ 2 h 31"/>
                  <a:gd name="T16" fmla="*/ 136 w 255"/>
                  <a:gd name="T17" fmla="*/ 13 h 31"/>
                  <a:gd name="T18" fmla="*/ 136 w 255"/>
                  <a:gd name="T19" fmla="*/ 17 h 31"/>
                  <a:gd name="T20" fmla="*/ 127 w 255"/>
                  <a:gd name="T21" fmla="*/ 17 h 31"/>
                  <a:gd name="T22" fmla="*/ 119 w 255"/>
                  <a:gd name="T23" fmla="*/ 17 h 31"/>
                  <a:gd name="T24" fmla="*/ 119 w 255"/>
                  <a:gd name="T25" fmla="*/ 14 h 31"/>
                  <a:gd name="T26" fmla="*/ 61 w 255"/>
                  <a:gd name="T27" fmla="*/ 0 h 31"/>
                  <a:gd name="T28" fmla="*/ 6 w 255"/>
                  <a:gd name="T29" fmla="*/ 10 h 31"/>
                  <a:gd name="T30" fmla="*/ 97 w 255"/>
                  <a:gd name="T31" fmla="*/ 10 h 31"/>
                  <a:gd name="T32" fmla="*/ 97 w 255"/>
                  <a:gd name="T33" fmla="*/ 14 h 31"/>
                  <a:gd name="T34" fmla="*/ 2 w 255"/>
                  <a:gd name="T35" fmla="*/ 14 h 31"/>
                  <a:gd name="T36" fmla="*/ 2 w 255"/>
                  <a:gd name="T37" fmla="*/ 19 h 31"/>
                  <a:gd name="T38" fmla="*/ 109 w 255"/>
                  <a:gd name="T39" fmla="*/ 19 h 31"/>
                  <a:gd name="T40" fmla="*/ 109 w 255"/>
                  <a:gd name="T41" fmla="*/ 24 h 31"/>
                  <a:gd name="T42" fmla="*/ 1 w 255"/>
                  <a:gd name="T43" fmla="*/ 24 h 31"/>
                  <a:gd name="T44" fmla="*/ 0 w 255"/>
                  <a:gd name="T45" fmla="*/ 31 h 31"/>
                  <a:gd name="T46" fmla="*/ 255 w 255"/>
                  <a:gd name="T47" fmla="*/ 31 h 31"/>
                  <a:gd name="T48" fmla="*/ 254 w 255"/>
                  <a:gd name="T49" fmla="*/ 26 h 31"/>
                  <a:gd name="T50" fmla="*/ 145 w 255"/>
                  <a:gd name="T51" fmla="*/ 26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55" h="31">
                    <a:moveTo>
                      <a:pt x="145" y="26"/>
                    </a:moveTo>
                    <a:cubicBezTo>
                      <a:pt x="145" y="22"/>
                      <a:pt x="145" y="22"/>
                      <a:pt x="145" y="22"/>
                    </a:cubicBezTo>
                    <a:cubicBezTo>
                      <a:pt x="253" y="22"/>
                      <a:pt x="253" y="22"/>
                      <a:pt x="253" y="22"/>
                    </a:cubicBezTo>
                    <a:cubicBezTo>
                      <a:pt x="251" y="17"/>
                      <a:pt x="251" y="17"/>
                      <a:pt x="251" y="17"/>
                    </a:cubicBezTo>
                    <a:cubicBezTo>
                      <a:pt x="157" y="17"/>
                      <a:pt x="157" y="17"/>
                      <a:pt x="157" y="17"/>
                    </a:cubicBezTo>
                    <a:cubicBezTo>
                      <a:pt x="157" y="12"/>
                      <a:pt x="157" y="12"/>
                      <a:pt x="157" y="12"/>
                    </a:cubicBezTo>
                    <a:cubicBezTo>
                      <a:pt x="248" y="12"/>
                      <a:pt x="248" y="12"/>
                      <a:pt x="248" y="12"/>
                    </a:cubicBezTo>
                    <a:cubicBezTo>
                      <a:pt x="242" y="8"/>
                      <a:pt x="223" y="2"/>
                      <a:pt x="193" y="2"/>
                    </a:cubicBezTo>
                    <a:cubicBezTo>
                      <a:pt x="163" y="2"/>
                      <a:pt x="142" y="8"/>
                      <a:pt x="136" y="13"/>
                    </a:cubicBezTo>
                    <a:cubicBezTo>
                      <a:pt x="136" y="17"/>
                      <a:pt x="136" y="17"/>
                      <a:pt x="136" y="17"/>
                    </a:cubicBezTo>
                    <a:cubicBezTo>
                      <a:pt x="127" y="17"/>
                      <a:pt x="127" y="17"/>
                      <a:pt x="127" y="17"/>
                    </a:cubicBezTo>
                    <a:cubicBezTo>
                      <a:pt x="119" y="17"/>
                      <a:pt x="119" y="17"/>
                      <a:pt x="119" y="17"/>
                    </a:cubicBezTo>
                    <a:cubicBezTo>
                      <a:pt x="119" y="14"/>
                      <a:pt x="119" y="14"/>
                      <a:pt x="119" y="14"/>
                    </a:cubicBezTo>
                    <a:cubicBezTo>
                      <a:pt x="119" y="9"/>
                      <a:pt x="99" y="0"/>
                      <a:pt x="61" y="0"/>
                    </a:cubicBezTo>
                    <a:cubicBezTo>
                      <a:pt x="33" y="0"/>
                      <a:pt x="14" y="5"/>
                      <a:pt x="6" y="10"/>
                    </a:cubicBezTo>
                    <a:cubicBezTo>
                      <a:pt x="97" y="10"/>
                      <a:pt x="97" y="10"/>
                      <a:pt x="97" y="10"/>
                    </a:cubicBezTo>
                    <a:cubicBezTo>
                      <a:pt x="97" y="14"/>
                      <a:pt x="97" y="14"/>
                      <a:pt x="97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2" y="19"/>
                      <a:pt x="2" y="19"/>
                      <a:pt x="2" y="19"/>
                    </a:cubicBezTo>
                    <a:cubicBezTo>
                      <a:pt x="109" y="19"/>
                      <a:pt x="109" y="19"/>
                      <a:pt x="109" y="19"/>
                    </a:cubicBezTo>
                    <a:cubicBezTo>
                      <a:pt x="109" y="24"/>
                      <a:pt x="109" y="24"/>
                      <a:pt x="109" y="24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255" y="31"/>
                      <a:pt x="255" y="31"/>
                      <a:pt x="255" y="31"/>
                    </a:cubicBezTo>
                    <a:cubicBezTo>
                      <a:pt x="254" y="26"/>
                      <a:pt x="254" y="26"/>
                      <a:pt x="254" y="26"/>
                    </a:cubicBezTo>
                    <a:lnTo>
                      <a:pt x="145" y="26"/>
                    </a:lnTo>
                    <a:close/>
                  </a:path>
                </a:pathLst>
              </a:custGeom>
              <a:solidFill>
                <a:srgbClr val="244C89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82" name="Freeform 114"/>
              <p:cNvSpPr>
                <a:spLocks noEditPoints="1"/>
              </p:cNvSpPr>
              <p:nvPr/>
            </p:nvSpPr>
            <p:spPr bwMode="auto">
              <a:xfrm>
                <a:off x="165311" y="4159666"/>
                <a:ext cx="466385" cy="568950"/>
              </a:xfrm>
              <a:custGeom>
                <a:avLst/>
                <a:gdLst>
                  <a:gd name="T0" fmla="*/ 62 w 124"/>
                  <a:gd name="T1" fmla="*/ 134 h 151"/>
                  <a:gd name="T2" fmla="*/ 124 w 124"/>
                  <a:gd name="T3" fmla="*/ 151 h 151"/>
                  <a:gd name="T4" fmla="*/ 124 w 124"/>
                  <a:gd name="T5" fmla="*/ 151 h 151"/>
                  <a:gd name="T6" fmla="*/ 124 w 124"/>
                  <a:gd name="T7" fmla="*/ 17 h 151"/>
                  <a:gd name="T8" fmla="*/ 124 w 124"/>
                  <a:gd name="T9" fmla="*/ 17 h 151"/>
                  <a:gd name="T10" fmla="*/ 62 w 124"/>
                  <a:gd name="T11" fmla="*/ 0 h 151"/>
                  <a:gd name="T12" fmla="*/ 1 w 124"/>
                  <a:gd name="T13" fmla="*/ 17 h 151"/>
                  <a:gd name="T14" fmla="*/ 0 w 124"/>
                  <a:gd name="T15" fmla="*/ 17 h 151"/>
                  <a:gd name="T16" fmla="*/ 0 w 124"/>
                  <a:gd name="T17" fmla="*/ 149 h 151"/>
                  <a:gd name="T18" fmla="*/ 62 w 124"/>
                  <a:gd name="T19" fmla="*/ 134 h 151"/>
                  <a:gd name="T20" fmla="*/ 111 w 124"/>
                  <a:gd name="T21" fmla="*/ 75 h 151"/>
                  <a:gd name="T22" fmla="*/ 61 w 124"/>
                  <a:gd name="T23" fmla="*/ 67 h 151"/>
                  <a:gd name="T24" fmla="*/ 12 w 124"/>
                  <a:gd name="T25" fmla="*/ 75 h 151"/>
                  <a:gd name="T26" fmla="*/ 12 w 124"/>
                  <a:gd name="T27" fmla="*/ 69 h 151"/>
                  <a:gd name="T28" fmla="*/ 61 w 124"/>
                  <a:gd name="T29" fmla="*/ 61 h 151"/>
                  <a:gd name="T30" fmla="*/ 111 w 124"/>
                  <a:gd name="T31" fmla="*/ 69 h 151"/>
                  <a:gd name="T32" fmla="*/ 111 w 124"/>
                  <a:gd name="T33" fmla="*/ 75 h 151"/>
                  <a:gd name="T34" fmla="*/ 12 w 124"/>
                  <a:gd name="T35" fmla="*/ 31 h 151"/>
                  <a:gd name="T36" fmla="*/ 61 w 124"/>
                  <a:gd name="T37" fmla="*/ 23 h 151"/>
                  <a:gd name="T38" fmla="*/ 111 w 124"/>
                  <a:gd name="T39" fmla="*/ 31 h 151"/>
                  <a:gd name="T40" fmla="*/ 111 w 124"/>
                  <a:gd name="T41" fmla="*/ 37 h 151"/>
                  <a:gd name="T42" fmla="*/ 61 w 124"/>
                  <a:gd name="T43" fmla="*/ 29 h 151"/>
                  <a:gd name="T44" fmla="*/ 12 w 124"/>
                  <a:gd name="T45" fmla="*/ 37 h 151"/>
                  <a:gd name="T46" fmla="*/ 12 w 124"/>
                  <a:gd name="T47" fmla="*/ 31 h 151"/>
                  <a:gd name="T48" fmla="*/ 12 w 124"/>
                  <a:gd name="T49" fmla="*/ 50 h 151"/>
                  <a:gd name="T50" fmla="*/ 61 w 124"/>
                  <a:gd name="T51" fmla="*/ 43 h 151"/>
                  <a:gd name="T52" fmla="*/ 111 w 124"/>
                  <a:gd name="T53" fmla="*/ 50 h 151"/>
                  <a:gd name="T54" fmla="*/ 111 w 124"/>
                  <a:gd name="T55" fmla="*/ 56 h 151"/>
                  <a:gd name="T56" fmla="*/ 61 w 124"/>
                  <a:gd name="T57" fmla="*/ 49 h 151"/>
                  <a:gd name="T58" fmla="*/ 12 w 124"/>
                  <a:gd name="T59" fmla="*/ 56 h 151"/>
                  <a:gd name="T60" fmla="*/ 12 w 124"/>
                  <a:gd name="T61" fmla="*/ 50 h 151"/>
                  <a:gd name="T62" fmla="*/ 12 w 124"/>
                  <a:gd name="T63" fmla="*/ 88 h 151"/>
                  <a:gd name="T64" fmla="*/ 61 w 124"/>
                  <a:gd name="T65" fmla="*/ 80 h 151"/>
                  <a:gd name="T66" fmla="*/ 111 w 124"/>
                  <a:gd name="T67" fmla="*/ 88 h 151"/>
                  <a:gd name="T68" fmla="*/ 111 w 124"/>
                  <a:gd name="T69" fmla="*/ 94 h 151"/>
                  <a:gd name="T70" fmla="*/ 61 w 124"/>
                  <a:gd name="T71" fmla="*/ 87 h 151"/>
                  <a:gd name="T72" fmla="*/ 12 w 124"/>
                  <a:gd name="T73" fmla="*/ 94 h 151"/>
                  <a:gd name="T74" fmla="*/ 12 w 124"/>
                  <a:gd name="T75" fmla="*/ 88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4" h="151">
                    <a:moveTo>
                      <a:pt x="62" y="134"/>
                    </a:moveTo>
                    <a:cubicBezTo>
                      <a:pt x="96" y="134"/>
                      <a:pt x="124" y="141"/>
                      <a:pt x="124" y="151"/>
                    </a:cubicBezTo>
                    <a:cubicBezTo>
                      <a:pt x="124" y="151"/>
                      <a:pt x="124" y="151"/>
                      <a:pt x="124" y="151"/>
                    </a:cubicBezTo>
                    <a:cubicBezTo>
                      <a:pt x="124" y="17"/>
                      <a:pt x="124" y="17"/>
                      <a:pt x="124" y="17"/>
                    </a:cubicBezTo>
                    <a:cubicBezTo>
                      <a:pt x="124" y="17"/>
                      <a:pt x="124" y="17"/>
                      <a:pt x="124" y="17"/>
                    </a:cubicBezTo>
                    <a:cubicBezTo>
                      <a:pt x="122" y="8"/>
                      <a:pt x="95" y="0"/>
                      <a:pt x="62" y="0"/>
                    </a:cubicBezTo>
                    <a:cubicBezTo>
                      <a:pt x="29" y="0"/>
                      <a:pt x="2" y="8"/>
                      <a:pt x="1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4" y="140"/>
                      <a:pt x="30" y="134"/>
                      <a:pt x="62" y="134"/>
                    </a:cubicBezTo>
                    <a:close/>
                    <a:moveTo>
                      <a:pt x="111" y="75"/>
                    </a:moveTo>
                    <a:cubicBezTo>
                      <a:pt x="103" y="71"/>
                      <a:pt x="86" y="67"/>
                      <a:pt x="61" y="67"/>
                    </a:cubicBezTo>
                    <a:cubicBezTo>
                      <a:pt x="37" y="67"/>
                      <a:pt x="20" y="71"/>
                      <a:pt x="12" y="75"/>
                    </a:cubicBezTo>
                    <a:cubicBezTo>
                      <a:pt x="12" y="69"/>
                      <a:pt x="12" y="69"/>
                      <a:pt x="12" y="69"/>
                    </a:cubicBezTo>
                    <a:cubicBezTo>
                      <a:pt x="17" y="66"/>
                      <a:pt x="35" y="61"/>
                      <a:pt x="61" y="61"/>
                    </a:cubicBezTo>
                    <a:cubicBezTo>
                      <a:pt x="88" y="61"/>
                      <a:pt x="105" y="66"/>
                      <a:pt x="111" y="69"/>
                    </a:cubicBezTo>
                    <a:lnTo>
                      <a:pt x="111" y="75"/>
                    </a:lnTo>
                    <a:close/>
                    <a:moveTo>
                      <a:pt x="12" y="31"/>
                    </a:moveTo>
                    <a:cubicBezTo>
                      <a:pt x="17" y="28"/>
                      <a:pt x="35" y="23"/>
                      <a:pt x="61" y="23"/>
                    </a:cubicBezTo>
                    <a:cubicBezTo>
                      <a:pt x="88" y="23"/>
                      <a:pt x="105" y="28"/>
                      <a:pt x="111" y="31"/>
                    </a:cubicBezTo>
                    <a:cubicBezTo>
                      <a:pt x="111" y="37"/>
                      <a:pt x="111" y="37"/>
                      <a:pt x="111" y="37"/>
                    </a:cubicBezTo>
                    <a:cubicBezTo>
                      <a:pt x="103" y="33"/>
                      <a:pt x="86" y="29"/>
                      <a:pt x="61" y="29"/>
                    </a:cubicBezTo>
                    <a:cubicBezTo>
                      <a:pt x="37" y="29"/>
                      <a:pt x="20" y="33"/>
                      <a:pt x="12" y="37"/>
                    </a:cubicBezTo>
                    <a:lnTo>
                      <a:pt x="12" y="31"/>
                    </a:lnTo>
                    <a:close/>
                    <a:moveTo>
                      <a:pt x="12" y="50"/>
                    </a:moveTo>
                    <a:cubicBezTo>
                      <a:pt x="17" y="48"/>
                      <a:pt x="34" y="43"/>
                      <a:pt x="61" y="43"/>
                    </a:cubicBezTo>
                    <a:cubicBezTo>
                      <a:pt x="88" y="43"/>
                      <a:pt x="105" y="48"/>
                      <a:pt x="111" y="50"/>
                    </a:cubicBezTo>
                    <a:cubicBezTo>
                      <a:pt x="111" y="56"/>
                      <a:pt x="111" y="56"/>
                      <a:pt x="111" y="56"/>
                    </a:cubicBezTo>
                    <a:cubicBezTo>
                      <a:pt x="103" y="53"/>
                      <a:pt x="86" y="49"/>
                      <a:pt x="61" y="49"/>
                    </a:cubicBezTo>
                    <a:cubicBezTo>
                      <a:pt x="37" y="49"/>
                      <a:pt x="20" y="53"/>
                      <a:pt x="12" y="56"/>
                    </a:cubicBezTo>
                    <a:lnTo>
                      <a:pt x="12" y="50"/>
                    </a:lnTo>
                    <a:close/>
                    <a:moveTo>
                      <a:pt x="12" y="88"/>
                    </a:moveTo>
                    <a:cubicBezTo>
                      <a:pt x="17" y="85"/>
                      <a:pt x="34" y="80"/>
                      <a:pt x="61" y="80"/>
                    </a:cubicBezTo>
                    <a:cubicBezTo>
                      <a:pt x="88" y="80"/>
                      <a:pt x="105" y="85"/>
                      <a:pt x="111" y="88"/>
                    </a:cubicBezTo>
                    <a:cubicBezTo>
                      <a:pt x="111" y="94"/>
                      <a:pt x="111" y="94"/>
                      <a:pt x="111" y="94"/>
                    </a:cubicBezTo>
                    <a:cubicBezTo>
                      <a:pt x="103" y="91"/>
                      <a:pt x="86" y="87"/>
                      <a:pt x="61" y="87"/>
                    </a:cubicBezTo>
                    <a:cubicBezTo>
                      <a:pt x="37" y="87"/>
                      <a:pt x="20" y="91"/>
                      <a:pt x="12" y="94"/>
                    </a:cubicBezTo>
                    <a:lnTo>
                      <a:pt x="12" y="88"/>
                    </a:lnTo>
                    <a:close/>
                  </a:path>
                </a:pathLst>
              </a:custGeom>
              <a:solidFill>
                <a:srgbClr val="244C89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83" name="Freeform 115"/>
              <p:cNvSpPr/>
              <p:nvPr/>
            </p:nvSpPr>
            <p:spPr bwMode="auto">
              <a:xfrm>
                <a:off x="926573" y="4237934"/>
                <a:ext cx="132394" cy="135464"/>
              </a:xfrm>
              <a:custGeom>
                <a:avLst/>
                <a:gdLst>
                  <a:gd name="T0" fmla="*/ 35 w 35"/>
                  <a:gd name="T1" fmla="*/ 36 h 36"/>
                  <a:gd name="T2" fmla="*/ 35 w 35"/>
                  <a:gd name="T3" fmla="*/ 6 h 36"/>
                  <a:gd name="T4" fmla="*/ 0 w 35"/>
                  <a:gd name="T5" fmla="*/ 0 h 36"/>
                  <a:gd name="T6" fmla="*/ 0 w 35"/>
                  <a:gd name="T7" fmla="*/ 31 h 36"/>
                  <a:gd name="T8" fmla="*/ 35 w 35"/>
                  <a:gd name="T9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6">
                    <a:moveTo>
                      <a:pt x="35" y="36"/>
                    </a:moveTo>
                    <a:cubicBezTo>
                      <a:pt x="35" y="6"/>
                      <a:pt x="35" y="6"/>
                      <a:pt x="35" y="6"/>
                    </a:cubicBezTo>
                    <a:cubicBezTo>
                      <a:pt x="29" y="4"/>
                      <a:pt x="17" y="1"/>
                      <a:pt x="0" y="0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15" y="32"/>
                      <a:pt x="26" y="34"/>
                      <a:pt x="35" y="36"/>
                    </a:cubicBezTo>
                    <a:close/>
                  </a:path>
                </a:pathLst>
              </a:custGeom>
              <a:solidFill>
                <a:srgbClr val="244C89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84" name="Freeform 116"/>
              <p:cNvSpPr>
                <a:spLocks noEditPoints="1"/>
              </p:cNvSpPr>
              <p:nvPr/>
            </p:nvSpPr>
            <p:spPr bwMode="auto">
              <a:xfrm>
                <a:off x="661786" y="4168696"/>
                <a:ext cx="466387" cy="568952"/>
              </a:xfrm>
              <a:custGeom>
                <a:avLst/>
                <a:gdLst>
                  <a:gd name="T0" fmla="*/ 124 w 124"/>
                  <a:gd name="T1" fmla="*/ 17 h 151"/>
                  <a:gd name="T2" fmla="*/ 62 w 124"/>
                  <a:gd name="T3" fmla="*/ 0 h 151"/>
                  <a:gd name="T4" fmla="*/ 1 w 124"/>
                  <a:gd name="T5" fmla="*/ 17 h 151"/>
                  <a:gd name="T6" fmla="*/ 0 w 124"/>
                  <a:gd name="T7" fmla="*/ 17 h 151"/>
                  <a:gd name="T8" fmla="*/ 0 w 124"/>
                  <a:gd name="T9" fmla="*/ 148 h 151"/>
                  <a:gd name="T10" fmla="*/ 62 w 124"/>
                  <a:gd name="T11" fmla="*/ 133 h 151"/>
                  <a:gd name="T12" fmla="*/ 124 w 124"/>
                  <a:gd name="T13" fmla="*/ 151 h 151"/>
                  <a:gd name="T14" fmla="*/ 124 w 124"/>
                  <a:gd name="T15" fmla="*/ 151 h 151"/>
                  <a:gd name="T16" fmla="*/ 124 w 124"/>
                  <a:gd name="T17" fmla="*/ 17 h 151"/>
                  <a:gd name="T18" fmla="*/ 112 w 124"/>
                  <a:gd name="T19" fmla="*/ 76 h 151"/>
                  <a:gd name="T20" fmla="*/ 112 w 124"/>
                  <a:gd name="T21" fmla="*/ 82 h 151"/>
                  <a:gd name="T22" fmla="*/ 62 w 124"/>
                  <a:gd name="T23" fmla="*/ 74 h 151"/>
                  <a:gd name="T24" fmla="*/ 13 w 124"/>
                  <a:gd name="T25" fmla="*/ 82 h 151"/>
                  <a:gd name="T26" fmla="*/ 13 w 124"/>
                  <a:gd name="T27" fmla="*/ 76 h 151"/>
                  <a:gd name="T28" fmla="*/ 62 w 124"/>
                  <a:gd name="T29" fmla="*/ 68 h 151"/>
                  <a:gd name="T30" fmla="*/ 112 w 124"/>
                  <a:gd name="T31" fmla="*/ 76 h 151"/>
                  <a:gd name="T32" fmla="*/ 13 w 124"/>
                  <a:gd name="T33" fmla="*/ 30 h 151"/>
                  <a:gd name="T34" fmla="*/ 55 w 124"/>
                  <a:gd name="T35" fmla="*/ 22 h 151"/>
                  <a:gd name="T36" fmla="*/ 55 w 124"/>
                  <a:gd name="T37" fmla="*/ 28 h 151"/>
                  <a:gd name="T38" fmla="*/ 13 w 124"/>
                  <a:gd name="T39" fmla="*/ 36 h 151"/>
                  <a:gd name="T40" fmla="*/ 13 w 124"/>
                  <a:gd name="T41" fmla="*/ 30 h 151"/>
                  <a:gd name="T42" fmla="*/ 13 w 124"/>
                  <a:gd name="T43" fmla="*/ 49 h 151"/>
                  <a:gd name="T44" fmla="*/ 55 w 124"/>
                  <a:gd name="T45" fmla="*/ 42 h 151"/>
                  <a:gd name="T46" fmla="*/ 55 w 124"/>
                  <a:gd name="T47" fmla="*/ 48 h 151"/>
                  <a:gd name="T48" fmla="*/ 13 w 124"/>
                  <a:gd name="T49" fmla="*/ 55 h 151"/>
                  <a:gd name="T50" fmla="*/ 13 w 124"/>
                  <a:gd name="T51" fmla="*/ 49 h 151"/>
                  <a:gd name="T52" fmla="*/ 112 w 124"/>
                  <a:gd name="T53" fmla="*/ 119 h 151"/>
                  <a:gd name="T54" fmla="*/ 62 w 124"/>
                  <a:gd name="T55" fmla="*/ 112 h 151"/>
                  <a:gd name="T56" fmla="*/ 13 w 124"/>
                  <a:gd name="T57" fmla="*/ 119 h 151"/>
                  <a:gd name="T58" fmla="*/ 13 w 124"/>
                  <a:gd name="T59" fmla="*/ 114 h 151"/>
                  <a:gd name="T60" fmla="*/ 62 w 124"/>
                  <a:gd name="T61" fmla="*/ 106 h 151"/>
                  <a:gd name="T62" fmla="*/ 112 w 124"/>
                  <a:gd name="T63" fmla="*/ 114 h 151"/>
                  <a:gd name="T64" fmla="*/ 112 w 124"/>
                  <a:gd name="T65" fmla="*/ 119 h 151"/>
                  <a:gd name="T66" fmla="*/ 112 w 124"/>
                  <a:gd name="T67" fmla="*/ 100 h 151"/>
                  <a:gd name="T68" fmla="*/ 62 w 124"/>
                  <a:gd name="T69" fmla="*/ 92 h 151"/>
                  <a:gd name="T70" fmla="*/ 13 w 124"/>
                  <a:gd name="T71" fmla="*/ 100 h 151"/>
                  <a:gd name="T72" fmla="*/ 13 w 124"/>
                  <a:gd name="T73" fmla="*/ 94 h 151"/>
                  <a:gd name="T74" fmla="*/ 62 w 124"/>
                  <a:gd name="T75" fmla="*/ 86 h 151"/>
                  <a:gd name="T76" fmla="*/ 112 w 124"/>
                  <a:gd name="T77" fmla="*/ 94 h 151"/>
                  <a:gd name="T78" fmla="*/ 112 w 124"/>
                  <a:gd name="T79" fmla="*/ 100 h 151"/>
                  <a:gd name="T80" fmla="*/ 112 w 124"/>
                  <a:gd name="T81" fmla="*/ 65 h 151"/>
                  <a:gd name="T82" fmla="*/ 65 w 124"/>
                  <a:gd name="T83" fmla="*/ 57 h 151"/>
                  <a:gd name="T84" fmla="*/ 65 w 124"/>
                  <a:gd name="T85" fmla="*/ 12 h 151"/>
                  <a:gd name="T86" fmla="*/ 112 w 124"/>
                  <a:gd name="T87" fmla="*/ 21 h 151"/>
                  <a:gd name="T88" fmla="*/ 112 w 124"/>
                  <a:gd name="T89" fmla="*/ 65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4" h="151">
                    <a:moveTo>
                      <a:pt x="124" y="17"/>
                    </a:moveTo>
                    <a:cubicBezTo>
                      <a:pt x="123" y="7"/>
                      <a:pt x="96" y="0"/>
                      <a:pt x="62" y="0"/>
                    </a:cubicBezTo>
                    <a:cubicBezTo>
                      <a:pt x="29" y="0"/>
                      <a:pt x="2" y="7"/>
                      <a:pt x="1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148"/>
                      <a:pt x="0" y="148"/>
                      <a:pt x="0" y="148"/>
                    </a:cubicBezTo>
                    <a:cubicBezTo>
                      <a:pt x="4" y="140"/>
                      <a:pt x="30" y="133"/>
                      <a:pt x="62" y="133"/>
                    </a:cubicBezTo>
                    <a:cubicBezTo>
                      <a:pt x="96" y="133"/>
                      <a:pt x="124" y="141"/>
                      <a:pt x="124" y="151"/>
                    </a:cubicBezTo>
                    <a:cubicBezTo>
                      <a:pt x="124" y="151"/>
                      <a:pt x="124" y="151"/>
                      <a:pt x="124" y="151"/>
                    </a:cubicBezTo>
                    <a:cubicBezTo>
                      <a:pt x="124" y="17"/>
                      <a:pt x="124" y="17"/>
                      <a:pt x="124" y="17"/>
                    </a:cubicBezTo>
                    <a:close/>
                    <a:moveTo>
                      <a:pt x="112" y="76"/>
                    </a:moveTo>
                    <a:cubicBezTo>
                      <a:pt x="112" y="82"/>
                      <a:pt x="112" y="82"/>
                      <a:pt x="112" y="82"/>
                    </a:cubicBezTo>
                    <a:cubicBezTo>
                      <a:pt x="104" y="78"/>
                      <a:pt x="87" y="74"/>
                      <a:pt x="62" y="74"/>
                    </a:cubicBezTo>
                    <a:cubicBezTo>
                      <a:pt x="38" y="74"/>
                      <a:pt x="21" y="78"/>
                      <a:pt x="13" y="82"/>
                    </a:cubicBezTo>
                    <a:cubicBezTo>
                      <a:pt x="13" y="76"/>
                      <a:pt x="13" y="76"/>
                      <a:pt x="13" y="76"/>
                    </a:cubicBezTo>
                    <a:cubicBezTo>
                      <a:pt x="18" y="73"/>
                      <a:pt x="35" y="68"/>
                      <a:pt x="62" y="68"/>
                    </a:cubicBezTo>
                    <a:cubicBezTo>
                      <a:pt x="89" y="68"/>
                      <a:pt x="106" y="73"/>
                      <a:pt x="112" y="76"/>
                    </a:cubicBezTo>
                    <a:close/>
                    <a:moveTo>
                      <a:pt x="13" y="30"/>
                    </a:moveTo>
                    <a:cubicBezTo>
                      <a:pt x="18" y="27"/>
                      <a:pt x="32" y="23"/>
                      <a:pt x="55" y="22"/>
                    </a:cubicBezTo>
                    <a:cubicBezTo>
                      <a:pt x="55" y="28"/>
                      <a:pt x="55" y="28"/>
                      <a:pt x="55" y="28"/>
                    </a:cubicBezTo>
                    <a:cubicBezTo>
                      <a:pt x="34" y="29"/>
                      <a:pt x="20" y="33"/>
                      <a:pt x="13" y="36"/>
                    </a:cubicBezTo>
                    <a:lnTo>
                      <a:pt x="13" y="30"/>
                    </a:lnTo>
                    <a:close/>
                    <a:moveTo>
                      <a:pt x="13" y="49"/>
                    </a:moveTo>
                    <a:cubicBezTo>
                      <a:pt x="18" y="47"/>
                      <a:pt x="32" y="42"/>
                      <a:pt x="55" y="42"/>
                    </a:cubicBezTo>
                    <a:cubicBezTo>
                      <a:pt x="55" y="48"/>
                      <a:pt x="55" y="48"/>
                      <a:pt x="55" y="48"/>
                    </a:cubicBezTo>
                    <a:cubicBezTo>
                      <a:pt x="34" y="49"/>
                      <a:pt x="20" y="52"/>
                      <a:pt x="13" y="55"/>
                    </a:cubicBezTo>
                    <a:lnTo>
                      <a:pt x="13" y="49"/>
                    </a:lnTo>
                    <a:close/>
                    <a:moveTo>
                      <a:pt x="112" y="119"/>
                    </a:moveTo>
                    <a:cubicBezTo>
                      <a:pt x="104" y="116"/>
                      <a:pt x="87" y="112"/>
                      <a:pt x="62" y="112"/>
                    </a:cubicBezTo>
                    <a:cubicBezTo>
                      <a:pt x="38" y="112"/>
                      <a:pt x="21" y="116"/>
                      <a:pt x="13" y="119"/>
                    </a:cubicBezTo>
                    <a:cubicBezTo>
                      <a:pt x="13" y="114"/>
                      <a:pt x="13" y="114"/>
                      <a:pt x="13" y="114"/>
                    </a:cubicBezTo>
                    <a:cubicBezTo>
                      <a:pt x="18" y="111"/>
                      <a:pt x="35" y="106"/>
                      <a:pt x="62" y="106"/>
                    </a:cubicBezTo>
                    <a:cubicBezTo>
                      <a:pt x="89" y="106"/>
                      <a:pt x="106" y="111"/>
                      <a:pt x="112" y="114"/>
                    </a:cubicBezTo>
                    <a:lnTo>
                      <a:pt x="112" y="119"/>
                    </a:lnTo>
                    <a:close/>
                    <a:moveTo>
                      <a:pt x="112" y="100"/>
                    </a:moveTo>
                    <a:cubicBezTo>
                      <a:pt x="104" y="97"/>
                      <a:pt x="87" y="92"/>
                      <a:pt x="62" y="92"/>
                    </a:cubicBezTo>
                    <a:cubicBezTo>
                      <a:pt x="38" y="92"/>
                      <a:pt x="21" y="97"/>
                      <a:pt x="13" y="100"/>
                    </a:cubicBezTo>
                    <a:cubicBezTo>
                      <a:pt x="13" y="94"/>
                      <a:pt x="13" y="94"/>
                      <a:pt x="13" y="94"/>
                    </a:cubicBezTo>
                    <a:cubicBezTo>
                      <a:pt x="18" y="91"/>
                      <a:pt x="36" y="86"/>
                      <a:pt x="62" y="86"/>
                    </a:cubicBezTo>
                    <a:cubicBezTo>
                      <a:pt x="89" y="86"/>
                      <a:pt x="106" y="91"/>
                      <a:pt x="112" y="94"/>
                    </a:cubicBezTo>
                    <a:lnTo>
                      <a:pt x="112" y="100"/>
                    </a:lnTo>
                    <a:close/>
                    <a:moveTo>
                      <a:pt x="112" y="65"/>
                    </a:moveTo>
                    <a:cubicBezTo>
                      <a:pt x="106" y="62"/>
                      <a:pt x="90" y="57"/>
                      <a:pt x="65" y="57"/>
                    </a:cubicBezTo>
                    <a:cubicBezTo>
                      <a:pt x="65" y="12"/>
                      <a:pt x="65" y="12"/>
                      <a:pt x="65" y="12"/>
                    </a:cubicBezTo>
                    <a:cubicBezTo>
                      <a:pt x="90" y="13"/>
                      <a:pt x="107" y="18"/>
                      <a:pt x="112" y="21"/>
                    </a:cubicBezTo>
                    <a:lnTo>
                      <a:pt x="112" y="65"/>
                    </a:lnTo>
                    <a:close/>
                  </a:path>
                </a:pathLst>
              </a:custGeom>
              <a:solidFill>
                <a:srgbClr val="244C89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</p:grpSp>
      </p:grpSp>
      <p:grpSp>
        <p:nvGrpSpPr>
          <p:cNvPr id="14" name="组合 13"/>
          <p:cNvGrpSpPr/>
          <p:nvPr/>
        </p:nvGrpSpPr>
        <p:grpSpPr>
          <a:xfrm>
            <a:off x="8039623" y="2009804"/>
            <a:ext cx="2619669" cy="3846585"/>
            <a:chOff x="8163192" y="1765832"/>
            <a:chExt cx="2935782" cy="4310749"/>
          </a:xfrm>
        </p:grpSpPr>
        <p:grpSp>
          <p:nvGrpSpPr>
            <p:cNvPr id="12" name="组合 11"/>
            <p:cNvGrpSpPr/>
            <p:nvPr/>
          </p:nvGrpSpPr>
          <p:grpSpPr>
            <a:xfrm>
              <a:off x="8163192" y="1765832"/>
              <a:ext cx="2935782" cy="4310749"/>
              <a:chOff x="8150835" y="1802903"/>
              <a:chExt cx="2935782" cy="4310749"/>
            </a:xfrm>
          </p:grpSpPr>
          <p:sp>
            <p:nvSpPr>
              <p:cNvPr id="67" name="Rectangle 24"/>
              <p:cNvSpPr>
                <a:spLocks noChangeArrowheads="1"/>
              </p:cNvSpPr>
              <p:nvPr/>
            </p:nvSpPr>
            <p:spPr bwMode="auto">
              <a:xfrm>
                <a:off x="8150835" y="1802903"/>
                <a:ext cx="2935782" cy="431074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innerShdw blurRad="76200">
                  <a:prstClr val="black"/>
                </a:innerShdw>
              </a:effectLst>
            </p:spPr>
            <p:txBody>
              <a:bodyPr/>
              <a:lstStyle/>
              <a:p>
                <a:pPr>
                  <a:lnSpc>
                    <a:spcPct val="120000"/>
                  </a:lnSpc>
                </a:pPr>
                <a:endParaRPr lang="zh-CN" altLang="zh-CN"/>
              </a:p>
            </p:txBody>
          </p:sp>
          <p:sp>
            <p:nvSpPr>
              <p:cNvPr id="68" name="Freeform 25"/>
              <p:cNvSpPr/>
              <p:nvPr/>
            </p:nvSpPr>
            <p:spPr bwMode="auto">
              <a:xfrm>
                <a:off x="8150835" y="1802903"/>
                <a:ext cx="1139938" cy="1334560"/>
              </a:xfrm>
              <a:custGeom>
                <a:avLst/>
                <a:gdLst>
                  <a:gd name="T0" fmla="*/ 64 w 64"/>
                  <a:gd name="T1" fmla="*/ 21 h 75"/>
                  <a:gd name="T2" fmla="*/ 59 w 64"/>
                  <a:gd name="T3" fmla="*/ 0 h 75"/>
                  <a:gd name="T4" fmla="*/ 0 w 64"/>
                  <a:gd name="T5" fmla="*/ 0 h 75"/>
                  <a:gd name="T6" fmla="*/ 0 w 64"/>
                  <a:gd name="T7" fmla="*/ 74 h 75"/>
                  <a:gd name="T8" fmla="*/ 10 w 64"/>
                  <a:gd name="T9" fmla="*/ 75 h 75"/>
                  <a:gd name="T10" fmla="*/ 64 w 64"/>
                  <a:gd name="T11" fmla="*/ 21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" h="75">
                    <a:moveTo>
                      <a:pt x="64" y="21"/>
                    </a:moveTo>
                    <a:cubicBezTo>
                      <a:pt x="64" y="14"/>
                      <a:pt x="62" y="7"/>
                      <a:pt x="5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74"/>
                      <a:pt x="0" y="74"/>
                      <a:pt x="0" y="74"/>
                    </a:cubicBezTo>
                    <a:cubicBezTo>
                      <a:pt x="3" y="75"/>
                      <a:pt x="7" y="75"/>
                      <a:pt x="10" y="75"/>
                    </a:cubicBezTo>
                    <a:cubicBezTo>
                      <a:pt x="40" y="75"/>
                      <a:pt x="64" y="51"/>
                      <a:pt x="64" y="21"/>
                    </a:cubicBezTo>
                    <a:close/>
                  </a:path>
                </a:pathLst>
              </a:custGeom>
              <a:solidFill>
                <a:srgbClr val="244C89"/>
              </a:solidFill>
              <a:ln>
                <a:noFill/>
              </a:ln>
              <a:effectLst>
                <a:outerShdw blurRad="38100" dist="38100" dir="2700000" algn="tl" rotWithShape="0">
                  <a:prstClr val="black">
                    <a:alpha val="43000"/>
                  </a:prstClr>
                </a:outerShdw>
              </a:effectLst>
            </p:spPr>
            <p:txBody>
              <a:bodyPr/>
              <a:lstStyle/>
              <a:p>
                <a:pPr fontAlgn="auto">
                  <a:lnSpc>
                    <a:spcPct val="120000"/>
                  </a:lnSpc>
                  <a:defRPr/>
                </a:pPr>
                <a:endParaRPr lang="en-US">
                  <a:latin typeface="+mn-lt"/>
                  <a:cs typeface="+mn-cs"/>
                </a:endParaRPr>
              </a:p>
            </p:txBody>
          </p:sp>
          <p:sp>
            <p:nvSpPr>
              <p:cNvPr id="69" name="TextBox 18"/>
              <p:cNvSpPr txBox="1"/>
              <p:nvPr/>
            </p:nvSpPr>
            <p:spPr>
              <a:xfrm>
                <a:off x="8372844" y="2045551"/>
                <a:ext cx="945313" cy="785689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en-US" altLang="zh-CN" sz="3600" dirty="0">
                    <a:solidFill>
                      <a:schemeClr val="bg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03</a:t>
                </a:r>
              </a:p>
            </p:txBody>
          </p:sp>
        </p:grpSp>
        <p:grpSp>
          <p:nvGrpSpPr>
            <p:cNvPr id="85" name="组合 84"/>
            <p:cNvGrpSpPr/>
            <p:nvPr/>
          </p:nvGrpSpPr>
          <p:grpSpPr>
            <a:xfrm>
              <a:off x="10308271" y="2256164"/>
              <a:ext cx="528026" cy="493514"/>
              <a:chOff x="7132549" y="4412456"/>
              <a:chExt cx="485775" cy="454025"/>
            </a:xfrm>
            <a:solidFill>
              <a:srgbClr val="0B2C4F"/>
            </a:solidFill>
          </p:grpSpPr>
          <p:sp>
            <p:nvSpPr>
              <p:cNvPr id="86" name="Rectangle 18"/>
              <p:cNvSpPr>
                <a:spLocks noChangeArrowheads="1"/>
              </p:cNvSpPr>
              <p:nvPr/>
            </p:nvSpPr>
            <p:spPr bwMode="auto">
              <a:xfrm>
                <a:off x="7199224" y="4525168"/>
                <a:ext cx="236538" cy="22225"/>
              </a:xfrm>
              <a:prstGeom prst="rect">
                <a:avLst/>
              </a:prstGeom>
              <a:solidFill>
                <a:srgbClr val="244C89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87" name="Rectangle 19"/>
              <p:cNvSpPr>
                <a:spLocks noChangeArrowheads="1"/>
              </p:cNvSpPr>
              <p:nvPr/>
            </p:nvSpPr>
            <p:spPr bwMode="auto">
              <a:xfrm>
                <a:off x="7497674" y="4706143"/>
                <a:ext cx="0" cy="158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88" name="Freeform 20"/>
              <p:cNvSpPr>
                <a:spLocks noEditPoints="1"/>
              </p:cNvSpPr>
              <p:nvPr/>
            </p:nvSpPr>
            <p:spPr bwMode="auto">
              <a:xfrm>
                <a:off x="7132549" y="4412456"/>
                <a:ext cx="365125" cy="425450"/>
              </a:xfrm>
              <a:custGeom>
                <a:avLst/>
                <a:gdLst>
                  <a:gd name="T0" fmla="*/ 158 w 184"/>
                  <a:gd name="T1" fmla="*/ 186 h 213"/>
                  <a:gd name="T2" fmla="*/ 151 w 184"/>
                  <a:gd name="T3" fmla="*/ 190 h 213"/>
                  <a:gd name="T4" fmla="*/ 122 w 184"/>
                  <a:gd name="T5" fmla="*/ 196 h 213"/>
                  <a:gd name="T6" fmla="*/ 85 w 184"/>
                  <a:gd name="T7" fmla="*/ 184 h 213"/>
                  <a:gd name="T8" fmla="*/ 22 w 184"/>
                  <a:gd name="T9" fmla="*/ 184 h 213"/>
                  <a:gd name="T10" fmla="*/ 18 w 184"/>
                  <a:gd name="T11" fmla="*/ 181 h 213"/>
                  <a:gd name="T12" fmla="*/ 18 w 184"/>
                  <a:gd name="T13" fmla="*/ 21 h 213"/>
                  <a:gd name="T14" fmla="*/ 22 w 184"/>
                  <a:gd name="T15" fmla="*/ 17 h 213"/>
                  <a:gd name="T16" fmla="*/ 163 w 184"/>
                  <a:gd name="T17" fmla="*/ 17 h 213"/>
                  <a:gd name="T18" fmla="*/ 166 w 184"/>
                  <a:gd name="T19" fmla="*/ 21 h 213"/>
                  <a:gd name="T20" fmla="*/ 166 w 184"/>
                  <a:gd name="T21" fmla="*/ 85 h 213"/>
                  <a:gd name="T22" fmla="*/ 179 w 184"/>
                  <a:gd name="T23" fmla="*/ 102 h 213"/>
                  <a:gd name="T24" fmla="*/ 184 w 184"/>
                  <a:gd name="T25" fmla="*/ 116 h 213"/>
                  <a:gd name="T26" fmla="*/ 184 w 184"/>
                  <a:gd name="T27" fmla="*/ 21 h 213"/>
                  <a:gd name="T28" fmla="*/ 163 w 184"/>
                  <a:gd name="T29" fmla="*/ 0 h 213"/>
                  <a:gd name="T30" fmla="*/ 22 w 184"/>
                  <a:gd name="T31" fmla="*/ 0 h 213"/>
                  <a:gd name="T32" fmla="*/ 0 w 184"/>
                  <a:gd name="T33" fmla="*/ 21 h 213"/>
                  <a:gd name="T34" fmla="*/ 0 w 184"/>
                  <a:gd name="T35" fmla="*/ 192 h 213"/>
                  <a:gd name="T36" fmla="*/ 22 w 184"/>
                  <a:gd name="T37" fmla="*/ 213 h 213"/>
                  <a:gd name="T38" fmla="*/ 163 w 184"/>
                  <a:gd name="T39" fmla="*/ 213 h 213"/>
                  <a:gd name="T40" fmla="*/ 181 w 184"/>
                  <a:gd name="T41" fmla="*/ 203 h 213"/>
                  <a:gd name="T42" fmla="*/ 158 w 184"/>
                  <a:gd name="T43" fmla="*/ 186 h 213"/>
                  <a:gd name="T44" fmla="*/ 92 w 184"/>
                  <a:gd name="T45" fmla="*/ 206 h 213"/>
                  <a:gd name="T46" fmla="*/ 84 w 184"/>
                  <a:gd name="T47" fmla="*/ 199 h 213"/>
                  <a:gd name="T48" fmla="*/ 92 w 184"/>
                  <a:gd name="T49" fmla="*/ 191 h 213"/>
                  <a:gd name="T50" fmla="*/ 100 w 184"/>
                  <a:gd name="T51" fmla="*/ 199 h 213"/>
                  <a:gd name="T52" fmla="*/ 92 w 184"/>
                  <a:gd name="T53" fmla="*/ 206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84" h="213">
                    <a:moveTo>
                      <a:pt x="158" y="186"/>
                    </a:moveTo>
                    <a:cubicBezTo>
                      <a:pt x="155" y="187"/>
                      <a:pt x="153" y="189"/>
                      <a:pt x="151" y="190"/>
                    </a:cubicBezTo>
                    <a:cubicBezTo>
                      <a:pt x="142" y="194"/>
                      <a:pt x="132" y="196"/>
                      <a:pt x="122" y="196"/>
                    </a:cubicBezTo>
                    <a:cubicBezTo>
                      <a:pt x="109" y="196"/>
                      <a:pt x="96" y="192"/>
                      <a:pt x="85" y="184"/>
                    </a:cubicBezTo>
                    <a:cubicBezTo>
                      <a:pt x="22" y="184"/>
                      <a:pt x="22" y="184"/>
                      <a:pt x="22" y="184"/>
                    </a:cubicBezTo>
                    <a:cubicBezTo>
                      <a:pt x="20" y="184"/>
                      <a:pt x="18" y="183"/>
                      <a:pt x="18" y="18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19"/>
                      <a:pt x="20" y="17"/>
                      <a:pt x="22" y="17"/>
                    </a:cubicBezTo>
                    <a:cubicBezTo>
                      <a:pt x="163" y="17"/>
                      <a:pt x="163" y="17"/>
                      <a:pt x="163" y="17"/>
                    </a:cubicBezTo>
                    <a:cubicBezTo>
                      <a:pt x="165" y="17"/>
                      <a:pt x="166" y="19"/>
                      <a:pt x="166" y="21"/>
                    </a:cubicBezTo>
                    <a:cubicBezTo>
                      <a:pt x="166" y="85"/>
                      <a:pt x="166" y="85"/>
                      <a:pt x="166" y="85"/>
                    </a:cubicBezTo>
                    <a:cubicBezTo>
                      <a:pt x="171" y="90"/>
                      <a:pt x="175" y="95"/>
                      <a:pt x="179" y="102"/>
                    </a:cubicBezTo>
                    <a:cubicBezTo>
                      <a:pt x="181" y="107"/>
                      <a:pt x="183" y="111"/>
                      <a:pt x="184" y="116"/>
                    </a:cubicBezTo>
                    <a:cubicBezTo>
                      <a:pt x="184" y="21"/>
                      <a:pt x="184" y="21"/>
                      <a:pt x="184" y="21"/>
                    </a:cubicBezTo>
                    <a:cubicBezTo>
                      <a:pt x="184" y="9"/>
                      <a:pt x="175" y="0"/>
                      <a:pt x="16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9"/>
                      <a:pt x="0" y="21"/>
                    </a:cubicBezTo>
                    <a:cubicBezTo>
                      <a:pt x="0" y="192"/>
                      <a:pt x="0" y="192"/>
                      <a:pt x="0" y="192"/>
                    </a:cubicBezTo>
                    <a:cubicBezTo>
                      <a:pt x="0" y="204"/>
                      <a:pt x="10" y="213"/>
                      <a:pt x="22" y="213"/>
                    </a:cubicBezTo>
                    <a:cubicBezTo>
                      <a:pt x="163" y="213"/>
                      <a:pt x="163" y="213"/>
                      <a:pt x="163" y="213"/>
                    </a:cubicBezTo>
                    <a:cubicBezTo>
                      <a:pt x="171" y="213"/>
                      <a:pt x="177" y="209"/>
                      <a:pt x="181" y="203"/>
                    </a:cubicBezTo>
                    <a:cubicBezTo>
                      <a:pt x="158" y="186"/>
                      <a:pt x="158" y="186"/>
                      <a:pt x="158" y="186"/>
                    </a:cubicBezTo>
                    <a:close/>
                    <a:moveTo>
                      <a:pt x="92" y="206"/>
                    </a:moveTo>
                    <a:cubicBezTo>
                      <a:pt x="88" y="206"/>
                      <a:pt x="84" y="203"/>
                      <a:pt x="84" y="199"/>
                    </a:cubicBezTo>
                    <a:cubicBezTo>
                      <a:pt x="84" y="194"/>
                      <a:pt x="88" y="191"/>
                      <a:pt x="92" y="191"/>
                    </a:cubicBezTo>
                    <a:cubicBezTo>
                      <a:pt x="96" y="191"/>
                      <a:pt x="100" y="194"/>
                      <a:pt x="100" y="199"/>
                    </a:cubicBezTo>
                    <a:cubicBezTo>
                      <a:pt x="100" y="203"/>
                      <a:pt x="96" y="206"/>
                      <a:pt x="92" y="206"/>
                    </a:cubicBezTo>
                    <a:close/>
                  </a:path>
                </a:pathLst>
              </a:custGeom>
              <a:solidFill>
                <a:srgbClr val="244C89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89" name="Freeform 21"/>
              <p:cNvSpPr/>
              <p:nvPr/>
            </p:nvSpPr>
            <p:spPr bwMode="auto">
              <a:xfrm>
                <a:off x="7302412" y="4683918"/>
                <a:ext cx="130175" cy="22225"/>
              </a:xfrm>
              <a:custGeom>
                <a:avLst/>
                <a:gdLst>
                  <a:gd name="T0" fmla="*/ 3 w 65"/>
                  <a:gd name="T1" fmla="*/ 10 h 11"/>
                  <a:gd name="T2" fmla="*/ 4 w 65"/>
                  <a:gd name="T3" fmla="*/ 11 h 11"/>
                  <a:gd name="T4" fmla="*/ 65 w 65"/>
                  <a:gd name="T5" fmla="*/ 11 h 11"/>
                  <a:gd name="T6" fmla="*/ 65 w 65"/>
                  <a:gd name="T7" fmla="*/ 0 h 11"/>
                  <a:gd name="T8" fmla="*/ 0 w 65"/>
                  <a:gd name="T9" fmla="*/ 0 h 11"/>
                  <a:gd name="T10" fmla="*/ 3 w 65"/>
                  <a:gd name="T11" fmla="*/ 1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5" h="11">
                    <a:moveTo>
                      <a:pt x="3" y="10"/>
                    </a:moveTo>
                    <a:cubicBezTo>
                      <a:pt x="4" y="11"/>
                      <a:pt x="4" y="11"/>
                      <a:pt x="4" y="11"/>
                    </a:cubicBezTo>
                    <a:cubicBezTo>
                      <a:pt x="65" y="11"/>
                      <a:pt x="65" y="11"/>
                      <a:pt x="65" y="11"/>
                    </a:cubicBezTo>
                    <a:cubicBezTo>
                      <a:pt x="65" y="0"/>
                      <a:pt x="65" y="0"/>
                      <a:pt x="65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3"/>
                      <a:pt x="2" y="7"/>
                      <a:pt x="3" y="10"/>
                    </a:cubicBezTo>
                    <a:close/>
                  </a:path>
                </a:pathLst>
              </a:custGeom>
              <a:solidFill>
                <a:srgbClr val="244C89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90" name="Freeform 22"/>
              <p:cNvSpPr/>
              <p:nvPr/>
            </p:nvSpPr>
            <p:spPr bwMode="auto">
              <a:xfrm>
                <a:off x="7196049" y="4683918"/>
                <a:ext cx="52388" cy="22225"/>
              </a:xfrm>
              <a:custGeom>
                <a:avLst/>
                <a:gdLst>
                  <a:gd name="T0" fmla="*/ 0 w 27"/>
                  <a:gd name="T1" fmla="*/ 0 h 11"/>
                  <a:gd name="T2" fmla="*/ 0 w 27"/>
                  <a:gd name="T3" fmla="*/ 11 h 11"/>
                  <a:gd name="T4" fmla="*/ 27 w 27"/>
                  <a:gd name="T5" fmla="*/ 11 h 11"/>
                  <a:gd name="T6" fmla="*/ 25 w 27"/>
                  <a:gd name="T7" fmla="*/ 0 h 11"/>
                  <a:gd name="T8" fmla="*/ 0 w 27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11">
                    <a:moveTo>
                      <a:pt x="0" y="0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27" y="11"/>
                      <a:pt x="27" y="11"/>
                      <a:pt x="27" y="11"/>
                    </a:cubicBezTo>
                    <a:cubicBezTo>
                      <a:pt x="26" y="7"/>
                      <a:pt x="25" y="4"/>
                      <a:pt x="2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44C89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91" name="Freeform 23"/>
              <p:cNvSpPr/>
              <p:nvPr/>
            </p:nvSpPr>
            <p:spPr bwMode="auto">
              <a:xfrm>
                <a:off x="7302412" y="4629943"/>
                <a:ext cx="131762" cy="25400"/>
              </a:xfrm>
              <a:custGeom>
                <a:avLst/>
                <a:gdLst>
                  <a:gd name="T0" fmla="*/ 5 w 66"/>
                  <a:gd name="T1" fmla="*/ 0 h 12"/>
                  <a:gd name="T2" fmla="*/ 1 w 66"/>
                  <a:gd name="T3" fmla="*/ 9 h 12"/>
                  <a:gd name="T4" fmla="*/ 0 w 66"/>
                  <a:gd name="T5" fmla="*/ 12 h 12"/>
                  <a:gd name="T6" fmla="*/ 66 w 66"/>
                  <a:gd name="T7" fmla="*/ 12 h 12"/>
                  <a:gd name="T8" fmla="*/ 66 w 66"/>
                  <a:gd name="T9" fmla="*/ 5 h 12"/>
                  <a:gd name="T10" fmla="*/ 63 w 66"/>
                  <a:gd name="T11" fmla="*/ 0 h 12"/>
                  <a:gd name="T12" fmla="*/ 5 w 66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6" h="12">
                    <a:moveTo>
                      <a:pt x="5" y="0"/>
                    </a:moveTo>
                    <a:cubicBezTo>
                      <a:pt x="3" y="3"/>
                      <a:pt x="2" y="6"/>
                      <a:pt x="1" y="9"/>
                    </a:cubicBezTo>
                    <a:cubicBezTo>
                      <a:pt x="1" y="10"/>
                      <a:pt x="1" y="11"/>
                      <a:pt x="0" y="12"/>
                    </a:cubicBezTo>
                    <a:cubicBezTo>
                      <a:pt x="66" y="12"/>
                      <a:pt x="66" y="12"/>
                      <a:pt x="66" y="12"/>
                    </a:cubicBezTo>
                    <a:cubicBezTo>
                      <a:pt x="66" y="5"/>
                      <a:pt x="66" y="5"/>
                      <a:pt x="66" y="5"/>
                    </a:cubicBezTo>
                    <a:cubicBezTo>
                      <a:pt x="65" y="4"/>
                      <a:pt x="64" y="2"/>
                      <a:pt x="63" y="0"/>
                    </a:cubicBez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244C89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92" name="Freeform 24"/>
              <p:cNvSpPr/>
              <p:nvPr/>
            </p:nvSpPr>
            <p:spPr bwMode="auto">
              <a:xfrm>
                <a:off x="7197637" y="4629943"/>
                <a:ext cx="50800" cy="25400"/>
              </a:xfrm>
              <a:custGeom>
                <a:avLst/>
                <a:gdLst>
                  <a:gd name="T0" fmla="*/ 0 w 26"/>
                  <a:gd name="T1" fmla="*/ 0 h 12"/>
                  <a:gd name="T2" fmla="*/ 0 w 26"/>
                  <a:gd name="T3" fmla="*/ 12 h 12"/>
                  <a:gd name="T4" fmla="*/ 24 w 26"/>
                  <a:gd name="T5" fmla="*/ 12 h 12"/>
                  <a:gd name="T6" fmla="*/ 26 w 26"/>
                  <a:gd name="T7" fmla="*/ 0 h 12"/>
                  <a:gd name="T8" fmla="*/ 0 w 2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2">
                    <a:moveTo>
                      <a:pt x="0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4" y="8"/>
                      <a:pt x="25" y="4"/>
                      <a:pt x="26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44C89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93" name="Freeform 25"/>
              <p:cNvSpPr/>
              <p:nvPr/>
            </p:nvSpPr>
            <p:spPr bwMode="auto">
              <a:xfrm>
                <a:off x="7197637" y="4577556"/>
                <a:ext cx="85725" cy="22225"/>
              </a:xfrm>
              <a:custGeom>
                <a:avLst/>
                <a:gdLst>
                  <a:gd name="T0" fmla="*/ 43 w 43"/>
                  <a:gd name="T1" fmla="*/ 0 h 12"/>
                  <a:gd name="T2" fmla="*/ 0 w 43"/>
                  <a:gd name="T3" fmla="*/ 0 h 12"/>
                  <a:gd name="T4" fmla="*/ 0 w 43"/>
                  <a:gd name="T5" fmla="*/ 12 h 12"/>
                  <a:gd name="T6" fmla="*/ 34 w 43"/>
                  <a:gd name="T7" fmla="*/ 12 h 12"/>
                  <a:gd name="T8" fmla="*/ 43 w 43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" h="12">
                    <a:moveTo>
                      <a:pt x="4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34" y="12"/>
                      <a:pt x="34" y="12"/>
                      <a:pt x="34" y="12"/>
                    </a:cubicBezTo>
                    <a:cubicBezTo>
                      <a:pt x="36" y="8"/>
                      <a:pt x="39" y="4"/>
                      <a:pt x="43" y="0"/>
                    </a:cubicBezTo>
                    <a:close/>
                  </a:path>
                </a:pathLst>
              </a:custGeom>
              <a:solidFill>
                <a:srgbClr val="244C89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94" name="Freeform 26"/>
              <p:cNvSpPr>
                <a:spLocks noEditPoints="1"/>
              </p:cNvSpPr>
              <p:nvPr/>
            </p:nvSpPr>
            <p:spPr bwMode="auto">
              <a:xfrm>
                <a:off x="7237324" y="4534693"/>
                <a:ext cx="381000" cy="331788"/>
              </a:xfrm>
              <a:custGeom>
                <a:avLst/>
                <a:gdLst>
                  <a:gd name="T0" fmla="*/ 184 w 192"/>
                  <a:gd name="T1" fmla="*/ 132 h 166"/>
                  <a:gd name="T2" fmla="*/ 129 w 192"/>
                  <a:gd name="T3" fmla="*/ 92 h 166"/>
                  <a:gd name="T4" fmla="*/ 125 w 192"/>
                  <a:gd name="T5" fmla="*/ 90 h 166"/>
                  <a:gd name="T6" fmla="*/ 121 w 192"/>
                  <a:gd name="T7" fmla="*/ 43 h 166"/>
                  <a:gd name="T8" fmla="*/ 41 w 192"/>
                  <a:gd name="T9" fmla="*/ 15 h 166"/>
                  <a:gd name="T10" fmla="*/ 15 w 192"/>
                  <a:gd name="T11" fmla="*/ 96 h 166"/>
                  <a:gd name="T12" fmla="*/ 95 w 192"/>
                  <a:gd name="T13" fmla="*/ 124 h 166"/>
                  <a:gd name="T14" fmla="*/ 105 w 192"/>
                  <a:gd name="T15" fmla="*/ 118 h 166"/>
                  <a:gd name="T16" fmla="*/ 108 w 192"/>
                  <a:gd name="T17" fmla="*/ 121 h 166"/>
                  <a:gd name="T18" fmla="*/ 163 w 192"/>
                  <a:gd name="T19" fmla="*/ 161 h 166"/>
                  <a:gd name="T20" fmla="*/ 184 w 192"/>
                  <a:gd name="T21" fmla="*/ 157 h 166"/>
                  <a:gd name="T22" fmla="*/ 188 w 192"/>
                  <a:gd name="T23" fmla="*/ 153 h 166"/>
                  <a:gd name="T24" fmla="*/ 184 w 192"/>
                  <a:gd name="T25" fmla="*/ 132 h 166"/>
                  <a:gd name="T26" fmla="*/ 87 w 192"/>
                  <a:gd name="T27" fmla="*/ 107 h 166"/>
                  <a:gd name="T28" fmla="*/ 32 w 192"/>
                  <a:gd name="T29" fmla="*/ 88 h 166"/>
                  <a:gd name="T30" fmla="*/ 49 w 192"/>
                  <a:gd name="T31" fmla="*/ 32 h 166"/>
                  <a:gd name="T32" fmla="*/ 104 w 192"/>
                  <a:gd name="T33" fmla="*/ 52 h 166"/>
                  <a:gd name="T34" fmla="*/ 87 w 192"/>
                  <a:gd name="T35" fmla="*/ 10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92" h="166">
                    <a:moveTo>
                      <a:pt x="184" y="132"/>
                    </a:moveTo>
                    <a:cubicBezTo>
                      <a:pt x="129" y="92"/>
                      <a:pt x="129" y="92"/>
                      <a:pt x="129" y="92"/>
                    </a:cubicBezTo>
                    <a:cubicBezTo>
                      <a:pt x="128" y="91"/>
                      <a:pt x="126" y="90"/>
                      <a:pt x="125" y="90"/>
                    </a:cubicBezTo>
                    <a:cubicBezTo>
                      <a:pt x="130" y="75"/>
                      <a:pt x="129" y="58"/>
                      <a:pt x="121" y="43"/>
                    </a:cubicBezTo>
                    <a:cubicBezTo>
                      <a:pt x="106" y="13"/>
                      <a:pt x="70" y="0"/>
                      <a:pt x="41" y="15"/>
                    </a:cubicBezTo>
                    <a:cubicBezTo>
                      <a:pt x="11" y="30"/>
                      <a:pt x="0" y="66"/>
                      <a:pt x="15" y="96"/>
                    </a:cubicBezTo>
                    <a:cubicBezTo>
                      <a:pt x="30" y="126"/>
                      <a:pt x="66" y="139"/>
                      <a:pt x="95" y="124"/>
                    </a:cubicBezTo>
                    <a:cubicBezTo>
                      <a:pt x="99" y="122"/>
                      <a:pt x="102" y="120"/>
                      <a:pt x="105" y="118"/>
                    </a:cubicBezTo>
                    <a:cubicBezTo>
                      <a:pt x="106" y="119"/>
                      <a:pt x="107" y="120"/>
                      <a:pt x="108" y="121"/>
                    </a:cubicBezTo>
                    <a:cubicBezTo>
                      <a:pt x="163" y="161"/>
                      <a:pt x="163" y="161"/>
                      <a:pt x="163" y="161"/>
                    </a:cubicBezTo>
                    <a:cubicBezTo>
                      <a:pt x="170" y="166"/>
                      <a:pt x="179" y="164"/>
                      <a:pt x="184" y="157"/>
                    </a:cubicBezTo>
                    <a:cubicBezTo>
                      <a:pt x="188" y="153"/>
                      <a:pt x="188" y="153"/>
                      <a:pt x="188" y="153"/>
                    </a:cubicBezTo>
                    <a:cubicBezTo>
                      <a:pt x="192" y="146"/>
                      <a:pt x="191" y="137"/>
                      <a:pt x="184" y="132"/>
                    </a:cubicBezTo>
                    <a:close/>
                    <a:moveTo>
                      <a:pt x="87" y="107"/>
                    </a:moveTo>
                    <a:cubicBezTo>
                      <a:pt x="67" y="117"/>
                      <a:pt x="42" y="108"/>
                      <a:pt x="32" y="88"/>
                    </a:cubicBezTo>
                    <a:cubicBezTo>
                      <a:pt x="22" y="67"/>
                      <a:pt x="29" y="42"/>
                      <a:pt x="49" y="32"/>
                    </a:cubicBezTo>
                    <a:cubicBezTo>
                      <a:pt x="69" y="22"/>
                      <a:pt x="94" y="31"/>
                      <a:pt x="104" y="52"/>
                    </a:cubicBezTo>
                    <a:cubicBezTo>
                      <a:pt x="114" y="72"/>
                      <a:pt x="107" y="97"/>
                      <a:pt x="87" y="107"/>
                    </a:cubicBezTo>
                    <a:close/>
                  </a:path>
                </a:pathLst>
              </a:custGeom>
              <a:solidFill>
                <a:srgbClr val="244C89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</p:grpSp>
      </p:grpSp>
      <p:sp>
        <p:nvSpPr>
          <p:cNvPr id="6" name="标题 1">
            <a:extLst>
              <a:ext uri="{FF2B5EF4-FFF2-40B4-BE49-F238E27FC236}">
                <a16:creationId xmlns:a16="http://schemas.microsoft.com/office/drawing/2014/main" id="{C68CFEFD-C1D5-008F-FBF7-CC2297DF6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358" y="909790"/>
            <a:ext cx="3629564" cy="456129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文本特征深度挖掘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AAF187E-6843-F920-939B-3F42F63D7E95}"/>
              </a:ext>
            </a:extLst>
          </p:cNvPr>
          <p:cNvSpPr txBox="1"/>
          <p:nvPr/>
        </p:nvSpPr>
        <p:spPr>
          <a:xfrm>
            <a:off x="8178735" y="3883597"/>
            <a:ext cx="2381510" cy="1670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Times New Roman" pitchFamily="18" charset="0"/>
              </a:rPr>
              <a:t>使用 </a:t>
            </a:r>
            <a:r>
              <a:rPr lang="en-US" altLang="zh-CN" sz="1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Times New Roman" pitchFamily="18" charset="0"/>
              </a:rPr>
              <a:t>SnowNLP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Times New Roman" pitchFamily="18" charset="0"/>
              </a:rPr>
              <a:t> 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Times New Roman" pitchFamily="18" charset="0"/>
              </a:rPr>
              <a:t>分析客户反馈列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Times New Roman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Times New Roman" pitchFamily="18" charset="0"/>
              </a:rPr>
              <a:t>生成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Times New Roman" pitchFamily="18" charset="0"/>
              </a:rPr>
              <a:t>情感得分 </a:t>
            </a: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Times New Roman" pitchFamily="18" charset="0"/>
              </a:rPr>
              <a:t>(0-1)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Times New Roman" pitchFamily="18" charset="0"/>
              </a:rPr>
              <a:t>挖掘并量化潜在的客户主观信息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Times New Roman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26817F3-B3E8-92C6-C0CF-C2D4BACD007A}"/>
              </a:ext>
            </a:extLst>
          </p:cNvPr>
          <p:cNvSpPr/>
          <p:nvPr/>
        </p:nvSpPr>
        <p:spPr>
          <a:xfrm>
            <a:off x="8521197" y="3319226"/>
            <a:ext cx="1723549" cy="4303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b="1" dirty="0">
                <a:solidFill>
                  <a:srgbClr val="244C89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情感分析量化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1385C02-870A-D414-30CB-66E7DB4A8568}"/>
              </a:ext>
            </a:extLst>
          </p:cNvPr>
          <p:cNvSpPr txBox="1"/>
          <p:nvPr/>
        </p:nvSpPr>
        <p:spPr>
          <a:xfrm>
            <a:off x="4949653" y="3885059"/>
            <a:ext cx="2381510" cy="1670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Times New Roman" pitchFamily="18" charset="0"/>
              </a:rPr>
              <a:t>综合房产描述文本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Times New Roman" pitchFamily="18" charset="0"/>
              </a:rPr>
              <a:t>部署 </a:t>
            </a: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Times New Roman" pitchFamily="18" charset="0"/>
              </a:rPr>
              <a:t>Qwen-0.5B 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Times New Roman" pitchFamily="18" charset="0"/>
              </a:rPr>
              <a:t>模型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Times New Roman" pitchFamily="18" charset="0"/>
              </a:rPr>
              <a:t>对</a:t>
            </a: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Times New Roman" pitchFamily="18" charset="0"/>
              </a:rPr>
              <a:t>9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Times New Roman" pitchFamily="18" charset="0"/>
              </a:rPr>
              <a:t>个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Times New Roman" pitchFamily="18" charset="0"/>
              </a:rPr>
              <a:t>关键维度进行标准化评分（交通便利、教育资源、医疗配套等）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06F79FB-D49F-5D60-08DF-35056944200E}"/>
              </a:ext>
            </a:extLst>
          </p:cNvPr>
          <p:cNvSpPr/>
          <p:nvPr/>
        </p:nvSpPr>
        <p:spPr>
          <a:xfrm>
            <a:off x="5005323" y="3315313"/>
            <a:ext cx="2270173" cy="4303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000" b="1" dirty="0">
                <a:solidFill>
                  <a:srgbClr val="244C89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LLM</a:t>
            </a:r>
            <a:r>
              <a:rPr lang="zh-CN" altLang="en-US" sz="2000" b="1" dirty="0">
                <a:solidFill>
                  <a:srgbClr val="244C89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量化文本信息</a:t>
            </a:r>
          </a:p>
        </p:txBody>
      </p:sp>
      <p:pic>
        <p:nvPicPr>
          <p:cNvPr id="22" name="图片 21" descr="图示&#10;&#10;AI 生成的内容可能不正确。">
            <a:extLst>
              <a:ext uri="{FF2B5EF4-FFF2-40B4-BE49-F238E27FC236}">
                <a16:creationId xmlns:a16="http://schemas.microsoft.com/office/drawing/2014/main" id="{B6B678AE-FB89-6FAB-6ECB-792D937B0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0624" y="1913283"/>
            <a:ext cx="6800372" cy="4002778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E11EDBE8-378E-5441-01ED-B02A758F35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15" t="43931" r="85700" b="44742"/>
          <a:stretch>
            <a:fillRect/>
          </a:stretch>
        </p:blipFill>
        <p:spPr>
          <a:xfrm>
            <a:off x="4737164" y="941939"/>
            <a:ext cx="2538332" cy="724101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FFC56425-E4A7-4777-31DB-DD75578C17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" t="65514" r="71171" b="10500"/>
          <a:stretch>
            <a:fillRect/>
          </a:stretch>
        </p:blipFill>
        <p:spPr>
          <a:xfrm>
            <a:off x="7287943" y="720985"/>
            <a:ext cx="3732324" cy="1179772"/>
          </a:xfrm>
          <a:prstGeom prst="rect">
            <a:avLst/>
          </a:prstGeom>
        </p:spPr>
      </p:pic>
      <p:sp>
        <p:nvSpPr>
          <p:cNvPr id="27" name="椭圆 26">
            <a:extLst>
              <a:ext uri="{FF2B5EF4-FFF2-40B4-BE49-F238E27FC236}">
                <a16:creationId xmlns:a16="http://schemas.microsoft.com/office/drawing/2014/main" id="{B0E506A2-AD24-C10C-1059-79FD04689493}"/>
              </a:ext>
            </a:extLst>
          </p:cNvPr>
          <p:cNvSpPr/>
          <p:nvPr/>
        </p:nvSpPr>
        <p:spPr>
          <a:xfrm>
            <a:off x="9382971" y="1472655"/>
            <a:ext cx="1017195" cy="476742"/>
          </a:xfrm>
          <a:prstGeom prst="ellipse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9F811DCF-38F5-5661-42DD-2B2D9D766D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615" y="1856645"/>
            <a:ext cx="6480686" cy="400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8349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7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/>
          <p:cNvGrpSpPr/>
          <p:nvPr/>
        </p:nvGrpSpPr>
        <p:grpSpPr>
          <a:xfrm>
            <a:off x="1836005" y="2037198"/>
            <a:ext cx="3835748" cy="3743352"/>
            <a:chOff x="1823648" y="2061912"/>
            <a:chExt cx="3835748" cy="3743352"/>
          </a:xfrm>
        </p:grpSpPr>
        <p:sp>
          <p:nvSpPr>
            <p:cNvPr id="58" name="矩形 57"/>
            <p:cNvSpPr/>
            <p:nvPr/>
          </p:nvSpPr>
          <p:spPr bwMode="auto">
            <a:xfrm>
              <a:off x="1823648" y="2190078"/>
              <a:ext cx="3835748" cy="36151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2">
                  <a:lumMod val="8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zh-CN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59" name="Freeform 6"/>
            <p:cNvSpPr/>
            <p:nvPr/>
          </p:nvSpPr>
          <p:spPr bwMode="auto">
            <a:xfrm>
              <a:off x="1965587" y="2061912"/>
              <a:ext cx="3562213" cy="127898"/>
            </a:xfrm>
            <a:custGeom>
              <a:avLst/>
              <a:gdLst>
                <a:gd name="T0" fmla="*/ 285 w 4236"/>
                <a:gd name="T1" fmla="*/ 0 h 186"/>
                <a:gd name="T2" fmla="*/ 3967 w 4236"/>
                <a:gd name="T3" fmla="*/ 0 h 186"/>
                <a:gd name="T4" fmla="*/ 4236 w 4236"/>
                <a:gd name="T5" fmla="*/ 186 h 186"/>
                <a:gd name="T6" fmla="*/ 0 w 4236"/>
                <a:gd name="T7" fmla="*/ 186 h 186"/>
                <a:gd name="T8" fmla="*/ 285 w 4236"/>
                <a:gd name="T9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36" h="186">
                  <a:moveTo>
                    <a:pt x="285" y="0"/>
                  </a:moveTo>
                  <a:lnTo>
                    <a:pt x="3967" y="0"/>
                  </a:lnTo>
                  <a:lnTo>
                    <a:pt x="4236" y="186"/>
                  </a:lnTo>
                  <a:lnTo>
                    <a:pt x="0" y="186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rgbClr val="4146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zh-CN" altLang="en-US" sz="1200">
                <a:solidFill>
                  <a:schemeClr val="bg2"/>
                </a:solidFill>
              </a:endParaRPr>
            </a:p>
          </p:txBody>
        </p:sp>
        <p:sp>
          <p:nvSpPr>
            <p:cNvPr id="95" name="Freeform 7"/>
            <p:cNvSpPr/>
            <p:nvPr/>
          </p:nvSpPr>
          <p:spPr bwMode="auto">
            <a:xfrm>
              <a:off x="2203505" y="2061912"/>
              <a:ext cx="3097148" cy="745630"/>
            </a:xfrm>
            <a:custGeom>
              <a:avLst/>
              <a:gdLst>
                <a:gd name="T0" fmla="*/ 0 w 3682"/>
                <a:gd name="T1" fmla="*/ 0 h 786"/>
                <a:gd name="T2" fmla="*/ 3682 w 3682"/>
                <a:gd name="T3" fmla="*/ 0 h 786"/>
                <a:gd name="T4" fmla="*/ 3682 w 3682"/>
                <a:gd name="T5" fmla="*/ 637 h 786"/>
                <a:gd name="T6" fmla="*/ 1823 w 3682"/>
                <a:gd name="T7" fmla="*/ 786 h 786"/>
                <a:gd name="T8" fmla="*/ 0 w 3682"/>
                <a:gd name="T9" fmla="*/ 637 h 786"/>
                <a:gd name="T10" fmla="*/ 0 w 3682"/>
                <a:gd name="T11" fmla="*/ 0 h 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682" h="786">
                  <a:moveTo>
                    <a:pt x="0" y="0"/>
                  </a:moveTo>
                  <a:lnTo>
                    <a:pt x="3682" y="0"/>
                  </a:lnTo>
                  <a:lnTo>
                    <a:pt x="3682" y="637"/>
                  </a:lnTo>
                  <a:lnTo>
                    <a:pt x="1823" y="786"/>
                  </a:lnTo>
                  <a:lnTo>
                    <a:pt x="0" y="6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4C8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zh-CN" altLang="en-US" sz="1200"/>
            </a:p>
          </p:txBody>
        </p:sp>
        <p:sp>
          <p:nvSpPr>
            <p:cNvPr id="96" name="矩形 95"/>
            <p:cNvSpPr/>
            <p:nvPr/>
          </p:nvSpPr>
          <p:spPr>
            <a:xfrm>
              <a:off x="2794124" y="2232199"/>
              <a:ext cx="1915909" cy="49795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2400" b="1" spc="300" dirty="0">
                  <a:solidFill>
                    <a:schemeClr val="bg2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基础模型池</a:t>
              </a:r>
            </a:p>
          </p:txBody>
        </p:sp>
        <p:sp>
          <p:nvSpPr>
            <p:cNvPr id="97" name="TextBox 10"/>
            <p:cNvSpPr txBox="1"/>
            <p:nvPr/>
          </p:nvSpPr>
          <p:spPr>
            <a:xfrm>
              <a:off x="2053902" y="2989255"/>
              <a:ext cx="3375240" cy="25364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黑体" panose="020B0500000000000000" pitchFamily="34" charset="-122"/>
                  <a:ea typeface="思源黑体" panose="020B0500000000000000" pitchFamily="34" charset="-122"/>
                </a:rPr>
                <a:t>Bagging 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黑体" panose="020B0500000000000000" pitchFamily="34" charset="-122"/>
                  <a:ea typeface="思源黑体" panose="020B0500000000000000" pitchFamily="34" charset="-122"/>
                </a:rPr>
                <a:t>类模型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：</a:t>
              </a:r>
              <a:r>
                <a:rPr lang="en-US" altLang="zh-CN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RandomForest</a:t>
              </a:r>
              <a:r>
                <a:rPr lang="en-US" alt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, </a:t>
              </a:r>
              <a:r>
                <a:rPr lang="en-US" altLang="zh-CN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ExtraTrees</a:t>
              </a:r>
              <a:endPara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  <a:p>
              <a:pPr>
                <a:lnSpc>
                  <a:spcPct val="150000"/>
                </a:lnSpc>
              </a:pPr>
              <a:endPara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黑体" panose="020B0500000000000000" pitchFamily="34" charset="-122"/>
                  <a:ea typeface="思源黑体" panose="020B0500000000000000" pitchFamily="34" charset="-122"/>
                </a:rPr>
                <a:t>Boosting 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黑体" panose="020B0500000000000000" pitchFamily="34" charset="-122"/>
                  <a:ea typeface="思源黑体" panose="020B0500000000000000" pitchFamily="34" charset="-122"/>
                </a:rPr>
                <a:t>类模型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：</a:t>
              </a:r>
              <a:r>
                <a:rPr lang="en-US" altLang="zh-CN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XGBoost</a:t>
              </a:r>
              <a:r>
                <a:rPr lang="en-US" alt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, </a:t>
              </a:r>
              <a:r>
                <a:rPr lang="en-US" altLang="zh-CN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LightGBM</a:t>
              </a:r>
              <a:r>
                <a:rPr lang="en-US" alt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, </a:t>
              </a:r>
              <a:r>
                <a:rPr lang="en-US" altLang="zh-CN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CatBoost</a:t>
              </a:r>
              <a:endPara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</p:grpSp>
      <p:grpSp>
        <p:nvGrpSpPr>
          <p:cNvPr id="98" name="组合 97"/>
          <p:cNvGrpSpPr/>
          <p:nvPr/>
        </p:nvGrpSpPr>
        <p:grpSpPr>
          <a:xfrm>
            <a:off x="6432718" y="2037198"/>
            <a:ext cx="3835748" cy="3743352"/>
            <a:chOff x="1823648" y="2061912"/>
            <a:chExt cx="3835748" cy="3743352"/>
          </a:xfrm>
        </p:grpSpPr>
        <p:sp>
          <p:nvSpPr>
            <p:cNvPr id="99" name="矩形 98"/>
            <p:cNvSpPr/>
            <p:nvPr/>
          </p:nvSpPr>
          <p:spPr bwMode="auto">
            <a:xfrm>
              <a:off x="1823648" y="2190078"/>
              <a:ext cx="3835748" cy="36151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2">
                  <a:lumMod val="8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zh-CN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00" name="Freeform 6"/>
            <p:cNvSpPr/>
            <p:nvPr/>
          </p:nvSpPr>
          <p:spPr bwMode="auto">
            <a:xfrm>
              <a:off x="1965587" y="2061912"/>
              <a:ext cx="3562213" cy="127898"/>
            </a:xfrm>
            <a:custGeom>
              <a:avLst/>
              <a:gdLst>
                <a:gd name="T0" fmla="*/ 285 w 4236"/>
                <a:gd name="T1" fmla="*/ 0 h 186"/>
                <a:gd name="T2" fmla="*/ 3967 w 4236"/>
                <a:gd name="T3" fmla="*/ 0 h 186"/>
                <a:gd name="T4" fmla="*/ 4236 w 4236"/>
                <a:gd name="T5" fmla="*/ 186 h 186"/>
                <a:gd name="T6" fmla="*/ 0 w 4236"/>
                <a:gd name="T7" fmla="*/ 186 h 186"/>
                <a:gd name="T8" fmla="*/ 285 w 4236"/>
                <a:gd name="T9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36" h="186">
                  <a:moveTo>
                    <a:pt x="285" y="0"/>
                  </a:moveTo>
                  <a:lnTo>
                    <a:pt x="3967" y="0"/>
                  </a:lnTo>
                  <a:lnTo>
                    <a:pt x="4236" y="186"/>
                  </a:lnTo>
                  <a:lnTo>
                    <a:pt x="0" y="186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rgbClr val="4146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zh-CN" altLang="en-US" sz="1200">
                <a:solidFill>
                  <a:schemeClr val="bg2"/>
                </a:solidFill>
              </a:endParaRPr>
            </a:p>
          </p:txBody>
        </p:sp>
        <p:sp>
          <p:nvSpPr>
            <p:cNvPr id="101" name="Freeform 7"/>
            <p:cNvSpPr/>
            <p:nvPr/>
          </p:nvSpPr>
          <p:spPr bwMode="auto">
            <a:xfrm>
              <a:off x="2203505" y="2061912"/>
              <a:ext cx="3097148" cy="745630"/>
            </a:xfrm>
            <a:custGeom>
              <a:avLst/>
              <a:gdLst>
                <a:gd name="T0" fmla="*/ 0 w 3682"/>
                <a:gd name="T1" fmla="*/ 0 h 786"/>
                <a:gd name="T2" fmla="*/ 3682 w 3682"/>
                <a:gd name="T3" fmla="*/ 0 h 786"/>
                <a:gd name="T4" fmla="*/ 3682 w 3682"/>
                <a:gd name="T5" fmla="*/ 637 h 786"/>
                <a:gd name="T6" fmla="*/ 1823 w 3682"/>
                <a:gd name="T7" fmla="*/ 786 h 786"/>
                <a:gd name="T8" fmla="*/ 0 w 3682"/>
                <a:gd name="T9" fmla="*/ 637 h 786"/>
                <a:gd name="T10" fmla="*/ 0 w 3682"/>
                <a:gd name="T11" fmla="*/ 0 h 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682" h="786">
                  <a:moveTo>
                    <a:pt x="0" y="0"/>
                  </a:moveTo>
                  <a:lnTo>
                    <a:pt x="3682" y="0"/>
                  </a:lnTo>
                  <a:lnTo>
                    <a:pt x="3682" y="637"/>
                  </a:lnTo>
                  <a:lnTo>
                    <a:pt x="1823" y="786"/>
                  </a:lnTo>
                  <a:lnTo>
                    <a:pt x="0" y="6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4C8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zh-CN" altLang="en-US" sz="1200"/>
            </a:p>
          </p:txBody>
        </p:sp>
        <p:sp>
          <p:nvSpPr>
            <p:cNvPr id="102" name="矩形 101"/>
            <p:cNvSpPr/>
            <p:nvPr/>
          </p:nvSpPr>
          <p:spPr>
            <a:xfrm>
              <a:off x="2620999" y="2185737"/>
              <a:ext cx="2262158" cy="49795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2400" b="1" spc="300" dirty="0">
                  <a:solidFill>
                    <a:schemeClr val="bg2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模型堆叠融合</a:t>
              </a:r>
            </a:p>
          </p:txBody>
        </p:sp>
        <p:sp>
          <p:nvSpPr>
            <p:cNvPr id="103" name="TextBox 10"/>
            <p:cNvSpPr txBox="1"/>
            <p:nvPr/>
          </p:nvSpPr>
          <p:spPr>
            <a:xfrm>
              <a:off x="2203506" y="2989255"/>
              <a:ext cx="3097147" cy="25410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思源黑体" panose="020B0500000000000000" pitchFamily="34" charset="-122"/>
                </a:rPr>
                <a:t>Base models</a:t>
              </a:r>
              <a:r>
                <a:rPr lang="en-US" alt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思源黑体" panose="020B0500000000000000" pitchFamily="34" charset="-122"/>
                </a:rPr>
                <a:t>:                   </a:t>
              </a:r>
              <a:r>
                <a:rPr lang="en-US" altLang="zh-CN" dirty="0" err="1">
                  <a:solidFill>
                    <a:schemeClr val="tx1">
                      <a:lumMod val="65000"/>
                      <a:lumOff val="35000"/>
                    </a:schemeClr>
                  </a:solidFill>
                  <a:ea typeface="思源黑体" panose="020B0500000000000000" pitchFamily="34" charset="-122"/>
                </a:rPr>
                <a:t>XGBoost</a:t>
              </a:r>
              <a:r>
                <a:rPr lang="en-US" alt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思源黑体" panose="020B0500000000000000" pitchFamily="34" charset="-122"/>
                </a:rPr>
                <a:t> + </a:t>
              </a:r>
              <a:r>
                <a:rPr lang="en-US" altLang="zh-CN" dirty="0" err="1">
                  <a:solidFill>
                    <a:schemeClr val="tx1">
                      <a:lumMod val="65000"/>
                      <a:lumOff val="35000"/>
                    </a:schemeClr>
                  </a:solidFill>
                  <a:ea typeface="思源黑体" panose="020B0500000000000000" pitchFamily="34" charset="-122"/>
                </a:rPr>
                <a:t>LightGBM</a:t>
              </a:r>
              <a:r>
                <a:rPr lang="en-US" alt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思源黑体" panose="020B0500000000000000" pitchFamily="34" charset="-122"/>
                </a:rPr>
                <a:t> + </a:t>
              </a:r>
              <a:r>
                <a:rPr lang="en-US" altLang="zh-CN" dirty="0" err="1">
                  <a:solidFill>
                    <a:schemeClr val="tx1">
                      <a:lumMod val="65000"/>
                      <a:lumOff val="35000"/>
                    </a:schemeClr>
                  </a:solidFill>
                  <a:ea typeface="思源黑体" panose="020B0500000000000000" pitchFamily="34" charset="-122"/>
                </a:rPr>
                <a:t>CatBoost</a:t>
              </a:r>
              <a:endPara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ea typeface="思源黑体" panose="020B0500000000000000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思源黑体" panose="020B0500000000000000" pitchFamily="34" charset="-122"/>
                </a:rPr>
                <a:t>Meta model</a:t>
              </a:r>
              <a:r>
                <a:rPr lang="en-US" alt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思源黑体" panose="020B0500000000000000" pitchFamily="34" charset="-122"/>
                </a:rPr>
                <a:t>: </a:t>
              </a:r>
              <a:r>
                <a:rPr lang="en-US" altLang="zh-CN" dirty="0" err="1">
                  <a:solidFill>
                    <a:schemeClr val="tx1">
                      <a:lumMod val="65000"/>
                      <a:lumOff val="35000"/>
                    </a:schemeClr>
                  </a:solidFill>
                  <a:ea typeface="思源黑体" panose="020B0500000000000000" pitchFamily="34" charset="-122"/>
                </a:rPr>
                <a:t>GradientBoostingRegressor</a:t>
              </a:r>
              <a:endPara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ea typeface="思源黑体" panose="020B0500000000000000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思源黑体" panose="020B0500000000000000" pitchFamily="34" charset="-122"/>
                </a:rPr>
                <a:t>3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思源黑体" panose="020B0500000000000000" pitchFamily="34" charset="-122"/>
                </a:rPr>
                <a:t>折交叉验证生成元特征</a:t>
              </a:r>
              <a:endPara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ea typeface="思源黑体" panose="020B0500000000000000" pitchFamily="34" charset="-122"/>
              </a:endParaRPr>
            </a:p>
          </p:txBody>
        </p:sp>
      </p:grpSp>
      <p:sp>
        <p:nvSpPr>
          <p:cNvPr id="5" name="标题 1">
            <a:extLst>
              <a:ext uri="{FF2B5EF4-FFF2-40B4-BE49-F238E27FC236}">
                <a16:creationId xmlns:a16="http://schemas.microsoft.com/office/drawing/2014/main" id="{35648EC9-228A-F98A-C128-67F0F8E8B15F}"/>
              </a:ext>
            </a:extLst>
          </p:cNvPr>
          <p:cNvSpPr txBox="1">
            <a:spLocks/>
          </p:cNvSpPr>
          <p:nvPr/>
        </p:nvSpPr>
        <p:spPr>
          <a:xfrm>
            <a:off x="1458358" y="909790"/>
            <a:ext cx="3629564" cy="45612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244C89"/>
                </a:solidFill>
                <a:latin typeface="+mj-lt"/>
                <a:ea typeface="思源黑体" panose="020B0500000000000000" pitchFamily="34" charset="-122"/>
                <a:cs typeface="+mj-cs"/>
              </a:defRPr>
            </a:lvl1pPr>
          </a:lstStyle>
          <a:p>
            <a:r>
              <a:rPr lang="zh-CN" altLang="en-US" dirty="0"/>
              <a:t>机器学习模型选择与优化</a:t>
            </a:r>
          </a:p>
        </p:txBody>
      </p:sp>
    </p:spTree>
    <p:extLst>
      <p:ext uri="{BB962C8B-B14F-4D97-AF65-F5344CB8AC3E}">
        <p14:creationId xmlns:p14="http://schemas.microsoft.com/office/powerpoint/2010/main" val="1529789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88"/>
          <p:cNvSpPr txBox="1"/>
          <p:nvPr/>
        </p:nvSpPr>
        <p:spPr>
          <a:xfrm>
            <a:off x="1330655" y="4080140"/>
            <a:ext cx="2810271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详写内容</a:t>
            </a:r>
            <a:r>
              <a:rPr lang="en-US" altLang="zh-CN" sz="12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……</a:t>
            </a:r>
            <a:r>
              <a:rPr lang="zh-CN" altLang="en-US" sz="12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点击输入本栏的具体文字，简明扼要的说明分项内容，此为概念图解，请根据您的具体内容酌情修改</a:t>
            </a:r>
            <a:endParaRPr lang="en-US" altLang="zh-CN" sz="1200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点击输入本栏的具体文字，简明扼要的说明分项内容</a:t>
            </a:r>
            <a:endParaRPr lang="en-US" altLang="zh-CN" sz="1200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22" name="标题 21">
            <a:extLst>
              <a:ext uri="{FF2B5EF4-FFF2-40B4-BE49-F238E27FC236}">
                <a16:creationId xmlns:a16="http://schemas.microsoft.com/office/drawing/2014/main" id="{27AD240D-9ECD-30BC-D100-CDC71894E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结果展示</a:t>
            </a:r>
          </a:p>
        </p:txBody>
      </p:sp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17AEBBA0-4E20-382B-196D-3DFBD2B454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0050464"/>
              </p:ext>
            </p:extLst>
          </p:nvPr>
        </p:nvGraphicFramePr>
        <p:xfrm>
          <a:off x="1441604" y="2196925"/>
          <a:ext cx="9308792" cy="315175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28921">
                  <a:extLst>
                    <a:ext uri="{9D8B030D-6E8A-4147-A177-3AD203B41FA5}">
                      <a16:colId xmlns:a16="http://schemas.microsoft.com/office/drawing/2014/main" val="3893139356"/>
                    </a:ext>
                  </a:extLst>
                </a:gridCol>
                <a:gridCol w="1648694">
                  <a:extLst>
                    <a:ext uri="{9D8B030D-6E8A-4147-A177-3AD203B41FA5}">
                      <a16:colId xmlns:a16="http://schemas.microsoft.com/office/drawing/2014/main" val="3459845371"/>
                    </a:ext>
                  </a:extLst>
                </a:gridCol>
                <a:gridCol w="1733606">
                  <a:extLst>
                    <a:ext uri="{9D8B030D-6E8A-4147-A177-3AD203B41FA5}">
                      <a16:colId xmlns:a16="http://schemas.microsoft.com/office/drawing/2014/main" val="3374576995"/>
                    </a:ext>
                  </a:extLst>
                </a:gridCol>
                <a:gridCol w="1931731">
                  <a:extLst>
                    <a:ext uri="{9D8B030D-6E8A-4147-A177-3AD203B41FA5}">
                      <a16:colId xmlns:a16="http://schemas.microsoft.com/office/drawing/2014/main" val="2666121547"/>
                    </a:ext>
                  </a:extLst>
                </a:gridCol>
                <a:gridCol w="1765840">
                  <a:extLst>
                    <a:ext uri="{9D8B030D-6E8A-4147-A177-3AD203B41FA5}">
                      <a16:colId xmlns:a16="http://schemas.microsoft.com/office/drawing/2014/main" val="1974125294"/>
                    </a:ext>
                  </a:extLst>
                </a:gridCol>
              </a:tblGrid>
              <a:tr h="3939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Metrics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sample </a:t>
                      </a:r>
                      <a:r>
                        <a:rPr lang="en-US" sz="1400" b="1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 of sample </a:t>
                      </a:r>
                      <a:r>
                        <a:rPr lang="en-US" sz="1400" b="1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Cross-validation </a:t>
                      </a:r>
                      <a:r>
                        <a:rPr lang="en-US" sz="1400" b="1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Kaggle Score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87587025"/>
                  </a:ext>
                </a:extLst>
              </a:tr>
              <a:tr h="3939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Midterm Linear Model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2457146.79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2090709.76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2442508.78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66.12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03075152"/>
                  </a:ext>
                </a:extLst>
              </a:tr>
              <a:tr h="3939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1056339.91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1197990.05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1285573.32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62.0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978728288"/>
                  </a:ext>
                </a:extLst>
              </a:tr>
              <a:tr h="3939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Extra Trees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1368781.6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1520348.46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1591406.33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52.6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67480978"/>
                  </a:ext>
                </a:extLst>
              </a:tr>
              <a:tr h="3939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440981.7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564292.72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629015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75.7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60876255"/>
                  </a:ext>
                </a:extLst>
              </a:tr>
              <a:tr h="3939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 GBM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438891.83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546314.95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618283.3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76.2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542812"/>
                  </a:ext>
                </a:extLst>
              </a:tr>
              <a:tr h="3939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 Boost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699135.05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723146.37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742866.38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73.2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40237298"/>
                  </a:ext>
                </a:extLst>
              </a:tr>
              <a:tr h="3939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Stacking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437621.95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541506.72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603009.14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75.9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372211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857965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7A251DB4-07BE-47B3-8E91-FE7746FF9ADF"/>
  <p:tag name="ISPRING_SCORM_RATE_SLIDES" val="1"/>
  <p:tag name="ISPRING_SCORM_PASSING_SCORE" val="100.0000000000"/>
  <p:tag name="ISPRINGONLINEFOLDERID" val="0"/>
  <p:tag name="ISPRINGONLINEFOLDERPATH" val="Content List"/>
  <p:tag name="ISPRINGCLOUDFOLDERID" val="0"/>
  <p:tag name="ISPRINGCLOUDFOLDERPATH" val="Repository"/>
  <p:tag name="ISPRING_RESOURCE_PATHS_HASH_PRESENTER" val="dda1421ddb3ffb98a498c34c1cc89e982539480"/>
  <p:tag name="ISPRING_PRESENTATION_TITLE" val="毕业论文答辩PPT-13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wQUAAIACACBerJKWn+5mToEAADhDgAAHQAAAHVuaXZlcnNhbC9jb21tb25fbWVzc2FnZXMubG5nrVf/bts2EP6/QN+BEFBgA7a0HdCiGBIHtMTYQmTJleg42Q8IjMTYRCgxkyi32V99mj7YnmRHym7spoOkdIBtmLTvu9Pdd9+Rx6cfC4k2vKqFKk+c10evHMTLTOWiXJ04C3r28zsH1ZqVOZOq5CdOqRx0Onr+7FiyctWwFYfvz58hdFzwuoZlPTKrhzUS+YkzH6duNJvj8CoNokmUjv2JM3JVccfKexSolfqj+uGXt+8+vn7z9sfjl1vLPkDJDAfBIRSySG9e9QAKaRwFKaCRIA3JJXVG5nOYXbSggR8SZ7T9Msx6HpMLZ2Q+O+0WcUxCmiaB75HUT9IwojYXAaHEc0ZXqkFrtuFIK7QR/APSaw6V1KLiqJYitz9kCjbKhnc586IZ9sM0JgmNfZf6UeiMElVV9z9ZWNbotarAXY1yUbNryXPrEzhjf7+reA2umQZOIXjptYB/qoKJ8qjTdYyXfjhJaRQFSUpCb7fjjEiZI69ixs1AlBgnJAaAitW8eoJtallmzRGWchjC1J9MA3hTE8JUrNYS3npoHHMCNZjzsssKOEJiYFeSLKPYM0kDV4ihO1bXH1SVH/Bjv1BdwH7oRkBBl+6BU4OxA4YaC1COquKZ7gKbkSTBE5KOo0sgMvRdNMQiOod2Ox9icUUSaBGSdNmE+MKfYEN402I7/u/6K2OGzvIesSwDO5O+jVBNDTsmpdAFttPqYV4S8n4BVfNx8I0ubgEhsbZeK7HhEEKVd7MHNMUlnuHP+4X/W3qG/YB4KRDKi5YptWJnnDGQh1JpxKRU5gHAL8s3rMw4uuYZa4Dw9/C3XOT2b6bYNpK/GvE3YnorLS+2qhR65PLF0cDQDoTscYRFU0N4WvPiTne53gv/KVEYYv9nCH0efaD/pG3WsQ8dMBaqvwUBeTaCBIoq+1v54Rk4mrc9D6LglzcDfIbRFiBU6KkYF5CqgxAuIIUD7JdknPgUhu2SX9dCd84xW9m2QN8uagYHB8k1fyjsNb9R0BOSs007zkDWbKU7C7o3LQ+0h/o0gJBDAFy1IxEgpSgg/rwH5mJGdhloJePgSZaqkbltUSlurWxAbpuCP57DN5Uq7K5k9Y68rWqdfk8U7cPFrdP5gHmSEBy709TFoUvMEc40jexpBFw0MQU0SQM8NuZAyoLpbA1aeaOaMu8J1J7CPHKGAWyb0oSzKlv/8+lzT4yvIml30Xb310Eg0GFGiMgXsN9DpXn9ZxcIxeNDO7voY7U9te7seh5iqQ90+F9Oh6zV9EIVsHXU7RfYti0aphS70xkQMrH8U02VdY/efYQZjs9BVOz5yhnNWHULikSVkoNQbKoNAfUw7w8Xh0ZLUfIhtt+n6eaBqT9PsefZWxQ0nxTZbTu8cjgrZtvrlITrVF8wd4pDELyv8Hgu9EBAOyN28gKN3q4f2nzzeGR8WdX2Mnr8cu9u+i9QSwMEFAACAAgAgXqySgn+cEwJAwAAtQoAACcAAAB1bml2ZXJzYWwvZmxhc2hfcHVibGlzaGluZ19zZXR0aW5ncy54bWzVVt1SGjEUvucpMul4KYsWq2UWnI7A1FGBEdrqlRM2BzZjNtlusiBe9Wn6YH2SnmwEYbTOqnWm5QZyfr7znZ8cEh7eJJLMIDNCqybdqdYoARVpLtS0Sb+MutsHlBjLFGdSK2hSpSk5bFXCNB9LYeIhWIumhiCMMo3UNmlsbdoIgvl8XhUmzZxWy9wivqlGOgnSDAwoC1mQSrbAL7tIwdBWpUJI6EVnmucSiOBIQQnHjsmuZCamgTcbs+h6mulc8SMtdUay6bhJ39WKz9LGQ7VFAsolZ1oodGLbYJwLx4fJobgFEoOYxkh8v07JXHAbN+lu3aGgdfAQpcD2OTCHcqQxGWXv4BOwjDPL/NHHs3BjzVLgRXyhWCKiEWqIy79J26Orz5eDzvnpce/katTvn46OB55E4RNs4oTBZqAQCek8i2AVJ2TWsihG3ugzYdJAGKyLlmYTrTbIuTMZa4m1L7xwHpIx8B5LYK0bw2uhumi5Q8kEE5GLJv2UCSYpEZZJEa2cTT42Vtii/911S4JYOGdAzob0PryvThSzzMA6raXGuJpHrW86l5wsdE6kuAZiNcH88wR/xUDWm0MmmU4KKY6PJUYKjDgTMAd+WNT0DvBPgS4xRJKjJ05uKsH6CN9zcUvGMNEZ4gKb4YyjXBiPX30WcMqMuQdlS45bw9PjdufquNfuXGy5BBmfMRU9ExwbDklq3wKfYe5KYwgpNVZzDQIrE7HcQNEfLnhhVibN0rFjNiua7hpZgGK7BfLxmKiIcDSFyqEsYMQU0UouCIvwChk3QjOhc4MSPywe2ryIoHclQhVUp3iDMFjGISuDVtvZfV/f+7B/8LFRDX79+Ln9pNPdWhlI5qL5vXL05GJZLZeHdy4M3C54fDXYLP83N8PgvPO1TF17nYtRqW52hqXg+mWs+idlrM79KhusrbFSFHAPTf3Sw00kRSIs8L85Yi8Yk1f9g/gZe5sxecOcX3M1/puU/Wn1GNl4fYTBo88jp0mEEgkWwm3E1ZuqtVev4XvmUVWlgmibT81W5TdQSwMEFAACAAgAgXqyStqYtsO1AgAAVQoAACEAAAB1bml2ZXJzYWwvZmxhc2hfc2tpbl9zZXR0aW5ncy54bWyVVm1P4zAM/n6/Ytp9p/cKOqlMggESEnegA/E9bb02WppMiTtu//6cNKVJt25lEdLy+Hkcx7E9UrPmcvFpNktzJZR+BkQuS2ORDpvx4nKeNYhKnuVKIkg8k0rXTMwXn6/v7EoTxzylUlvQpPniPic0K5ZDf8yF+0yR+DN+Xtg1JshVvWFy96BKdZaxfF1q1ciCZHfuMyardhvQgsu1vcSvi+Xt6AGCG7xHqKOYvt/ZNU2y0WAM2JDOb+06qRIsAzEtwwNNf9Tx2w9kW244OtnVV7vGZBtWQpzk49HRw5D3DwsQ/iFRv53bNUoVbAf6Q87Vptl8SKBVaRMaa44/4rtGKFZQ+5Hg5otdJwX2Qvagk6/g0/Pjxq6A5L+GfZ/adtVKPNm8DgaCffRMwAJ1A2nS7VqbqdTbY4PUH7BYMWGIEEI96YmCfmKN6dzEWM/7C29cFqEvj/SUVyWaGpZtwIG7GO/5y+W1mxWh03csiFDD1oNBiD3YM/9QXveYAdgznwUv4FGK3X4EQ1Mr6h75mvnnPJ5/soJktC28tdt1VnvSg21dE4TqgY5TqwIWxobzwmuw75YmDmtDSvZiSiXb8pIhV/K35WU7dxmTJgODr7XDlZUiRwGHCs7FSGM6TJfbx/XorXFBtj8L/eXa/Qxpil/OGSLLq5p+lsx85nXUJpSYeXJYYeck0UHfy5UKNO7sMVHN9Br0i1Ji6jFSIZip7lXbXGP0NAlykCaHs5x6J4fSL5s6A31Lr8bBdFmOwZZY8bIS9IevHN6gGChGrK0UK/InGX+vywDwRQBM51VXte2mtdSNQC5gC13zB4C78tjdUkNVOlZwV/gAKwxLziOTatLPir5W4hkS4Af4rxRW5HhgmVD2yDLjbhZ1fjeG+1iiwdyNM1t84SRze19LkWOy72eQQPvv5H9QSwMEFAACAAgAgXqySnjWJgneAgAAxgkAACYAAAB1bml2ZXJzYWwvaHRtbF9wdWJsaXNoaW5nX3NldHRpbmdzLnhtbM1WwU4bMRC95yssVxzJAqWFRpugigSBoCQiaQsnNFk7WQuvvbW9CeHUr+mH9Us6XpOQCBotCKrmkux45s17M+PZxAe3mSQTbqzQqkm361uUcJVoJtS4Sb8Ojjb3KbEOFAOpFW9SpSk5aNXivBhKYdM+dw5dLUEYZRu5a9LUubwRRdPptC5sbvyploVDfFtPdBblhluuHDdRLmGGX26Wc0tbtRohcTB90ayQnAiGFJTw7EAeu0zSKHgNIbkZG10odqilNsSMh036bqv8zH0CUltkXHlttoVGb3YNYEx4OiD74o6TlItxirz3dimZCubSJt3Z9SjoHT1GKbGDBPAohxq1KHcPn3EHDByEx5DP8Vtn54ZgYjMFmUgGeEK8/CZtD66Pr3qdi7OT89PrQbd7NjjpBRJlTLSKE0eriWIkpAuT8EWeGJyDJEXeGDMCaXkcLZvmbiOtVsj5ZzLUEktfRlEyQqZy1qSfjQBJiXAgRbI4dWDG3B0JiRp87HZ9pBx9AAx6kxSM5cuJ5ifWVzFpfdeFZGSmCyLFDSdOE1RUZPgr5WS53GRkdFZaJVhHrBSMk4ngU84OyirdA/4t0RWmyAqMxFHMJXchw49C3JEhH2mDuBwmOLRoFzbg158FnIO1D6Aw57jRPztpd65Pztudyw0vENgEVPJMcGwhz3L3FviA2pXGFFJqrOYSBFYmgcLysj9MsNKtiszKuVOYlE33jSxBsd0C+QRMPEhwtIQqeFXABBTRSs4IJHgprB+hidCFRUsYlgBtX0QwhBKhSqpjXFCYzDBuqqBtbe+83/3wcW//U6Me/f75a3Nt0P2i6Enw2cKmOFy7Khbr4vGdiyN/Q5++7M4U/+qu9y4636pU6rxzOajUn06/Ely3ilf3tIrXRVhOvaXFVIkCbpZxWGO4W6TIhOPsNYfmBY1fv+XDWLxS499Qxdrx/X9FhKfFS33lLR5HT/7NqKF99b9Xq/YHUEsDBBQAAgAIAIF6skrb73U9lgEAAB8GAAAfAAAAdW5pdmVyc2FsL2h0bWxfc2tpbl9zZXR0aW5ncy5qc42Uy27CMBBF93xF5G4rRF+gdtcWkCqxqFR2VRdOGEKEY0e2k0IR/97Y4WE7kxbPBt8c3xkP8ux6Ub1IQqKnaGd/2/27v7caGE3LEq59nXXoudGJYtkC5lkOLONAAqQ6Hj3J+zOBGRNuTePth7FVjh8R5suSMuXiBWIhEU1hhysE/Ea0DXb45yT2nHs1d3IaHZdaC95PBNfAdZ8LmVPLkKuXqQn3igEsKpANOrALQZc0Ac90ZFcXeXZ8GJlwuUTkBeXbmUhFP6bJOpWi5IuGntrl0qttAbL+y9eHAh9HrxPPjmVKv2nIw8R3UxPdZCFBKTjkHU5MoDCjMbA/WxSgnnH7QgFdZSrTR/r5xoRLFzSFVpfaJdQNrb0u5TRsdEPcDk14BKNbkJdYiaIsLuGkSE1HWmi75yeUCbrIeNpw44EJlDPFGtuu7p0vej82QbwnJIIntMKeX941O0JQIaD2xtIxrwryzjA7hokcySEQDZtWFT5HdDhHzP4zIlRrmqzyejzUw7FuA5VrkHMhWF391391hrl6+19QSwMEFAACAAgAgXqyShra6juqAAAAHwEAABoAAAB1bml2ZXJzYWwvaTE4bl9wcmVzZXRzLnhtbJ2PMQ/CIBCFd34FuV2wW9MA3UzcHHQ2FVFJ6NFw1PrzhdQYZ4dL7l3e915O9a8x8KdL5CNqaMQWuEMbrx7vGk7H3aYFTnnA6xAiOg0YgfeGKd+0eEiOXCZeIpA0PHKeOimXZRGeplQSKIY5l2ASNo6yzBhRVlJOKwor2/m/6M8NDGOcq8vsQ96jKXtRq4VTshoqc3YoPN4iyGpQ8uuuys6US0URSv48ZtgbUEsDBBQAAgAIAIF6skqw7V1XbgAAAHYAAAAcAAAAdW5pdmVyc2FsL2xvY2FsX3NldHRpbmdzLnhtbA3MPQ7CMAxA4b2nsLyXn42haTc2EBLlAFZjUCTHRomF4PZ4e8OnNy3fKvDh1otpwuPugMC6WS76SvhYz+MJoTtpJjHlhGoIyzxMYhvJnd0DdngL/bitXCOcr1RD3hp3ViePM4xwieezcMb9PPwBUEsDBBQAAgAIAIOZ9UTOggk37AIAAIgIAAAUAAAAdW5pdmVyc2FsL3BsYXllci54bWytVU1v2zAMPafA/oOhe62kXdc0kFt0BYod1qFA1m23QLUZW4tteZJcN/31o/xtz+lWYAcDNsX3SPGRNLt6TmLnCZQWMvXIwp0TB1JfBiINPfLw9fZ4Sa4u3x2xLOZ7UI4IPJKnwgJ4TJwAtK9EZhB8z03kkZ7BRWbiZEpIJcweuc+Qu4u0JO+OZuiSao9ExmQrSouicIVGRBpqGeeWRLu+TGimQENqQNEqDeI02JX5OxqfRKbU7DPQPWRm3h64Jmk5nrUYkBSnrlQhPZnPF/TH3ee1H0HCj0WqDU99IA5WclaW8pH7uzsZ5DFoa5uxKsk1GGOTKG0zZlZisUwdrXyPVA6bBLTmIWg3TkNCKyydALNtzHVU8+gBreXVO1Hzln4b+71p3ErlaOec5Y+x0BEe9SGddRLI6DAqS8rrlh300HTQrWUijoJfuVAQlJ/f2haZL0gVsO24Mk9XFz4e4Nst941U+xuEYRfVCrqtaG4lmluCWg63jb7uKEhz2y1wkytoSjVjTyIA+YUrxW1bXBqVA6MjY42lQzCj1ZVrkTpBWGSS+OwftLF+I2l+6teUKQH/Q5hPSNTWRKQBPN8K9DGQYE0NYLGtzTVZ7NqYXU46f0x6fT0wVTnWouBFHMNVCDiGATecdnZ6CAqKa3TxczXC9g4OgiMRRjE+ZpJhfHqQJuFqN8nQOzgIjqW/m4C25raMdFzHUTO1HcToxDphfq6NTMRL2Z6DPWNWZR++NnLN0XUm2oPz+R+jOIjRDOaWTKwu+9bbV83hvZ1TozufTVZZBt2K8wAmzyqvZhbybOQTwJbnsbnp59Tswx50lPPUdExzfcd+l8VavIBTiMD+6RantiYR2J7xyIflaY8B9cTtMghfmqYiMlpLUql5SDmGtXkSUFSYalY+ouqhknkajLRxs+7noGPcVdcKuBPDFjNdnGDzycwj7/GlvsvF2UV3lfPFRYMt87qvAle5vGFV1wl3nUHrfm0vwuqZx9ffUEsDBBQAAgAIAIF6skoXqeFBbwEAAPsCAAApAAAAdW5pdmVyc2FsL3NraW5fY3VzdG9taXphdGlvbl9zZXR0aW5ncy54bWyNUttq3DAQfc9XiPzAShrdDO6Cbi5+SUKykGd3rRbTRC6WQkvRx1dOsmy22dBqnmbOmTPM6LTp+xTtU8rz4/R7yNMc70LOU/yWthcItfv5YV5ulpBCTptj5X6K4/yzj1/ntVarKQ9xHJbRrmjaYtQ9P6SkVk7VjBlGkWSeeoWc57ZiDbgGbMUcJbbd/CXxoruEfYj5vGq7OUHfN/QxhSX3cQy/tnDKfgudbvB5Gcap8tJWsDXKYWpxbA3ECJfcF6oBQCDLHXG4SNlITZDHjGMoRlGggAjnpBGFSMqhZl0jqgrzjUBMMkZdoZ7WbqS1cdQWCQ0huk7zqrGl64zEGBFCgLnCBXQGo8qGqqFBrQcEBwZE0UYTBaiznelY8c4Ly5GiXmBcmDGA8fG4x+3enutY/e91Duf8h+DZLziLrt7anDFXu39alkrehccfD0MO6MuQQj9+ury59Xf+aqd3/fXV5as3n318YK6GrZt/6O8/UEsDBBQAAgAIAIJ6skqlSRcUvw0AAAIjAAAXAAAAdW5pdmVyc2FsL3VuaXZlcnNhbC5wbmftWmlYkunef8xOTqXZOpYZtGrnVC6hmaZQWdmmdaaZadxtXEkRFdeRpXKmTlPKlBXu2BkdZzIhRTEXoEVlTFyOTjAIirlAiqCGgsj2Pth0vrzX+/X9xIfn5rqX333/+W+//31d9+2L/r5Wq2xXAQBgdeb0iS8AYLkfAJgnf7YCHCFtdOOBP2aYL3yPA5RuuwmwszzmmN8xAKghrtZe+RvYX5l4OgADAGteGz8zNvrXSADYSTpz4tiXGaGyQdad+HQde3b78bU7Pru63GXlzpqze9LWLXv0m/afIevWH3N+2OAa+/jfOWU5J/fvvxG+bu2s75XHZTk5X2mttZeUGpyT6IKXasytmXYkXcE4QmX/YNGcWeoBw3Rz4sUt6dHK3+50sdJFONVIPS+0OWP84WVH7/k/LoFSATFxXUejIQcx92Qs1U17ayj87j5zcLguX/37YrqHa6ZG1jC60gwcGeAUjyXHfiAbtA6lRmDZ2/GWyCFa3ufLjMubikktM69WJ+0AO0erDEWksR+Mi8a/XQ62sTa7jMPNm5f2afsMbHsdT4HttTSXJfSddcYNQ+4aITITxAQxQUwQE8QEMUFMEBPEBDFBTBATxAQxQUwQE8QEMUFMkP93SEZFJRm/ODJOCmNmzAy/bNuKbkmaZUzjpm/DeHEUUXBPIxN5BFz5nub9ix87T9UWbJgddyKoT7EZmIGAmGpyt4aZLyWw2ToXyBwH1hPshV1wDuU7vA0WNQ4hs4zI2SlaD7yGpUW02am66RWoocJ+YUPEYgQH9R1HKTp+14KxOFk1uwo+If6uUubx1jIid9vv2MlL5KaFmVsILVN/j4gdGxmFGhYqiLipiOmg7sEC5NiACqp77wsNoDNCKIWB3Si6v+qxNe79vagqaFYzpInoldv5XJ5C1o45TCd7ZmUOERWbrob6rQBe+HXVCDzWnH9Exc9XJTU3iF2RgxjnBtm2lvCd7dly6YmrlPSB0kuclxIJwqDuNP9PHXYaRlZzNAPCsn4JgMMqaWSGtgmxLT1CqbM8F00mLPaT8ejEg9m3U4PuSsgE/fCLOG4RlSYvTjhQpGmz3BnNX8Q3J9yX7yKOHqR4DsZLiw1CUow6jcGOkkvS1bSIbs0a/OFlQOIpsQ2KytJ/h4Vn+vfR0RWp3R3CdqKa9MQF8oDyB+4eXUIXb8esCZVI7b7/pT++yyzds6zk8ufx1l9KWnI9EP7uGtyRa/kWXMuzYo0u/MqKSExQlwqTyEyguaUEVBZpXntmkHe0Kr/aQdYIJSPDUR4p0EZZFOfQ02kqKJaiCSF62zuWnfHDQAij0BK4pnCmXvTv2dXjN6CsrutuLBB4ojQH2jIuNh1XnRwoFQTmVUXcssP0MrxnvFv3+cEPY4qm0M1bHDk8nXMcM4y6rOBlu20gZ+ZKSfRTzWvL3UqqbYGBOUn3/niqCoNgyFPiMmpRRIHF7Kr65gy3LQAguQKX7vS+5eWL1DT0eUqic60go5Ki1k+HXqo2/7MuPg6fx9L5EQ5aTErfWgoZKYLqxx34a86iaQvriBJ8gKTAnzB4caQXN/ZH52FlCi+EdamcPRpymmQFHG1QnxzxIOR2hA5YBCFLMK7o/jMCwmqjfjlG/X4pBQ4dEAxA6xK6rn/Y7+6sDq8QyA2Y2PvdhM2Fdk4hhwBgsFudfSGvzpoOindV/zR5wMJ94+ixiR+FNsgs//o14f21UUPJSe9dYc4FPfdPk6NeDhY2/Blv8ZWgx7WAOXQDRicja90qw9DoLVLFqV+qFYGUxfN5VfJdlaHtNZUwVzNgWNgy13duNnPU45zmyr5qTHcodrbtOTRhe3t238PnOQTtKJR4OI3/9z5l8WT+4w7LE9yYsqmu6wuLQHcUwblzMF/n9To7VcBB1azYBXuQL4i6GRj3rP7mXkWqlQ1dylHH31oH+/VPCg0aHB+SDm3siuLoPtjzxs9sLdQu8li5uifklRO1ZsB7154sxL96uFl95biah1yPGOI7J1Q7aIj1DUlvw8eeRFWeFmCe8NW8QUDTcGq/FOWR5TBUJnwxJc3UdH7jc78+fsWmOH5LU8S8zOIl5fobz0ElPcg8d0Ix/+R6q1D+G1EQ2l4ssW21w4RQbIXF//CGWKtfWuMTZzUig344wvBJjJQ3ZJvSsGGZbsSGlYFWE/FzP/s+Ysxzg2wQGn6PIx6MvtAs+CiJpR3PkriI0LwtmFBaPFNOCnGQ3QH9NlXcxDmUIGjKpW1TiIxfx36yzl2EVo3mK0rgbDNBqjKB5vRoA0K0G1Twpuc5souRhLUpb2svlcvM5KHfedkrsmeoBF0cdooKum/M8aZ4AFjkxASUS+6wA3t8Vdzh8NKGX8ZHS9KHGpVYMel7GtZbVXL9ZWCMduICoWkqbnvSBiQhviKVQqOo0hJdsu+iglgL56PVlg/EGr64ngE7WkBXstNKGI0tHl2okhm1PeiPjtpDyiPDfxq1bC5kzGUEK4mqat0EPSwvhQ8AKZnyRskIpq0oX1IsPYrnPIsUcHsjs7YjzHNBPTiRcFZHlBKaSiDSKz+4Ci4ncZr6oxNrvWU1fXD+WWlwDKUnXxYk6+2NPHCB60kbhB0O8PlZlxgrE1UpB1Ec3C5ZXpwx5oYF+duepU79VxWOGraGG1jKtF+yzIfD+sBuL4kQ+ox6mcBRIWMPDuE1sk7mipUTWDq3yoluft+t7Axa4HFqwAEMNilnPoB7SBQde5CLD64UTb9OuuyT14guxyXnbLY+a4PdSjOn54ak/Vjn/WLwHJEdZcgQBXb283Ybgy6kT9FaVCgpxiQiLKYjrHzED9fRsFkXERa6CEJhKrwj7eKz0JJauHWU1SYlmu/x9acDC1Al0kMCd6qlh6srX2AN55bFxoc11qaCJ99Tdrh967U35D3qaUmdXfPURmTWtWYShNipn2XWP6qknjHaualcctu9vpQor7Z2CbGYjxt2ic53JsfU4qo6JjEzrHrcpg5bOoc3zy3O1LwJxF9Cko12hvGQFNWAnN/t45MnS8vlU2SZKNEjWGdD5+c+eQa3I+HSJbtiHqrv7AEt1OA0hFV0+WJHt4qeL7Q6wNfxzIacvCEk3Sgu7sCFTwYfzXH/y+CCy4VPX76oXTPJ23eKC1xBbM9PG7xuUJp/wQvCKAlXxPZ/Gbl5mxTzjZglkQ64S1kN0j2wxIL+6uv9SkXwo3oCVNUbKd+KJAfvAr3+b6L2qWvVEaSSnaieHbDN6i40HtMrfIYprHOc+fV/+Z4ajMTN5H1DrV6SlslrOITrFinKTcMqxXBAKTbtuzVUm/y07gKYH3n8BLby4c5Re5+8zB+6PKmyZ7EMN2Rj1eMOoXsfvPHUXYuK1cwcvlkQ2/EImNzHzoUtfmH3YDdmIAXyglDBjqi1n5uoYek1n1KBYvhl9gJ29htFseKJudLVNQBdvSXuJ2dRZYNkqieL8SpyKqw6+dLHWAOLl6wSHnkVRPO4I20racuPHH0BzoUblM9N63mBLFE9vwNK4dCnP3zcKAUrpz6b9PH/D7XI7K18KR9AHShGiGC2bWMZdGh5gUgnT7cxNo2veExl/cI3jbfnMrwi8UcpHamB+Lc93xt1M5e5OFHpBIFjN5NhkIg1XKptKGdtuD/NsNodtjyfefPvCt0OwXz0v54t2u4Vfj0A/eilA9PEzKLuufl/3Atg0q+g/WGaSKaItS2mpEd54EycodTzaKCY6ay6XYfIXQtSzSphe9reWsRnTVeNJDDVFZM/dWsnQSMQOerVPYTQwmlVJ+FDHjlYu8BG5FqMe6n7yq75VrDf+IEs+JV4D0Hhc/BA81+JzNNbJcTMeow2ntN8C3KNfIlrnHI3Lh0DMpoSr1eQEQfXqhVkg5aZPYUU9GsnL7OatNg83cRzaN9P/935I79SSWF4DzjaKwaJAK3Qza+iMm1Vr62MyWS9kcAZMufI8uypGsQgj6Wfz/AsxSJPv/i5L2Lcvm901rG8cwVQJpBSWRDykdKqTxwb2L0S3RlgjNV7GqOB8Jvvr6ll61Nu2qsu264HHXTJFC2rl3xECZagxXNqe5XfR4afB2vPdlyij5HifwcpPgZtUBarLfN0x5R6jF+LtwR/zmcZ5CFkn/vsMe2Fq467jOmGExNYLvlJshdl+DpQYscA6ThJg95h5N9GJ1DjFdY3dEaWGjJTYllhcOhyjW6aYLhnniQnuu4e/udETfIGBfzVXD62GPI6a5MZcDgC2orpczj2sY7K5LBXuEBSwsK4KVPox2C9qFZZnaQoqtE46QjIIbctxrz4+nkqoW2HmWG+ZBrrAP86YYQStt5D4k2657gVAB5ZWENaJXmSb+Gvd6FU3GL76ixH8SF/Ae7GZusman9j0flCcfUh5OH7HGR/JkAsVG0YajOUi72g/UvCYCR6tT3bTlWq2Jcgf0/6DZQFOh3ZwE8KU7+5PPJTZKa0usHxAi3MGrxEOPC0r2R2Fg5siKpUOhxLn8jFF9iOPpRPurenv3sgOk54tzrseYaiy13k7lzQsJ8jyOjzBCt+L76830XmkvCdUMDUuW/8v64oCU4tM8dDjTeTi5PJoR8G4qhtS+8rqh0le6aZmoTgpbXgVPIsy2AMqgvG2d5o8W7FdHLsQQN+4TW0fcOyTw87VEO9kXrdO2vCc+NbkJGzxsWSq+IdMBv1NOvOHYPZH+cFpe/cowTGiTMn/U9Qjoff+B9QSwMEFAACAAgAgnqyStIooFJKAAAAawAAABsAAAB1bml2ZXJzYWwvdW5pdmVyc2FsLnBuZy54bWyzsa/IzVEoSy0qzszPs1Uy1DNQsrfj5bIpKEoty0wtV6gAihnpGUCAkkIlKrc8M6UkAyhkYG6OEMxIzUzPKLFVsjCwgAvqA80EAFBLAQIAABQAAgAIAEOUV0cNwDEewAEAANoDAAAPAAAAAAAAAAEAAAAAAAAAAABub25lL3BsYXllci54bWxQSwECAAAUAAIACACBerJKWn+5mToEAADhDgAAHQAAAAAAAAABAAAAAADtAQAAdW5pdmVyc2FsL2NvbW1vbl9tZXNzYWdlcy5sbmdQSwECAAAUAAIACACBerJKCf5wTAkDAAC1CgAAJwAAAAAAAAABAAAAAABiBgAAdW5pdmVyc2FsL2ZsYXNoX3B1Ymxpc2hpbmdfc2V0dGluZ3MueG1sUEsBAgAAFAACAAgAgXqyStqYtsO1AgAAVQoAACEAAAAAAAAAAQAAAAAAsAkAAHVuaXZlcnNhbC9mbGFzaF9za2luX3NldHRpbmdzLnhtbFBLAQIAABQAAgAIAIF6skp41iYJ3gIAAMYJAAAmAAAAAAAAAAEAAAAAAKQMAAB1bml2ZXJzYWwvaHRtbF9wdWJsaXNoaW5nX3NldHRpbmdzLnhtbFBLAQIAABQAAgAIAIF6skrb73U9lgEAAB8GAAAfAAAAAAAAAAEAAAAAAMYPAAB1bml2ZXJzYWwvaHRtbF9za2luX3NldHRpbmdzLmpzUEsBAgAAFAACAAgAgXqyShra6juqAAAAHwEAABoAAAAAAAAAAQAAAAAAmREAAHVuaXZlcnNhbC9pMThuX3ByZXNldHMueG1sUEsBAgAAFAACAAgAgXqySrDtXVduAAAAdgAAABwAAAAAAAAAAQAAAAAAexIAAHVuaXZlcnNhbC9sb2NhbF9zZXR0aW5ncy54bWxQSwECAAAUAAIACACDmfVEzoIJN+wCAACICAAAFAAAAAAAAAABAAAAAAAjEwAAdW5pdmVyc2FsL3BsYXllci54bWxQSwECAAAUAAIACACBerJKF6nhQW8BAAD7AgAAKQAAAAAAAAABAAAAAABBFgAAdW5pdmVyc2FsL3NraW5fY3VzdG9taXphdGlvbl9zZXR0aW5ncy54bWxQSwECAAAUAAIACACCerJKpUkXFL8NAAACIwAAFwAAAAAAAAAAAAAAAAD3FwAAdW5pdmVyc2FsL3VuaXZlcnNhbC5wbmdQSwECAAAUAAIACACCerJK0iigUkoAAABrAAAAGwAAAAAAAAABAAAAAADrJQAAdW5pdmVyc2FsL3VuaXZlcnNhbC5wbmcueG1sUEsFBgAAAAAMAAwAhgMAAG4mAAAAAA==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heme/theme1.xml><?xml version="1.0" encoding="utf-8"?>
<a:theme xmlns:a="http://schemas.openxmlformats.org/drawingml/2006/main" name="Office 主题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F0F2F4"/>
      </a:lt2>
      <a:accent1>
        <a:srgbClr val="D90944"/>
      </a:accent1>
      <a:accent2>
        <a:srgbClr val="243B7A"/>
      </a:accent2>
      <a:accent3>
        <a:srgbClr val="5188E1"/>
      </a:accent3>
      <a:accent4>
        <a:srgbClr val="F65083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自定义 7">
      <a:majorFont>
        <a:latin typeface="Segoe UI"/>
        <a:ea typeface="微软雅黑"/>
        <a:cs typeface=""/>
      </a:majorFont>
      <a:minorFont>
        <a:latin typeface="Calibri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251</Words>
  <Application>Microsoft Office PowerPoint</Application>
  <PresentationFormat>宽屏</PresentationFormat>
  <Paragraphs>72</Paragraphs>
  <Slides>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思源黑体</vt:lpstr>
      <vt:lpstr>Arial</vt:lpstr>
      <vt:lpstr>Calibri</vt:lpstr>
      <vt:lpstr>Times New Roman</vt:lpstr>
      <vt:lpstr>Office 主题</vt:lpstr>
      <vt:lpstr>PowerPoint 演示文稿</vt:lpstr>
      <vt:lpstr>文本特征深度挖掘</vt:lpstr>
      <vt:lpstr>PowerPoint 演示文稿</vt:lpstr>
      <vt:lpstr>结果展示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https://www.ypppt.com/</dc:title>
  <dc:subject>https://www.ypppt.com/</dc:subject>
  <dc:creator/>
  <cp:lastModifiedBy/>
  <cp:revision>1</cp:revision>
  <dcterms:created xsi:type="dcterms:W3CDTF">2021-05-12T03:31:37Z</dcterms:created>
  <dcterms:modified xsi:type="dcterms:W3CDTF">2025-12-24T18:30:38Z</dcterms:modified>
</cp:coreProperties>
</file>