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295" r:id="rId5"/>
    <p:sldId id="276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3861" userDrawn="1">
          <p15:clr>
            <a:srgbClr val="A4A3A4"/>
          </p15:clr>
        </p15:guide>
        <p15:guide id="3" orient="horz" pos="2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B577"/>
    <a:srgbClr val="FF794D"/>
    <a:srgbClr val="DBE084"/>
    <a:srgbClr val="E9DDB8"/>
    <a:srgbClr val="FFBAA3"/>
    <a:srgbClr val="FF6633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588" y="72"/>
      </p:cViewPr>
      <p:guideLst>
        <p:guide orient="horz" pos="2246"/>
        <p:guide pos="3861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6E1AD-4874-4B1B-B944-D773386EB5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0306-04AD-4F7E-A7B0-55444E7BF1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40306-04AD-4F7E-A7B0-55444E7BF1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defTabSz="1043305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40306-04AD-4F7E-A7B0-55444E7BF1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" y="-1926"/>
            <a:ext cx="6297714" cy="348940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4438" y="262"/>
            <a:ext cx="5907536" cy="34872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95407" y="3442823"/>
            <a:ext cx="5895343" cy="34140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76" y="3442822"/>
            <a:ext cx="6297714" cy="341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257175" y="222250"/>
            <a:ext cx="11677650" cy="641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B6457-C948-417B-8EE8-ACC088866F1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F7072-EAC0-4635-9C35-6D2F453D982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DE1CC-CD37-41DC-8876-B97219B73E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88FFE-1055-40FE-8FDD-0EF4253403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迷你简细倩" panose="03000509000000000000" pitchFamily="65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99245" y="2119632"/>
            <a:ext cx="1079351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55B577"/>
                </a:solidFill>
                <a:latin typeface="微软雅黑" panose="020B0503020204020204" charset="-122"/>
                <a:ea typeface="微软雅黑" panose="020B0503020204020204" charset="-122"/>
              </a:rPr>
              <a:t>第五组</a:t>
            </a:r>
            <a:r>
              <a:rPr lang="zh-CN" altLang="en-US" sz="6600" b="1" dirty="0">
                <a:solidFill>
                  <a:srgbClr val="55B577"/>
                </a:solidFill>
                <a:latin typeface="微软雅黑" panose="020B0503020204020204" charset="-122"/>
                <a:ea typeface="微软雅黑" panose="020B0503020204020204" charset="-122"/>
              </a:rPr>
              <a:t>展示</a:t>
            </a:r>
            <a:endParaRPr lang="zh-CN" altLang="en-US" sz="6600" b="1" dirty="0">
              <a:solidFill>
                <a:srgbClr val="55B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90751" y="3320533"/>
            <a:ext cx="781049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张子岳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郝文馨</a:t>
            </a:r>
            <a:r>
              <a:rPr lang="en-US" altLang="zh-CN" sz="200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</a:t>
            </a:r>
            <a:endParaRPr lang="zh-CN" altLang="en-US" sz="200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21" name="PA_直接连接符 20"/>
          <p:cNvCxnSpPr/>
          <p:nvPr>
            <p:custDataLst>
              <p:tags r:id="rId1"/>
            </p:custDataLst>
          </p:nvPr>
        </p:nvCxnSpPr>
        <p:spPr>
          <a:xfrm>
            <a:off x="2009775" y="3303828"/>
            <a:ext cx="8172450" cy="0"/>
          </a:xfrm>
          <a:prstGeom prst="line">
            <a:avLst/>
          </a:prstGeom>
          <a:ln w="12700">
            <a:solidFill>
              <a:srgbClr val="55B5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009" y="4352955"/>
            <a:ext cx="5797798" cy="250567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580" y="4065512"/>
            <a:ext cx="6614733" cy="295681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945" y="5862431"/>
            <a:ext cx="713294" cy="163996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24" y="3948890"/>
            <a:ext cx="1109568" cy="159729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029" y="6065161"/>
            <a:ext cx="987638" cy="19143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142" y="4300268"/>
            <a:ext cx="993734" cy="174360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1521" y="178150"/>
            <a:ext cx="1828959" cy="1700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24" tIns="45712" rIns="91424" bIns="45712" anchor="ctr" anchorCtr="0"/>
          <a:p>
            <a:pPr eaLnBrk="1" hangingPunct="1"/>
            <a:r>
              <a:rPr lang="zh-CN" altLang="en-US" sz="4200" dirty="0">
                <a:latin typeface="黑体" panose="02010609060101010101" pitchFamily="49" charset="-122"/>
                <a:ea typeface="黑体" panose="02010609060101010101" pitchFamily="49" charset="-122"/>
              </a:rPr>
              <a:t>模型创新点</a:t>
            </a:r>
            <a:endParaRPr lang="zh-CN" altLang="en-US" sz="4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1847850" y="3284538"/>
            <a:ext cx="3063875" cy="649287"/>
          </a:xfrm>
        </p:spPr>
        <p:txBody>
          <a:bodyPr vert="horz" wrap="square" lIns="91424" tIns="45712" rIns="91424" bIns="45712" anchor="t" anchorCtr="0"/>
          <a:p>
            <a:pPr marL="457200" lvl="1" indent="0" eaLnBrk="1" hangingPunct="1">
              <a:buNone/>
            </a:pPr>
            <a:r>
              <a:rPr lang="zh-CN" altLang="en-US" dirty="0"/>
              <a:t>特征工程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239375" y="6572250"/>
            <a:ext cx="357188" cy="264160"/>
          </a:xfrm>
          <a:prstGeom prst="rect">
            <a:avLst/>
          </a:prstGeom>
          <a:noFill/>
        </p:spPr>
        <p:txBody>
          <a:bodyPr lIns="80147" tIns="40074" rIns="80147" bIns="40074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01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6311900" y="2575243"/>
            <a:ext cx="3098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en-US" altLang="zh-CN" sz="1600" dirty="0">
              <a:latin typeface="Arial" panose="020B0604020202020204" pitchFamily="34" charset="0"/>
            </a:endParaRPr>
          </a:p>
          <a:p>
            <a:endParaRPr lang="zh-CN" altLang="zh-CN" sz="1600" dirty="0">
              <a:latin typeface="Arial" panose="020B0604020202020204" pitchFamily="34" charset="0"/>
            </a:endParaRPr>
          </a:p>
        </p:txBody>
      </p:sp>
      <p:sp>
        <p:nvSpPr>
          <p:cNvPr id="15366" name="文本框 7"/>
          <p:cNvSpPr txBox="1"/>
          <p:nvPr/>
        </p:nvSpPr>
        <p:spPr>
          <a:xfrm>
            <a:off x="2566988" y="5157788"/>
            <a:ext cx="894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7" name="文本框 8"/>
          <p:cNvSpPr txBox="1"/>
          <p:nvPr/>
        </p:nvSpPr>
        <p:spPr>
          <a:xfrm>
            <a:off x="2208213" y="184467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208213" y="1844675"/>
            <a:ext cx="1655763" cy="5762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279650" y="3284538"/>
            <a:ext cx="1728788" cy="5048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566988" y="5157788"/>
            <a:ext cx="865188" cy="5032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000375" y="2565400"/>
            <a:ext cx="0" cy="5762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000375" y="4005263"/>
            <a:ext cx="0" cy="1008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73" name="文本框 24"/>
          <p:cNvSpPr txBox="1"/>
          <p:nvPr/>
        </p:nvSpPr>
        <p:spPr>
          <a:xfrm>
            <a:off x="4800600" y="2924175"/>
            <a:ext cx="46799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dirty="0">
                <a:latin typeface="Arial" panose="020B0604020202020204" pitchFamily="34" charset="0"/>
              </a:rPr>
              <a:t>📊平滑目标编码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74" name="文本框 26"/>
          <p:cNvSpPr txBox="1"/>
          <p:nvPr/>
        </p:nvSpPr>
        <p:spPr>
          <a:xfrm>
            <a:off x="4800600" y="3213100"/>
            <a:ext cx="467995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dirty="0">
                <a:latin typeface="Arial" panose="020B0604020202020204" pitchFamily="34" charset="0"/>
              </a:rPr>
              <a:t>🌍层级地理特征</a:t>
            </a:r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</a:rPr>
              <a:t>📜 文本信息利用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15375" name="文本框 28"/>
          <p:cNvSpPr txBox="1"/>
          <p:nvPr/>
        </p:nvSpPr>
        <p:spPr>
          <a:xfrm>
            <a:off x="4872038" y="5229225"/>
            <a:ext cx="46799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dirty="0">
                <a:latin typeface="Arial" panose="020B0604020202020204" pitchFamily="34" charset="0"/>
              </a:rPr>
              <a:t>🧠 多</a:t>
            </a:r>
            <a:r>
              <a:rPr lang="en-US" altLang="zh-CN" sz="2000" dirty="0">
                <a:latin typeface="Arial" panose="020B0604020202020204" pitchFamily="34" charset="0"/>
              </a:rPr>
              <a:t>Seed</a:t>
            </a:r>
            <a:r>
              <a:rPr lang="zh-CN" altLang="en-US" sz="2000" dirty="0">
                <a:latin typeface="Arial" panose="020B0604020202020204" pitchFamily="34" charset="0"/>
              </a:rPr>
              <a:t>集成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15376" name="文本框 30"/>
          <p:cNvSpPr txBox="1"/>
          <p:nvPr/>
        </p:nvSpPr>
        <p:spPr>
          <a:xfrm>
            <a:off x="7861935" y="3068638"/>
            <a:ext cx="4679950" cy="147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Arial" panose="020B0604020202020204" pitchFamily="34" charset="0"/>
              </a:rPr>
              <a:t>稳健性 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</a:rPr>
              <a:t>   × 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泛化性 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en-US" altLang="zh-CN" b="1" dirty="0">
                <a:latin typeface="Arial" panose="020B0604020202020204" pitchFamily="34" charset="0"/>
              </a:rPr>
              <a:t>   × </a:t>
            </a:r>
            <a:endParaRPr lang="en-US" altLang="zh-CN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解释性 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32" name="右大括号 31"/>
          <p:cNvSpPr/>
          <p:nvPr/>
        </p:nvSpPr>
        <p:spPr>
          <a:xfrm>
            <a:off x="7248525" y="2133600"/>
            <a:ext cx="503238" cy="345598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313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 w="28575">
                <a:solidFill>
                  <a:schemeClr val="tx1"/>
                </a:solidFill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77200" y="5923280"/>
            <a:ext cx="2776855" cy="5353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张子岳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2022201596</a:t>
            </a:r>
            <a:endParaRPr lang="en-US" altLang="zh-CN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1720" y="1626235"/>
            <a:ext cx="3726815" cy="4243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4348680" y="311149"/>
            <a:ext cx="3494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迷你简细倩" panose="03000509000000000000" pitchFamily="65" charset="-122"/>
                <a:ea typeface="迷你简细倩" panose="03000509000000000000" pitchFamily="65" charset="-122"/>
              </a:rPr>
              <a:t>个人</a:t>
            </a:r>
            <a:r>
              <a:rPr lang="zh-CN" altLang="en-US" sz="2800" dirty="0">
                <a:solidFill>
                  <a:schemeClr val="tx1"/>
                </a:solidFill>
                <a:latin typeface="迷你简细倩" panose="03000509000000000000" pitchFamily="65" charset="-122"/>
                <a:ea typeface="迷你简细倩" panose="03000509000000000000" pitchFamily="65" charset="-122"/>
              </a:rPr>
              <a:t>亮点</a:t>
            </a:r>
            <a:endParaRPr lang="zh-CN" altLang="en-US" sz="2800" dirty="0">
              <a:solidFill>
                <a:schemeClr val="tx1"/>
              </a:solidFill>
              <a:latin typeface="迷你简细倩" panose="03000509000000000000" pitchFamily="65" charset="-122"/>
              <a:ea typeface="迷你简细倩" panose="03000509000000000000" pitchFamily="65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1020" y="774065"/>
            <a:ext cx="11177270" cy="5216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缺失值补全：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45720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最开始用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，根据经纬度为数据中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区县、板块</a:t>
            </a:r>
            <a:r>
              <a:rPr lang="en-US" altLang="zh-CN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_comm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、套内面积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补充空值，但效果不理想（经纬度相关性差、区县板块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_comm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列空值较多，不准确；和</a:t>
            </a: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区域</a:t>
            </a:r>
            <a:r>
              <a:rPr lang="en-US" altLang="zh-CN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板块列功能重复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）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457200"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地理层级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变量：现实中只能看到测试集，因此训练集中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新的区域、板块无法预测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，测试集与训练集分开制作虚拟变量：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按照区域大小，得到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城市</a:t>
            </a:r>
            <a:r>
              <a:rPr lang="en-US" altLang="zh-CN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&gt;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区域</a:t>
            </a:r>
            <a:r>
              <a:rPr lang="en-US" altLang="zh-CN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&gt;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板块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，是包含关系。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0">
              <a:buFont typeface="+mj-lt"/>
              <a:buNone/>
            </a:pP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对于测试集中出现的新地点，在训练集中找到它的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邻居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利用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，根据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lon,lat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等寻找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距离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最近的</a:t>
            </a:r>
            <a:r>
              <a:rPr lang="en-US" altLang="zh-CN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个，用</a:t>
            </a:r>
            <a:r>
              <a:rPr lang="zh-CN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宋体 CN" panose="02020400000000000000" pitchFamily="18" charset="-122"/>
                <a:ea typeface="思源宋体 CN" panose="02020400000000000000" pitchFamily="18" charset="-122"/>
              </a:rPr>
              <a:t>邻居的虚拟变量</a:t>
            </a: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表示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。更加精确，适应数据特征。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特例：</a:t>
            </a: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城市</a:t>
            </a:r>
            <a:r>
              <a:rPr lang="en-US" altLang="zh-CN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9</a:t>
            </a:r>
            <a:r>
              <a:rPr lang="zh-CN" altLang="en-US" b="1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的所有数据的区县、板块变量都为空</a:t>
            </a:r>
            <a:r>
              <a:rPr lang="zh-CN" altLang="en-US" dirty="0">
                <a:solidFill>
                  <a:schemeClr val="tx1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rPr>
              <a:t>，需要单独考虑</a:t>
            </a:r>
            <a:endParaRPr lang="zh-CN" altLang="en-US" dirty="0">
              <a:solidFill>
                <a:schemeClr val="tx1"/>
              </a:solidFill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736455" y="5990590"/>
            <a:ext cx="2120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郝文馨</a:t>
            </a:r>
            <a:endParaRPr lang="zh-CN" altLang="en-US"/>
          </a:p>
          <a:p>
            <a:r>
              <a:rPr lang="en-US" altLang="zh-CN"/>
              <a:t>2023200073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1235" y="5057775"/>
            <a:ext cx="1806575" cy="18002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l="251" t="5193" r="64914" b="18609"/>
          <a:stretch>
            <a:fillRect/>
          </a:stretch>
        </p:blipFill>
        <p:spPr>
          <a:xfrm>
            <a:off x="7298055" y="3429000"/>
            <a:ext cx="4425950" cy="1753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4000">
        <p:random/>
      </p:transition>
    </mc:Choice>
    <mc:Fallback>
      <p:transition spd="slow" advTm="4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ISPRING_PRESENTATION_TITLE" val="彩色叶子手绘小清新ppt"/>
  <p:tag name="resource_record_key" val="{&quot;70&quot;:[3333435,3324636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18C80"/>
      </a:accent1>
      <a:accent2>
        <a:srgbClr val="F2CF61"/>
      </a:accent2>
      <a:accent3>
        <a:srgbClr val="A6E582"/>
      </a:accent3>
      <a:accent4>
        <a:srgbClr val="51D9B5"/>
      </a:accent4>
      <a:accent5>
        <a:srgbClr val="D95B5B"/>
      </a:accent5>
      <a:accent6>
        <a:srgbClr val="BFBFBF"/>
      </a:accent6>
      <a:hlink>
        <a:srgbClr val="318C80"/>
      </a:hlink>
      <a:folHlink>
        <a:srgbClr val="BFBFBF"/>
      </a:folHlink>
    </a:clrScheme>
    <a:fontScheme name="自定义 6">
      <a:majorFont>
        <a:latin typeface="Arial"/>
        <a:ea typeface="微软雅黑"/>
        <a:cs typeface=""/>
      </a:majorFont>
      <a:minorFont>
        <a:latin typeface="Arial Unicode MS"/>
        <a:ea typeface="思源宋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WPS 演示</Application>
  <PresentationFormat>宽屏</PresentationFormat>
  <Paragraphs>46</Paragraphs>
  <Slides>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Arial</vt:lpstr>
      <vt:lpstr>宋体</vt:lpstr>
      <vt:lpstr>Wingdings</vt:lpstr>
      <vt:lpstr>迷你简细倩</vt:lpstr>
      <vt:lpstr>幼圆</vt:lpstr>
      <vt:lpstr>Arial Narrow</vt:lpstr>
      <vt:lpstr>Arial Black</vt:lpstr>
      <vt:lpstr>思源宋体 CN</vt:lpstr>
      <vt:lpstr>微软雅黑</vt:lpstr>
      <vt:lpstr>Arial Unicode MS</vt:lpstr>
      <vt:lpstr>等线</vt:lpstr>
      <vt:lpstr>思源宋体 CN</vt:lpstr>
      <vt:lpstr>Wingdings</vt:lpstr>
      <vt:lpstr>黑体</vt:lpstr>
      <vt:lpstr>Calibri</vt:lpstr>
      <vt:lpstr>Consolas</vt:lpstr>
      <vt:lpstr>华文中宋</vt:lpstr>
      <vt:lpstr>Office 主题​​</vt:lpstr>
      <vt:lpstr>PowerPoint 演示文稿</vt:lpstr>
      <vt:lpstr>模型创新点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温馨</cp:lastModifiedBy>
  <cp:revision>49</cp:revision>
  <dcterms:created xsi:type="dcterms:W3CDTF">2017-06-12T02:12:00Z</dcterms:created>
  <dcterms:modified xsi:type="dcterms:W3CDTF">2025-10-30T04:41:23Z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1D6C84552FF34A08AE862112DD76BE7C_13</vt:lpwstr>
  </property>
  <property fmtid="{D5CDD505-2E9C-101B-9397-08002B2CF9AE}" pid="3" name="KSOProductBuildVer">
    <vt:lpwstr>2052-12.1.0.23125</vt:lpwstr>
  </property>
</Properties>
</file>