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1019810" y="805815"/>
            <a:ext cx="10477500" cy="5329555"/>
          </a:xfrm>
        </p:spPr>
        <p:txBody>
          <a:bodyPr>
            <a:normAutofit lnSpcReduction="20000"/>
          </a:bodyPr>
          <a:p>
            <a:r>
              <a:rPr lang="zh-CN" altLang="en-US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数据处理</a:t>
            </a:r>
            <a:endParaRPr lang="zh-CN" altLang="en-US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l"/>
            <a:r>
              <a:rPr lang="zh-CN" altLang="en-US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数据类型全覆盖，细节贴合房地产场景针对</a:t>
            </a:r>
            <a:r>
              <a:rPr lang="en-US" altLang="zh-CN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 “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房屋数据</a:t>
            </a:r>
            <a:r>
              <a:rPr lang="en-US" altLang="zh-CN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” 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的特殊性，对类别、数值、文本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三类特征做深度处理：</a:t>
            </a:r>
            <a:endParaRPr lang="zh-CN" altLang="en-US" sz="16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l"/>
            <a:endParaRPr lang="zh-CN" altLang="en-US" sz="16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l"/>
            <a:r>
              <a:rPr lang="zh-CN" altLang="en-US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类别值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处理：房屋朝向拆分为</a:t>
            </a:r>
            <a:r>
              <a:rPr lang="en-US" altLang="zh-CN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 “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东</a:t>
            </a:r>
            <a:r>
              <a:rPr lang="en-US" altLang="zh-CN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 / 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南</a:t>
            </a:r>
            <a:r>
              <a:rPr lang="en-US" altLang="zh-CN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 / 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西</a:t>
            </a:r>
            <a:r>
              <a:rPr lang="en-US" altLang="zh-CN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 / 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北</a:t>
            </a:r>
            <a:r>
              <a:rPr lang="en-US" altLang="zh-CN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”4 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个基础方向的</a:t>
            </a:r>
            <a:r>
              <a:rPr lang="en-US" altLang="zh-CN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 0/1 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特征（适配</a:t>
            </a:r>
            <a:r>
              <a:rPr lang="en-US" altLang="zh-CN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 “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东南、南北</a:t>
            </a:r>
            <a:r>
              <a:rPr lang="en-US" altLang="zh-CN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” 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等组合朝向），楼层类型按</a:t>
            </a:r>
            <a:r>
              <a:rPr lang="en-US" altLang="zh-CN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 “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当前楼层</a:t>
            </a:r>
            <a:r>
              <a:rPr lang="en-US" altLang="zh-CN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 / 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总楼层</a:t>
            </a:r>
            <a:r>
              <a:rPr lang="en-US" altLang="zh-CN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” 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比例细分（低</a:t>
            </a:r>
            <a:r>
              <a:rPr lang="en-US" altLang="zh-CN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 / 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中</a:t>
            </a:r>
            <a:r>
              <a:rPr lang="en-US" altLang="zh-CN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 / 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高楼层）；</a:t>
            </a:r>
            <a:endParaRPr lang="zh-CN" altLang="en-US" sz="16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l"/>
            <a:endParaRPr lang="zh-CN" altLang="en-US" sz="16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l"/>
            <a:r>
              <a:rPr lang="zh-CN" altLang="en-US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数值处理：衍生核心业务特征（房龄</a:t>
            </a:r>
            <a:r>
              <a:rPr lang="en-US" altLang="zh-CN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 = 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交易年份</a:t>
            </a:r>
            <a:r>
              <a:rPr lang="en-US" altLang="zh-CN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 - 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建筑年份、户均楼栋房屋数</a:t>
            </a:r>
            <a:r>
              <a:rPr lang="en-US" altLang="zh-CN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 = 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房屋总数</a:t>
            </a:r>
            <a:r>
              <a:rPr lang="en-US" altLang="zh-CN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 / 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楼栋总数、每户停车位</a:t>
            </a:r>
            <a:r>
              <a:rPr lang="en-US" altLang="zh-CN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=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停车位</a:t>
            </a:r>
            <a:r>
              <a:rPr lang="en-US" altLang="zh-CN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/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房屋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总数）。</a:t>
            </a:r>
            <a:endParaRPr lang="zh-CN" altLang="en-US" sz="16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l"/>
            <a:endParaRPr lang="zh-CN" altLang="en-US" sz="16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l"/>
            <a:r>
              <a:rPr lang="zh-CN" altLang="en-US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文本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处理：客户反馈拆解为</a:t>
            </a:r>
            <a:r>
              <a:rPr lang="en-US" altLang="zh-CN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 “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积极</a:t>
            </a:r>
            <a:r>
              <a:rPr lang="en-US" altLang="zh-CN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 / 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消极</a:t>
            </a:r>
            <a:r>
              <a:rPr lang="en-US" altLang="zh-CN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 / 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综合反馈</a:t>
            </a:r>
            <a:r>
              <a:rPr lang="en-US" altLang="zh-CN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” 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得分，核心卖点</a:t>
            </a:r>
            <a:r>
              <a:rPr lang="en-US" altLang="zh-CN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 + 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周边配套等文本提取</a:t>
            </a:r>
            <a:r>
              <a:rPr lang="en-US" altLang="zh-CN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 “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学区、地铁</a:t>
            </a:r>
            <a:r>
              <a:rPr lang="en-US" altLang="zh-CN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” 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等关键词特征，再将其转化为数</a:t>
            </a:r>
            <a:r>
              <a:rPr lang="zh-CN" altLang="en-US" sz="16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值；</a:t>
            </a:r>
            <a:endParaRPr lang="zh-CN" altLang="en-US" sz="16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l"/>
            <a:endParaRPr lang="zh-CN" altLang="en-US" sz="16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l"/>
            <a:endParaRPr lang="en-US" altLang="zh-CN" sz="16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l"/>
            <a:endParaRPr lang="en-US" altLang="zh-CN" sz="16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08330" y="589915"/>
            <a:ext cx="10968990" cy="5659755"/>
          </a:xfrm>
        </p:spPr>
        <p:txBody>
          <a:bodyPr/>
          <a:p>
            <a:r>
              <a:rPr lang="zh-CN" altLang="en-US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针对不同类型的数值特征，做适配的预处理</a:t>
            </a:r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”</a:t>
            </a:r>
            <a:r>
              <a:rPr lang="zh-CN" altLang="en-US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：既让连续特征标准化（适配模型），又保留二分类特征的原始含义，最终得到适合建模的</a:t>
            </a:r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“</a:t>
            </a:r>
            <a:r>
              <a:rPr lang="zh-CN" altLang="en-US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干净特征矩阵</a:t>
            </a:r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”</a:t>
            </a:r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endParaRPr lang="en-US" altLang="zh-CN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r>
              <a:rPr lang="zh-CN" altLang="en-US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交互特征：用</a:t>
            </a:r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PolynomialFeatures</a:t>
            </a:r>
            <a:r>
              <a:rPr lang="zh-CN" altLang="en-US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生成二次多项式特征（如建筑面积</a:t>
            </a:r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^2</a:t>
            </a:r>
            <a:r>
              <a:rPr lang="zh-CN" altLang="en-US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、城市</a:t>
            </a:r>
            <a:r>
              <a:rPr lang="en-US" altLang="en-US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×</a:t>
            </a:r>
            <a:r>
              <a:rPr lang="zh-CN" altLang="en-US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容</a:t>
            </a:r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</a:t>
            </a:r>
            <a:r>
              <a:rPr lang="zh-CN" altLang="en-US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积</a:t>
            </a:r>
            <a:r>
              <a:rPr lang="en-US" altLang="zh-CN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 </a:t>
            </a:r>
            <a:r>
              <a:rPr lang="zh-CN" altLang="en-US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率），捕捉特征间的非线性关联。</a:t>
            </a:r>
            <a:endParaRPr lang="zh-CN" altLang="en-US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通过</a:t>
            </a:r>
            <a:r>
              <a:rPr lang="en-US" altLang="zh-CN">
                <a:solidFill>
                  <a:schemeClr val="tx1"/>
                </a:solidFill>
              </a:rPr>
              <a:t>Lasso</a:t>
            </a:r>
            <a:r>
              <a:rPr lang="zh-CN" altLang="en-US">
                <a:solidFill>
                  <a:schemeClr val="tx1"/>
                </a:solidFill>
              </a:rPr>
              <a:t>进行特征筛选获得的多项式特征，来确定哪些特征对预测房价是有价值的。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/>
          </a:p>
          <a:p>
            <a:r>
              <a:rPr lang="zh-CN" altLang="en-US">
                <a:solidFill>
                  <a:schemeClr val="tx1"/>
                </a:solidFill>
              </a:rPr>
              <a:t>用</a:t>
            </a:r>
            <a:r>
              <a:rPr lang="en-US" altLang="zh-CN">
                <a:solidFill>
                  <a:schemeClr val="tx1"/>
                </a:solidFill>
              </a:rPr>
              <a:t>joblib</a:t>
            </a:r>
            <a:r>
              <a:rPr lang="zh-CN" altLang="en-US">
                <a:solidFill>
                  <a:schemeClr val="tx1"/>
                </a:solidFill>
              </a:rPr>
              <a:t>保存训练集的核心配置（筛选列、预处理组件、多项式生成器、特征选择器、中位数），测试集无需重复编写处理逻辑，直接加载复用，避免</a:t>
            </a:r>
            <a:r>
              <a:rPr lang="en-US" altLang="zh-CN">
                <a:solidFill>
                  <a:schemeClr val="tx1"/>
                </a:solidFill>
              </a:rPr>
              <a:t> “</a:t>
            </a:r>
            <a:r>
              <a:rPr lang="zh-CN" altLang="en-US">
                <a:solidFill>
                  <a:schemeClr val="tx1"/>
                </a:solidFill>
              </a:rPr>
              <a:t>手动调整导致的流程偏差</a:t>
            </a:r>
            <a:r>
              <a:rPr lang="en-US" altLang="zh-CN">
                <a:solidFill>
                  <a:schemeClr val="tx1"/>
                </a:solidFill>
              </a:rPr>
              <a:t>”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最后用随机森林进行数据</a:t>
            </a:r>
            <a:r>
              <a:rPr lang="zh-CN" altLang="en-US">
                <a:solidFill>
                  <a:schemeClr val="tx1"/>
                </a:solidFill>
              </a:rPr>
              <a:t>预测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内容占位符 3"/>
          <p:cNvGraphicFramePr/>
          <p:nvPr>
            <p:ph idx="1"/>
            <p:custDataLst>
              <p:tags r:id="rId1"/>
            </p:custDataLst>
          </p:nvPr>
        </p:nvGraphicFramePr>
        <p:xfrm>
          <a:off x="1847850" y="4545330"/>
          <a:ext cx="1097026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2565"/>
                <a:gridCol w="2742565"/>
                <a:gridCol w="274256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t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期中</a:t>
                      </a:r>
                      <a:endParaRPr lang="zh-CN" altLang="en-US"/>
                    </a:p>
                  </a:txBody>
                  <a:tcPr anchor="t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期末</a:t>
                      </a:r>
                      <a:endParaRPr lang="zh-CN" altLang="en-US"/>
                    </a:p>
                  </a:txBody>
                  <a:tcPr anchor="t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K</a:t>
                      </a:r>
                      <a:r>
                        <a:rPr lang="en-US" altLang="zh-CN"/>
                        <a:t>aggle</a:t>
                      </a:r>
                      <a:endParaRPr lang="en-US" altLang="zh-CN"/>
                    </a:p>
                  </a:txBody>
                  <a:tcPr anchor="t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12.8</a:t>
                      </a:r>
                      <a:endParaRPr lang="en-US" altLang="zh-CN"/>
                    </a:p>
                  </a:txBody>
                  <a:tcPr anchor="t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71.4</a:t>
                      </a:r>
                      <a:endParaRPr lang="en-US" altLang="zh-CN"/>
                    </a:p>
                  </a:txBody>
                  <a:tcPr anchor="t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OLS</a:t>
                      </a:r>
                      <a:endParaRPr lang="en-US" altLang="zh-CN"/>
                    </a:p>
                  </a:txBody>
                  <a:tcPr anchor="t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12.8</a:t>
                      </a:r>
                      <a:endParaRPr lang="en-US" altLang="zh-CN"/>
                    </a:p>
                  </a:txBody>
                  <a:tcPr anchor="t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44.1</a:t>
                      </a:r>
                      <a:endParaRPr lang="en-US" altLang="zh-CN"/>
                    </a:p>
                  </a:txBody>
                  <a:tcPr anchor="t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RIDGE</a:t>
                      </a:r>
                      <a:endParaRPr lang="en-US" altLang="zh-CN"/>
                    </a:p>
                  </a:txBody>
                  <a:tcPr anchor="t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8.8</a:t>
                      </a:r>
                      <a:endParaRPr lang="en-US" altLang="zh-CN"/>
                    </a:p>
                  </a:txBody>
                  <a:tcPr anchor="t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44.1</a:t>
                      </a:r>
                      <a:endParaRPr lang="en-US" altLang="zh-CN"/>
                    </a:p>
                  </a:txBody>
                  <a:tcPr anchor="t" anchorCtr="0"/>
                </a:tc>
              </a:tr>
            </a:tbl>
          </a:graphicData>
        </a:graphic>
      </p:graphicFrame>
      <p:graphicFrame>
        <p:nvGraphicFramePr>
          <p:cNvPr id="3" name="表格 2"/>
          <p:cNvGraphicFramePr/>
          <p:nvPr/>
        </p:nvGraphicFramePr>
        <p:xfrm>
          <a:off x="1544320" y="1677035"/>
          <a:ext cx="9756775" cy="2273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1355"/>
                <a:gridCol w="1951355"/>
                <a:gridCol w="1951355"/>
                <a:gridCol w="1951355"/>
                <a:gridCol w="1951355"/>
              </a:tblGrid>
              <a:tr h="89789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In-sample MAE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In-sample RMAE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Out-of-sample MAE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Out-of-sample RMAE</a:t>
                      </a:r>
                      <a:endParaRPr lang="en-US" altLang="zh-CN"/>
                    </a:p>
                  </a:txBody>
                  <a:tcPr/>
                </a:tc>
              </a:tr>
              <a:tr h="37401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OLS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0.3211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0.5666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0.3220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0.5674</a:t>
                      </a:r>
                      <a:endParaRPr lang="en-US" altLang="zh-CN"/>
                    </a:p>
                  </a:txBody>
                  <a:tcPr/>
                </a:tc>
              </a:tr>
              <a:tr h="62801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Random Forest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0.034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0.0491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0.0961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0.1452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734</Words>
  <Application>WPS 演示</Application>
  <PresentationFormat>宽屏</PresentationFormat>
  <Paragraphs>73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黑体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默言</cp:lastModifiedBy>
  <cp:revision>158</cp:revision>
  <dcterms:created xsi:type="dcterms:W3CDTF">2019-06-19T02:08:00Z</dcterms:created>
  <dcterms:modified xsi:type="dcterms:W3CDTF">2025-12-24T09:48:17Z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54F0BAC896F141288BDED0873C9CE8CC_11</vt:lpwstr>
  </property>
</Properties>
</file>