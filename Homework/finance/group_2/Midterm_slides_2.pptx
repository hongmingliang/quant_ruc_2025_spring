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363" r:id="rId3"/>
    <p:sldId id="369" r:id="rId4"/>
    <p:sldId id="400" r:id="rId5"/>
    <p:sldId id="403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8" userDrawn="1">
          <p15:clr>
            <a:srgbClr val="A4A3A4"/>
          </p15:clr>
        </p15:guide>
        <p15:guide id="2" pos="382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904" autoAdjust="0"/>
  </p:normalViewPr>
  <p:slideViewPr>
    <p:cSldViewPr snapToGrid="0" showGuides="1">
      <p:cViewPr>
        <p:scale>
          <a:sx n="70" d="100"/>
          <a:sy n="70" d="100"/>
        </p:scale>
        <p:origin x="726" y="510"/>
      </p:cViewPr>
      <p:guideLst>
        <p:guide orient="horz" pos="2178"/>
        <p:guide pos="382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grpSp>
        <p:nvGrpSpPr>
          <p:cNvPr id="6" name="组合 5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7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8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9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0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1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2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3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4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5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6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7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8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9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21" name="文本框 20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23" name="矩形: 圆角 22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25" name="椭圆 24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6" name="组合 25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27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4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5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6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7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8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1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2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3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4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3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4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6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7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8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1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2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3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4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5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6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67" name="文本占位符 65"/>
          <p:cNvSpPr>
            <a:spLocks noGrp="1"/>
          </p:cNvSpPr>
          <p:nvPr userDrawn="1">
            <p:ph type="body" idx="13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图片占位符 13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97285" cy="6858000"/>
          </a:xfrm>
        </p:spPr>
        <p:txBody>
          <a:bodyPr/>
          <a:lstStyle/>
          <a:p>
            <a:endParaRPr lang="zh-CN" altLang="en-US"/>
          </a:p>
        </p:txBody>
      </p:sp>
      <p:grpSp>
        <p:nvGrpSpPr>
          <p:cNvPr id="19" name="组合 18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0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过渡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片占位符 11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4056063"/>
          </a:xfrm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张长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4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4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5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6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7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23" name="图片占位符 22"/>
          <p:cNvSpPr>
            <a:spLocks noGrp="1"/>
          </p:cNvSpPr>
          <p:nvPr>
            <p:ph type="pic" sz="quarter" idx="13"/>
          </p:nvPr>
        </p:nvSpPr>
        <p:spPr>
          <a:xfrm>
            <a:off x="660400" y="1130300"/>
            <a:ext cx="10858500" cy="2817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9" name="文本框 128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67" name="矩形: 圆角 66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8" name="组合 67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69" name="椭圆 68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71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2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4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5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6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7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8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0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1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3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0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1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2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3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4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6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7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8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9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0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1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2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3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4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5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6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7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8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9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0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1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2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3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4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5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6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57" name="文本占位符 65"/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张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图片占位符 7"/>
          <p:cNvSpPr>
            <a:spLocks noGrp="1"/>
          </p:cNvSpPr>
          <p:nvPr>
            <p:ph type="pic" sz="quarter" idx="13"/>
          </p:nvPr>
        </p:nvSpPr>
        <p:spPr>
          <a:xfrm>
            <a:off x="838200" y="1301750"/>
            <a:ext cx="5243513" cy="46704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grpSp>
        <p:nvGrpSpPr>
          <p:cNvPr id="23" name="组合 22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4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4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5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6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7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84" name="文本框 83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85" name="矩形: 圆角 84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6" name="组合 85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7" name="椭圆 86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8" name="组合 87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9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3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4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5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7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8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29" name="文本占位符 65"/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36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7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8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9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0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1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2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3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4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5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6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7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8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9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18" name="图片占位符 16"/>
          <p:cNvSpPr>
            <a:spLocks noGrp="1"/>
          </p:cNvSpPr>
          <p:nvPr>
            <p:ph type="pic" sz="quarter" idx="14"/>
          </p:nvPr>
        </p:nvSpPr>
        <p:spPr>
          <a:xfrm>
            <a:off x="4698494" y="3681942"/>
            <a:ext cx="6819900" cy="24415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16"/>
          <p:cNvSpPr>
            <a:spLocks noGrp="1"/>
          </p:cNvSpPr>
          <p:nvPr>
            <p:ph type="pic" sz="quarter" idx="13"/>
          </p:nvPr>
        </p:nvSpPr>
        <p:spPr>
          <a:xfrm>
            <a:off x="668338" y="1123950"/>
            <a:ext cx="6819900" cy="24415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34" name="文本框 33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85" name="矩形: 圆角 84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6" name="组合 85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7" name="椭圆 86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8" name="组合 87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9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3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4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5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7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8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29" name="文本占位符 65"/>
          <p:cNvSpPr>
            <a:spLocks noGrp="1"/>
          </p:cNvSpPr>
          <p:nvPr>
            <p:ph type="body" idx="15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张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4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5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6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7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8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9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10" name="图片占位符 9"/>
          <p:cNvSpPr>
            <a:spLocks noGrp="1"/>
          </p:cNvSpPr>
          <p:nvPr>
            <p:ph type="pic" sz="quarter" idx="13"/>
          </p:nvPr>
        </p:nvSpPr>
        <p:spPr>
          <a:xfrm>
            <a:off x="661988" y="1139750"/>
            <a:ext cx="3517900" cy="2725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9"/>
          <p:cNvSpPr>
            <a:spLocks noGrp="1"/>
          </p:cNvSpPr>
          <p:nvPr>
            <p:ph type="pic" sz="quarter" idx="14"/>
          </p:nvPr>
        </p:nvSpPr>
        <p:spPr>
          <a:xfrm>
            <a:off x="4330561" y="1139750"/>
            <a:ext cx="3517900" cy="2725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9"/>
          <p:cNvSpPr>
            <a:spLocks noGrp="1"/>
          </p:cNvSpPr>
          <p:nvPr>
            <p:ph type="pic" sz="quarter" idx="15"/>
          </p:nvPr>
        </p:nvSpPr>
        <p:spPr>
          <a:xfrm>
            <a:off x="7999134" y="1139750"/>
            <a:ext cx="3517900" cy="2725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120" name="矩形: 圆角 119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1" name="组合 120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122" name="椭圆 121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23" name="组合 122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124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5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7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8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9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0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1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2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3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4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6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7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8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9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0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1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2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3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4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5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6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7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8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9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0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1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2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3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4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5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6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7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8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9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0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1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2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3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64" name="文本占位符 65"/>
          <p:cNvSpPr>
            <a:spLocks noGrp="1"/>
          </p:cNvSpPr>
          <p:nvPr>
            <p:ph type="body" idx="16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四张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0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矩形 5"/>
          <p:cNvSpPr/>
          <p:nvPr userDrawn="1"/>
        </p:nvSpPr>
        <p:spPr>
          <a:xfrm>
            <a:off x="660400" y="1130300"/>
            <a:ext cx="5367020" cy="24358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660400" y="3734122"/>
            <a:ext cx="5367020" cy="239997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6151880" y="1130300"/>
            <a:ext cx="5367020" cy="24358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 userDrawn="1"/>
        </p:nvSpPr>
        <p:spPr>
          <a:xfrm>
            <a:off x="6151880" y="3734122"/>
            <a:ext cx="5367020" cy="239997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图片占位符 14"/>
          <p:cNvSpPr>
            <a:spLocks noGrp="1"/>
          </p:cNvSpPr>
          <p:nvPr>
            <p:ph type="pic" sz="quarter" idx="13"/>
          </p:nvPr>
        </p:nvSpPr>
        <p:spPr>
          <a:xfrm>
            <a:off x="952392" y="1412875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6" name="图片占位符 14"/>
          <p:cNvSpPr>
            <a:spLocks noGrp="1"/>
          </p:cNvSpPr>
          <p:nvPr>
            <p:ph type="pic" sz="quarter" idx="14"/>
          </p:nvPr>
        </p:nvSpPr>
        <p:spPr>
          <a:xfrm>
            <a:off x="6422971" y="1412875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14"/>
          <p:cNvSpPr>
            <a:spLocks noGrp="1"/>
          </p:cNvSpPr>
          <p:nvPr>
            <p:ph type="pic" sz="quarter" idx="15"/>
          </p:nvPr>
        </p:nvSpPr>
        <p:spPr>
          <a:xfrm>
            <a:off x="6422971" y="4000607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8" name="图片占位符 14"/>
          <p:cNvSpPr>
            <a:spLocks noGrp="1"/>
          </p:cNvSpPr>
          <p:nvPr>
            <p:ph type="pic" sz="quarter" idx="16"/>
          </p:nvPr>
        </p:nvSpPr>
        <p:spPr>
          <a:xfrm>
            <a:off x="952392" y="4000607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4" name="文本框 33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81" name="矩形: 圆角 80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2" name="组合 81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3" name="椭圆 82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4" name="组合 83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5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6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7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9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3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4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25" name="文本占位符 65"/>
          <p:cNvSpPr>
            <a:spLocks noGrp="1"/>
          </p:cNvSpPr>
          <p:nvPr>
            <p:ph type="body" idx="17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单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grpSp>
        <p:nvGrpSpPr>
          <p:cNvPr id="6" name="组合 5"/>
          <p:cNvGrpSpPr/>
          <p:nvPr userDrawn="1"/>
        </p:nvGrpSpPr>
        <p:grpSpPr>
          <a:xfrm>
            <a:off x="399002" y="1086761"/>
            <a:ext cx="4957524" cy="4606485"/>
            <a:chOff x="703035" y="1086761"/>
            <a:chExt cx="4957524" cy="4606485"/>
          </a:xfrm>
        </p:grpSpPr>
        <p:sp>
          <p:nvSpPr>
            <p:cNvPr id="7" name="任意多边形: 形状 6"/>
            <p:cNvSpPr/>
            <p:nvPr/>
          </p:nvSpPr>
          <p:spPr>
            <a:xfrm rot="10015880">
              <a:off x="3385211" y="1086761"/>
              <a:ext cx="2275348" cy="4564647"/>
            </a:xfrm>
            <a:custGeom>
              <a:avLst/>
              <a:gdLst>
                <a:gd name="connsiteX0" fmla="*/ 2209501 w 2209501"/>
                <a:gd name="connsiteY0" fmla="*/ 0 h 4432548"/>
                <a:gd name="connsiteX1" fmla="*/ 2209501 w 2209501"/>
                <a:gd name="connsiteY1" fmla="*/ 4432548 h 4432548"/>
                <a:gd name="connsiteX2" fmla="*/ 1989997 w 2209501"/>
                <a:gd name="connsiteY2" fmla="*/ 4421464 h 4432548"/>
                <a:gd name="connsiteX3" fmla="*/ 0 w 2209501"/>
                <a:gd name="connsiteY3" fmla="*/ 2216274 h 4432548"/>
                <a:gd name="connsiteX4" fmla="*/ 1989997 w 2209501"/>
                <a:gd name="connsiteY4" fmla="*/ 11085 h 4432548"/>
                <a:gd name="connsiteX0-1" fmla="*/ 2209501 w 2211099"/>
                <a:gd name="connsiteY0-2" fmla="*/ 0 h 4432548"/>
                <a:gd name="connsiteX1-3" fmla="*/ 2211099 w 2211099"/>
                <a:gd name="connsiteY1-4" fmla="*/ 2248887 h 4432548"/>
                <a:gd name="connsiteX2-5" fmla="*/ 2209501 w 2211099"/>
                <a:gd name="connsiteY2-6" fmla="*/ 4432548 h 4432548"/>
                <a:gd name="connsiteX3-7" fmla="*/ 1989997 w 2211099"/>
                <a:gd name="connsiteY3-8" fmla="*/ 4421464 h 4432548"/>
                <a:gd name="connsiteX4-9" fmla="*/ 0 w 2211099"/>
                <a:gd name="connsiteY4-10" fmla="*/ 2216274 h 4432548"/>
                <a:gd name="connsiteX5" fmla="*/ 1989997 w 2211099"/>
                <a:gd name="connsiteY5" fmla="*/ 11085 h 4432548"/>
                <a:gd name="connsiteX6" fmla="*/ 2209501 w 2211099"/>
                <a:gd name="connsiteY6" fmla="*/ 0 h 4432548"/>
                <a:gd name="connsiteX0-11" fmla="*/ 2211099 w 2302539"/>
                <a:gd name="connsiteY0-12" fmla="*/ 2248887 h 4432548"/>
                <a:gd name="connsiteX1-13" fmla="*/ 2209501 w 2302539"/>
                <a:gd name="connsiteY1-14" fmla="*/ 4432548 h 4432548"/>
                <a:gd name="connsiteX2-15" fmla="*/ 1989997 w 2302539"/>
                <a:gd name="connsiteY2-16" fmla="*/ 4421464 h 4432548"/>
                <a:gd name="connsiteX3-17" fmla="*/ 0 w 2302539"/>
                <a:gd name="connsiteY3-18" fmla="*/ 2216274 h 4432548"/>
                <a:gd name="connsiteX4-19" fmla="*/ 1989997 w 2302539"/>
                <a:gd name="connsiteY4-20" fmla="*/ 11085 h 4432548"/>
                <a:gd name="connsiteX5-21" fmla="*/ 2209501 w 2302539"/>
                <a:gd name="connsiteY5-22" fmla="*/ 0 h 4432548"/>
                <a:gd name="connsiteX6-23" fmla="*/ 2302539 w 2302539"/>
                <a:gd name="connsiteY6-24" fmla="*/ 2340327 h 4432548"/>
                <a:gd name="connsiteX0-25" fmla="*/ 2211099 w 2211099"/>
                <a:gd name="connsiteY0-26" fmla="*/ 2248887 h 4432548"/>
                <a:gd name="connsiteX1-27" fmla="*/ 2209501 w 2211099"/>
                <a:gd name="connsiteY1-28" fmla="*/ 4432548 h 4432548"/>
                <a:gd name="connsiteX2-29" fmla="*/ 1989997 w 2211099"/>
                <a:gd name="connsiteY2-30" fmla="*/ 4421464 h 4432548"/>
                <a:gd name="connsiteX3-31" fmla="*/ 0 w 2211099"/>
                <a:gd name="connsiteY3-32" fmla="*/ 2216274 h 4432548"/>
                <a:gd name="connsiteX4-33" fmla="*/ 1989997 w 2211099"/>
                <a:gd name="connsiteY4-34" fmla="*/ 11085 h 4432548"/>
                <a:gd name="connsiteX5-35" fmla="*/ 2209501 w 2211099"/>
                <a:gd name="connsiteY5-36" fmla="*/ 0 h 4432548"/>
                <a:gd name="connsiteX0-37" fmla="*/ 2209501 w 2209501"/>
                <a:gd name="connsiteY0-38" fmla="*/ 4432548 h 4432548"/>
                <a:gd name="connsiteX1-39" fmla="*/ 1989997 w 2209501"/>
                <a:gd name="connsiteY1-40" fmla="*/ 4421464 h 4432548"/>
                <a:gd name="connsiteX2-41" fmla="*/ 0 w 2209501"/>
                <a:gd name="connsiteY2-42" fmla="*/ 2216274 h 4432548"/>
                <a:gd name="connsiteX3-43" fmla="*/ 1989997 w 2209501"/>
                <a:gd name="connsiteY3-44" fmla="*/ 11085 h 4432548"/>
                <a:gd name="connsiteX4-45" fmla="*/ 2209501 w 2209501"/>
                <a:gd name="connsiteY4-46" fmla="*/ 0 h 4432548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2209501" h="4432548">
                  <a:moveTo>
                    <a:pt x="2209501" y="4432548"/>
                  </a:moveTo>
                  <a:lnTo>
                    <a:pt x="1989997" y="4421464"/>
                  </a:lnTo>
                  <a:cubicBezTo>
                    <a:pt x="872246" y="4307950"/>
                    <a:pt x="0" y="3363974"/>
                    <a:pt x="0" y="2216274"/>
                  </a:cubicBezTo>
                  <a:cubicBezTo>
                    <a:pt x="0" y="1068575"/>
                    <a:pt x="872246" y="124599"/>
                    <a:pt x="1989997" y="11085"/>
                  </a:cubicBezTo>
                  <a:lnTo>
                    <a:pt x="2209501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703035" y="1374365"/>
              <a:ext cx="4837299" cy="4318881"/>
              <a:chOff x="703035" y="1374365"/>
              <a:chExt cx="4837299" cy="4318881"/>
            </a:xfrm>
          </p:grpSpPr>
          <p:sp>
            <p:nvSpPr>
              <p:cNvPr id="10" name="任意多边形: 形状 9"/>
              <p:cNvSpPr/>
              <p:nvPr/>
            </p:nvSpPr>
            <p:spPr>
              <a:xfrm>
                <a:off x="1336624" y="1528777"/>
                <a:ext cx="4164314" cy="4164469"/>
              </a:xfrm>
              <a:custGeom>
                <a:avLst/>
                <a:gdLst>
                  <a:gd name="connsiteX0" fmla="*/ 1310015 w 2619936"/>
                  <a:gd name="connsiteY0" fmla="*/ 0 h 2620034"/>
                  <a:gd name="connsiteX1" fmla="*/ 1310015 w 2619936"/>
                  <a:gd name="connsiteY1" fmla="*/ 1311964 h 2620034"/>
                  <a:gd name="connsiteX2" fmla="*/ 2619936 w 2619936"/>
                  <a:gd name="connsiteY2" fmla="*/ 1311964 h 2620034"/>
                  <a:gd name="connsiteX3" fmla="*/ 2613271 w 2619936"/>
                  <a:gd name="connsiteY3" fmla="*/ 1443959 h 2620034"/>
                  <a:gd name="connsiteX4" fmla="*/ 1310017 w 2619936"/>
                  <a:gd name="connsiteY4" fmla="*/ 2620034 h 2620034"/>
                  <a:gd name="connsiteX5" fmla="*/ 0 w 2619936"/>
                  <a:gd name="connsiteY5" fmla="*/ 1310017 h 2620034"/>
                  <a:gd name="connsiteX6" fmla="*/ 1176076 w 2619936"/>
                  <a:gd name="connsiteY6" fmla="*/ 6764 h 2620034"/>
                  <a:gd name="connsiteX0-1" fmla="*/ 1310015 w 2619936"/>
                  <a:gd name="connsiteY0-2" fmla="*/ 1311964 h 2620034"/>
                  <a:gd name="connsiteX1-3" fmla="*/ 2619936 w 2619936"/>
                  <a:gd name="connsiteY1-4" fmla="*/ 1311964 h 2620034"/>
                  <a:gd name="connsiteX2-5" fmla="*/ 2613271 w 2619936"/>
                  <a:gd name="connsiteY2-6" fmla="*/ 1443959 h 2620034"/>
                  <a:gd name="connsiteX3-7" fmla="*/ 1310017 w 2619936"/>
                  <a:gd name="connsiteY3-8" fmla="*/ 2620034 h 2620034"/>
                  <a:gd name="connsiteX4-9" fmla="*/ 0 w 2619936"/>
                  <a:gd name="connsiteY4-10" fmla="*/ 1310017 h 2620034"/>
                  <a:gd name="connsiteX5-11" fmla="*/ 1176076 w 2619936"/>
                  <a:gd name="connsiteY5-12" fmla="*/ 6764 h 2620034"/>
                  <a:gd name="connsiteX6-13" fmla="*/ 1310015 w 2619936"/>
                  <a:gd name="connsiteY6-14" fmla="*/ 0 h 2620034"/>
                  <a:gd name="connsiteX7" fmla="*/ 1401455 w 2619936"/>
                  <a:gd name="connsiteY7" fmla="*/ 1403404 h 2620034"/>
                  <a:gd name="connsiteX0-15" fmla="*/ 1310015 w 2619936"/>
                  <a:gd name="connsiteY0-16" fmla="*/ 1311964 h 2620034"/>
                  <a:gd name="connsiteX1-17" fmla="*/ 2619936 w 2619936"/>
                  <a:gd name="connsiteY1-18" fmla="*/ 1311964 h 2620034"/>
                  <a:gd name="connsiteX2-19" fmla="*/ 2613271 w 2619936"/>
                  <a:gd name="connsiteY2-20" fmla="*/ 1443959 h 2620034"/>
                  <a:gd name="connsiteX3-21" fmla="*/ 1310017 w 2619936"/>
                  <a:gd name="connsiteY3-22" fmla="*/ 2620034 h 2620034"/>
                  <a:gd name="connsiteX4-23" fmla="*/ 0 w 2619936"/>
                  <a:gd name="connsiteY4-24" fmla="*/ 1310017 h 2620034"/>
                  <a:gd name="connsiteX5-25" fmla="*/ 1176076 w 2619936"/>
                  <a:gd name="connsiteY5-26" fmla="*/ 6764 h 2620034"/>
                  <a:gd name="connsiteX6-27" fmla="*/ 1310015 w 2619936"/>
                  <a:gd name="connsiteY6-28" fmla="*/ 0 h 2620034"/>
                  <a:gd name="connsiteX0-29" fmla="*/ 2619936 w 2619936"/>
                  <a:gd name="connsiteY0-30" fmla="*/ 1311964 h 2620034"/>
                  <a:gd name="connsiteX1-31" fmla="*/ 2613271 w 2619936"/>
                  <a:gd name="connsiteY1-32" fmla="*/ 1443959 h 2620034"/>
                  <a:gd name="connsiteX2-33" fmla="*/ 1310017 w 2619936"/>
                  <a:gd name="connsiteY2-34" fmla="*/ 2620034 h 2620034"/>
                  <a:gd name="connsiteX3-35" fmla="*/ 0 w 2619936"/>
                  <a:gd name="connsiteY3-36" fmla="*/ 1310017 h 2620034"/>
                  <a:gd name="connsiteX4-37" fmla="*/ 1176076 w 2619936"/>
                  <a:gd name="connsiteY4-38" fmla="*/ 6764 h 2620034"/>
                  <a:gd name="connsiteX5-39" fmla="*/ 1310015 w 2619936"/>
                  <a:gd name="connsiteY5-40" fmla="*/ 0 h 2620034"/>
                </a:gdLst>
                <a:ahLst/>
                <a:cxnLst>
                  <a:cxn ang="0">
                    <a:pos x="connsiteX0-1" y="connsiteY0-2"/>
                  </a:cxn>
                  <a:cxn ang="0">
                    <a:pos x="connsiteX1-3" y="connsiteY1-4"/>
                  </a:cxn>
                  <a:cxn ang="0">
                    <a:pos x="connsiteX2-5" y="connsiteY2-6"/>
                  </a:cxn>
                  <a:cxn ang="0">
                    <a:pos x="connsiteX3-7" y="connsiteY3-8"/>
                  </a:cxn>
                  <a:cxn ang="0">
                    <a:pos x="connsiteX4-9" y="connsiteY4-10"/>
                  </a:cxn>
                  <a:cxn ang="0">
                    <a:pos x="connsiteX5-11" y="connsiteY5-12"/>
                  </a:cxn>
                </a:cxnLst>
                <a:rect l="l" t="t" r="r" b="b"/>
                <a:pathLst>
                  <a:path w="2619936" h="2620034">
                    <a:moveTo>
                      <a:pt x="2619936" y="1311964"/>
                    </a:moveTo>
                    <a:lnTo>
                      <a:pt x="2613271" y="1443959"/>
                    </a:lnTo>
                    <a:cubicBezTo>
                      <a:pt x="2546185" y="2104542"/>
                      <a:pt x="1988300" y="2620034"/>
                      <a:pt x="1310017" y="2620034"/>
                    </a:cubicBezTo>
                    <a:cubicBezTo>
                      <a:pt x="586515" y="2620034"/>
                      <a:pt x="0" y="2033519"/>
                      <a:pt x="0" y="1310017"/>
                    </a:cubicBezTo>
                    <a:cubicBezTo>
                      <a:pt x="0" y="631734"/>
                      <a:pt x="515492" y="73850"/>
                      <a:pt x="1176076" y="6764"/>
                    </a:cubicBezTo>
                    <a:lnTo>
                      <a:pt x="1310015" y="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2801074" y="1374365"/>
                <a:ext cx="97528" cy="9752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2" name="组合 11"/>
              <p:cNvGrpSpPr/>
              <p:nvPr/>
            </p:nvGrpSpPr>
            <p:grpSpPr>
              <a:xfrm>
                <a:off x="703035" y="2791613"/>
                <a:ext cx="2303860" cy="2763395"/>
                <a:chOff x="667909" y="2831346"/>
                <a:chExt cx="2303860" cy="2763395"/>
              </a:xfrm>
            </p:grpSpPr>
            <p:sp>
              <p:nvSpPr>
                <p:cNvPr id="14" name="任意多边形: 形状 13"/>
                <p:cNvSpPr/>
                <p:nvPr/>
              </p:nvSpPr>
              <p:spPr>
                <a:xfrm rot="18225743">
                  <a:off x="682165" y="2817090"/>
                  <a:ext cx="2275348" cy="2303860"/>
                </a:xfrm>
                <a:custGeom>
                  <a:avLst/>
                  <a:gdLst>
                    <a:gd name="connsiteX0" fmla="*/ 2422212 w 2422212"/>
                    <a:gd name="connsiteY0" fmla="*/ 2452564 h 2452564"/>
                    <a:gd name="connsiteX1" fmla="*/ 1086 w 2422212"/>
                    <a:gd name="connsiteY1" fmla="*/ 2452564 h 2452564"/>
                    <a:gd name="connsiteX2" fmla="*/ 0 w 2422212"/>
                    <a:gd name="connsiteY2" fmla="*/ 2429638 h 2452564"/>
                    <a:gd name="connsiteX3" fmla="*/ 2181576 w 2422212"/>
                    <a:gd name="connsiteY3" fmla="*/ 12152 h 2452564"/>
                    <a:gd name="connsiteX4" fmla="*/ 2422212 w 2422212"/>
                    <a:gd name="connsiteY4" fmla="*/ 0 h 2452564"/>
                    <a:gd name="connsiteX0-1" fmla="*/ 2422212 w 2513652"/>
                    <a:gd name="connsiteY0-2" fmla="*/ 2452564 h 2544004"/>
                    <a:gd name="connsiteX1-3" fmla="*/ 1086 w 2513652"/>
                    <a:gd name="connsiteY1-4" fmla="*/ 2452564 h 2544004"/>
                    <a:gd name="connsiteX2-5" fmla="*/ 0 w 2513652"/>
                    <a:gd name="connsiteY2-6" fmla="*/ 2429638 h 2544004"/>
                    <a:gd name="connsiteX3-7" fmla="*/ 2181576 w 2513652"/>
                    <a:gd name="connsiteY3-8" fmla="*/ 12152 h 2544004"/>
                    <a:gd name="connsiteX4-9" fmla="*/ 2422212 w 2513652"/>
                    <a:gd name="connsiteY4-10" fmla="*/ 0 h 2544004"/>
                    <a:gd name="connsiteX5" fmla="*/ 2513652 w 2513652"/>
                    <a:gd name="connsiteY5" fmla="*/ 2544004 h 2544004"/>
                    <a:gd name="connsiteX0-11" fmla="*/ 1086 w 2513652"/>
                    <a:gd name="connsiteY0-12" fmla="*/ 2452564 h 2544004"/>
                    <a:gd name="connsiteX1-13" fmla="*/ 0 w 2513652"/>
                    <a:gd name="connsiteY1-14" fmla="*/ 2429638 h 2544004"/>
                    <a:gd name="connsiteX2-15" fmla="*/ 2181576 w 2513652"/>
                    <a:gd name="connsiteY2-16" fmla="*/ 12152 h 2544004"/>
                    <a:gd name="connsiteX3-17" fmla="*/ 2422212 w 2513652"/>
                    <a:gd name="connsiteY3-18" fmla="*/ 0 h 2544004"/>
                    <a:gd name="connsiteX4-19" fmla="*/ 2513652 w 2513652"/>
                    <a:gd name="connsiteY4-20" fmla="*/ 2544004 h 2544004"/>
                    <a:gd name="connsiteX0-21" fmla="*/ 1086 w 2422212"/>
                    <a:gd name="connsiteY0-22" fmla="*/ 2452564 h 2452564"/>
                    <a:gd name="connsiteX1-23" fmla="*/ 0 w 2422212"/>
                    <a:gd name="connsiteY1-24" fmla="*/ 2429638 h 2452564"/>
                    <a:gd name="connsiteX2-25" fmla="*/ 2181576 w 2422212"/>
                    <a:gd name="connsiteY2-26" fmla="*/ 12152 h 2452564"/>
                    <a:gd name="connsiteX3-27" fmla="*/ 2422212 w 2422212"/>
                    <a:gd name="connsiteY3-28" fmla="*/ 0 h 2452564"/>
                  </a:gdLst>
                  <a:ahLst/>
                  <a:cxnLst>
                    <a:cxn ang="0">
                      <a:pos x="connsiteX0-1" y="connsiteY0-2"/>
                    </a:cxn>
                    <a:cxn ang="0">
                      <a:pos x="connsiteX1-3" y="connsiteY1-4"/>
                    </a:cxn>
                    <a:cxn ang="0">
                      <a:pos x="connsiteX2-5" y="connsiteY2-6"/>
                    </a:cxn>
                    <a:cxn ang="0">
                      <a:pos x="connsiteX3-7" y="connsiteY3-8"/>
                    </a:cxn>
                  </a:cxnLst>
                  <a:rect l="l" t="t" r="r" b="b"/>
                  <a:pathLst>
                    <a:path w="2422212" h="2452564">
                      <a:moveTo>
                        <a:pt x="1086" y="2452564"/>
                      </a:moveTo>
                      <a:lnTo>
                        <a:pt x="0" y="2429638"/>
                      </a:lnTo>
                      <a:cubicBezTo>
                        <a:pt x="0" y="1171448"/>
                        <a:pt x="956218" y="136595"/>
                        <a:pt x="2181576" y="12152"/>
                      </a:cubicBezTo>
                      <a:lnTo>
                        <a:pt x="2422212" y="0"/>
                      </a:ln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079475" y="5497213"/>
                  <a:ext cx="97528" cy="9752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13" name="椭圆 12"/>
              <p:cNvSpPr/>
              <p:nvPr/>
            </p:nvSpPr>
            <p:spPr>
              <a:xfrm>
                <a:off x="5442806" y="3611011"/>
                <a:ext cx="97528" cy="9752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</p:grpSp>
      <p:sp>
        <p:nvSpPr>
          <p:cNvPr id="17" name="图片占位符 16"/>
          <p:cNvSpPr>
            <a:spLocks noGrp="1"/>
          </p:cNvSpPr>
          <p:nvPr>
            <p:ph type="pic" sz="quarter" idx="13"/>
          </p:nvPr>
        </p:nvSpPr>
        <p:spPr>
          <a:xfrm>
            <a:off x="1239984" y="1740365"/>
            <a:ext cx="3731695" cy="373169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grpSp>
        <p:nvGrpSpPr>
          <p:cNvPr id="16" name="组合 15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8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9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2" name="文本框 31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79" name="矩形: 圆角 78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0" name="组合 79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1" name="椭圆 80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3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4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5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6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7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9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23" name="文本占位符 65"/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双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0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矩形: 圆角 5"/>
          <p:cNvSpPr/>
          <p:nvPr userDrawn="1"/>
        </p:nvSpPr>
        <p:spPr>
          <a:xfrm>
            <a:off x="689270" y="1262131"/>
            <a:ext cx="10842684" cy="22860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/>
          <p:cNvSpPr/>
          <p:nvPr userDrawn="1"/>
        </p:nvSpPr>
        <p:spPr>
          <a:xfrm>
            <a:off x="689270" y="3726269"/>
            <a:ext cx="10842684" cy="22860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图片占位符 16"/>
          <p:cNvSpPr>
            <a:spLocks noGrp="1"/>
          </p:cNvSpPr>
          <p:nvPr>
            <p:ph type="pic" sz="quarter" idx="13"/>
          </p:nvPr>
        </p:nvSpPr>
        <p:spPr>
          <a:xfrm>
            <a:off x="819151" y="1376166"/>
            <a:ext cx="2052066" cy="2052834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8" name="图片占位符 16"/>
          <p:cNvSpPr>
            <a:spLocks noGrp="1"/>
          </p:cNvSpPr>
          <p:nvPr>
            <p:ph type="pic" sz="quarter" idx="14"/>
          </p:nvPr>
        </p:nvSpPr>
        <p:spPr>
          <a:xfrm flipH="1">
            <a:off x="9344050" y="3851644"/>
            <a:ext cx="2052066" cy="2052834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34" name="文本框 33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81" name="矩形: 圆角 80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2" name="组合 81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3" name="椭圆 82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4" name="组合 83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5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6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7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9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3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4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25" name="文本占位符 65"/>
          <p:cNvSpPr>
            <a:spLocks noGrp="1"/>
          </p:cNvSpPr>
          <p:nvPr>
            <p:ph type="body" idx="15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9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9" name="任意多边形: 形状 8"/>
          <p:cNvSpPr/>
          <p:nvPr userDrawn="1"/>
        </p:nvSpPr>
        <p:spPr>
          <a:xfrm>
            <a:off x="1175646" y="1134201"/>
            <a:ext cx="2619936" cy="2620034"/>
          </a:xfrm>
          <a:custGeom>
            <a:avLst/>
            <a:gdLst>
              <a:gd name="connsiteX0" fmla="*/ 1310015 w 2619936"/>
              <a:gd name="connsiteY0" fmla="*/ 0 h 2620034"/>
              <a:gd name="connsiteX1" fmla="*/ 1310015 w 2619936"/>
              <a:gd name="connsiteY1" fmla="*/ 1311964 h 2620034"/>
              <a:gd name="connsiteX2" fmla="*/ 2619936 w 2619936"/>
              <a:gd name="connsiteY2" fmla="*/ 1311964 h 2620034"/>
              <a:gd name="connsiteX3" fmla="*/ 2613271 w 2619936"/>
              <a:gd name="connsiteY3" fmla="*/ 1443959 h 2620034"/>
              <a:gd name="connsiteX4" fmla="*/ 1310017 w 2619936"/>
              <a:gd name="connsiteY4" fmla="*/ 2620034 h 2620034"/>
              <a:gd name="connsiteX5" fmla="*/ 0 w 2619936"/>
              <a:gd name="connsiteY5" fmla="*/ 1310017 h 2620034"/>
              <a:gd name="connsiteX6" fmla="*/ 1176076 w 2619936"/>
              <a:gd name="connsiteY6" fmla="*/ 6764 h 2620034"/>
              <a:gd name="connsiteX0-1" fmla="*/ 1310015 w 2619936"/>
              <a:gd name="connsiteY0-2" fmla="*/ 1311964 h 2620034"/>
              <a:gd name="connsiteX1-3" fmla="*/ 2619936 w 2619936"/>
              <a:gd name="connsiteY1-4" fmla="*/ 1311964 h 2620034"/>
              <a:gd name="connsiteX2-5" fmla="*/ 2613271 w 2619936"/>
              <a:gd name="connsiteY2-6" fmla="*/ 1443959 h 2620034"/>
              <a:gd name="connsiteX3-7" fmla="*/ 1310017 w 2619936"/>
              <a:gd name="connsiteY3-8" fmla="*/ 2620034 h 2620034"/>
              <a:gd name="connsiteX4-9" fmla="*/ 0 w 2619936"/>
              <a:gd name="connsiteY4-10" fmla="*/ 1310017 h 2620034"/>
              <a:gd name="connsiteX5-11" fmla="*/ 1176076 w 2619936"/>
              <a:gd name="connsiteY5-12" fmla="*/ 6764 h 2620034"/>
              <a:gd name="connsiteX6-13" fmla="*/ 1310015 w 2619936"/>
              <a:gd name="connsiteY6-14" fmla="*/ 0 h 2620034"/>
              <a:gd name="connsiteX7" fmla="*/ 1401455 w 2619936"/>
              <a:gd name="connsiteY7" fmla="*/ 1403404 h 2620034"/>
              <a:gd name="connsiteX0-15" fmla="*/ 1310015 w 2619936"/>
              <a:gd name="connsiteY0-16" fmla="*/ 1311964 h 2620034"/>
              <a:gd name="connsiteX1-17" fmla="*/ 2619936 w 2619936"/>
              <a:gd name="connsiteY1-18" fmla="*/ 1311964 h 2620034"/>
              <a:gd name="connsiteX2-19" fmla="*/ 2613271 w 2619936"/>
              <a:gd name="connsiteY2-20" fmla="*/ 1443959 h 2620034"/>
              <a:gd name="connsiteX3-21" fmla="*/ 1310017 w 2619936"/>
              <a:gd name="connsiteY3-22" fmla="*/ 2620034 h 2620034"/>
              <a:gd name="connsiteX4-23" fmla="*/ 0 w 2619936"/>
              <a:gd name="connsiteY4-24" fmla="*/ 1310017 h 2620034"/>
              <a:gd name="connsiteX5-25" fmla="*/ 1176076 w 2619936"/>
              <a:gd name="connsiteY5-26" fmla="*/ 6764 h 2620034"/>
              <a:gd name="connsiteX6-27" fmla="*/ 1310015 w 2619936"/>
              <a:gd name="connsiteY6-28" fmla="*/ 0 h 2620034"/>
              <a:gd name="connsiteX0-29" fmla="*/ 2619936 w 2619936"/>
              <a:gd name="connsiteY0-30" fmla="*/ 1311964 h 2620034"/>
              <a:gd name="connsiteX1-31" fmla="*/ 2613271 w 2619936"/>
              <a:gd name="connsiteY1-32" fmla="*/ 1443959 h 2620034"/>
              <a:gd name="connsiteX2-33" fmla="*/ 1310017 w 2619936"/>
              <a:gd name="connsiteY2-34" fmla="*/ 2620034 h 2620034"/>
              <a:gd name="connsiteX3-35" fmla="*/ 0 w 2619936"/>
              <a:gd name="connsiteY3-36" fmla="*/ 1310017 h 2620034"/>
              <a:gd name="connsiteX4-37" fmla="*/ 1176076 w 2619936"/>
              <a:gd name="connsiteY4-38" fmla="*/ 6764 h 2620034"/>
              <a:gd name="connsiteX5-39" fmla="*/ 1310015 w 2619936"/>
              <a:gd name="connsiteY5-40" fmla="*/ 0 h 262003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619936" h="2620034">
                <a:moveTo>
                  <a:pt x="2619936" y="1311964"/>
                </a:moveTo>
                <a:lnTo>
                  <a:pt x="2613271" y="1443959"/>
                </a:lnTo>
                <a:cubicBezTo>
                  <a:pt x="2546185" y="2104542"/>
                  <a:pt x="1988300" y="2620034"/>
                  <a:pt x="1310017" y="2620034"/>
                </a:cubicBezTo>
                <a:cubicBezTo>
                  <a:pt x="586515" y="2620034"/>
                  <a:pt x="0" y="2033519"/>
                  <a:pt x="0" y="1310017"/>
                </a:cubicBezTo>
                <a:cubicBezTo>
                  <a:pt x="0" y="631734"/>
                  <a:pt x="515492" y="73850"/>
                  <a:pt x="1176076" y="6764"/>
                </a:cubicBezTo>
                <a:lnTo>
                  <a:pt x="1310015" y="0"/>
                </a:lnTo>
              </a:path>
            </a:pathLst>
          </a:custGeom>
          <a:noFill/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任意多边形: 形状 9"/>
          <p:cNvSpPr/>
          <p:nvPr userDrawn="1"/>
        </p:nvSpPr>
        <p:spPr>
          <a:xfrm>
            <a:off x="4601109" y="1129189"/>
            <a:ext cx="2619936" cy="2620034"/>
          </a:xfrm>
          <a:custGeom>
            <a:avLst/>
            <a:gdLst>
              <a:gd name="connsiteX0" fmla="*/ 1310015 w 2619936"/>
              <a:gd name="connsiteY0" fmla="*/ 0 h 2620034"/>
              <a:gd name="connsiteX1" fmla="*/ 1310015 w 2619936"/>
              <a:gd name="connsiteY1" fmla="*/ 1311964 h 2620034"/>
              <a:gd name="connsiteX2" fmla="*/ 2619936 w 2619936"/>
              <a:gd name="connsiteY2" fmla="*/ 1311964 h 2620034"/>
              <a:gd name="connsiteX3" fmla="*/ 2613271 w 2619936"/>
              <a:gd name="connsiteY3" fmla="*/ 1443959 h 2620034"/>
              <a:gd name="connsiteX4" fmla="*/ 1310017 w 2619936"/>
              <a:gd name="connsiteY4" fmla="*/ 2620034 h 2620034"/>
              <a:gd name="connsiteX5" fmla="*/ 0 w 2619936"/>
              <a:gd name="connsiteY5" fmla="*/ 1310017 h 2620034"/>
              <a:gd name="connsiteX6" fmla="*/ 1176076 w 2619936"/>
              <a:gd name="connsiteY6" fmla="*/ 6764 h 2620034"/>
              <a:gd name="connsiteX0-1" fmla="*/ 1310015 w 2619936"/>
              <a:gd name="connsiteY0-2" fmla="*/ 1311964 h 2620034"/>
              <a:gd name="connsiteX1-3" fmla="*/ 2619936 w 2619936"/>
              <a:gd name="connsiteY1-4" fmla="*/ 1311964 h 2620034"/>
              <a:gd name="connsiteX2-5" fmla="*/ 2613271 w 2619936"/>
              <a:gd name="connsiteY2-6" fmla="*/ 1443959 h 2620034"/>
              <a:gd name="connsiteX3-7" fmla="*/ 1310017 w 2619936"/>
              <a:gd name="connsiteY3-8" fmla="*/ 2620034 h 2620034"/>
              <a:gd name="connsiteX4-9" fmla="*/ 0 w 2619936"/>
              <a:gd name="connsiteY4-10" fmla="*/ 1310017 h 2620034"/>
              <a:gd name="connsiteX5-11" fmla="*/ 1176076 w 2619936"/>
              <a:gd name="connsiteY5-12" fmla="*/ 6764 h 2620034"/>
              <a:gd name="connsiteX6-13" fmla="*/ 1310015 w 2619936"/>
              <a:gd name="connsiteY6-14" fmla="*/ 0 h 2620034"/>
              <a:gd name="connsiteX7" fmla="*/ 1401455 w 2619936"/>
              <a:gd name="connsiteY7" fmla="*/ 1403404 h 2620034"/>
              <a:gd name="connsiteX0-15" fmla="*/ 1310015 w 2619936"/>
              <a:gd name="connsiteY0-16" fmla="*/ 1311964 h 2620034"/>
              <a:gd name="connsiteX1-17" fmla="*/ 2619936 w 2619936"/>
              <a:gd name="connsiteY1-18" fmla="*/ 1311964 h 2620034"/>
              <a:gd name="connsiteX2-19" fmla="*/ 2613271 w 2619936"/>
              <a:gd name="connsiteY2-20" fmla="*/ 1443959 h 2620034"/>
              <a:gd name="connsiteX3-21" fmla="*/ 1310017 w 2619936"/>
              <a:gd name="connsiteY3-22" fmla="*/ 2620034 h 2620034"/>
              <a:gd name="connsiteX4-23" fmla="*/ 0 w 2619936"/>
              <a:gd name="connsiteY4-24" fmla="*/ 1310017 h 2620034"/>
              <a:gd name="connsiteX5-25" fmla="*/ 1176076 w 2619936"/>
              <a:gd name="connsiteY5-26" fmla="*/ 6764 h 2620034"/>
              <a:gd name="connsiteX6-27" fmla="*/ 1310015 w 2619936"/>
              <a:gd name="connsiteY6-28" fmla="*/ 0 h 2620034"/>
              <a:gd name="connsiteX0-29" fmla="*/ 2619936 w 2619936"/>
              <a:gd name="connsiteY0-30" fmla="*/ 1311964 h 2620034"/>
              <a:gd name="connsiteX1-31" fmla="*/ 2613271 w 2619936"/>
              <a:gd name="connsiteY1-32" fmla="*/ 1443959 h 2620034"/>
              <a:gd name="connsiteX2-33" fmla="*/ 1310017 w 2619936"/>
              <a:gd name="connsiteY2-34" fmla="*/ 2620034 h 2620034"/>
              <a:gd name="connsiteX3-35" fmla="*/ 0 w 2619936"/>
              <a:gd name="connsiteY3-36" fmla="*/ 1310017 h 2620034"/>
              <a:gd name="connsiteX4-37" fmla="*/ 1176076 w 2619936"/>
              <a:gd name="connsiteY4-38" fmla="*/ 6764 h 2620034"/>
              <a:gd name="connsiteX5-39" fmla="*/ 1310015 w 2619936"/>
              <a:gd name="connsiteY5-40" fmla="*/ 0 h 262003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619936" h="2620034">
                <a:moveTo>
                  <a:pt x="2619936" y="1311964"/>
                </a:moveTo>
                <a:lnTo>
                  <a:pt x="2613271" y="1443959"/>
                </a:lnTo>
                <a:cubicBezTo>
                  <a:pt x="2546185" y="2104542"/>
                  <a:pt x="1988300" y="2620034"/>
                  <a:pt x="1310017" y="2620034"/>
                </a:cubicBezTo>
                <a:cubicBezTo>
                  <a:pt x="586515" y="2620034"/>
                  <a:pt x="0" y="2033519"/>
                  <a:pt x="0" y="1310017"/>
                </a:cubicBezTo>
                <a:cubicBezTo>
                  <a:pt x="0" y="631734"/>
                  <a:pt x="515492" y="73850"/>
                  <a:pt x="1176076" y="6764"/>
                </a:cubicBezTo>
                <a:lnTo>
                  <a:pt x="1310015" y="0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" name="任意多边形: 形状 10"/>
          <p:cNvSpPr/>
          <p:nvPr userDrawn="1"/>
        </p:nvSpPr>
        <p:spPr>
          <a:xfrm>
            <a:off x="8026573" y="1129189"/>
            <a:ext cx="2619936" cy="2620034"/>
          </a:xfrm>
          <a:custGeom>
            <a:avLst/>
            <a:gdLst>
              <a:gd name="connsiteX0" fmla="*/ 1310015 w 2619936"/>
              <a:gd name="connsiteY0" fmla="*/ 0 h 2620034"/>
              <a:gd name="connsiteX1" fmla="*/ 1310015 w 2619936"/>
              <a:gd name="connsiteY1" fmla="*/ 1311964 h 2620034"/>
              <a:gd name="connsiteX2" fmla="*/ 2619936 w 2619936"/>
              <a:gd name="connsiteY2" fmla="*/ 1311964 h 2620034"/>
              <a:gd name="connsiteX3" fmla="*/ 2613271 w 2619936"/>
              <a:gd name="connsiteY3" fmla="*/ 1443959 h 2620034"/>
              <a:gd name="connsiteX4" fmla="*/ 1310017 w 2619936"/>
              <a:gd name="connsiteY4" fmla="*/ 2620034 h 2620034"/>
              <a:gd name="connsiteX5" fmla="*/ 0 w 2619936"/>
              <a:gd name="connsiteY5" fmla="*/ 1310017 h 2620034"/>
              <a:gd name="connsiteX6" fmla="*/ 1176076 w 2619936"/>
              <a:gd name="connsiteY6" fmla="*/ 6764 h 2620034"/>
              <a:gd name="connsiteX0-1" fmla="*/ 1310015 w 2619936"/>
              <a:gd name="connsiteY0-2" fmla="*/ 1311964 h 2620034"/>
              <a:gd name="connsiteX1-3" fmla="*/ 2619936 w 2619936"/>
              <a:gd name="connsiteY1-4" fmla="*/ 1311964 h 2620034"/>
              <a:gd name="connsiteX2-5" fmla="*/ 2613271 w 2619936"/>
              <a:gd name="connsiteY2-6" fmla="*/ 1443959 h 2620034"/>
              <a:gd name="connsiteX3-7" fmla="*/ 1310017 w 2619936"/>
              <a:gd name="connsiteY3-8" fmla="*/ 2620034 h 2620034"/>
              <a:gd name="connsiteX4-9" fmla="*/ 0 w 2619936"/>
              <a:gd name="connsiteY4-10" fmla="*/ 1310017 h 2620034"/>
              <a:gd name="connsiteX5-11" fmla="*/ 1176076 w 2619936"/>
              <a:gd name="connsiteY5-12" fmla="*/ 6764 h 2620034"/>
              <a:gd name="connsiteX6-13" fmla="*/ 1310015 w 2619936"/>
              <a:gd name="connsiteY6-14" fmla="*/ 0 h 2620034"/>
              <a:gd name="connsiteX7" fmla="*/ 1401455 w 2619936"/>
              <a:gd name="connsiteY7" fmla="*/ 1403404 h 2620034"/>
              <a:gd name="connsiteX0-15" fmla="*/ 1310015 w 2619936"/>
              <a:gd name="connsiteY0-16" fmla="*/ 1311964 h 2620034"/>
              <a:gd name="connsiteX1-17" fmla="*/ 2619936 w 2619936"/>
              <a:gd name="connsiteY1-18" fmla="*/ 1311964 h 2620034"/>
              <a:gd name="connsiteX2-19" fmla="*/ 2613271 w 2619936"/>
              <a:gd name="connsiteY2-20" fmla="*/ 1443959 h 2620034"/>
              <a:gd name="connsiteX3-21" fmla="*/ 1310017 w 2619936"/>
              <a:gd name="connsiteY3-22" fmla="*/ 2620034 h 2620034"/>
              <a:gd name="connsiteX4-23" fmla="*/ 0 w 2619936"/>
              <a:gd name="connsiteY4-24" fmla="*/ 1310017 h 2620034"/>
              <a:gd name="connsiteX5-25" fmla="*/ 1176076 w 2619936"/>
              <a:gd name="connsiteY5-26" fmla="*/ 6764 h 2620034"/>
              <a:gd name="connsiteX6-27" fmla="*/ 1310015 w 2619936"/>
              <a:gd name="connsiteY6-28" fmla="*/ 0 h 2620034"/>
              <a:gd name="connsiteX0-29" fmla="*/ 2619936 w 2619936"/>
              <a:gd name="connsiteY0-30" fmla="*/ 1311964 h 2620034"/>
              <a:gd name="connsiteX1-31" fmla="*/ 2613271 w 2619936"/>
              <a:gd name="connsiteY1-32" fmla="*/ 1443959 h 2620034"/>
              <a:gd name="connsiteX2-33" fmla="*/ 1310017 w 2619936"/>
              <a:gd name="connsiteY2-34" fmla="*/ 2620034 h 2620034"/>
              <a:gd name="connsiteX3-35" fmla="*/ 0 w 2619936"/>
              <a:gd name="connsiteY3-36" fmla="*/ 1310017 h 2620034"/>
              <a:gd name="connsiteX4-37" fmla="*/ 1176076 w 2619936"/>
              <a:gd name="connsiteY4-38" fmla="*/ 6764 h 2620034"/>
              <a:gd name="connsiteX5-39" fmla="*/ 1310015 w 2619936"/>
              <a:gd name="connsiteY5-40" fmla="*/ 0 h 262003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619936" h="2620034">
                <a:moveTo>
                  <a:pt x="2619936" y="1311964"/>
                </a:moveTo>
                <a:lnTo>
                  <a:pt x="2613271" y="1443959"/>
                </a:lnTo>
                <a:cubicBezTo>
                  <a:pt x="2546185" y="2104542"/>
                  <a:pt x="1988300" y="2620034"/>
                  <a:pt x="1310017" y="2620034"/>
                </a:cubicBezTo>
                <a:cubicBezTo>
                  <a:pt x="586515" y="2620034"/>
                  <a:pt x="0" y="2033519"/>
                  <a:pt x="0" y="1310017"/>
                </a:cubicBezTo>
                <a:cubicBezTo>
                  <a:pt x="0" y="631734"/>
                  <a:pt x="515492" y="73850"/>
                  <a:pt x="1176076" y="6764"/>
                </a:cubicBezTo>
                <a:lnTo>
                  <a:pt x="1310015" y="0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 userDrawn="1"/>
        </p:nvSpPr>
        <p:spPr>
          <a:xfrm>
            <a:off x="3746818" y="2390442"/>
            <a:ext cx="97528" cy="9752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椭圆 12"/>
          <p:cNvSpPr/>
          <p:nvPr userDrawn="1"/>
        </p:nvSpPr>
        <p:spPr>
          <a:xfrm>
            <a:off x="7241893" y="2390442"/>
            <a:ext cx="97528" cy="9752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椭圆 13"/>
          <p:cNvSpPr/>
          <p:nvPr userDrawn="1"/>
        </p:nvSpPr>
        <p:spPr>
          <a:xfrm>
            <a:off x="10597745" y="2390442"/>
            <a:ext cx="97528" cy="9752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图片占位符 16"/>
          <p:cNvSpPr>
            <a:spLocks noGrp="1"/>
          </p:cNvSpPr>
          <p:nvPr>
            <p:ph type="pic" sz="quarter" idx="13"/>
          </p:nvPr>
        </p:nvSpPr>
        <p:spPr>
          <a:xfrm>
            <a:off x="1315435" y="1283230"/>
            <a:ext cx="2318937" cy="231980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6" name="图片占位符 16"/>
          <p:cNvSpPr>
            <a:spLocks noGrp="1"/>
          </p:cNvSpPr>
          <p:nvPr>
            <p:ph type="pic" sz="quarter" idx="14"/>
          </p:nvPr>
        </p:nvSpPr>
        <p:spPr>
          <a:xfrm>
            <a:off x="4745356" y="1283230"/>
            <a:ext cx="2318937" cy="231980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16"/>
          <p:cNvSpPr>
            <a:spLocks noGrp="1"/>
          </p:cNvSpPr>
          <p:nvPr>
            <p:ph type="pic" sz="quarter" idx="15"/>
          </p:nvPr>
        </p:nvSpPr>
        <p:spPr>
          <a:xfrm>
            <a:off x="8175278" y="1283230"/>
            <a:ext cx="2318937" cy="231980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33" name="文本框 32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80" name="矩形: 圆角 79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1" name="组合 80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2" name="椭圆 81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3" name="组合 82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4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5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6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7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9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3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24" name="文本占位符 65"/>
          <p:cNvSpPr>
            <a:spLocks noGrp="1"/>
          </p:cNvSpPr>
          <p:nvPr>
            <p:ph type="body" idx="16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多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8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4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5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6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7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8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9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0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1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23" name="泪滴形 22"/>
          <p:cNvSpPr/>
          <p:nvPr userDrawn="1"/>
        </p:nvSpPr>
        <p:spPr>
          <a:xfrm flipH="1" flipV="1">
            <a:off x="6231956" y="1325419"/>
            <a:ext cx="2284692" cy="2284692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泪滴形 23"/>
          <p:cNvSpPr/>
          <p:nvPr userDrawn="1"/>
        </p:nvSpPr>
        <p:spPr>
          <a:xfrm flipV="1">
            <a:off x="3836026" y="1325419"/>
            <a:ext cx="2284691" cy="2284691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泪滴形 20"/>
          <p:cNvSpPr/>
          <p:nvPr userDrawn="1"/>
        </p:nvSpPr>
        <p:spPr>
          <a:xfrm flipH="1">
            <a:off x="6231956" y="3712424"/>
            <a:ext cx="2284692" cy="2284692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泪滴形 18"/>
          <p:cNvSpPr/>
          <p:nvPr userDrawn="1"/>
        </p:nvSpPr>
        <p:spPr>
          <a:xfrm>
            <a:off x="3836024" y="3712424"/>
            <a:ext cx="2284693" cy="2284693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20" name="图片占位符 16"/>
          <p:cNvSpPr>
            <a:spLocks noGrp="1"/>
          </p:cNvSpPr>
          <p:nvPr>
            <p:ph type="pic" sz="quarter" idx="13"/>
          </p:nvPr>
        </p:nvSpPr>
        <p:spPr>
          <a:xfrm flipH="1">
            <a:off x="3921679" y="3817073"/>
            <a:ext cx="2082882" cy="2083662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22" name="图片占位符 16"/>
          <p:cNvSpPr>
            <a:spLocks noGrp="1"/>
          </p:cNvSpPr>
          <p:nvPr>
            <p:ph type="pic" sz="quarter" idx="14"/>
          </p:nvPr>
        </p:nvSpPr>
        <p:spPr>
          <a:xfrm>
            <a:off x="6337011" y="3817073"/>
            <a:ext cx="2082881" cy="2083661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25" name="图片占位符 16"/>
          <p:cNvSpPr>
            <a:spLocks noGrp="1"/>
          </p:cNvSpPr>
          <p:nvPr>
            <p:ph type="pic" sz="quarter" idx="15"/>
          </p:nvPr>
        </p:nvSpPr>
        <p:spPr>
          <a:xfrm flipH="1">
            <a:off x="3921681" y="1428875"/>
            <a:ext cx="2082880" cy="2083660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26" name="图片占位符 16"/>
          <p:cNvSpPr>
            <a:spLocks noGrp="1"/>
          </p:cNvSpPr>
          <p:nvPr>
            <p:ph type="pic" sz="quarter" idx="16"/>
          </p:nvPr>
        </p:nvSpPr>
        <p:spPr>
          <a:xfrm>
            <a:off x="6337011" y="1428873"/>
            <a:ext cx="2082881" cy="2083661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2" name="文本框 41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89" name="矩形: 圆角 88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0" name="组合 89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91" name="椭圆 90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92" name="组合 91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93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3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4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5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7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8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9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0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1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2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33" name="文本占位符 65"/>
          <p:cNvSpPr>
            <a:spLocks noGrp="1"/>
          </p:cNvSpPr>
          <p:nvPr>
            <p:ph type="body" idx="17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手机样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片占位符 11"/>
          <p:cNvSpPr>
            <a:spLocks noGrp="1"/>
          </p:cNvSpPr>
          <p:nvPr>
            <p:ph type="pic" sz="quarter" idx="10"/>
          </p:nvPr>
        </p:nvSpPr>
        <p:spPr>
          <a:xfrm>
            <a:off x="4712208" y="1425576"/>
            <a:ext cx="2761487" cy="5432425"/>
          </a:xfrm>
          <a:custGeom>
            <a:avLst/>
            <a:gdLst>
              <a:gd name="connsiteX0" fmla="*/ 226557 w 2727960"/>
              <a:gd name="connsiteY0" fmla="*/ 0 h 5432425"/>
              <a:gd name="connsiteX1" fmla="*/ 2501403 w 2727960"/>
              <a:gd name="connsiteY1" fmla="*/ 0 h 5432425"/>
              <a:gd name="connsiteX2" fmla="*/ 2727960 w 2727960"/>
              <a:gd name="connsiteY2" fmla="*/ 226557 h 5432425"/>
              <a:gd name="connsiteX3" fmla="*/ 2727960 w 2727960"/>
              <a:gd name="connsiteY3" fmla="*/ 5432425 h 5432425"/>
              <a:gd name="connsiteX4" fmla="*/ 0 w 2727960"/>
              <a:gd name="connsiteY4" fmla="*/ 5432425 h 5432425"/>
              <a:gd name="connsiteX5" fmla="*/ 0 w 2727960"/>
              <a:gd name="connsiteY5" fmla="*/ 226557 h 5432425"/>
              <a:gd name="connsiteX6" fmla="*/ 226557 w 2727960"/>
              <a:gd name="connsiteY6" fmla="*/ 0 h 5432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7960" h="5432425">
                <a:moveTo>
                  <a:pt x="226557" y="0"/>
                </a:moveTo>
                <a:lnTo>
                  <a:pt x="2501403" y="0"/>
                </a:lnTo>
                <a:cubicBezTo>
                  <a:pt x="2626527" y="0"/>
                  <a:pt x="2727960" y="101433"/>
                  <a:pt x="2727960" y="226557"/>
                </a:cubicBezTo>
                <a:lnTo>
                  <a:pt x="2727960" y="5432425"/>
                </a:lnTo>
                <a:lnTo>
                  <a:pt x="0" y="5432425"/>
                </a:lnTo>
                <a:lnTo>
                  <a:pt x="0" y="226557"/>
                </a:lnTo>
                <a:cubicBezTo>
                  <a:pt x="0" y="101433"/>
                  <a:pt x="101433" y="0"/>
                  <a:pt x="22655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157"/>
          <a:stretch>
            <a:fillRect/>
          </a:stretch>
        </p:blipFill>
        <p:spPr>
          <a:xfrm>
            <a:off x="4023982" y="970876"/>
            <a:ext cx="4144035" cy="5887124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grpSp>
        <p:nvGrpSpPr>
          <p:cNvPr id="14" name="组合 13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5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6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7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8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9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75" name="矩形: 圆角 74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6" name="组合 75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77" name="椭圆 76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8" name="组合 77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79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0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1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3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4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5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6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7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9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19" name="文本占位符 65"/>
          <p:cNvSpPr>
            <a:spLocks noGrp="1"/>
          </p:cNvSpPr>
          <p:nvPr>
            <p:ph type="body" idx="13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电脑样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8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9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0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1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2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3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4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5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6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7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8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9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65" name="椭圆 64"/>
          <p:cNvSpPr/>
          <p:nvPr userDrawn="1"/>
        </p:nvSpPr>
        <p:spPr>
          <a:xfrm>
            <a:off x="6958403" y="5702153"/>
            <a:ext cx="2640760" cy="529481"/>
          </a:xfrm>
          <a:prstGeom prst="ellipse">
            <a:avLst/>
          </a:prstGeom>
          <a:solidFill>
            <a:schemeClr val="bg2">
              <a:lumMod val="50000"/>
              <a:alpha val="32000"/>
            </a:schemeClr>
          </a:soli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5469" y="1494982"/>
            <a:ext cx="5799137" cy="4525085"/>
          </a:xfrm>
          <a:prstGeom prst="rect">
            <a:avLst/>
          </a:prstGeom>
        </p:spPr>
      </p:pic>
      <p:sp>
        <p:nvSpPr>
          <p:cNvPr id="23" name="图片占位符 22"/>
          <p:cNvSpPr>
            <a:spLocks noGrp="1"/>
          </p:cNvSpPr>
          <p:nvPr>
            <p:ph type="pic" sz="quarter" idx="10"/>
          </p:nvPr>
        </p:nvSpPr>
        <p:spPr>
          <a:xfrm>
            <a:off x="5575656" y="1711325"/>
            <a:ext cx="5324475" cy="301466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4" name="文本框 23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70" name="矩形: 圆角 69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1" name="组合 70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72" name="椭圆 71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3" name="组合 72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74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5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6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7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8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0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1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3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4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5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6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7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9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14" name="文本占位符 65"/>
          <p:cNvSpPr>
            <a:spLocks noGrp="1"/>
          </p:cNvSpPr>
          <p:nvPr>
            <p:ph type="body" idx="13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音乐播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8" name="图片占位符 7"/>
          <p:cNvSpPr>
            <a:spLocks noGrp="1"/>
          </p:cNvSpPr>
          <p:nvPr>
            <p:ph type="pic" sz="quarter" idx="13"/>
          </p:nvPr>
        </p:nvSpPr>
        <p:spPr>
          <a:xfrm>
            <a:off x="7989570" y="2431013"/>
            <a:ext cx="2595932" cy="2595932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矩形: 圆角 8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0" name="组合 9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11" name="椭圆 10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2" name="组合 11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13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4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5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6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7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8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1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2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3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4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53" name="文本占位符 65"/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  <p:sp>
        <p:nvSpPr>
          <p:cNvPr id="54" name="文本框 53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grpSp>
        <p:nvGrpSpPr>
          <p:cNvPr id="55" name="组合 54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56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7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8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9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0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1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2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3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4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5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6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7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8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9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dkUpDiag">
          <a:fgClr>
            <a:schemeClr val="bg1"/>
          </a:fgClr>
          <a:bgClr>
            <a:schemeClr val="bg1">
              <a:lumMod val="95000"/>
            </a:schemeClr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microsoft.com/office/2007/relationships/hdphoto" Target="../media/image8.wdp"/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.xml"/><Relationship Id="rId7" Type="http://schemas.openxmlformats.org/officeDocument/2006/relationships/slideLayout" Target="../slideLayouts/slideLayout4.xml"/><Relationship Id="rId6" Type="http://schemas.openxmlformats.org/officeDocument/2006/relationships/tags" Target="../tags/tag1.xml"/><Relationship Id="rId5" Type="http://schemas.microsoft.com/office/2007/relationships/hdphoto" Target="../media/image8.wdp"/><Relationship Id="rId4" Type="http://schemas.openxmlformats.org/officeDocument/2006/relationships/image" Target="../media/image7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60" b="8260"/>
          <a:stretch>
            <a:fillRect/>
          </a:stretch>
        </p:blipFill>
        <p:spPr bwMode="auto">
          <a:xfrm>
            <a:off x="0" y="2013272"/>
            <a:ext cx="12187003" cy="317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矩形 27"/>
          <p:cNvSpPr/>
          <p:nvPr/>
        </p:nvSpPr>
        <p:spPr>
          <a:xfrm>
            <a:off x="-4996" y="2007322"/>
            <a:ext cx="12191999" cy="3183250"/>
          </a:xfrm>
          <a:prstGeom prst="rect">
            <a:avLst/>
          </a:prstGeom>
          <a:gradFill>
            <a:gsLst>
              <a:gs pos="0">
                <a:srgbClr val="A3050E"/>
              </a:gs>
              <a:gs pos="74000">
                <a:srgbClr val="A3050E">
                  <a:alpha val="60000"/>
                </a:srgbClr>
              </a:gs>
              <a:gs pos="37000">
                <a:srgbClr val="A3050E">
                  <a:alpha val="80000"/>
                </a:srgbClr>
              </a:gs>
              <a:gs pos="100000">
                <a:srgbClr val="A3050E">
                  <a:alpha val="90000"/>
                </a:srgb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charset="-122"/>
              <a:cs typeface="+mn-ea"/>
              <a:sym typeface="+mn-lt"/>
            </a:endParaRPr>
          </a:p>
        </p:txBody>
      </p:sp>
      <p:grpSp>
        <p:nvGrpSpPr>
          <p:cNvPr id="37" name="组合 36"/>
          <p:cNvGrpSpPr/>
          <p:nvPr/>
        </p:nvGrpSpPr>
        <p:grpSpPr>
          <a:xfrm>
            <a:off x="1974169" y="5964944"/>
            <a:ext cx="7345602" cy="338554"/>
            <a:chOff x="289384" y="6056049"/>
            <a:chExt cx="7345602" cy="338554"/>
          </a:xfrm>
        </p:grpSpPr>
        <p:sp>
          <p:nvSpPr>
            <p:cNvPr id="38" name="TextBox 14"/>
            <p:cNvSpPr txBox="1"/>
            <p:nvPr/>
          </p:nvSpPr>
          <p:spPr>
            <a:xfrm>
              <a:off x="289384" y="6056049"/>
              <a:ext cx="411683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>
                <a:defRPr/>
              </a:pP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小组成员：王子卿 李冰滢 </a:t>
              </a:r>
              <a:r>
                <a:rPr lang="zh-CN" altLang="en-US" sz="1600" b="1" dirty="0">
                  <a:solidFill>
                    <a:srgbClr val="961318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赵芳誉 陈玮灿 </a:t>
              </a:r>
              <a:endPara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61318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ea"/>
              </a:endParaRPr>
            </a:p>
          </p:txBody>
        </p:sp>
        <p:sp>
          <p:nvSpPr>
            <p:cNvPr id="40" name="TextBox 90"/>
            <p:cNvSpPr txBox="1"/>
            <p:nvPr/>
          </p:nvSpPr>
          <p:spPr>
            <a:xfrm>
              <a:off x="5308708" y="6056049"/>
              <a:ext cx="232627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日期：</a:t>
              </a:r>
              <a:r>
                <a:rPr kumimoji="0" lang="en-US" altLang="zh-CN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2025</a:t>
              </a: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年</a:t>
              </a:r>
              <a:r>
                <a:rPr lang="en-US" altLang="zh-CN" sz="1600" b="1" dirty="0">
                  <a:solidFill>
                    <a:srgbClr val="961318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10</a:t>
              </a: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月</a:t>
              </a:r>
              <a:r>
                <a:rPr kumimoji="0" lang="en-US" altLang="zh-CN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30</a:t>
              </a: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日</a:t>
              </a:r>
              <a:endPara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61318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ea"/>
              </a:endParaRPr>
            </a:p>
          </p:txBody>
        </p:sp>
      </p:grpSp>
      <p:sp>
        <p:nvSpPr>
          <p:cNvPr id="42" name="Rectangle 9"/>
          <p:cNvSpPr/>
          <p:nvPr/>
        </p:nvSpPr>
        <p:spPr>
          <a:xfrm>
            <a:off x="477186" y="2459504"/>
            <a:ext cx="11227633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6000" b="1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  <a:cs typeface="阿里巴巴普惠体 B" panose="00020600040101010101" pitchFamily="18" charset="-122"/>
              </a:rPr>
              <a:t>Price &amp; rent </a:t>
            </a:r>
            <a:endParaRPr lang="en-US" altLang="zh-CN" sz="6000" b="1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  <a:cs typeface="阿里巴巴普惠体 B" panose="00020600040101010101" pitchFamily="18" charset="-122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6000" b="1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  <a:cs typeface="阿里巴巴普惠体 B" panose="00020600040101010101" pitchFamily="18" charset="-122"/>
              </a:rPr>
              <a:t>prediction model</a:t>
            </a:r>
            <a:endParaRPr kumimoji="0" lang="zh-CN" altLang="en-US" sz="6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阿里巴巴普惠体 B" panose="00020600040101010101" pitchFamily="18" charset="-122"/>
            </a:endParaRPr>
          </a:p>
        </p:txBody>
      </p:sp>
      <p:cxnSp>
        <p:nvCxnSpPr>
          <p:cNvPr id="44" name="直接连接符 43"/>
          <p:cNvCxnSpPr>
            <a:endCxn id="22" idx="1"/>
          </p:cNvCxnSpPr>
          <p:nvPr/>
        </p:nvCxnSpPr>
        <p:spPr>
          <a:xfrm>
            <a:off x="-884420" y="5455934"/>
            <a:ext cx="6228990" cy="43224"/>
          </a:xfrm>
          <a:prstGeom prst="line">
            <a:avLst/>
          </a:prstGeom>
          <a:noFill/>
          <a:ln w="38100" cap="flat" cmpd="sng" algn="ctr">
            <a:solidFill>
              <a:srgbClr val="961318"/>
            </a:solidFill>
            <a:prstDash val="solid"/>
            <a:miter lim="800000"/>
          </a:ln>
          <a:effectLst/>
        </p:spPr>
      </p:cxnSp>
      <p:cxnSp>
        <p:nvCxnSpPr>
          <p:cNvPr id="45" name="直接连接符 44"/>
          <p:cNvCxnSpPr>
            <a:stCxn id="22" idx="3"/>
          </p:cNvCxnSpPr>
          <p:nvPr/>
        </p:nvCxnSpPr>
        <p:spPr>
          <a:xfrm flipV="1">
            <a:off x="6870876" y="5455934"/>
            <a:ext cx="5975694" cy="43224"/>
          </a:xfrm>
          <a:prstGeom prst="line">
            <a:avLst/>
          </a:prstGeom>
          <a:noFill/>
          <a:ln w="38100" cap="flat" cmpd="sng" algn="ctr">
            <a:solidFill>
              <a:srgbClr val="961318"/>
            </a:solidFill>
            <a:prstDash val="solid"/>
            <a:miter lim="800000"/>
          </a:ln>
          <a:effectLst/>
        </p:spPr>
      </p:cxnSp>
      <p:grpSp>
        <p:nvGrpSpPr>
          <p:cNvPr id="18" name="组合 17"/>
          <p:cNvGrpSpPr/>
          <p:nvPr/>
        </p:nvGrpSpPr>
        <p:grpSpPr>
          <a:xfrm>
            <a:off x="3697903" y="502043"/>
            <a:ext cx="4751224" cy="1310637"/>
            <a:chOff x="1013385" y="386506"/>
            <a:chExt cx="4228542" cy="1166454"/>
          </a:xfrm>
        </p:grpSpPr>
        <p:pic>
          <p:nvPicPr>
            <p:cNvPr id="19" name="图片 1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013385" y="386506"/>
              <a:ext cx="1161573" cy="1166454"/>
            </a:xfrm>
            <a:prstGeom prst="rect">
              <a:avLst/>
            </a:prstGeom>
          </p:spPr>
        </p:pic>
        <p:pic>
          <p:nvPicPr>
            <p:cNvPr id="20" name="图片 19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341918" y="523819"/>
              <a:ext cx="2896218" cy="640678"/>
            </a:xfrm>
            <a:prstGeom prst="rect">
              <a:avLst/>
            </a:prstGeom>
          </p:spPr>
        </p:pic>
        <p:sp>
          <p:nvSpPr>
            <p:cNvPr id="21" name="矩形 20"/>
            <p:cNvSpPr/>
            <p:nvPr/>
          </p:nvSpPr>
          <p:spPr>
            <a:xfrm>
              <a:off x="2301895" y="1128876"/>
              <a:ext cx="2940032" cy="3013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en-US" altLang="zh-CN" sz="1600" b="1" dirty="0">
                  <a:solidFill>
                    <a:srgbClr val="000000"/>
                  </a:solidFill>
                  <a:latin typeface="Calibri" panose="020F0502020204030204"/>
                  <a:ea typeface="宋体" panose="02010600030101010101" pitchFamily="2" charset="-122"/>
                </a:rPr>
                <a:t>RENMIN UNIVERSITY OF CHINA</a:t>
              </a:r>
              <a:endParaRPr lang="zh-CN" altLang="en-US" sz="1600" b="1" dirty="0">
                <a:solidFill>
                  <a:srgbClr val="000000"/>
                </a:solidFill>
                <a:latin typeface="Calibri" panose="020F0502020204030204"/>
                <a:ea typeface="宋体" panose="02010600030101010101" pitchFamily="2" charset="-122"/>
              </a:endParaRPr>
            </a:p>
          </p:txBody>
        </p:sp>
      </p:grpSp>
      <p:pic>
        <p:nvPicPr>
          <p:cNvPr id="22" name="图片 2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412312" y="5298734"/>
            <a:ext cx="1390821" cy="400848"/>
          </a:xfrm>
          <a:prstGeom prst="rect">
            <a:avLst/>
          </a:prstGeom>
        </p:spPr>
      </p:pic>
      <p:sp>
        <p:nvSpPr>
          <p:cNvPr id="2" name="Rectangle 9"/>
          <p:cNvSpPr/>
          <p:nvPr/>
        </p:nvSpPr>
        <p:spPr>
          <a:xfrm>
            <a:off x="470462" y="4565888"/>
            <a:ext cx="1122763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阿里巴巴普惠体 B" panose="00020600040101010101" pitchFamily="18" charset="-122"/>
              </a:rPr>
              <a:t>The second group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阿里巴巴普惠体 B" panose="00020600040101010101" pitchFamily="18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doors dir="ver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335361" y="116633"/>
            <a:ext cx="11521279" cy="6589041"/>
            <a:chOff x="335361" y="116633"/>
            <a:chExt cx="11521279" cy="6589041"/>
          </a:xfrm>
        </p:grpSpPr>
        <p:grpSp>
          <p:nvGrpSpPr>
            <p:cNvPr id="3" name="组合 2"/>
            <p:cNvGrpSpPr/>
            <p:nvPr/>
          </p:nvGrpSpPr>
          <p:grpSpPr>
            <a:xfrm>
              <a:off x="335361" y="116633"/>
              <a:ext cx="629872" cy="612768"/>
              <a:chOff x="3070727" y="196457"/>
              <a:chExt cx="692047" cy="673255"/>
            </a:xfrm>
          </p:grpSpPr>
          <p:sp>
            <p:nvSpPr>
              <p:cNvPr id="8" name="平行四边形 7"/>
              <p:cNvSpPr/>
              <p:nvPr/>
            </p:nvSpPr>
            <p:spPr>
              <a:xfrm>
                <a:off x="3070727" y="196457"/>
                <a:ext cx="629587" cy="612775"/>
              </a:xfrm>
              <a:prstGeom prst="parallelogram">
                <a:avLst/>
              </a:prstGeom>
              <a:solidFill>
                <a:srgbClr val="961318"/>
              </a:solidFill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  <p:sp>
            <p:nvSpPr>
              <p:cNvPr id="9" name="平行四边形 8"/>
              <p:cNvSpPr/>
              <p:nvPr/>
            </p:nvSpPr>
            <p:spPr>
              <a:xfrm>
                <a:off x="3133187" y="256937"/>
                <a:ext cx="629587" cy="612775"/>
              </a:xfrm>
              <a:prstGeom prst="parallelogram">
                <a:avLst/>
              </a:prstGeom>
              <a:noFill/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</p:grpSp>
        <p:cxnSp>
          <p:nvCxnSpPr>
            <p:cNvPr id="4" name="直接连接符 3"/>
            <p:cNvCxnSpPr/>
            <p:nvPr/>
          </p:nvCxnSpPr>
          <p:spPr>
            <a:xfrm>
              <a:off x="367840" y="809674"/>
              <a:ext cx="11488800" cy="0"/>
            </a:xfrm>
            <a:prstGeom prst="line">
              <a:avLst/>
            </a:prstGeom>
            <a:noFill/>
            <a:ln w="9525" cap="flat" cmpd="sng" algn="ctr">
              <a:solidFill>
                <a:srgbClr val="961318"/>
              </a:solidFill>
              <a:prstDash val="solid"/>
            </a:ln>
            <a:effectLst/>
          </p:spPr>
        </p:cxnSp>
        <p:sp>
          <p:nvSpPr>
            <p:cNvPr id="6" name="文本框 5"/>
            <p:cNvSpPr txBox="1"/>
            <p:nvPr/>
          </p:nvSpPr>
          <p:spPr>
            <a:xfrm>
              <a:off x="10805366" y="6428675"/>
              <a:ext cx="1847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1" i="0" u="none" strike="noStrike" kern="0" cap="none" spc="0" normalizeH="0" baseline="3000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9419025" y="41061"/>
            <a:ext cx="2458511" cy="708866"/>
            <a:chOff x="277798" y="122111"/>
            <a:chExt cx="5205104" cy="1500796"/>
          </a:xfrm>
        </p:grpSpPr>
        <p:pic>
          <p:nvPicPr>
            <p:cNvPr id="39" name="图片 38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77798" y="122111"/>
              <a:ext cx="1494512" cy="1500796"/>
            </a:xfrm>
            <a:prstGeom prst="rect">
              <a:avLst/>
            </a:prstGeom>
          </p:spPr>
        </p:pic>
        <p:pic>
          <p:nvPicPr>
            <p:cNvPr id="40" name="图片 39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951632" y="319184"/>
              <a:ext cx="3416112" cy="755685"/>
            </a:xfrm>
            <a:prstGeom prst="rect">
              <a:avLst/>
            </a:prstGeom>
          </p:spPr>
        </p:pic>
        <p:sp>
          <p:nvSpPr>
            <p:cNvPr id="41" name="矩形 40"/>
            <p:cNvSpPr/>
            <p:nvPr/>
          </p:nvSpPr>
          <p:spPr>
            <a:xfrm>
              <a:off x="1849633" y="1019699"/>
              <a:ext cx="3633269" cy="48871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rPr>
                <a:t>RENMIN UNIVERSITY OF CHINA</a:t>
              </a:r>
              <a:endParaRPr kumimoji="0" lang="en-US" altLang="zh-CN" sz="9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  <p:pic>
        <p:nvPicPr>
          <p:cNvPr id="33" name="图片 32"/>
          <p:cNvPicPr>
            <a:picLocks noChangeAspect="1"/>
          </p:cNvPicPr>
          <p:nvPr/>
        </p:nvPicPr>
        <p:blipFill>
          <a:blip r:embed="rId3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380" y="6363615"/>
            <a:ext cx="1526306" cy="400848"/>
          </a:xfrm>
          <a:prstGeom prst="rect">
            <a:avLst/>
          </a:prstGeom>
        </p:spPr>
      </p:pic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678721" y="3336809"/>
          <a:ext cx="11201400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900"/>
                <a:gridCol w="1866900"/>
                <a:gridCol w="1866900"/>
                <a:gridCol w="1866900"/>
                <a:gridCol w="1866900"/>
                <a:gridCol w="1866900"/>
              </a:tblGrid>
              <a:tr h="559726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MAE</a:t>
                      </a:r>
                      <a:endParaRPr lang="en-US" altLang="zh-CN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Price/Rent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 sample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out of sample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Cross-validation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Kaggle Score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2764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OLS</a:t>
                      </a:r>
                      <a:endParaRPr lang="en-US" altLang="zh-CN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453,136.21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451,941.78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454,604.57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67.08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27644"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118,912.75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119,972.06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119,841.25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2764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Lasso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454,916.36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452,899.78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456,015.32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67.42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27644"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119,219.66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120,216.47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120,143.04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2764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Ridge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453,952.22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452,020.99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455,186.89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67.19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39389"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122,038.54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123,175.82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123,206.70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10" name="文本框 9"/>
          <p:cNvSpPr txBox="1"/>
          <p:nvPr/>
        </p:nvSpPr>
        <p:spPr>
          <a:xfrm>
            <a:off x="678721" y="944189"/>
            <a:ext cx="1117791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数据预处理：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  <a:cs typeface="Arial" panose="020B0604020202020204" pitchFamily="34" charset="0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房价模型</a:t>
            </a:r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: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用训练集的中位数、众数等按板块、城市填充测试集的缺失值从源头避免了数据泄露。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租金模型：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将多种不同的租期描述（如“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年以上”、“季付价”）解析为统一的平均月数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特征工程</a:t>
            </a:r>
            <a:endParaRPr lang="en-US" altLang="zh-CN" b="1" dirty="0">
              <a:latin typeface="楷体" panose="02010609060101010101" pitchFamily="49" charset="-122"/>
              <a:ea typeface="楷体" panose="02010609060101010101" pitchFamily="49" charset="-122"/>
              <a:cs typeface="Arial" panose="020B0604020202020204" pitchFamily="34" charset="0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房价模型：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通过 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K-Means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对经纬度聚类生成 </a:t>
            </a:r>
            <a:r>
              <a:rPr lang="en-US" altLang="zh-CN" dirty="0" err="1">
                <a:latin typeface="楷体" panose="02010609060101010101" pitchFamily="49" charset="-122"/>
                <a:ea typeface="楷体" panose="02010609060101010101" pitchFamily="49" charset="-122"/>
              </a:rPr>
              <a:t>location_cluster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，并对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log_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建筑面积和房龄等关键连续变量进行分位数分箱 ，以捕捉到复杂的“地段溢价”和“非线性效应”。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租金模型：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面对区县和板块有较多类别的特征，用 </a:t>
            </a:r>
            <a:r>
              <a:rPr lang="en-US" altLang="zh-CN" dirty="0" err="1">
                <a:latin typeface="楷体" panose="02010609060101010101" pitchFamily="49" charset="-122"/>
                <a:ea typeface="楷体" panose="02010609060101010101" pitchFamily="49" charset="-122"/>
              </a:rPr>
              <a:t>TargetEncoder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将该地段的“平均租金”信息编码为特征，并进行交叉验证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062332" y="83664"/>
            <a:ext cx="2009490" cy="641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王子卿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gallery dir="l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45298" y="980375"/>
            <a:ext cx="5719449" cy="5743481"/>
          </a:xfrm>
          <a:prstGeom prst="rect">
            <a:avLst/>
          </a:prstGeom>
        </p:spPr>
      </p:pic>
      <p:grpSp>
        <p:nvGrpSpPr>
          <p:cNvPr id="2" name="组合 1"/>
          <p:cNvGrpSpPr/>
          <p:nvPr/>
        </p:nvGrpSpPr>
        <p:grpSpPr>
          <a:xfrm>
            <a:off x="335361" y="116633"/>
            <a:ext cx="11569986" cy="6681374"/>
            <a:chOff x="335361" y="116633"/>
            <a:chExt cx="11569986" cy="6681374"/>
          </a:xfrm>
        </p:grpSpPr>
        <p:grpSp>
          <p:nvGrpSpPr>
            <p:cNvPr id="3" name="组合 2"/>
            <p:cNvGrpSpPr/>
            <p:nvPr/>
          </p:nvGrpSpPr>
          <p:grpSpPr>
            <a:xfrm>
              <a:off x="335361" y="116633"/>
              <a:ext cx="629872" cy="612768"/>
              <a:chOff x="3070727" y="196457"/>
              <a:chExt cx="692047" cy="673255"/>
            </a:xfrm>
          </p:grpSpPr>
          <p:sp>
            <p:nvSpPr>
              <p:cNvPr id="8" name="平行四边形 7"/>
              <p:cNvSpPr/>
              <p:nvPr/>
            </p:nvSpPr>
            <p:spPr>
              <a:xfrm>
                <a:off x="3070727" y="196457"/>
                <a:ext cx="629587" cy="612775"/>
              </a:xfrm>
              <a:prstGeom prst="parallelogram">
                <a:avLst/>
              </a:prstGeom>
              <a:solidFill>
                <a:srgbClr val="961318"/>
              </a:solidFill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  <p:sp>
            <p:nvSpPr>
              <p:cNvPr id="9" name="平行四边形 8"/>
              <p:cNvSpPr/>
              <p:nvPr/>
            </p:nvSpPr>
            <p:spPr>
              <a:xfrm>
                <a:off x="3133187" y="256937"/>
                <a:ext cx="629587" cy="612775"/>
              </a:xfrm>
              <a:prstGeom prst="parallelogram">
                <a:avLst/>
              </a:prstGeom>
              <a:noFill/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</p:grpSp>
        <p:cxnSp>
          <p:nvCxnSpPr>
            <p:cNvPr id="4" name="直接连接符 3"/>
            <p:cNvCxnSpPr/>
            <p:nvPr/>
          </p:nvCxnSpPr>
          <p:spPr>
            <a:xfrm>
              <a:off x="367840" y="809674"/>
              <a:ext cx="11488800" cy="0"/>
            </a:xfrm>
            <a:prstGeom prst="line">
              <a:avLst/>
            </a:prstGeom>
            <a:noFill/>
            <a:ln w="9525" cap="flat" cmpd="sng" algn="ctr">
              <a:solidFill>
                <a:srgbClr val="961318"/>
              </a:solidFill>
              <a:prstDash val="solid"/>
            </a:ln>
            <a:effectLst/>
          </p:spPr>
        </p:cxnSp>
        <p:sp>
          <p:nvSpPr>
            <p:cNvPr id="6" name="文本框 5"/>
            <p:cNvSpPr txBox="1"/>
            <p:nvPr/>
          </p:nvSpPr>
          <p:spPr>
            <a:xfrm>
              <a:off x="10805366" y="6428675"/>
              <a:ext cx="10999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rPr>
                <a:t>JUNE 12</a:t>
              </a:r>
              <a:r>
                <a:rPr kumimoji="0" lang="en-US" altLang="zh-CN" sz="1800" b="1" i="0" u="none" strike="noStrike" kern="0" cap="none" spc="0" normalizeH="0" baseline="30000" noProof="0" dirty="0">
                  <a:ln>
                    <a:noFill/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rPr>
                <a:t>th</a:t>
              </a:r>
              <a:endParaRPr kumimoji="0" lang="zh-CN" altLang="en-US" sz="1800" b="1" i="0" u="none" strike="noStrike" kern="0" cap="none" spc="0" normalizeH="0" baseline="3000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9419025" y="41061"/>
            <a:ext cx="2458511" cy="708866"/>
            <a:chOff x="277798" y="122111"/>
            <a:chExt cx="5205104" cy="1500796"/>
          </a:xfrm>
        </p:grpSpPr>
        <p:pic>
          <p:nvPicPr>
            <p:cNvPr id="39" name="图片 3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77798" y="122111"/>
              <a:ext cx="1494512" cy="1500796"/>
            </a:xfrm>
            <a:prstGeom prst="rect">
              <a:avLst/>
            </a:prstGeom>
          </p:spPr>
        </p:pic>
        <p:pic>
          <p:nvPicPr>
            <p:cNvPr id="40" name="图片 39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951632" y="319184"/>
              <a:ext cx="3416112" cy="755685"/>
            </a:xfrm>
            <a:prstGeom prst="rect">
              <a:avLst/>
            </a:prstGeom>
          </p:spPr>
        </p:pic>
        <p:sp>
          <p:nvSpPr>
            <p:cNvPr id="41" name="矩形 40"/>
            <p:cNvSpPr/>
            <p:nvPr/>
          </p:nvSpPr>
          <p:spPr>
            <a:xfrm>
              <a:off x="1849633" y="1019699"/>
              <a:ext cx="3633269" cy="48871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rPr>
                <a:t>RENMIN UNIVERSITY OF CHINA</a:t>
              </a:r>
              <a:endParaRPr kumimoji="0" lang="en-US" altLang="zh-CN" sz="9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  <p:pic>
        <p:nvPicPr>
          <p:cNvPr id="33" name="图片 32"/>
          <p:cNvPicPr>
            <a:picLocks noChangeAspect="1"/>
          </p:cNvPicPr>
          <p:nvPr/>
        </p:nvPicPr>
        <p:blipFill>
          <a:blip r:embed="rId4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380" y="6363615"/>
            <a:ext cx="1526306" cy="400848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334089" y="800943"/>
            <a:ext cx="11489055" cy="29229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 defTabSz="26670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latin typeface="楷体" panose="02010609060101010101" pitchFamily="49" charset="-122"/>
                <a:ea typeface="楷体" panose="02010609060101010101" pitchFamily="49" charset="-122"/>
              </a:rPr>
              <a:t>数据处理：</a:t>
            </a:r>
            <a:endParaRPr lang="zh-CN" altLang="en-US" sz="20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  <a:buFont typeface="Times New Roman" panose="02020603050405020304"/>
              <a:buAutoNum type="arabicPeriod"/>
              <a:tabLst>
                <a:tab pos="198120" algn="l"/>
              </a:tabLst>
            </a:pP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楼层高度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--&gt;&gt;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配备电梯情况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  <a:buFont typeface="Times New Roman" panose="02020603050405020304"/>
              <a:buAutoNum type="arabicPeriod"/>
              <a:tabLst>
                <a:tab pos="198120" algn="l"/>
              </a:tabLst>
            </a:pP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建筑结构、房屋用途、交易权属等特征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--&gt;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复合类别拆分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  <a:buFont typeface="Times New Roman" panose="02020603050405020304"/>
              <a:buAutoNum type="arabicPeriod"/>
              <a:tabLst>
                <a:tab pos="198120" algn="l"/>
              </a:tabLst>
            </a:pP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小区建筑年代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--&gt;&gt;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政策周期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: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房改前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,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黄金十年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,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四万亿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,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限购期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,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去库存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,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房住不炒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  <a:buFont typeface="Times New Roman" panose="02020603050405020304"/>
              <a:buAutoNum type="arabicPeriod"/>
              <a:tabLst>
                <a:tab pos="198120" algn="l"/>
              </a:tabLst>
            </a:pP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房地产和物业公司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--&gt;&gt;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TF-IDF + PCA + </a:t>
            </a:r>
            <a:r>
              <a:rPr lang="en-US" altLang="zh-CN" dirty="0" err="1"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KMeans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“房屋总数”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--&gt;&gt;10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个聚类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  <a:buFont typeface="Times New Roman" panose="02020603050405020304"/>
              <a:buAutoNum type="arabicPeriod"/>
              <a:tabLst>
                <a:tab pos="198120" algn="l"/>
              </a:tabLst>
            </a:pP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环线预测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--&gt;&gt;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经纬度计算城市中心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,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交叉验证正确率有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94.2%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6.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地理聚类决策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--&gt;&gt;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密集区域获得精细的地理聚类，小区域用板块信息代替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457200" indent="-457200" algn="just" defTabSz="26670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latin typeface="楷体" panose="02010609060101010101" pitchFamily="49" charset="-122"/>
                <a:ea typeface="楷体" panose="02010609060101010101" pitchFamily="49" charset="-122"/>
              </a:rPr>
              <a:t>模型构建：</a:t>
            </a:r>
            <a:endParaRPr lang="zh-CN" altLang="en-US" sz="20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indent="0" algn="just" defTabSz="26670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1.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特征工程：构建得房率、面积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×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物业费、卫卧比等特征组合。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2.LabelEncoding: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将房屋用途、政策周期、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开发商等类别变量用于随机森林模型构建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062332" y="83664"/>
            <a:ext cx="2009490" cy="641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李冰滢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graphicFrame>
        <p:nvGraphicFramePr>
          <p:cNvPr id="17" name="表格 16"/>
          <p:cNvGraphicFramePr/>
          <p:nvPr>
            <p:custDataLst>
              <p:tags r:id="rId6"/>
            </p:custDataLst>
          </p:nvPr>
        </p:nvGraphicFramePr>
        <p:xfrm>
          <a:off x="588645" y="3723640"/>
          <a:ext cx="11014075" cy="2689860"/>
        </p:xfrm>
        <a:graphic>
          <a:graphicData uri="http://schemas.openxmlformats.org/drawingml/2006/table">
            <a:tbl>
              <a:tblPr/>
              <a:tblGrid>
                <a:gridCol w="1370330"/>
                <a:gridCol w="1822450"/>
                <a:gridCol w="1787525"/>
                <a:gridCol w="1706245"/>
                <a:gridCol w="1936115"/>
                <a:gridCol w="2391410"/>
              </a:tblGrid>
              <a:tr h="596900">
                <a:tc>
                  <a:txBody>
                    <a:bodyPr/>
                    <a:p>
                      <a:pPr algn="ctr" fontAlgn="ctr"/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MAE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Price/Rent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In Sample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Out of Sample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Cross-Validation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Kaggle Score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rowSpan="2"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OLS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price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0.6127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0.6129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0.6132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38.73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vMerge="1"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rent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0.4588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0.4705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0.453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54.12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rowSpan="2"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LASSO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price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0.6127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0.6128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0.6129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38.73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vMerge="1"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rent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0.4588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0.4705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0.453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54.12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rowSpan="2"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Ridge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price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0.6127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0.6129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0.6129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38.73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vMerge="1"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rent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0.4588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0.4705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0.453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54.12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rowSpan="2"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Random Forest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price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0.4234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0.5573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0.5067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57.66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vMerge="1"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rent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0.4261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0.4122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0.1959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57.39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gallery dir="l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45298" y="980375"/>
            <a:ext cx="5719449" cy="5743481"/>
          </a:xfrm>
          <a:prstGeom prst="rect">
            <a:avLst/>
          </a:prstGeom>
        </p:spPr>
      </p:pic>
      <p:grpSp>
        <p:nvGrpSpPr>
          <p:cNvPr id="2" name="组合 1"/>
          <p:cNvGrpSpPr/>
          <p:nvPr/>
        </p:nvGrpSpPr>
        <p:grpSpPr>
          <a:xfrm>
            <a:off x="335361" y="116633"/>
            <a:ext cx="11521279" cy="693041"/>
            <a:chOff x="335361" y="116633"/>
            <a:chExt cx="11521279" cy="693041"/>
          </a:xfrm>
        </p:grpSpPr>
        <p:grpSp>
          <p:nvGrpSpPr>
            <p:cNvPr id="3" name="组合 2"/>
            <p:cNvGrpSpPr/>
            <p:nvPr/>
          </p:nvGrpSpPr>
          <p:grpSpPr>
            <a:xfrm>
              <a:off x="335361" y="116633"/>
              <a:ext cx="629872" cy="612768"/>
              <a:chOff x="3070727" y="196457"/>
              <a:chExt cx="692047" cy="673255"/>
            </a:xfrm>
          </p:grpSpPr>
          <p:sp>
            <p:nvSpPr>
              <p:cNvPr id="8" name="平行四边形 7"/>
              <p:cNvSpPr/>
              <p:nvPr/>
            </p:nvSpPr>
            <p:spPr>
              <a:xfrm>
                <a:off x="3070727" y="196457"/>
                <a:ext cx="629587" cy="612775"/>
              </a:xfrm>
              <a:prstGeom prst="parallelogram">
                <a:avLst/>
              </a:prstGeom>
              <a:solidFill>
                <a:srgbClr val="961318"/>
              </a:solidFill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  <p:sp>
            <p:nvSpPr>
              <p:cNvPr id="9" name="平行四边形 8"/>
              <p:cNvSpPr/>
              <p:nvPr/>
            </p:nvSpPr>
            <p:spPr>
              <a:xfrm>
                <a:off x="3133187" y="256937"/>
                <a:ext cx="629587" cy="612775"/>
              </a:xfrm>
              <a:prstGeom prst="parallelogram">
                <a:avLst/>
              </a:prstGeom>
              <a:noFill/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</p:grpSp>
        <p:cxnSp>
          <p:nvCxnSpPr>
            <p:cNvPr id="4" name="直接连接符 3"/>
            <p:cNvCxnSpPr/>
            <p:nvPr/>
          </p:nvCxnSpPr>
          <p:spPr>
            <a:xfrm>
              <a:off x="367840" y="809674"/>
              <a:ext cx="11488800" cy="0"/>
            </a:xfrm>
            <a:prstGeom prst="line">
              <a:avLst/>
            </a:prstGeom>
            <a:noFill/>
            <a:ln w="9525" cap="flat" cmpd="sng" algn="ctr">
              <a:solidFill>
                <a:srgbClr val="961318"/>
              </a:solidFill>
              <a:prstDash val="solid"/>
            </a:ln>
            <a:effectLst/>
          </p:spPr>
        </p:cxnSp>
      </p:grpSp>
      <p:grpSp>
        <p:nvGrpSpPr>
          <p:cNvPr id="38" name="组合 37"/>
          <p:cNvGrpSpPr/>
          <p:nvPr/>
        </p:nvGrpSpPr>
        <p:grpSpPr>
          <a:xfrm>
            <a:off x="9419025" y="41061"/>
            <a:ext cx="2458511" cy="708866"/>
            <a:chOff x="277798" y="122111"/>
            <a:chExt cx="5205104" cy="1500796"/>
          </a:xfrm>
        </p:grpSpPr>
        <p:pic>
          <p:nvPicPr>
            <p:cNvPr id="39" name="图片 3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77798" y="122111"/>
              <a:ext cx="1494512" cy="1500796"/>
            </a:xfrm>
            <a:prstGeom prst="rect">
              <a:avLst/>
            </a:prstGeom>
          </p:spPr>
        </p:pic>
        <p:pic>
          <p:nvPicPr>
            <p:cNvPr id="40" name="图片 39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951632" y="319184"/>
              <a:ext cx="3416112" cy="755685"/>
            </a:xfrm>
            <a:prstGeom prst="rect">
              <a:avLst/>
            </a:prstGeom>
          </p:spPr>
        </p:pic>
        <p:sp>
          <p:nvSpPr>
            <p:cNvPr id="41" name="矩形 40"/>
            <p:cNvSpPr/>
            <p:nvPr/>
          </p:nvSpPr>
          <p:spPr>
            <a:xfrm>
              <a:off x="1849633" y="1019699"/>
              <a:ext cx="3633269" cy="48871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rPr>
                <a:t>RENMIN UNIVERSITY OF CHINA</a:t>
              </a:r>
              <a:endParaRPr kumimoji="0" lang="en-US" altLang="zh-CN" sz="9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404107" y="749927"/>
            <a:ext cx="11489055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智能数据解析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通过中文文本自动解析：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"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两梯四户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" →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梯数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=2,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户数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=4 &amp;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建筑年代智能提取：从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"1998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年建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"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中精准提取年份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→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使得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租期描述标准化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：统一不同租期表述为可比格式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高级特征构造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空间聚类优化：肘部法则自动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确定最优聚类数  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分位数智能分箱：自适应数据分布，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避免等距分箱缺陷</a:t>
            </a:r>
            <a:endParaRPr lang="zh-CN" altLang="en-US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复合特征分解：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多标签特征自动二值化处理</a:t>
            </a:r>
            <a:endParaRPr lang="zh-CN" altLang="en-US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非线性关系捕捉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交互特征生成：面积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×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位置等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有意义的特征组合    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智能特征变换：偏态数据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自动应用对数</a:t>
            </a:r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/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平方根变换</a:t>
            </a:r>
            <a:endParaRPr lang="zh-CN" altLang="en-US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多项式特征扩展：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仅保留交互项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避免维度爆炸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数据处理设计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保守异常值处理：</a:t>
            </a:r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5%-95%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分位数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+2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倍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IQR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的宽松策略  智能缺失值填充：偏态数据选择中位数，正态数据用均值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062332" y="83664"/>
            <a:ext cx="2009490" cy="641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赵芳誉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737788" y="3866921"/>
          <a:ext cx="10565532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0922"/>
                <a:gridCol w="1760922"/>
                <a:gridCol w="1760922"/>
                <a:gridCol w="1760922"/>
                <a:gridCol w="1760922"/>
                <a:gridCol w="1760922"/>
              </a:tblGrid>
              <a:tr h="134806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MAE</a:t>
                      </a:r>
                      <a:endParaRPr lang="en-US" altLang="zh-CN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Price/Rent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 sample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out of sample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Cross-validation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Kaggle Score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5380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OLS</a:t>
                      </a:r>
                      <a:endParaRPr lang="en-US" altLang="zh-CN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627,809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631,630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633,062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61.6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53800"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188,084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192,153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189,677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5380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Lasso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855,901 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845,393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856,405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49.4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53800"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250,001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252,931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250,106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5380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Ridge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946,988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931,592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943,068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47.3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53800"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260,237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263,270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259,810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gallery dir="l"/>
      </p:transition>
    </mc:Choice>
    <mc:Fallback>
      <p:transition spd="slow">
        <p:fade/>
      </p:transition>
    </mc:Fallback>
  </mc:AlternateContent>
</p:sld>
</file>

<file path=ppt/tags/tag1.xml><?xml version="1.0" encoding="utf-8"?>
<p:tagLst xmlns:p="http://schemas.openxmlformats.org/presentationml/2006/main">
  <p:tag name="TABLE_ENDDRAG_ORIGIN_RECT" val="867*211"/>
  <p:tag name="TABLE_ENDDRAG_RECT" val="39*293*867*211"/>
</p:tagLst>
</file>

<file path=ppt/theme/theme1.xml><?xml version="1.0" encoding="utf-8"?>
<a:theme xmlns:a="http://schemas.openxmlformats.org/drawingml/2006/main" name="2_Office 主题​​">
  <a:themeElements>
    <a:clrScheme name="西大模板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34C9C"/>
      </a:accent1>
      <a:accent2>
        <a:srgbClr val="FFA405"/>
      </a:accent2>
      <a:accent3>
        <a:srgbClr val="B5B5B5"/>
      </a:accent3>
      <a:accent4>
        <a:srgbClr val="D4D9DD"/>
      </a:accent4>
      <a:accent5>
        <a:srgbClr val="66BE96"/>
      </a:accent5>
      <a:accent6>
        <a:srgbClr val="104685"/>
      </a:accent6>
      <a:hlink>
        <a:srgbClr val="0563C1"/>
      </a:hlink>
      <a:folHlink>
        <a:srgbClr val="954F72"/>
      </a:folHlink>
    </a:clrScheme>
    <a:fontScheme name="西大模板">
      <a:majorFont>
        <a:latin typeface="Segoe UI Black"/>
        <a:ea typeface="思源宋体 CN Heavy"/>
        <a:cs typeface=""/>
      </a:majorFont>
      <a:minorFont>
        <a:latin typeface="Segoe UI 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lnSpc>
            <a:spcPct val="130000"/>
          </a:lnSpc>
          <a:defRPr sz="2000" dirty="0" smtClean="0">
            <a:latin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1966</Words>
  <Application>WPS 演示</Application>
  <PresentationFormat>宽屏</PresentationFormat>
  <Paragraphs>331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4" baseType="lpstr">
      <vt:lpstr>Arial</vt:lpstr>
      <vt:lpstr>宋体</vt:lpstr>
      <vt:lpstr>Wingdings</vt:lpstr>
      <vt:lpstr>Segoe UI</vt:lpstr>
      <vt:lpstr>微软雅黑</vt:lpstr>
      <vt:lpstr>管峻楷书简体</vt:lpstr>
      <vt:lpstr>思源宋体 CN Heavy</vt:lpstr>
      <vt:lpstr>Arial</vt:lpstr>
      <vt:lpstr>楷体</vt:lpstr>
      <vt:lpstr>阿里巴巴普惠体 B</vt:lpstr>
      <vt:lpstr>Calibri</vt:lpstr>
      <vt:lpstr>Times New Roman</vt:lpstr>
      <vt:lpstr>Arial Unicode MS</vt:lpstr>
      <vt:lpstr>Segoe UI Black</vt:lpstr>
      <vt:lpstr>Segoe UI Light</vt:lpstr>
      <vt:lpstr>微软雅黑 Light</vt:lpstr>
      <vt:lpstr>汉仪颜楷简</vt:lpstr>
      <vt:lpstr>方正仿宋_GB2312</vt:lpstr>
      <vt:lpstr>黑体</vt:lpstr>
      <vt:lpstr>2_Office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ASUS</dc:creator>
  <cp:lastModifiedBy>李冰滢</cp:lastModifiedBy>
  <cp:revision>39</cp:revision>
  <dcterms:created xsi:type="dcterms:W3CDTF">2020-11-02T12:56:00Z</dcterms:created>
  <dcterms:modified xsi:type="dcterms:W3CDTF">2025-10-30T03:38:25Z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6CE507F4807649FFA4BC22EC36F2F6A4_12</vt:lpwstr>
  </property>
  <property fmtid="{D5CDD505-2E9C-101B-9397-08002B2CF9AE}" pid="3" name="KSOProductBuildVer">
    <vt:lpwstr>2052-12.1.0.23125</vt:lpwstr>
  </property>
</Properties>
</file>