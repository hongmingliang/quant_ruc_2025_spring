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01BF14-16E4-4279-B4B3-4C3AEFC5F2B2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FC59D9-B1B8-430D-9C93-CF740F6297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8207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C59D9-B1B8-430D-9C93-CF740F6297B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25725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4DDDE1-E75C-1B8B-98AD-B72A213505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7249951-B3D9-657F-2437-4690D24417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E69E65-D388-5121-A468-3687BD785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D3C6B-3634-4CCA-B2AF-B50719231473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1B3E8D-754C-7604-99D3-9C8FF250B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B6896F-4BFB-C491-E31D-CD828F449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6A333-E4C2-4DEE-9459-B72D3F33BD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5233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BCBE79-F1C2-C674-2325-837BC833E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DFE428-AB9D-EB9C-F0B5-D5C00B4F2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614DB2-3A44-F2A7-21B0-D88BB51D5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D3C6B-3634-4CCA-B2AF-B50719231473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C915AC-8AB0-6927-1442-B2895BB0E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999EC6-505E-E270-235F-3ED9500E0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6A333-E4C2-4DEE-9459-B72D3F33BD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6243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E71097-EE4C-1FFC-D636-FA9E5C4E6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2F6390C-FF7C-0C07-4E34-3257AF593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ED4CC3-4767-AC8F-2830-892D73AD3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D3C6B-3634-4CCA-B2AF-B50719231473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81B0AE-5DF2-2E17-C1CF-897C28F76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230D71-D1DE-58B3-4156-1165C4763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6A333-E4C2-4DEE-9459-B72D3F33BD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7908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B14EAA-6AF1-6DFF-73CA-313E65AA0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8EC5A7-ACAC-4FA6-4DCA-F850D65DD4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BDA469C-B7B6-157A-59DD-0E3FEF12E1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1ECC1F1-224A-088F-48AB-D81DDE0C4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D3C6B-3634-4CCA-B2AF-B50719231473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4266AB6-17A8-EB6E-9759-064D015A6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9D14316-8072-0F96-B370-5CE745A87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6A333-E4C2-4DEE-9459-B72D3F33BD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4930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9C820D-D846-EEE9-0925-AD0F72A53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D77552D-6343-D0C0-D76B-7AD280E51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4412E8B-2C8D-48FC-3ED0-D2589E1BB7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E5BA8BD-E32B-87A1-C057-60D979BA16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6D21E28-37E5-79E4-0386-B1CE6BC412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80C2423-244F-EA39-973B-6F5C5CC08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D3C6B-3634-4CCA-B2AF-B50719231473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F17D63A-A716-0A86-4C4C-CF3078C1F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70E1999-7E4C-F3C2-01DB-0D55B554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6A333-E4C2-4DEE-9459-B72D3F33BD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028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2CB8D6-3F21-367F-F130-7813EC06F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0396A2D-026D-78D7-C4DE-6776DD9B3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D3C6B-3634-4CCA-B2AF-B50719231473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842C6BA-62AB-E62D-EC7E-C1B70FB53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292A962-7223-E5AC-84EA-75C69DFC8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6A333-E4C2-4DEE-9459-B72D3F33BD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286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57D48C2-1817-E840-8983-6E8FFCEC3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D3C6B-3634-4CCA-B2AF-B50719231473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6EDFAED-53EA-905C-FB0E-DDDF633F7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3A21D8-4C0F-B7F9-F7AA-4A852FA5B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6A333-E4C2-4DEE-9459-B72D3F33BD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469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7F7462-731F-974A-8DD6-3905F92BD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7542DF-0943-AFE2-8576-DE7C23675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91A7ED9-6392-19B2-2C54-1704F5FEC9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A8EEC8-D818-9611-39D8-D62115C57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D3C6B-3634-4CCA-B2AF-B50719231473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D2052B3-88FF-AF05-F735-1809AEBD6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656736-9C7C-0ED5-160E-44FA4A4C8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6A333-E4C2-4DEE-9459-B72D3F33BD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2822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42418E-CAA9-472A-BF0B-33BDAB1D0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ECA7E2A-705A-2B5A-9F83-DEA08BDF0F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0A29052-BF11-A813-3640-1A08CF9923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86F5FD2-71C1-E2D4-F498-F88039C52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D3C6B-3634-4CCA-B2AF-B50719231473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5339BE-D558-F872-D78C-FE93F9672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4406672-791A-343B-FCFD-8C6578372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6A333-E4C2-4DEE-9459-B72D3F33BD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4470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7ACF08-2397-4AAC-C447-B92FB920C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EE3C507-AE51-72A9-47C4-5C19EE1F52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23DD79-2E29-D47D-B2A1-CF1A0C9E1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D3C6B-3634-4CCA-B2AF-B50719231473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1A85B4-B983-C051-D346-CB4CA0D26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417C15-8E1D-EDC6-8B6E-AFE42CD69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6A333-E4C2-4DEE-9459-B72D3F33BD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5666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4C34A3-415A-881E-2841-7231932E24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D601934-1254-7EB8-853A-0F22C637A7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8D0C30-7AE8-C0D3-4636-4CB03E4C9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D3C6B-3634-4CCA-B2AF-B50719231473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54EB77-E562-60C5-EA74-02B7F742D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ADA1EE-6BBB-4DEB-87A2-0A08145B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6A333-E4C2-4DEE-9459-B72D3F33BD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45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3100A40-F605-D082-EC41-0A0C1854C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45AF2C7-0437-D6A9-2403-54F731F11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D02BC3-0F96-B0F2-90DD-F4D7125284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5D3C6B-3634-4CCA-B2AF-B50719231473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FF33A1-C370-391C-7128-ACEDFC340C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3284B3-EC89-3A4E-76BE-E03E201EE2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06A333-E4C2-4DEE-9459-B72D3F33BD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458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1756396-FF8E-63C1-34E4-6616F93BF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1859" y="0"/>
            <a:ext cx="4050362" cy="1648820"/>
          </a:xfrm>
          <a:prstGeom prst="rect">
            <a:avLst/>
          </a:prstGeom>
        </p:spPr>
      </p:pic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C805039-9BF6-10CD-0374-97035D0036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0538473"/>
              </p:ext>
            </p:extLst>
          </p:nvPr>
        </p:nvGraphicFramePr>
        <p:xfrm>
          <a:off x="480722" y="4580827"/>
          <a:ext cx="11230555" cy="21445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46111">
                  <a:extLst>
                    <a:ext uri="{9D8B030D-6E8A-4147-A177-3AD203B41FA5}">
                      <a16:colId xmlns:a16="http://schemas.microsoft.com/office/drawing/2014/main" val="474704440"/>
                    </a:ext>
                  </a:extLst>
                </a:gridCol>
                <a:gridCol w="2246111">
                  <a:extLst>
                    <a:ext uri="{9D8B030D-6E8A-4147-A177-3AD203B41FA5}">
                      <a16:colId xmlns:a16="http://schemas.microsoft.com/office/drawing/2014/main" val="2497585875"/>
                    </a:ext>
                  </a:extLst>
                </a:gridCol>
                <a:gridCol w="2246111">
                  <a:extLst>
                    <a:ext uri="{9D8B030D-6E8A-4147-A177-3AD203B41FA5}">
                      <a16:colId xmlns:a16="http://schemas.microsoft.com/office/drawing/2014/main" val="2340408362"/>
                    </a:ext>
                  </a:extLst>
                </a:gridCol>
                <a:gridCol w="2246111">
                  <a:extLst>
                    <a:ext uri="{9D8B030D-6E8A-4147-A177-3AD203B41FA5}">
                      <a16:colId xmlns:a16="http://schemas.microsoft.com/office/drawing/2014/main" val="2968334818"/>
                    </a:ext>
                  </a:extLst>
                </a:gridCol>
                <a:gridCol w="2246111">
                  <a:extLst>
                    <a:ext uri="{9D8B030D-6E8A-4147-A177-3AD203B41FA5}">
                      <a16:colId xmlns:a16="http://schemas.microsoft.com/office/drawing/2014/main" val="1327628686"/>
                    </a:ext>
                  </a:extLst>
                </a:gridCol>
              </a:tblGrid>
              <a:tr h="652688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Metrics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3241" marR="93241" marT="46621" marB="466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sample </a:t>
                      </a:r>
                      <a:r>
                        <a:rPr lang="en-US" altLang="zh-C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3241" marR="93241" marT="46621" marB="466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 of sample </a:t>
                      </a:r>
                      <a:r>
                        <a:rPr lang="en-US" altLang="zh-C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3241" marR="93241" marT="46621" marB="466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Cross-validation </a:t>
                      </a:r>
                      <a:r>
                        <a:rPr lang="en-US" altLang="zh-C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3241" marR="93241" marT="46621" marB="466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Kaggle Score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3241" marR="93241" marT="46621" marB="466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6806867"/>
                  </a:ext>
                </a:extLst>
              </a:tr>
              <a:tr h="372964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OLS (Midterm)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3241" marR="93241" marT="46621" marB="466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808210</a:t>
                      </a:r>
                    </a:p>
                  </a:txBody>
                  <a:tcPr marL="93241" marR="93241" marT="46621" marB="466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837201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3241" marR="93241" marT="46621" marB="466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862298</a:t>
                      </a:r>
                    </a:p>
                  </a:txBody>
                  <a:tcPr marL="93241" marR="93241" marT="46621" marB="466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64.8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3241" marR="93241" marT="46621" marB="466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3779234"/>
                  </a:ext>
                </a:extLst>
              </a:tr>
              <a:tr h="372964">
                <a:tc>
                  <a:txBody>
                    <a:bodyPr/>
                    <a:lstStyle/>
                    <a:p>
                      <a:r>
                        <a:rPr lang="en-US" altLang="zh-C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3241" marR="93241" marT="46621" marB="466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373133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3241" marR="93241" marT="46621" marB="466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582679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3241" marR="93241" marT="46621" marB="466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597596.94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3241" marR="93241" marT="46621" marB="466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72.8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3241" marR="93241" marT="46621" marB="466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9149814"/>
                  </a:ext>
                </a:extLst>
              </a:tr>
              <a:tr h="372964">
                <a:tc>
                  <a:txBody>
                    <a:bodyPr/>
                    <a:lstStyle/>
                    <a:p>
                      <a:r>
                        <a:rPr lang="en-US" altLang="zh-C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MLP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3241" marR="93241" marT="46621" marB="466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351135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3241" marR="93241" marT="46621" marB="466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499390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3241" marR="93241" marT="46621" marB="466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498842.67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3241" marR="93241" marT="46621" marB="466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75.5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3241" marR="93241" marT="46621" marB="466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666373"/>
                  </a:ext>
                </a:extLst>
              </a:tr>
              <a:tr h="372964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Dual boost + MLP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3241" marR="93241" marT="46621" marB="466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kern="1200" dirty="0"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3394496.56</a:t>
                      </a:r>
                      <a:endParaRPr lang="zh-CN" altLang="en-US" sz="1800" dirty="0">
                        <a:solidFill>
                          <a:srgbClr val="7030A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3241" marR="93241" marT="46621" marB="466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475270.36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3241" marR="93241" marT="46621" marB="466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524329.70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3241" marR="93241" marT="46621" marB="466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77.8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3241" marR="93241" marT="46621" marB="466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1631043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71B6B142-7E22-E0C1-77E5-F4384BD1ADA8}"/>
              </a:ext>
            </a:extLst>
          </p:cNvPr>
          <p:cNvSpPr/>
          <p:nvPr/>
        </p:nvSpPr>
        <p:spPr>
          <a:xfrm>
            <a:off x="0" y="35478"/>
            <a:ext cx="7852392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5400" b="1" i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Dual (XG + Cat) Boost + </a:t>
            </a:r>
          </a:p>
          <a:p>
            <a:pPr algn="ctr"/>
            <a:r>
              <a:rPr lang="en-US" altLang="zh-CN" sz="5400" b="1" i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MLP</a:t>
            </a:r>
            <a:r>
              <a:rPr lang="en-US" altLang="zh-CN" sz="5400" b="1" i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6-Fold OOF model</a:t>
            </a:r>
            <a:r>
              <a:rPr lang="en-US" altLang="zh-CN" sz="5400" b="1" i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</a:t>
            </a:r>
            <a:endParaRPr lang="zh-CN" altLang="en-US" sz="5400" b="1" i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FBE3B4E-E6ED-0A76-2D59-BBF70555B6FA}"/>
              </a:ext>
            </a:extLst>
          </p:cNvPr>
          <p:cNvSpPr/>
          <p:nvPr/>
        </p:nvSpPr>
        <p:spPr>
          <a:xfrm>
            <a:off x="9761782" y="1234578"/>
            <a:ext cx="2430218" cy="8284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黄之杰 </a:t>
            </a:r>
            <a:r>
              <a:rPr lang="en-US" altLang="zh-TW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2023200251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C86008A-8808-8091-E2B8-540514DBD2F9}"/>
              </a:ext>
            </a:extLst>
          </p:cNvPr>
          <p:cNvSpPr/>
          <p:nvPr/>
        </p:nvSpPr>
        <p:spPr>
          <a:xfrm>
            <a:off x="273135" y="1654480"/>
            <a:ext cx="485100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2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Highlights &amp; Innovations</a:t>
            </a:r>
            <a:endParaRPr lang="zh-CN" altLang="en-US" sz="32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1008C96-2770-C72F-9D92-62A0F6EED787}"/>
              </a:ext>
            </a:extLst>
          </p:cNvPr>
          <p:cNvSpPr txBox="1"/>
          <p:nvPr/>
        </p:nvSpPr>
        <p:spPr>
          <a:xfrm>
            <a:off x="273135" y="2228525"/>
            <a:ext cx="1194955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 Hybrid Modeling Architecture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nonlinear interaction modeling of tree ensembles &amp; the representation learning capability of deep neural networks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 and Reproducible Data Preprocessing Pipeline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Mitigate outliers, standardized scaling of numerical features, and consistent feature transformations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Training and Validation Strategy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K-Fold cross-validation and out-of-fold (OOF) predictions to obtain reliable generalization estimates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5530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379B0F5-A707-2771-C09F-0F44E7276B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13"/>
          <a:stretch>
            <a:fillRect/>
          </a:stretch>
        </p:blipFill>
        <p:spPr>
          <a:xfrm>
            <a:off x="0" y="220719"/>
            <a:ext cx="12192000" cy="6416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493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0A32120A-AF0A-12D6-131C-3D9C2B0AE370}"/>
              </a:ext>
            </a:extLst>
          </p:cNvPr>
          <p:cNvGrpSpPr/>
          <p:nvPr/>
        </p:nvGrpSpPr>
        <p:grpSpPr>
          <a:xfrm>
            <a:off x="8289672" y="97305"/>
            <a:ext cx="3527182" cy="3252563"/>
            <a:chOff x="1785199" y="607555"/>
            <a:chExt cx="3946451" cy="3639189"/>
          </a:xfrm>
        </p:grpSpPr>
        <p:pic>
          <p:nvPicPr>
            <p:cNvPr id="6" name="图片 5" descr="应用程序, 表格&#10;&#10;AI 生成的内容可能不正确。">
              <a:extLst>
                <a:ext uri="{FF2B5EF4-FFF2-40B4-BE49-F238E27FC236}">
                  <a16:creationId xmlns:a16="http://schemas.microsoft.com/office/drawing/2014/main" id="{343D8FF7-19C1-975A-E066-C7964644AE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64688" y="607555"/>
              <a:ext cx="1766962" cy="3639189"/>
            </a:xfrm>
            <a:prstGeom prst="rect">
              <a:avLst/>
            </a:prstGeom>
          </p:spPr>
        </p:pic>
        <p:pic>
          <p:nvPicPr>
            <p:cNvPr id="4" name="图片 3" descr="图形用户界面, 应用程序&#10;&#10;AI 生成的内容可能不正确。">
              <a:extLst>
                <a:ext uri="{FF2B5EF4-FFF2-40B4-BE49-F238E27FC236}">
                  <a16:creationId xmlns:a16="http://schemas.microsoft.com/office/drawing/2014/main" id="{DD062DB2-20E2-1393-6802-96E18ADC23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85199" y="607555"/>
              <a:ext cx="2679733" cy="3639189"/>
            </a:xfrm>
            <a:prstGeom prst="rect">
              <a:avLst/>
            </a:prstGeom>
          </p:spPr>
        </p:pic>
      </p:grpSp>
      <p:pic>
        <p:nvPicPr>
          <p:cNvPr id="1026" name="Picture 2" descr="Thinking Emoji [Free Download IOS Emojis] | Emoji Island">
            <a:extLst>
              <a:ext uri="{FF2B5EF4-FFF2-40B4-BE49-F238E27FC236}">
                <a16:creationId xmlns:a16="http://schemas.microsoft.com/office/drawing/2014/main" id="{470FAB44-740B-C070-2043-EEB096BEC5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748" y="4621715"/>
            <a:ext cx="1377673" cy="1437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B132849-4DEF-F7FE-8967-AEA5300E72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84" y="202529"/>
            <a:ext cx="4535768" cy="3461333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66D14AED-66FD-4FC3-AABA-6EBEDAC5197B}"/>
              </a:ext>
            </a:extLst>
          </p:cNvPr>
          <p:cNvSpPr/>
          <p:nvPr/>
        </p:nvSpPr>
        <p:spPr>
          <a:xfrm>
            <a:off x="6762137" y="6185544"/>
            <a:ext cx="530786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600" b="1" i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Welcome to questions ~</a:t>
            </a:r>
            <a:endParaRPr lang="zh-CN" altLang="en-US" sz="3600" b="1" i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D76128F-9908-A237-914A-76531A29BCCE}"/>
              </a:ext>
            </a:extLst>
          </p:cNvPr>
          <p:cNvSpPr/>
          <p:nvPr/>
        </p:nvSpPr>
        <p:spPr>
          <a:xfrm>
            <a:off x="1597328" y="3854445"/>
            <a:ext cx="2056973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200" b="1" i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Reflection</a:t>
            </a:r>
            <a:endParaRPr lang="zh-CN" altLang="en-US" sz="3200" b="1" i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7C26992-2865-6F15-3B06-E43B20A81720}"/>
              </a:ext>
            </a:extLst>
          </p:cNvPr>
          <p:cNvSpPr txBox="1"/>
          <p:nvPr/>
        </p:nvSpPr>
        <p:spPr>
          <a:xfrm>
            <a:off x="1640868" y="4324839"/>
            <a:ext cx="1047344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Significance &amp; Interpretability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feature importance analysis, which prevents informed feature selection and the pruning of redundant decision paths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 &amp; Hyperparameter Optimization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by heuristic-based hyperparameter settings (e.g., fixed embedding dimensions and hidden layers)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Feature Engineering: Reverse Modeling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MLP’s internal hidden states can be used as high-level, non-linear feature representations to augment a final gradient boosting regressor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E981BD62-2511-C85D-13E2-5B758FCF79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7436" y="97304"/>
            <a:ext cx="3319326" cy="418523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60A774E-A9AE-3A90-D493-4562C56D04A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1263" y="224837"/>
            <a:ext cx="3471671" cy="3854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259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611</TotalTime>
  <Words>191</Words>
  <Application>Microsoft Office PowerPoint</Application>
  <PresentationFormat>宽屏</PresentationFormat>
  <Paragraphs>44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等线</vt:lpstr>
      <vt:lpstr>等线 Light</vt:lpstr>
      <vt:lpstr>宋体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杰 黃</dc:creator>
  <cp:lastModifiedBy>杰 黃</cp:lastModifiedBy>
  <cp:revision>17</cp:revision>
  <dcterms:created xsi:type="dcterms:W3CDTF">2025-12-23T06:39:46Z</dcterms:created>
  <dcterms:modified xsi:type="dcterms:W3CDTF">2025-12-24T07:59:54Z</dcterms:modified>
</cp:coreProperties>
</file>