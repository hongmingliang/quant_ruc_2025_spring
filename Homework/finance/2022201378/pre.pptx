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6"/>
  </p:notesMasterIdLst>
  <p:sldIdLst>
    <p:sldId id="256" r:id="rId3"/>
    <p:sldId id="257" r:id="rId4"/>
    <p:sldId id="258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921000"/>
            <a:ext cx="10160000" cy="50800"/>
          </a:xfrm>
          <a:prstGeom prst="roundRect">
            <a:avLst>
              <a:gd name="adj" fmla="val 0"/>
            </a:avLst>
          </a:prstGeom>
          <a:solidFill>
            <a:srgbClr val="6366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0" i="0" u="none" strike="noStrike" dirty="0" err="1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房产价格预测量化建模</a:t>
            </a:r>
            <a:r>
              <a:rPr lang="en-US" sz="4200" b="0" i="0" u="none" strike="noStrike" dirty="0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4200" b="0" i="0" u="none" strike="noStrike" dirty="0" err="1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多模态特征融合与</a:t>
            </a:r>
            <a:r>
              <a:rPr lang="en-US" sz="4200" b="0" i="0" u="none" strike="noStrike" dirty="0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 Stacking </a:t>
            </a:r>
            <a:r>
              <a:rPr lang="en-US" sz="4200" b="0" i="0" u="none" strike="noStrike" dirty="0" err="1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架构创新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3302000"/>
            <a:ext cx="1016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Quantitative Modeling of Real Estate Prices: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Multimodal Feature Fusion and Stacking Architecture Innovation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AUTHOR: </a:t>
            </a:r>
            <a:r>
              <a:rPr lang="en-US" sz="1600" b="0" i="0" u="none" strike="noStrike" dirty="0" err="1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章明阳</a:t>
            </a:r>
            <a:r>
              <a:rPr lang="en-US" sz="1600" b="0" i="0" u="none" strike="noStrike" dirty="0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 2022201378</a:t>
            </a:r>
          </a:p>
        </p:txBody>
      </p:sp>
      <p:sp>
        <p:nvSpPr>
          <p:cNvPr id="5" name="AutoShape 5"/>
          <p:cNvSpPr/>
          <p:nvPr/>
        </p:nvSpPr>
        <p:spPr>
          <a:xfrm>
            <a:off x="1016000" y="609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 dirty="0" err="1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数据洞察与</a:t>
            </a:r>
            <a:r>
              <a:rPr lang="en-US" sz="3200" b="0" i="0" u="none" strike="noStrike" dirty="0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 NLP </a:t>
            </a:r>
            <a:r>
              <a:rPr lang="en-US" sz="3200" b="0" i="0" u="none" strike="noStrike" dirty="0" err="1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创新特征工程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构建从数据清洗到语义注入的规范化流程</a:t>
            </a:r>
            <a:r>
              <a:rPr lang="en-US" sz="18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5207000" cy="4064000"/>
          </a:xfrm>
          <a:prstGeom prst="roundRect">
            <a:avLst>
              <a:gd name="adj" fmla="val 2500"/>
            </a:avLst>
          </a:prstGeom>
          <a:solidFill>
            <a:srgbClr val="E2E8F0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43000" y="2540000"/>
            <a:ext cx="4445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>
                <a:solidFill>
                  <a:srgbClr val="6366F1"/>
                </a:solidFill>
                <a:latin typeface="Noto Serif SC"/>
                <a:ea typeface="Noto Serif SC"/>
                <a:cs typeface="Noto Serif SC"/>
                <a:sym typeface="Noto Serif SC"/>
              </a:rPr>
              <a:t>01. </a:t>
            </a:r>
            <a:r>
              <a:rPr lang="en-US" sz="2000" b="0" i="0" u="none" strike="noStrike" dirty="0" err="1">
                <a:solidFill>
                  <a:srgbClr val="6366F1"/>
                </a:solidFill>
                <a:latin typeface="Noto Serif SC"/>
                <a:ea typeface="Noto Serif SC"/>
                <a:cs typeface="Noto Serif SC"/>
                <a:sym typeface="Noto Serif SC"/>
              </a:rPr>
              <a:t>稳健预处理逻辑</a:t>
            </a:r>
            <a:r>
              <a:rPr lang="en-US" sz="2000" b="0" i="0" u="none" strike="noStrike" dirty="0">
                <a:solidFill>
                  <a:srgbClr val="6366F1"/>
                </a:solidFill>
                <a:latin typeface="Noto Serif SC"/>
                <a:ea typeface="Noto Serif SC"/>
                <a:cs typeface="Noto Serif SC"/>
                <a:sym typeface="Noto Serif SC"/>
              </a:rPr>
              <a:t> (Robust Preprocessing)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 err="1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统计过滤</a:t>
            </a:r>
            <a:r>
              <a:rPr lang="en-US" sz="1600" b="0" i="0" u="none" strike="noStrike" dirty="0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 (Statistical Filtering)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实施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 3×IQR </a:t>
            </a: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策略剔除价格离群点，保留核心样本特征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 err="1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分布对数化</a:t>
            </a:r>
            <a:r>
              <a:rPr lang="en-US" sz="1600" b="0" i="0" u="none" strike="noStrike" dirty="0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 (Log-Transformation)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对目标变量执行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 log1p </a:t>
            </a: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变换，缓解长尾偏态并优化残差分布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2159000"/>
            <a:ext cx="5207000" cy="4064000"/>
          </a:xfrm>
          <a:prstGeom prst="roundRect">
            <a:avLst>
              <a:gd name="adj" fmla="val 2500"/>
            </a:avLst>
          </a:prstGeom>
          <a:solidFill>
            <a:srgbClr val="E2E8F0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604000" y="2540000"/>
            <a:ext cx="4445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>
                <a:solidFill>
                  <a:srgbClr val="F59E0B"/>
                </a:solidFill>
                <a:latin typeface="Noto Serif SC"/>
                <a:ea typeface="Noto Serif SC"/>
                <a:cs typeface="Noto Serif SC"/>
                <a:sym typeface="Noto Serif SC"/>
              </a:rPr>
              <a:t>02. </a:t>
            </a:r>
            <a:r>
              <a:rPr lang="en-US" sz="2000" b="0" i="0" u="none" strike="noStrike" dirty="0" err="1">
                <a:solidFill>
                  <a:srgbClr val="F59E0B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核心创新：BERT</a:t>
            </a:r>
            <a:r>
              <a:rPr lang="en-US" sz="2000" b="0" i="0" u="none" strike="noStrike" dirty="0">
                <a:solidFill>
                  <a:srgbClr val="F59E0B"/>
                </a:solidFill>
                <a:latin typeface="Noto Serif SC"/>
                <a:ea typeface="Noto Serif SC"/>
                <a:cs typeface="Noto Serif SC"/>
                <a:sym typeface="Noto Serif SC"/>
              </a:rPr>
              <a:t> </a:t>
            </a:r>
            <a:r>
              <a:rPr lang="en-US" sz="2000" b="0" i="0" u="none" strike="noStrike" dirty="0" err="1">
                <a:solidFill>
                  <a:srgbClr val="F59E0B"/>
                </a:solidFill>
                <a:latin typeface="Noto Serif SC"/>
                <a:ea typeface="Noto Serif SC"/>
                <a:cs typeface="Noto Serif SC"/>
                <a:sym typeface="Noto Serif SC"/>
              </a:rPr>
              <a:t>情感特征</a:t>
            </a:r>
            <a:r>
              <a:rPr lang="en-US" sz="2000" b="0" i="0" u="none" strike="noStrike" dirty="0">
                <a:solidFill>
                  <a:srgbClr val="F59E0B"/>
                </a:solidFill>
                <a:latin typeface="Noto Serif SC"/>
                <a:ea typeface="Noto Serif SC"/>
                <a:cs typeface="Noto Serif SC"/>
                <a:sym typeface="Noto Serif SC"/>
              </a:rPr>
              <a:t> (NLP Innovation)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 err="1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技术选型</a:t>
            </a:r>
            <a:r>
              <a:rPr lang="en-US" sz="1600" b="0" i="0" u="none" strike="noStrike" dirty="0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 (Model Selection)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部署</a:t>
            </a:r>
            <a:r>
              <a:rPr lang="en-US" sz="1400" b="0" i="0" u="none" strike="noStrike" dirty="0" err="1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jackietung</a:t>
            </a:r>
            <a:r>
              <a:rPr lang="en-US" sz="1400" b="0" i="0" u="none" strike="noStrike" dirty="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-US" sz="1400" b="0" i="0" u="none" strike="noStrike" dirty="0" err="1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bert</a:t>
            </a:r>
            <a:r>
              <a:rPr lang="en-US" sz="1400" b="0" i="0" u="none" strike="noStrike" dirty="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-base-</a:t>
            </a:r>
            <a:r>
              <a:rPr lang="en-US" sz="1400" b="0" i="0" u="none" strike="noStrike" dirty="0" err="1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chinese</a:t>
            </a:r>
            <a:r>
              <a:rPr lang="en-US" sz="1400" b="0" i="0" u="none" strike="noStrike" dirty="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-sentiment-</a:t>
            </a:r>
            <a:r>
              <a:rPr lang="en-US" sz="1400" b="0" i="0" u="none" strike="noStrike" dirty="0" err="1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rPr>
              <a:t>finetuned</a:t>
            </a: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捕捉文本语义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 err="1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特征转换</a:t>
            </a:r>
            <a:r>
              <a:rPr lang="en-US" sz="1600" b="0" i="0" u="none" strike="noStrike" dirty="0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 (Feature Mapping)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将客户反馈映射为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 0–1 </a:t>
            </a: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情感概率，纳入结构化特征矩阵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 dirty="0" err="1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算法架构、Stacking</a:t>
            </a:r>
            <a:r>
              <a:rPr lang="en-US" sz="3200" b="0" i="0" u="none" strike="noStrike" dirty="0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 </a:t>
            </a:r>
            <a:r>
              <a:rPr lang="en-US" sz="3200" b="0" i="0" u="none" strike="noStrike" dirty="0" err="1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策略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构建两层</a:t>
            </a:r>
            <a:r>
              <a:rPr lang="en-US" sz="18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 Stacking </a:t>
            </a:r>
            <a:r>
              <a:rPr lang="en-US" sz="18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架构，利用多模型互补显著提升泛化能力</a:t>
            </a:r>
            <a:r>
              <a:rPr lang="en-US" sz="18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4826000" cy="4318000"/>
          </a:xfrm>
          <a:prstGeom prst="roundRect">
            <a:avLst>
              <a:gd name="adj" fmla="val 0"/>
            </a:avLst>
          </a:prstGeom>
          <a:solidFill>
            <a:srgbClr val="E2E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4318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6366F1"/>
                </a:solidFill>
                <a:latin typeface="Noto Serif SC"/>
                <a:ea typeface="Noto Serif SC"/>
                <a:cs typeface="Noto Serif SC"/>
                <a:sym typeface="Noto Serif SC"/>
              </a:rPr>
              <a:t>模型堆叠引擎</a:t>
            </a:r>
            <a:r>
              <a:rPr lang="en-US" sz="2000" b="0" i="0" u="none" strike="noStrike" dirty="0">
                <a:solidFill>
                  <a:srgbClr val="6366F1"/>
                </a:solidFill>
                <a:latin typeface="Noto Serif SC"/>
                <a:ea typeface="Noto Serif SC"/>
                <a:cs typeface="Noto Serif SC"/>
                <a:sym typeface="Noto Serif SC"/>
              </a:rPr>
              <a:t> (Stacking Ensemble)</a:t>
            </a:r>
            <a:endParaRPr lang="en-US" sz="1100" dirty="0"/>
          </a:p>
          <a:p>
            <a:pPr marL="177800" indent="-177800" algn="l">
              <a:lnSpc>
                <a:spcPct val="125000"/>
              </a:lnSpc>
              <a:buClr>
                <a:srgbClr val="1E293B"/>
              </a:buClr>
              <a:buChar char="•"/>
            </a:pPr>
            <a:r>
              <a:rPr lang="en-US" sz="1400" b="0" i="0" u="none" strike="noStrike" dirty="0" err="1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专家模型</a:t>
            </a:r>
            <a:r>
              <a:rPr lang="en-US" sz="1400" b="0" i="0" u="none" strike="noStrike" dirty="0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 (Base Layer):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融合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 </a:t>
            </a: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XGBoost、LightGBM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 </a:t>
            </a: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与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 Random </a:t>
            </a: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Forest，构建差异化基学习器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  <a:p>
            <a:pPr marL="177800" indent="-177800" algn="l">
              <a:lnSpc>
                <a:spcPct val="125000"/>
              </a:lnSpc>
              <a:buClr>
                <a:srgbClr val="1E293B"/>
              </a:buClr>
              <a:buChar char="•"/>
            </a:pPr>
            <a:r>
              <a:rPr lang="en-US" sz="1400" b="0" i="0" u="none" strike="noStrike" dirty="0" err="1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裁判模型</a:t>
            </a:r>
            <a:r>
              <a:rPr lang="en-US" sz="1400" b="0" i="0" u="none" strike="noStrike" dirty="0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 (Meta Layer):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采用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 Ridge </a:t>
            </a: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回归融合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 OOF </a:t>
            </a: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结果，缓解共线性并降低方差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  <a:p>
            <a:pPr indent="0" algn="l">
              <a:lnSpc>
                <a:spcPct val="125000"/>
              </a:lnSpc>
            </a:pPr>
            <a:r>
              <a:rPr lang="en-US" sz="2000" b="0" i="0" u="none" strike="noStrike" dirty="0" err="1">
                <a:solidFill>
                  <a:srgbClr val="22D3EE"/>
                </a:solidFill>
                <a:latin typeface="Noto Serif SC"/>
                <a:ea typeface="Noto Serif SC"/>
                <a:cs typeface="Noto Serif SC"/>
                <a:sym typeface="Noto Serif SC"/>
              </a:rPr>
              <a:t>训练与优化策略</a:t>
            </a:r>
            <a:endParaRPr lang="en-US" sz="2000" b="0" i="0" u="none" strike="noStrike" dirty="0">
              <a:solidFill>
                <a:srgbClr val="22D3EE"/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177800" indent="-177800" algn="l">
              <a:lnSpc>
                <a:spcPct val="125000"/>
              </a:lnSpc>
              <a:buClr>
                <a:srgbClr val="1E293B"/>
              </a:buClr>
              <a:buChar char="•"/>
            </a:pPr>
            <a:r>
              <a:rPr lang="en-US" sz="1400" b="0" i="0" u="none" strike="noStrike" dirty="0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OOF </a:t>
            </a:r>
            <a:r>
              <a:rPr lang="en-US" sz="1400" b="0" i="0" u="none" strike="noStrike" dirty="0" err="1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机制</a:t>
            </a:r>
            <a:r>
              <a:rPr lang="en-US" sz="1400" b="0" i="0" u="none" strike="noStrike" dirty="0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 (Out-of-Fold):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第二层仅见首层交叉验证预测值，避免信息泄露</a:t>
            </a:r>
            <a:endParaRPr lang="en-US" sz="1400" b="0" i="0" u="none" strike="noStrike" dirty="0">
              <a:solidFill>
                <a:srgbClr val="475569"/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177800" indent="-177800" algn="l">
              <a:lnSpc>
                <a:spcPct val="125000"/>
              </a:lnSpc>
              <a:buClr>
                <a:srgbClr val="1E293B"/>
              </a:buClr>
              <a:buChar char="•"/>
            </a:pPr>
            <a:r>
              <a:rPr lang="en-US" sz="1400" b="0" i="0" u="none" strike="noStrike" dirty="0" err="1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参数约束</a:t>
            </a:r>
            <a:r>
              <a:rPr lang="en-US" sz="1400" b="0" i="0" u="none" strike="noStrike" dirty="0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: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正则化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 </a:t>
            </a: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max_depth、eta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 </a:t>
            </a: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等超参，控制模型复杂度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842000" y="2032000"/>
          <a:ext cx="5969000" cy="1841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模型 (Model)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66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样本内 RMSE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66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样本外 RMSE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66F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Kaggle 分数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366F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Midterm Linear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1500.2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1620.5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Random Forest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500.1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1100.4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366F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Best (Stacking)</a:t>
                      </a:r>
                      <a:endParaRPr lang="en-US" sz="1100"/>
                    </a:p>
                  </a:txBody>
                  <a:tcPr marL="1270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366F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750.2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366F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920.1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366F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5842000" y="4191000"/>
            <a:ext cx="5969000" cy="2159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096000" y="4445000"/>
            <a:ext cx="546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创新总结</a:t>
            </a:r>
            <a:r>
              <a:rPr lang="en-US" sz="1800" b="0" i="0" u="none" strike="noStrike" dirty="0">
                <a:solidFill>
                  <a:srgbClr val="1E293B"/>
                </a:solidFill>
                <a:latin typeface="Noto Serif SC"/>
                <a:ea typeface="Noto Serif SC"/>
                <a:cs typeface="Noto Serif SC"/>
                <a:sym typeface="Noto Serif SC"/>
              </a:rPr>
              <a:t> (Innovation Summary)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多模态融合缩小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 RMSE </a:t>
            </a: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差距，证明模型泛化能力提升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端到端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 Pipeline </a:t>
            </a:r>
            <a:r>
              <a:rPr lang="en-US" sz="1400" b="0" i="0" u="none" strike="noStrike" dirty="0" err="1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稳定可复现，为复杂场景提供实证路径</a:t>
            </a:r>
            <a:r>
              <a:rPr lang="en-US" sz="1400" b="0" i="0" u="none" strike="noStrike" dirty="0">
                <a:solidFill>
                  <a:srgbClr val="475569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Macintosh PowerPoint</Application>
  <PresentationFormat>宽屏</PresentationFormat>
  <Paragraphs>45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Noto Sans SC</vt:lpstr>
      <vt:lpstr>Noto Serif SC</vt:lpstr>
      <vt:lpstr>Arial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明阳 章</cp:lastModifiedBy>
  <cp:revision>2</cp:revision>
  <dcterms:modified xsi:type="dcterms:W3CDTF">2025-12-24T23:05:41Z</dcterms:modified>
</cp:coreProperties>
</file>