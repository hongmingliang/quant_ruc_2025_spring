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5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5"/>
  </p:notesMasterIdLst>
  <p:sldIdLst>
    <p:sldId id="259" r:id="rId3"/>
    <p:sldId id="256" r:id="rId4"/>
    <p:sldId id="257" r:id="rId6"/>
    <p:sldId id="258" r:id="rId7"/>
  </p:sldIdLst>
  <p:sldSz cx="14630400" cy="8229600"/>
  <p:notesSz cx="8229600" cy="14630400"/>
  <p:embeddedFontLst>
    <p:embeddedFont>
      <p:font typeface="Red Hat Text" panose="02010303040201060303" pitchFamily="34" charset="0"/>
      <p:bold r:id="rId11"/>
    </p:embeddedFont>
    <p:embeddedFont>
      <p:font typeface="Red Hat Text" panose="02010303040201060303" pitchFamily="34" charset="-122"/>
      <p:bold r:id="rId12"/>
    </p:embeddedFont>
    <p:embeddedFont>
      <p:font typeface="Red Hat Text" panose="02010303040201060303" pitchFamily="34" charset="-120"/>
      <p:bold r:id="rId13"/>
    </p:embeddedFont>
    <p:embeddedFont>
      <p:font typeface="Roboto Light" panose="02000000000000000000" pitchFamily="34" charset="0"/>
      <p:bold r:id="rId14"/>
    </p:embeddedFont>
    <p:embeddedFont>
      <p:font typeface="Roboto Light" panose="02000000000000000000" pitchFamily="34" charset="-122"/>
      <p:bold r:id="rId15"/>
    </p:embeddedFont>
    <p:embeddedFont>
      <p:font typeface="Roboto Light" panose="02000000000000000000" pitchFamily="34" charset="-120"/>
      <p:bold r:id="rId16"/>
    </p:embeddedFont>
    <p:embeddedFont>
      <p:font typeface="Calibri" panose="020F0502020204030204" charset="0"/>
      <p:regular r:id="rId17"/>
      <p:bold r:id="rId18"/>
      <p:italic r:id="rId19"/>
      <p:boldItalic r:id="rId20"/>
    </p:embeddedFont>
    <p:embeddedFont>
      <p:font typeface="等线" panose="02010600030101010101" charset="-122"/>
      <p:regular r:id="rId21"/>
    </p:embeddedFont>
  </p:embeddedFontLst>
  <p:custDataLst>
    <p:tags r:id="rId22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6AC0E1-DD5B-4ACD-84EF-77F19CB37072}" styleName="补充样式1">
    <a:wholeTbl>
      <a:tcTxStyle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rgbClr val="EBB6B9"/>
              </a:solidFill>
              <a:prstDash val="solid"/>
            </a:ln>
          </a:top>
          <a:bottom>
            <a:ln w="19050" cmpd="sng">
              <a:solidFill>
                <a:srgbClr val="EBB6B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EBB6B9">
              <a:lumMod val="10000"/>
              <a:lumOff val="90000"/>
            </a:srgbClr>
          </a:solidFill>
        </a:fill>
      </a:tcStyle>
    </a:wholeTbl>
    <a:band2H>
      <a:tcTxStyle/>
      <a:tcStyle>
        <a:tcBdr/>
        <a:fill>
          <a:solidFill>
            <a:srgbClr val="EBB6B9">
              <a:lumMod val="20000"/>
              <a:lumOff val="80000"/>
            </a:srgbClr>
          </a:solidFill>
        </a:fill>
      </a:tcStyle>
    </a:band2H>
    <a:band1V>
      <a:tcTxStyle/>
      <a:tcStyle>
        <a:tcBdr/>
        <a:fill>
          <a:solidFill>
            <a:srgbClr val="EBB6B9">
              <a:lumMod val="20000"/>
              <a:lumOff val="80000"/>
            </a:srgbClr>
          </a:solidFill>
        </a:fill>
      </a:tcStyle>
    </a:band1V>
    <a:lastCol>
      <a:tcTxStyle b="on">
        <a:fontRef idx="none">
          <a:srgbClr val="08090C"/>
        </a:fontRef>
      </a:tcTxStyle>
      <a:tcStyle>
        <a:tcBdr/>
        <a:fill>
          <a:solidFill>
            <a:srgbClr val="EBB6B9">
              <a:lumMod val="40000"/>
              <a:lumOff val="60000"/>
            </a:srgbClr>
          </a:solidFill>
        </a:fill>
      </a:tcStyle>
    </a:lastCol>
    <a:firstCol>
      <a:tcTxStyle b="on">
        <a:fontRef idx="none">
          <a:srgbClr val="EBB6B9"/>
        </a:fontRef>
      </a:tcTxStyle>
      <a:tcStyle>
        <a:tcBdr/>
        <a:fill>
          <a:solidFill>
            <a:srgbClr val="EBB6B9">
              <a:lumMod val="40000"/>
              <a:lumOff val="60000"/>
            </a:srgbClr>
          </a:solidFill>
        </a:fill>
      </a:tcStyle>
    </a:firstCol>
    <a:lastRow>
      <a:tcTxStyle b="on">
        <a:fontRef idx="none">
          <a:srgbClr val="EBB6B9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EBB6B9"/>
              </a:solidFill>
              <a:prstDash val="solid"/>
            </a:ln>
          </a:top>
          <a:bottom>
            <a:ln w="19050" cmpd="sng">
              <a:solidFill>
                <a:srgbClr val="EBB6B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EBB6B9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rgbClr val="EBB6B9"/>
              </a:solidFill>
              <a:prstDash val="solid"/>
            </a:ln>
          </a:top>
          <a:bottom>
            <a:ln w="9525" cmpd="sng">
              <a:solidFill>
                <a:srgbClr val="EBB6B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Row>
  </a:tblStyle>
  <a:tblStyle styleId="{FA4961E4-302C-430B-B847-4F4198870064}" styleName="表样式 1 14">
    <a:wholeTbl>
      <a:tcTxStyle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F1B7B8"/>
              </a:solidFill>
              <a:prstDash val="solid"/>
            </a:ln>
          </a:top>
          <a:bottom>
            <a:ln w="9525" cmpd="sng">
              <a:solidFill>
                <a:srgbClr val="F1B7B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rgbClr val="F1B7B8">
              <a:lumMod val="40000"/>
              <a:lumOff val="60000"/>
              <a:alpha val="25000"/>
            </a:srgbClr>
          </a:solidFill>
        </a:fill>
      </a:tcStyle>
    </a:band2H>
    <a:band1V>
      <a:tcTxStyle/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F1B7B8"/>
              </a:solidFill>
              <a:prstDash val="solid"/>
            </a:ln>
          </a:top>
          <a:bottom>
            <a:ln w="9525" cmpd="sng">
              <a:solidFill>
                <a:srgbClr val="F1B7B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1B7B8">
              <a:lumMod val="40000"/>
              <a:lumOff val="60000"/>
              <a:alpha val="25000"/>
            </a:srgbClr>
          </a:solidFill>
        </a:fill>
      </a:tcStyle>
    </a:band1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F1B7B8"/>
              </a:solidFill>
              <a:prstDash val="solid"/>
            </a:ln>
          </a:top>
          <a:bottom>
            <a:ln w="9525" cmpd="sng">
              <a:solidFill>
                <a:srgbClr val="F1B7B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1B7B8">
              <a:lumMod val="40000"/>
              <a:lumOff val="60000"/>
              <a:alpha val="40000"/>
            </a:srgb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F1B7B8"/>
              </a:solidFill>
              <a:prstDash val="solid"/>
            </a:ln>
          </a:top>
          <a:bottom>
            <a:ln w="9525" cmpd="sng">
              <a:solidFill>
                <a:srgbClr val="F1B7B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1B7B8">
              <a:lumMod val="40000"/>
              <a:lumOff val="60000"/>
              <a:alpha val="40000"/>
            </a:srgbClr>
          </a:solidFill>
        </a:fill>
      </a:tcStyle>
    </a:firstCol>
    <a:lastRow>
      <a:tcTxStyle b="on">
        <a:fontRef idx="none">
          <a:schemeClr val="bg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F1B7B8"/>
              </a:solidFill>
              <a:prstDash val="solid"/>
            </a:ln>
          </a:top>
          <a:bottom>
            <a:ln w="9525" cmpd="sng">
              <a:solidFill>
                <a:srgbClr val="F1B7B8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1B7B8"/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1B7B8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gs" Target="tags/tag2.xml"/><Relationship Id="rId21" Type="http://schemas.openxmlformats.org/officeDocument/2006/relationships/font" Target="fonts/font11.fntdata"/><Relationship Id="rId20" Type="http://schemas.openxmlformats.org/officeDocument/2006/relationships/font" Target="fonts/font10.fntdata"/><Relationship Id="rId2" Type="http://schemas.openxmlformats.org/officeDocument/2006/relationships/theme" Target="theme/theme1.xml"/><Relationship Id="rId19" Type="http://schemas.openxmlformats.org/officeDocument/2006/relationships/font" Target="fonts/font9.fntdata"/><Relationship Id="rId18" Type="http://schemas.openxmlformats.org/officeDocument/2006/relationships/font" Target="fonts/font8.fntdata"/><Relationship Id="rId17" Type="http://schemas.openxmlformats.org/officeDocument/2006/relationships/font" Target="fonts/font7.fntdata"/><Relationship Id="rId16" Type="http://schemas.openxmlformats.org/officeDocument/2006/relationships/font" Target="fonts/font6.fntdata"/><Relationship Id="rId15" Type="http://schemas.openxmlformats.org/officeDocument/2006/relationships/font" Target="fonts/font5.fntdata"/><Relationship Id="rId14" Type="http://schemas.openxmlformats.org/officeDocument/2006/relationships/font" Target="fonts/font4.fntdata"/><Relationship Id="rId13" Type="http://schemas.openxmlformats.org/officeDocument/2006/relationships/font" Target="fonts/font3.fntdata"/><Relationship Id="rId12" Type="http://schemas.openxmlformats.org/officeDocument/2006/relationships/font" Target="fonts/font2.fntdata"/><Relationship Id="rId11" Type="http://schemas.openxmlformats.org/officeDocument/2006/relationships/font" Target="fonts/font1.fntdata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3.xml"/><Relationship Id="rId5" Type="http://schemas.openxmlformats.org/officeDocument/2006/relationships/tags" Target="../tags/tag1.xml"/><Relationship Id="rId4" Type="http://schemas.openxmlformats.org/officeDocument/2006/relationships/image" Target="../media/image7.png"/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508500" y="3700145"/>
            <a:ext cx="561403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4800"/>
              <a:t>期末大作业展示</a:t>
            </a:r>
            <a:endParaRPr lang="zh-CN" altLang="en-US"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699" y="389215"/>
            <a:ext cx="9010650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1F1E1E"/>
                </a:solidFill>
                <a:latin typeface="Red Hat Text" panose="02010303040201060303" pitchFamily="34" charset="0"/>
                <a:ea typeface="Red Hat Text" panose="02010303040201060303" pitchFamily="34" charset="-122"/>
                <a:cs typeface="Red Hat Text" panose="02010303040201060303" pitchFamily="34" charset="-120"/>
              </a:rPr>
              <a:t>数据处理工程：从语义到空间的深度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8359" y="1093192"/>
            <a:ext cx="12954952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zh-CN" alt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期中线性</a:t>
            </a:r>
            <a:r>
              <a:rPr 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模型过度依赖结构化特征，</a:t>
            </a:r>
            <a:r>
              <a:rPr lang="zh-CN" alt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无法处理</a:t>
            </a:r>
            <a:r>
              <a:rPr 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文本描述与地理关系中蕴含的隐性价值。本项目将</a:t>
            </a:r>
            <a:r>
              <a:rPr lang="en-US" sz="1850" b="1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自然语言处理</a:t>
            </a:r>
            <a:r>
              <a:rPr 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与</a:t>
            </a:r>
            <a:r>
              <a:rPr lang="en-US" sz="1850" b="1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地理空间</a:t>
            </a:r>
            <a:r>
              <a:rPr 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深度融合，构建多模态特征体系。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565" y="2002155"/>
            <a:ext cx="6111875" cy="3499485"/>
          </a:xfrm>
          <a:prstGeom prst="roundRect">
            <a:avLst>
              <a:gd name="adj" fmla="val 1026"/>
            </a:avLst>
          </a:prstGeom>
          <a:solidFill>
            <a:srgbClr val="F3E8E8"/>
          </a:solidFill>
        </p:spPr>
      </p:sp>
      <p:sp>
        <p:nvSpPr>
          <p:cNvPr id="5" name="Text 3"/>
          <p:cNvSpPr/>
          <p:nvPr/>
        </p:nvSpPr>
        <p:spPr>
          <a:xfrm>
            <a:off x="1077039" y="2241391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Red Hat Text" panose="02010303040201060303" pitchFamily="34" charset="0"/>
                <a:ea typeface="Red Hat Text" panose="02010303040201060303" pitchFamily="34" charset="-122"/>
                <a:cs typeface="Red Hat Text" panose="02010303040201060303" pitchFamily="34" charset="-120"/>
              </a:rPr>
              <a:t>NLP 语义降维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7039" y="2736929"/>
            <a:ext cx="5879187" cy="114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针对"核心卖点"与"周边配套"等非结构化文本，采用 </a:t>
            </a:r>
            <a:r>
              <a:rPr lang="en-US" sz="1850" b="1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TF-IDF</a:t>
            </a:r>
            <a:r>
              <a:rPr 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 算法提取高权重关键词，再通过 </a:t>
            </a:r>
            <a:r>
              <a:rPr lang="en-US" sz="1850" b="1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Truncated SVD</a:t>
            </a:r>
            <a:r>
              <a:rPr 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将稀疏文本矩阵压缩为 10 维稠密向量。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077039" y="4029591"/>
            <a:ext cx="5879187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捕捉"学区房"、"地铁"等隐性价值标签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077039" y="4496316"/>
            <a:ext cx="5879187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SVD_0 至 SVD_9 特征维度显著提升模型对文本语义的理解能力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7434858" y="2002076"/>
            <a:ext cx="6357818" cy="3499604"/>
          </a:xfrm>
          <a:prstGeom prst="roundRect">
            <a:avLst>
              <a:gd name="adj" fmla="val 1026"/>
            </a:avLst>
          </a:prstGeom>
          <a:solidFill>
            <a:srgbClr val="F3E8E8"/>
          </a:solidFill>
        </p:spPr>
      </p:sp>
      <p:sp>
        <p:nvSpPr>
          <p:cNvPr id="10" name="Text 8"/>
          <p:cNvSpPr/>
          <p:nvPr/>
        </p:nvSpPr>
        <p:spPr>
          <a:xfrm>
            <a:off x="7674173" y="2241391"/>
            <a:ext cx="2987754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Red Hat Text" panose="02010303040201060303" pitchFamily="34" charset="0"/>
                <a:ea typeface="Red Hat Text" panose="02010303040201060303" pitchFamily="34" charset="-122"/>
                <a:cs typeface="Red Hat Text" panose="02010303040201060303" pitchFamily="34" charset="-120"/>
              </a:rPr>
              <a:t>Spatial KNN 空间场构建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674173" y="2736929"/>
            <a:ext cx="5879187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摒弃简单的经纬度坐标，基于 </a:t>
            </a:r>
            <a:r>
              <a:rPr lang="en-US" sz="1850" b="1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K-Nearest Neighbors 算法</a:t>
            </a:r>
            <a:r>
              <a:rPr 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，计算每套房源最近 5 个邻居的平均价格与面积。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674173" y="3646567"/>
            <a:ext cx="5879187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生成"邻域价格场"特征，精确量化地段溢价能力</a:t>
            </a:r>
            <a:endParaRPr lang="en-US" sz="185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4580" y="4114800"/>
            <a:ext cx="6358890" cy="3651250"/>
          </a:xfrm>
          <a:prstGeom prst="rect">
            <a:avLst/>
          </a:prstGeom>
        </p:spPr>
      </p:pic>
      <p:graphicFrame>
        <p:nvGraphicFramePr>
          <p:cNvPr id="23" name="表格 22"/>
          <p:cNvGraphicFramePr/>
          <p:nvPr/>
        </p:nvGraphicFramePr>
        <p:xfrm>
          <a:off x="838200" y="5625465"/>
          <a:ext cx="3637280" cy="1905000"/>
        </p:xfrm>
        <a:graphic>
          <a:graphicData uri="http://schemas.openxmlformats.org/drawingml/2006/table">
            <a:tbl>
              <a:tblPr firstRow="1">
                <a:tableStyleId>{C06AC0E1-DD5B-4ACD-84EF-77F19CB37072}</a:tableStyleId>
              </a:tblPr>
              <a:tblGrid>
                <a:gridCol w="2380615"/>
                <a:gridCol w="12566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/>
                        <a:t>Kaggle</a:t>
                      </a:r>
                      <a:endParaRPr lang="en-US" altLang="zh-CN" sz="1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In-sample RMSE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/>
                        <a:t>0.21612</a:t>
                      </a:r>
                      <a:endParaRPr lang="en-US" altLang="zh-CN" sz="1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/>
                        <a:t>Out-of-sample RMSE</a:t>
                      </a:r>
                      <a:endParaRPr lang="en-US" altLang="zh-C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/>
                        <a:t>0.31621</a:t>
                      </a:r>
                      <a:endParaRPr lang="en-US" altLang="zh-CN" sz="1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/>
                        <a:t>Cross Validation RMSE</a:t>
                      </a:r>
                      <a:endParaRPr lang="en-US" altLang="zh-C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/>
                        <a:t>0.33235</a:t>
                      </a:r>
                      <a:endParaRPr lang="en-US" altLang="zh-CN" sz="1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/>
                        <a:t>Kaggle</a:t>
                      </a:r>
                      <a:endParaRPr lang="en-US" altLang="zh-C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/>
                        <a:t>40</a:t>
                      </a:r>
                      <a:endParaRPr lang="en-US" altLang="zh-CN" sz="18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679371"/>
            <a:ext cx="5632490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1F1E1E"/>
                </a:solidFill>
                <a:latin typeface="Red Hat Text" panose="02010303040201060303" pitchFamily="34" charset="0"/>
                <a:ea typeface="Red Hat Text" panose="02010303040201060303" pitchFamily="34" charset="-122"/>
                <a:cs typeface="Red Hat Text" panose="02010303040201060303" pitchFamily="34" charset="-120"/>
              </a:rPr>
              <a:t> Stacking 集成架构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68204" y="1479233"/>
            <a:ext cx="12954952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单一模型存在偏差-方差权衡困境，本项目通过"博采众长"策略降低预测方差，并建立完整的多维评估体系验证系统鲁棒性。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07879" y="1958102"/>
            <a:ext cx="6357818" cy="3512582"/>
          </a:xfrm>
          <a:prstGeom prst="roundRect">
            <a:avLst>
              <a:gd name="adj" fmla="val 1022"/>
            </a:avLst>
          </a:prstGeom>
          <a:solidFill>
            <a:srgbClr val="FFFAFA"/>
          </a:solidFill>
          <a:ln w="30480">
            <a:solidFill>
              <a:srgbClr val="D9CEC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38359" y="1988582"/>
            <a:ext cx="6296858" cy="718066"/>
          </a:xfrm>
          <a:prstGeom prst="rect">
            <a:avLst/>
          </a:prstGeom>
          <a:solidFill>
            <a:srgbClr val="F3E8E8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07301" y="2168128"/>
            <a:ext cx="358973" cy="3589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7674" y="2945963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Red Hat Text" panose="02010303040201060303" pitchFamily="34" charset="0"/>
                <a:ea typeface="Red Hat Text" panose="02010303040201060303" pitchFamily="34" charset="-122"/>
                <a:cs typeface="Red Hat Text" panose="02010303040201060303" pitchFamily="34" charset="-120"/>
              </a:rPr>
              <a:t>LightGBM + XGBoost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77674" y="3441502"/>
            <a:ext cx="5818227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基于 </a:t>
            </a:r>
            <a:r>
              <a:rPr lang="en-US" sz="1850" b="1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Histogram</a:t>
            </a:r>
            <a:r>
              <a:rPr 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 的梯度提升树算法，通过直方图离散化加速训练，高效捕捉非线性关系与高阶交互特征。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1077674" y="4351139"/>
            <a:ext cx="5818227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适用于大规模数据集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1077674" y="4817864"/>
            <a:ext cx="5818227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对类别型变量天然支持</a:t>
            </a:r>
            <a:endParaRPr lang="en-US" sz="1850" dirty="0"/>
          </a:p>
        </p:txBody>
      </p:sp>
      <p:sp>
        <p:nvSpPr>
          <p:cNvPr id="11" name="Shape 8"/>
          <p:cNvSpPr/>
          <p:nvPr/>
        </p:nvSpPr>
        <p:spPr>
          <a:xfrm>
            <a:off x="7405013" y="1958102"/>
            <a:ext cx="6357818" cy="3512582"/>
          </a:xfrm>
          <a:prstGeom prst="roundRect">
            <a:avLst>
              <a:gd name="adj" fmla="val 1022"/>
            </a:avLst>
          </a:prstGeom>
          <a:solidFill>
            <a:srgbClr val="FFFAFA"/>
          </a:solidFill>
          <a:ln w="30480">
            <a:solidFill>
              <a:srgbClr val="D9CEC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35493" y="1988582"/>
            <a:ext cx="6296858" cy="718066"/>
          </a:xfrm>
          <a:prstGeom prst="rect">
            <a:avLst/>
          </a:prstGeom>
          <a:solidFill>
            <a:srgbClr val="F3E8E8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04435" y="2168128"/>
            <a:ext cx="358973" cy="35897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74808" y="2945963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Red Hat Text" panose="02010303040201060303" pitchFamily="34" charset="0"/>
                <a:ea typeface="Red Hat Text" panose="02010303040201060303" pitchFamily="34" charset="-122"/>
                <a:cs typeface="Red Hat Text" panose="02010303040201060303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7674808" y="3441502"/>
            <a:ext cx="5818227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基于 </a:t>
            </a:r>
            <a:r>
              <a:rPr lang="en-US" sz="1850" b="1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Bagging</a:t>
            </a:r>
            <a:r>
              <a:rPr 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 的并行决策树算法，通过随机特征子集与自助采样，提供极强的抗过拟合能力与预测稳定性。</a:t>
            </a:r>
            <a:endParaRPr lang="en-US" sz="1850" dirty="0"/>
          </a:p>
        </p:txBody>
      </p:sp>
      <p:sp>
        <p:nvSpPr>
          <p:cNvPr id="16" name="Text 12"/>
          <p:cNvSpPr/>
          <p:nvPr/>
        </p:nvSpPr>
        <p:spPr>
          <a:xfrm>
            <a:off x="7674808" y="4351139"/>
            <a:ext cx="5818227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泛化性能优秀</a:t>
            </a:r>
            <a:endParaRPr lang="en-US" sz="1850" dirty="0"/>
          </a:p>
        </p:txBody>
      </p:sp>
      <p:sp>
        <p:nvSpPr>
          <p:cNvPr id="17" name="Text 13"/>
          <p:cNvSpPr/>
          <p:nvPr/>
        </p:nvSpPr>
        <p:spPr>
          <a:xfrm>
            <a:off x="7674808" y="4817864"/>
            <a:ext cx="5818227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对噪声数据鲁棒</a:t>
            </a:r>
            <a:endParaRPr lang="en-US" sz="1850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" y="5566410"/>
            <a:ext cx="8210550" cy="2038350"/>
          </a:xfrm>
          <a:prstGeom prst="rect">
            <a:avLst/>
          </a:prstGeom>
        </p:spPr>
      </p:pic>
      <p:graphicFrame>
        <p:nvGraphicFramePr>
          <p:cNvPr id="23" name="表格 22"/>
          <p:cNvGraphicFramePr/>
          <p:nvPr>
            <p:custDataLst>
              <p:tags r:id="rId5"/>
            </p:custDataLst>
          </p:nvPr>
        </p:nvGraphicFramePr>
        <p:xfrm>
          <a:off x="9312910" y="5514975"/>
          <a:ext cx="3637280" cy="2164080"/>
        </p:xfrm>
        <a:graphic>
          <a:graphicData uri="http://schemas.openxmlformats.org/drawingml/2006/table">
            <a:tbl>
              <a:tblPr firstRow="1">
                <a:tableStyleId>{C06AC0E1-DD5B-4ACD-84EF-77F19CB37072}</a:tableStyleId>
              </a:tblPr>
              <a:tblGrid>
                <a:gridCol w="2380615"/>
                <a:gridCol w="12566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Price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>
                          <a:sym typeface="+mn-ea"/>
                        </a:rPr>
                        <a:t>XGBoost</a:t>
                      </a:r>
                      <a:endParaRPr lang="en-US" altLang="zh-CN" sz="1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In-sample RMSE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/>
                        <a:t>0.08612</a:t>
                      </a:r>
                      <a:endParaRPr lang="en-US" altLang="zh-CN" sz="1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/>
                        <a:t>Out-of-sample RMSE</a:t>
                      </a:r>
                      <a:endParaRPr lang="en-US" altLang="zh-C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/>
                        <a:t>0.15621</a:t>
                      </a:r>
                      <a:endParaRPr lang="en-US" altLang="zh-CN" sz="1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/>
                        <a:t>Cross Validation RMSE</a:t>
                      </a:r>
                      <a:endParaRPr lang="en-US" altLang="zh-C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/>
                        <a:t>0.15235</a:t>
                      </a:r>
                      <a:endParaRPr lang="en-US" altLang="zh-CN" sz="18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/>
                        <a:t>Kaggle</a:t>
                      </a:r>
                      <a:endParaRPr lang="en-US" altLang="zh-CN" sz="18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/>
                        <a:t>74.9</a:t>
                      </a:r>
                      <a:endParaRPr lang="en-US" altLang="zh-CN" sz="18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327065"/>
            <a:ext cx="5632490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1F1E1E"/>
                </a:solidFill>
                <a:latin typeface="Red Hat Text" panose="02010303040201060303" pitchFamily="34" charset="0"/>
                <a:ea typeface="Red Hat Text" panose="02010303040201060303" pitchFamily="34" charset="-122"/>
                <a:cs typeface="Red Hat Text" panose="02010303040201060303" pitchFamily="34" charset="-120"/>
              </a:rPr>
              <a:t>基于 Optuna 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1113592"/>
            <a:ext cx="12954952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避免人工经验也就是我的主观性，本项目使用</a:t>
            </a:r>
            <a:r>
              <a:rPr lang="en-US" sz="1850" b="1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两阶段自动化寻优闭环</a:t>
            </a:r>
            <a:r>
              <a:rPr 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，实现模型性能的更近一步。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1765816"/>
            <a:ext cx="6477476" cy="9575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7039" y="2962632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Red Hat Text" panose="02010303040201060303" pitchFamily="34" charset="0"/>
                <a:ea typeface="Red Hat Text" panose="02010303040201060303" pitchFamily="34" charset="-122"/>
                <a:cs typeface="Red Hat Text" panose="02010303040201060303" pitchFamily="34" charset="-120"/>
              </a:rPr>
              <a:t>Step 1: 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77039" y="3458170"/>
            <a:ext cx="5998845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针对 LightGBM 与 XGBoost，采用 </a:t>
            </a:r>
            <a:r>
              <a:rPr lang="en-US" sz="1850" b="1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TPE</a:t>
            </a:r>
            <a:r>
              <a:rPr 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采样策略，基于历史试验结果动态调整搜索方向。</a:t>
            </a:r>
            <a:endParaRPr lang="en-US" sz="18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765816"/>
            <a:ext cx="6477476" cy="9575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54516" y="2962632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Red Hat Text" panose="02010303040201060303" pitchFamily="34" charset="0"/>
                <a:ea typeface="Red Hat Text" panose="02010303040201060303" pitchFamily="34" charset="-122"/>
                <a:cs typeface="Red Hat Text" panose="02010303040201060303" pitchFamily="34" charset="-120"/>
              </a:rPr>
              <a:t>Stage 2: 集成权重优化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554516" y="3458170"/>
            <a:ext cx="5998845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在 Stacking 集成阶段，利用 Optuna 搜索 LGBM、XGBoost、Random Forest 的</a:t>
            </a:r>
            <a:r>
              <a:rPr lang="en-US" sz="1850" b="1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最佳融合比例</a:t>
            </a:r>
            <a:r>
              <a:rPr lang="en-US" sz="1850" dirty="0">
                <a:solidFill>
                  <a:srgbClr val="3B3535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。</a:t>
            </a:r>
            <a:endParaRPr lang="en-US" sz="18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44" y="4380428"/>
            <a:ext cx="299204" cy="23931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6164" y="4323159"/>
            <a:ext cx="11937802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核心创新</a:t>
            </a:r>
            <a:r>
              <a:rPr lang="en-US" sz="1850" dirty="0">
                <a:solidFill>
                  <a:srgbClr val="000000"/>
                </a:solidFill>
                <a:latin typeface="Roboto Light" panose="02000000000000000000" pitchFamily="34" charset="0"/>
                <a:ea typeface="Roboto Light" panose="02000000000000000000" pitchFamily="34" charset="-122"/>
                <a:cs typeface="Roboto Light" panose="02000000000000000000" pitchFamily="34" charset="-120"/>
              </a:rPr>
              <a:t>：TPE 贝叶斯推断通过构建"参数-性能"概率分布模型，智能识别高潜力超参区域，避免低效探索。</a:t>
            </a:r>
            <a:endParaRPr lang="en-US" sz="1850" dirty="0"/>
          </a:p>
        </p:txBody>
      </p:sp>
      <p:graphicFrame>
        <p:nvGraphicFramePr>
          <p:cNvPr id="14" name="表格 13"/>
          <p:cNvGraphicFramePr/>
          <p:nvPr/>
        </p:nvGraphicFramePr>
        <p:xfrm>
          <a:off x="837565" y="7234555"/>
          <a:ext cx="11483975" cy="762000"/>
        </p:xfrm>
        <a:graphic>
          <a:graphicData uri="http://schemas.openxmlformats.org/drawingml/2006/table">
            <a:tbl>
              <a:tblPr firstRow="1" bandCol="1">
                <a:tableStyleId>{FA4961E4-302C-430B-B847-4F4198870064}</a:tableStyleId>
              </a:tblPr>
              <a:tblGrid>
                <a:gridCol w="2047875"/>
                <a:gridCol w="2047875"/>
                <a:gridCol w="2451100"/>
                <a:gridCol w="2597150"/>
                <a:gridCol w="233997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Price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In-sample RMSE 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Out-of-sample RMSE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Cross Validation RMSE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Kaggle</a:t>
                      </a:r>
                      <a:endParaRPr lang="en-US" altLang="zh-CN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Best </a:t>
                      </a:r>
                      <a:r>
                        <a:rPr lang="en-US" altLang="zh-CN"/>
                        <a:t>model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0.07455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0.13986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 0.13909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/>
                        <a:t>76.6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5" y="4702810"/>
            <a:ext cx="6598920" cy="244856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6085" y="4728210"/>
            <a:ext cx="7776845" cy="248475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286*211"/>
  <p:tag name="TABLE_ENDDRAG_RECT" val="172*249*286*211"/>
</p:tagLst>
</file>

<file path=ppt/tags/tag2.xml><?xml version="1.0" encoding="utf-8"?>
<p:tagLst xmlns:p="http://schemas.openxmlformats.org/presentationml/2006/main">
  <p:tag name="resource_record_key" val="{&quot;29&quot;:[50053044,50053024,50053052,50053017,50000213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1097</Words>
  <Application>WPS 演示</Application>
  <PresentationFormat>On-screen Show (16:9)</PresentationFormat>
  <Paragraphs>112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8" baseType="lpstr">
      <vt:lpstr>Arial</vt:lpstr>
      <vt:lpstr>宋体</vt:lpstr>
      <vt:lpstr>Wingdings</vt:lpstr>
      <vt:lpstr>Red Hat Text</vt:lpstr>
      <vt:lpstr>Red Hat Text</vt:lpstr>
      <vt:lpstr>Red Hat Text</vt:lpstr>
      <vt:lpstr>Roboto Light</vt:lpstr>
      <vt:lpstr>Roboto Light</vt:lpstr>
      <vt:lpstr>Roboto Light</vt:lpstr>
      <vt:lpstr>Calibri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立刻出发</cp:lastModifiedBy>
  <cp:revision>2</cp:revision>
  <dcterms:created xsi:type="dcterms:W3CDTF">2025-12-23T16:17:00Z</dcterms:created>
  <dcterms:modified xsi:type="dcterms:W3CDTF">2025-12-24T06:15:09Z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FB73B4AA762343ECAF84A0C48CA84FC4_12</vt:lpwstr>
  </property>
</Properties>
</file>