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image" Target="../media/image3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23260" y="231210"/>
            <a:ext cx="10969200" cy="705600"/>
          </a:xfrm>
        </p:spPr>
        <p:txBody>
          <a:bodyPr/>
          <a:p>
            <a:r>
              <a:rPr lang="zh-CN" altLang="en-US"/>
              <a:t>运行</a:t>
            </a:r>
            <a:r>
              <a:rPr lang="zh-CN" altLang="en-US"/>
              <a:t>结果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2"/>
            </p:custDataLst>
          </p:nvPr>
        </p:nvGraphicFramePr>
        <p:xfrm>
          <a:off x="561410" y="1113845"/>
          <a:ext cx="1096962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25"/>
                <a:gridCol w="2193925"/>
                <a:gridCol w="2193925"/>
                <a:gridCol w="2193925"/>
                <a:gridCol w="21939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模型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</a:t>
                      </a:r>
                      <a:r>
                        <a:rPr lang="en-US" altLang="zh-CN"/>
                        <a:t>n the sample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Out of sample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Cross-Validation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Kaggle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OLS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0.4918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0.4924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0.4906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32.5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Lasso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0.4918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0.4924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0.4906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32.4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Xgboost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0.9517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0.9349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0.9312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62.9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Neural Network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0.8371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0.8206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0.7285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52.2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 descr="？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" y="3286760"/>
            <a:ext cx="4140835" cy="3571240"/>
          </a:xfrm>
          <a:prstGeom prst="rect">
            <a:avLst/>
          </a:prstGeom>
        </p:spPr>
      </p:pic>
      <p:pic>
        <p:nvPicPr>
          <p:cNvPr id="6" name="图片 5" descr="Figure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005" y="3195955"/>
            <a:ext cx="7258685" cy="36296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Figure_2(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" y="0"/>
            <a:ext cx="10972800" cy="491045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4699690"/>
            <a:ext cx="10969200" cy="4759200"/>
          </a:xfrm>
        </p:spPr>
        <p:txBody>
          <a:bodyPr/>
          <a:p>
            <a:r>
              <a:rPr lang="zh-CN" altLang="en-US"/>
              <a:t>部分依赖图（</a:t>
            </a:r>
            <a:r>
              <a:rPr lang="en-US" altLang="zh-CN"/>
              <a:t>PDP</a:t>
            </a:r>
            <a:r>
              <a:rPr lang="zh-CN" altLang="en-US"/>
              <a:t>）：</a:t>
            </a:r>
            <a:endParaRPr lang="zh-CN" altLang="en-US"/>
          </a:p>
          <a:p>
            <a:r>
              <a:rPr lang="zh-CN" altLang="en-US"/>
              <a:t>左图（城市）：城市特征取值变化时，房价先</a:t>
            </a:r>
            <a:r>
              <a:rPr lang="en-US" altLang="zh-CN"/>
              <a:t> “</a:t>
            </a:r>
            <a:r>
              <a:rPr lang="zh-CN" altLang="en-US"/>
              <a:t>断崖式下降</a:t>
            </a:r>
            <a:r>
              <a:rPr lang="en-US" altLang="zh-CN"/>
              <a:t>” </a:t>
            </a:r>
            <a:r>
              <a:rPr lang="zh-CN" altLang="en-US"/>
              <a:t>后稳定</a:t>
            </a:r>
            <a:r>
              <a:rPr lang="en-US" altLang="zh-CN"/>
              <a:t> ——</a:t>
            </a:r>
            <a:r>
              <a:rPr lang="zh-CN" altLang="en-US"/>
              <a:t>城市是房价的核心分档因素，不同城市房价差异极大。</a:t>
            </a:r>
            <a:endParaRPr lang="zh-CN" altLang="en-US"/>
          </a:p>
          <a:p>
            <a:r>
              <a:rPr lang="zh-CN" altLang="en-US"/>
              <a:t>右图（经度）：经度提升时，房价</a:t>
            </a:r>
            <a:r>
              <a:rPr lang="en-US" altLang="zh-CN"/>
              <a:t> “</a:t>
            </a:r>
            <a:r>
              <a:rPr lang="zh-CN" altLang="en-US"/>
              <a:t>阶梯式上升</a:t>
            </a:r>
            <a:r>
              <a:rPr lang="en-US" altLang="zh-CN"/>
              <a:t>”——</a:t>
            </a:r>
            <a:r>
              <a:rPr lang="zh-CN" altLang="en-US"/>
              <a:t>经度（区位）是城市内房价的梯度因素，位置越优房价越高。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84855" y="149930"/>
            <a:ext cx="10969200" cy="705600"/>
          </a:xfrm>
        </p:spPr>
        <p:txBody>
          <a:bodyPr/>
          <a:p>
            <a:r>
              <a:rPr lang="zh-CN" altLang="en-US"/>
              <a:t>创新点</a:t>
            </a:r>
            <a:r>
              <a:rPr lang="zh-CN" altLang="en-US"/>
              <a:t>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84785" y="985520"/>
            <a:ext cx="11838940" cy="4759325"/>
          </a:xfrm>
        </p:spPr>
        <p:txBody>
          <a:bodyPr>
            <a:noAutofit/>
          </a:bodyPr>
          <a:p>
            <a:pPr marL="0" indent="457200">
              <a:buNone/>
            </a:pPr>
            <a:r>
              <a:rPr lang="en-US" altLang="zh-CN"/>
              <a:t>1.</a:t>
            </a:r>
            <a:r>
              <a:rPr lang="zh-CN" altLang="en-US"/>
              <a:t>自动化的</a:t>
            </a:r>
            <a:r>
              <a:rPr lang="en-US" altLang="zh-CN"/>
              <a:t>NLP</a:t>
            </a:r>
            <a:r>
              <a:rPr lang="zh-CN" altLang="en-US"/>
              <a:t>特征提取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当数据中存在长文本特征时，传统需要手动处理文本格式。本代码</a:t>
            </a:r>
            <a:r>
              <a:rPr lang="zh-CN" altLang="en-US"/>
              <a:t>尝试自动检测长文本列，利用轻量级</a:t>
            </a:r>
            <a:r>
              <a:rPr lang="en-US" altLang="zh-CN"/>
              <a:t> BERT </a:t>
            </a:r>
            <a:r>
              <a:rPr lang="zh-CN" altLang="en-US"/>
              <a:t>模型提取文本嵌入特征，同时做降维处理，还能兼容</a:t>
            </a:r>
            <a:r>
              <a:rPr lang="en-US" altLang="zh-CN"/>
              <a:t> “</a:t>
            </a:r>
            <a:r>
              <a:rPr lang="zh-CN" altLang="en-US"/>
              <a:t>未安装</a:t>
            </a:r>
            <a:r>
              <a:rPr lang="en-US" altLang="zh-CN"/>
              <a:t> sentence_transformers </a:t>
            </a:r>
            <a:r>
              <a:rPr lang="zh-CN" altLang="en-US"/>
              <a:t>库</a:t>
            </a:r>
            <a:r>
              <a:rPr lang="en-US" altLang="zh-CN"/>
              <a:t>” </a:t>
            </a:r>
            <a:r>
              <a:rPr lang="zh-CN" altLang="en-US"/>
              <a:t>的场景，无需手动修改代码即可跳过</a:t>
            </a:r>
            <a:r>
              <a:rPr lang="en-US" altLang="zh-CN"/>
              <a:t> NLP </a:t>
            </a:r>
            <a:r>
              <a:rPr lang="zh-CN" altLang="en-US"/>
              <a:t>流程，灵活性强。</a:t>
            </a:r>
            <a:endParaRPr lang="zh-CN" altLang="en-US"/>
          </a:p>
          <a:p>
            <a:pPr marL="0" indent="457200">
              <a:buNone/>
            </a:pPr>
            <a:r>
              <a:rPr lang="en-US" altLang="zh-CN"/>
              <a:t>2. </a:t>
            </a:r>
            <a:r>
              <a:rPr lang="zh-CN" altLang="en-US"/>
              <a:t>嵌套式模型调优</a:t>
            </a:r>
            <a:r>
              <a:rPr lang="en-US" altLang="zh-CN"/>
              <a:t> 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 </a:t>
            </a:r>
            <a:r>
              <a:rPr lang="zh-CN" altLang="en-US"/>
              <a:t>嵌套式网格搜索调优：对</a:t>
            </a:r>
            <a:r>
              <a:rPr lang="en-US" altLang="zh-CN"/>
              <a:t> XGBoost </a:t>
            </a:r>
            <a:r>
              <a:rPr lang="zh-CN" altLang="en-US"/>
              <a:t>不直接用固定参数，而是用</a:t>
            </a:r>
            <a:r>
              <a:rPr lang="en-US" altLang="zh-CN"/>
              <a:t> 3 </a:t>
            </a:r>
            <a:r>
              <a:rPr lang="zh-CN" altLang="en-US"/>
              <a:t>折交叉验证</a:t>
            </a:r>
            <a:r>
              <a:rPr lang="en-US" altLang="zh-CN"/>
              <a:t> + </a:t>
            </a:r>
            <a:r>
              <a:rPr lang="zh-CN" altLang="en-US"/>
              <a:t>网格搜索，从核心参数（学习率、树深度、迭代数）中选最优，兼顾模型精度和泛化能力，比固定参数模型更严谨。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4018280"/>
            <a:ext cx="4079240" cy="27546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018280"/>
            <a:ext cx="6659245" cy="27279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WPS 演示</Application>
  <PresentationFormat>宽屏</PresentationFormat>
  <Paragraphs>64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饕餮</cp:lastModifiedBy>
  <cp:revision>159</cp:revision>
  <dcterms:created xsi:type="dcterms:W3CDTF">2019-06-19T02:08:00Z</dcterms:created>
  <dcterms:modified xsi:type="dcterms:W3CDTF">2025-12-24T16:50:42Z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9E04CD5CA975488EAF6BB6B570D6BB18_11</vt:lpwstr>
  </property>
</Properties>
</file>